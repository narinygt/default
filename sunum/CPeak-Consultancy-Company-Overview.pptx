
<file path=[Content_Types].xml><?xml version="1.0" encoding="utf-8"?>
<Types xmlns="http://schemas.openxmlformats.org/package/2006/content-types">
  <Default Extension="xml" ContentType="application/xml"/>
  <Default Extension="rels" ContentType="application/vnd.openxmlformats-package.relationships+xml"/>
  <Default Extension="jpeg" ContentType="image/jpeg"/>
  <Default Extension="jpg" ContentType="image/jpg"/>
  <Default Extension="svg" ContentType="image/svg+xml"/>
  <Default Extension="png" ContentType="image/png"/>
  <Default Extension="gif" ContentType="image/gif"/>
  <Default Extension="m4v" ContentType="video/mp4"/>
  <Default Extension="mp4" ContentType="video/mp4"/>
  <Default Extension="vml" ContentType="application/vnd.openxmlformats-officedocument.vmlDrawing"/>
  <Default Extension="xlsx" ContentType="application/vnd.openxmlformats-officedocument.spreadsheetml.sheet"/>
  <Override PartName="/ppt/presentation.xml" ContentType="application/vnd.openxmlformats-officedocument.presentationml.presentation.main+xml"/>
  <Override PartName="/ppt/notesMasters/notesMaster1.xml" ContentType="application/vnd.openxmlformats-officedocument.presentationml.notesMaster+xml"/>
  <Override PartName="/ppt/slideMasters/slideMaster1.xml" ContentType="application/vnd.openxmlformats-officedocument.presentationml.slideMaster+xml"/>
  <Override PartName="/ppt/slides/slide1.xml" ContentType="application/vnd.openxmlformats-officedocument.presentationml.slide+xml"/>
  <Override PartName="/ppt/slideMasters/slideMaster2.xml" ContentType="application/vnd.openxmlformats-officedocument.presentationml.slideMaster+xml"/>
  <Override PartName="/ppt/slides/slide2.xml" ContentType="application/vnd.openxmlformats-officedocument.presentationml.slide+xml"/>
  <Override PartName="/ppt/slideMasters/slideMaster3.xml" ContentType="application/vnd.openxmlformats-officedocument.presentationml.slideMaster+xml"/>
  <Override PartName="/ppt/slides/slide3.xml" ContentType="application/vnd.openxmlformats-officedocument.presentationml.slide+xml"/>
  <Override PartName="/ppt/slideMasters/slideMaster4.xml" ContentType="application/vnd.openxmlformats-officedocument.presentationml.slideMaster+xml"/>
  <Override PartName="/ppt/slides/slide4.xml" ContentType="application/vnd.openxmlformats-officedocument.presentationml.slide+xml"/>
  <Override PartName="/ppt/slideMasters/slideMaster5.xml" ContentType="application/vnd.openxmlformats-officedocument.presentationml.slideMaster+xml"/>
  <Override PartName="/ppt/slides/slide5.xml" ContentType="application/vnd.openxmlformats-officedocument.presentationml.slide+xml"/>
  <Override PartName="/ppt/slideMasters/slideMaster6.xml" ContentType="application/vnd.openxmlformats-officedocument.presentationml.slideMaster+xml"/>
  <Override PartName="/ppt/slides/slide6.xml" ContentType="application/vnd.openxmlformats-officedocument.presentationml.slide+xml"/>
  <Override PartName="/ppt/slideMasters/slideMaster7.xml" ContentType="application/vnd.openxmlformats-officedocument.presentationml.slideMaster+xml"/>
  <Override PartName="/ppt/slides/slide7.xml" ContentType="application/vnd.openxmlformats-officedocument.presentationml.slide+xml"/>
  <Override PartName="/ppt/slideMasters/slideMaster8.xml" ContentType="application/vnd.openxmlformats-officedocument.presentationml.slideMaster+xml"/>
  <Override PartName="/ppt/slides/slide8.xml" ContentType="application/vnd.openxmlformats-officedocument.presentationml.slide+xml"/>
  <Override PartName="/ppt/slideMasters/slideMaster9.xml" ContentType="application/vnd.openxmlformats-officedocument.presentationml.slideMaster+xml"/>
  <Override PartName="/ppt/slides/slide9.xml" ContentType="application/vnd.openxmlformats-officedocument.presentationml.slide+xml"/>
  <Override PartName="/ppt/slideMasters/slideMaster10.xml" ContentType="application/vnd.openxmlformats-officedocument.presentationml.slideMaster+xml"/>
  <Override PartName="/ppt/slides/slide10.xml" ContentType="application/vnd.openxmlformats-officedocument.presentationml.slide+xml"/>
  <Override PartName="/ppt/slideMasters/slideMaster11.xml" ContentType="application/vnd.openxmlformats-officedocument.presentationml.slideMaster+xml"/>
  <Override PartName="/ppt/slides/slide11.xml" ContentType="application/vnd.openxmlformats-officedocument.presentationml.slide+xml"/>
  <Override PartName="/ppt/slideMasters/slideMaster12.xml" ContentType="application/vnd.openxmlformats-officedocument.presentationml.slideMaster+xml"/>
  <Override PartName="/ppt/slides/slide12.xml" ContentType="application/vnd.openxmlformats-officedocument.presentationml.slide+xml"/>
  <Override PartName="/ppt/presProps.xml" ContentType="application/vnd.openxmlformats-officedocument.presentationml.presProps+xml"/>
  <Override PartName="/ppt/viewProps.xml" ContentType="application/vnd.openxmlformats-officedocument.presentationml.viewProps+xml"/>
  <Override PartName="/ppt/theme/theme1.xml" ContentType="application/vnd.openxmlformats-officedocument.theme+xml"/>
  <Override PartName="/ppt/tableStyles.xml" ContentType="application/vnd.openxmlformats-officedocument.presentationml.tableStyles+xml"/>
  <Override PartName="/ppt/slideLayouts/slideLayout1.xml" ContentType="application/vnd.openxmlformats-officedocument.presentationml.slideLayout+xml"/>
  <Override PartName="/ppt/notesSlides/notesSlide1.xml" ContentType="application/vnd.openxmlformats-officedocument.presentationml.notesSlide+xml"/>
  <Override PartName="/ppt/notesSlides/notesSlide2.xml" ContentType="application/vnd.openxmlformats-officedocument.presentationml.notesSlide+xml"/>
  <Override PartName="/ppt/notesSlides/notesSlide3.xml" ContentType="application/vnd.openxmlformats-officedocument.presentationml.notesSlide+xml"/>
  <Override PartName="/ppt/notesSlides/notesSlide4.xml" ContentType="application/vnd.openxmlformats-officedocument.presentationml.notesSlide+xml"/>
  <Override PartName="/ppt/notesSlides/notesSlide5.xml" ContentType="application/vnd.openxmlformats-officedocument.presentationml.notesSlide+xml"/>
  <Override PartName="/ppt/notesSlides/notesSlide6.xml" ContentType="application/vnd.openxmlformats-officedocument.presentationml.notesSlide+xml"/>
  <Override PartName="/ppt/notesSlides/notesSlide7.xml" ContentType="application/vnd.openxmlformats-officedocument.presentationml.notesSlide+xml"/>
  <Override PartName="/ppt/notesSlides/notesSlide8.xml" ContentType="application/vnd.openxmlformats-officedocument.presentationml.notesSlide+xml"/>
  <Override PartName="/ppt/notesSlides/notesSlide9.xml" ContentType="application/vnd.openxmlformats-officedocument.presentationml.notesSlide+xml"/>
  <Override PartName="/ppt/notesSlides/notesSlide10.xml" ContentType="application/vnd.openxmlformats-officedocument.presentationml.notesSlide+xml"/>
  <Override PartName="/ppt/notesSlides/notesSlide11.xml" ContentType="application/vnd.openxmlformats-officedocument.presentationml.notesSlide+xml"/>
  <Override PartName="/ppt/notesSlides/notesSlide12.xml" ContentType="application/vnd.openxmlformats-officedocument.presentationml.notesSlide+xml"/>
  <Override PartName="/docProps/core.xml" ContentType="application/vnd.openxmlformats-package.core-properties+xml"/>
  <Override PartName="/docProps/app.xml" ContentType="application/vnd.openxmlformats-officedocument.extended-properties+xml"/>
</Types>
</file>

<file path=_rels/.rels><?xml version="1.0" encoding="UTF-8" standalone="yes"?>
<Relationships xmlns="http://schemas.openxmlformats.org/package/2006/relationships">
		<Relationship Id="rId1" Type="http://schemas.openxmlformats.org/officeDocument/2006/relationships/extended-properties" Target="docProps/app.xml"/>
		<Relationship Id="rId2" Type="http://schemas.openxmlformats.org/package/2006/relationships/metadata/core-properties" Target="docProps/core.xml"/>
		<Relationship Id="rId3" Type="http://schemas.openxmlformats.org/officeDocument/2006/relationships/officeDocument" Target="ppt/presentation.xml"/>
		</Relationships>
</file>

<file path=ppt/presentation.xml><?xml version="1.0" encoding="utf-8"?>
<p:presentation xmlns:a="http://schemas.openxmlformats.org/drawingml/2006/main" xmlns:r="http://schemas.openxmlformats.org/officeDocument/2006/relationships" xmlns:p="http://schemas.openxmlformats.org/presentationml/2006/main" saveSubsetFonts="1" autoCompressPictures="0">
  <p:sldMasterIdLst>
    <p:sldMasterId id="2147483648" r:id="rId1"/>
  </p:sldMasterIdLst>
  <p:sldIdLst>
    <p:sldId id="256" r:id="rId2"/>
    <p:sldId id="257" r:id="rId3"/>
    <p:sldId id="258" r:id="rId4"/>
    <p:sldId id="259" r:id="rId5"/>
    <p:sldId id="260" r:id="rId6"/>
    <p:sldId id="261" r:id="rId7"/>
    <p:sldId id="262" r:id="rId8"/>
    <p:sldId id="263" r:id="rId9"/>
    <p:sldId id="264" r:id="rId10"/>
    <p:sldId id="265" r:id="rId11"/>
    <p:sldId id="266" r:id="rId12"/>
    <p:sldId id="267" r:id="rId13"/>
  </p:sldIdLst>
  <p:notesMasterIdLst>
    <p:notesMasterId r:id="rId14"/>
  </p:notesMasterIdLst>
  <p:sldSz cx="12192000" cy="6858000"/>
  <p:notesSz cx="6858000" cy="12192000"/>
  <p:defaultTextStyle>
    <a:lvl1pPr marL="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9pPr>
  </p:defaultTextStyle>
</p:presentation>
</file>

<file path=ppt/presProps.xml><?xml version="1.0" encoding="utf-8"?>
<p:presentationPr xmlns:a="http://schemas.openxmlformats.org/drawingml/2006/main" xmlns:r="http://schemas.openxmlformats.org/officeDocument/2006/relationships" xmlns:p="http://schemas.openxmlformats.org/presentationml/2006/main"/>
</file>

<file path=ppt/tableStyles.xml><?xml version="1.0" encoding="utf-8"?>
<a:tblStyleLst xmlns:a="http://schemas.openxmlformats.org/drawingml/2006/main" def="{5C22544A-7EE6-4342-B048-85BDC9FD1C3A}"/>
</file>

<file path=ppt/viewProps.xml><?xml version="1.0" encoding="utf-8"?>
<p:viewPr xmlns:a="http://schemas.openxmlformats.org/drawingml/2006/main" xmlns:r="http://schemas.openxmlformats.org/officeDocument/2006/relationships" xmlns:p="http://schemas.openxmlformats.org/presentationml/2006/main">
  <p:normalViewPr horzBarState="maximized">
    <p:restoredLeft sz="15611"/>
    <p:restoredTop sz="94610"/>
  </p:normalViewPr>
  <p:slideViewPr>
    <p:cSldViewPr snapToGrid="0" snapToObjects="1">
      <p:cViewPr varScale="1">
        <p:scale>
          <a:sx n="136" d="100"/>
          <a:sy n="136" d="100"/>
        </p:scale>
        <p:origin x="216" y="312"/>
      </p:cViewPr>
      <p:guideLst/>
    </p:cSldViewPr>
  </p:slideViewPr>
  <p:notesTextViewPr>
    <p:cViewPr>
      <p:scale>
        <a:sx n="1" d="1"/>
        <a:sy n="1" d="1"/>
      </p:scale>
      <p:origin x="0" y="0"/>
    </p:cViewPr>
  </p:notesTextViewPr>
  <p:gridSpacing cx="76200" cy="76200"/>
</p:viewPr>
</file>

<file path=ppt/_rels/presentation.xml.rels><?xml version="1.0" encoding="UTF-8" standalone="yes"?>
<Relationships xmlns="http://schemas.openxmlformats.org/package/2006/relationships"><Relationship Id="rId1" Type="http://schemas.openxmlformats.org/officeDocument/2006/relationships/slideMaster" Target="slideMasters/slideMaster1.xml"/><Relationship Id="rId2" Type="http://schemas.openxmlformats.org/officeDocument/2006/relationships/slide" Target="slides/slide1.xml"/><Relationship Id="rId3" Type="http://schemas.openxmlformats.org/officeDocument/2006/relationships/slide" Target="slides/slide2.xml"/><Relationship Id="rId4" Type="http://schemas.openxmlformats.org/officeDocument/2006/relationships/slide" Target="slides/slide3.xml"/><Relationship Id="rId5" Type="http://schemas.openxmlformats.org/officeDocument/2006/relationships/slide" Target="slides/slide4.xml"/><Relationship Id="rId6" Type="http://schemas.openxmlformats.org/officeDocument/2006/relationships/slide" Target="slides/slide5.xml"/><Relationship Id="rId7" Type="http://schemas.openxmlformats.org/officeDocument/2006/relationships/slide" Target="slides/slide6.xml"/><Relationship Id="rId8" Type="http://schemas.openxmlformats.org/officeDocument/2006/relationships/slide" Target="slides/slide7.xml"/><Relationship Id="rId9" Type="http://schemas.openxmlformats.org/officeDocument/2006/relationships/slide" Target="slides/slide8.xml"/><Relationship Id="rId10" Type="http://schemas.openxmlformats.org/officeDocument/2006/relationships/slide" Target="slides/slide9.xml"/><Relationship Id="rId11" Type="http://schemas.openxmlformats.org/officeDocument/2006/relationships/slide" Target="slides/slide10.xml"/><Relationship Id="rId12" Type="http://schemas.openxmlformats.org/officeDocument/2006/relationships/slide" Target="slides/slide11.xml"/><Relationship Id="rId13" Type="http://schemas.openxmlformats.org/officeDocument/2006/relationships/slide" Target="slides/slide12.xml"/><Relationship Id="rId14" Type="http://schemas.openxmlformats.org/officeDocument/2006/relationships/notesMaster" Target="notesMasters/notesMaster1.xml"/><Relationship Id="rId15" Type="http://schemas.openxmlformats.org/officeDocument/2006/relationships/presProps" Target="presProps.xml"/><Relationship Id="rId16" Type="http://schemas.openxmlformats.org/officeDocument/2006/relationships/viewProps" Target="viewProps.xml"/><Relationship Id="rId17" Type="http://schemas.openxmlformats.org/officeDocument/2006/relationships/theme" Target="theme/theme1.xml"/><Relationship Id="rId18" Type="http://schemas.openxmlformats.org/officeDocument/2006/relationships/tableStyles" Target="tableStyles.xml"/></Relationships>
</file>

<file path=ppt/notesMasters/_rels/notesMaster1.xml.rels><?xml version="1.0" encoding="UTF-8" standalone="yes"?>
<Relationships xmlns="http://schemas.openxmlformats.org/package/2006/relationships">
		<Relationship Id="rId1" Type="http://schemas.openxmlformats.org/officeDocument/2006/relationships/theme" Target="../theme/theme1.xml"/>
		</Relationships>
</file>

<file path=ppt/notesMasters/notesMaster1.xml><?xml version="1.0" encoding="utf-8"?>
<p:notesMaster xmlns:a="http://schemas.openxmlformats.org/drawingml/2006/main" xmlns:r="http://schemas.openxmlformats.org/officeDocument/2006/relationships" xmlns:p="http://schemas.openxmlformats.org/presentationml/2006/main">
  <p:cSld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Header Placeholder 1"/>
          <p:cNvSpPr>
            <a:spLocks noGrp="1"/>
          </p:cNvSpPr>
          <p:nvPr>
            <p:ph type="hdr" sz="quarter"/>
          </p:nvPr>
        </p:nvSpPr>
        <p:spPr>
          <a:xfrm>
            <a:off x="0" y="0"/>
            <a:ext cx="2971800" cy="458788"/>
          </a:xfrm>
          <a:prstGeom prst="rect">
            <a:avLst/>
          </a:prstGeom>
        </p:spPr>
        <p:txBody>
          <a:bodyPr vert="horz" lIns="91440" tIns="45720" rIns="91440" bIns="45720" rtlCol="0"/>
          <a:lstStyle>
            <a:lvl1pPr algn="l">
              <a:defRPr sz="1200"/>
            </a:lvl1pPr>
          </a:lstStyle>
          <a:p>
            <a:endParaRPr lang="en-US"/>
          </a:p>
        </p:txBody>
      </p:sp>
      <p:sp>
        <p:nvSpPr>
          <p:cNvPr id="3" name="Date Placeholder 2"/>
          <p:cNvSpPr>
            <a:spLocks noGrp="1"/>
          </p:cNvSpPr>
          <p:nvPr>
            <p:ph type="dt" idx="1"/>
          </p:nvPr>
        </p:nvSpPr>
        <p:spPr>
          <a:xfrm>
            <a:off x="3884613" y="0"/>
            <a:ext cx="2971800" cy="458788"/>
          </a:xfrm>
          <a:prstGeom prst="rect">
            <a:avLst/>
          </a:prstGeom>
        </p:spPr>
        <p:txBody>
          <a:bodyPr vert="horz" lIns="91440" tIns="45720" rIns="91440" bIns="45720" rtlCol="0"/>
          <a:lstStyle>
            <a:lvl1pPr algn="r">
              <a:defRPr sz="1200"/>
            </a:lvl1pPr>
          </a:lstStyle>
          <a:p>
            <a:fld id="{5282F153-3F37-0F45-9E97-73ACFA13230C}" type="datetimeFigureOut">
              <a:rPr lang="en-US"/>
              <a:t>7/23/19</a:t>
            </a:fld>
            <a:endParaRPr lang="en-US"/>
          </a:p>
        </p:txBody>
      </p:sp>
      <p:sp>
        <p:nvSpPr>
          <p:cNvPr id="4" name="Slide Image Placeholder 3"/>
          <p:cNvSpPr>
            <a:spLocks noGrp="1" noRot="1" noChangeAspect="1"/>
          </p:cNvSpPr>
          <p:nvPr>
            <p:ph type="sldImg" idx="2"/>
          </p:nvPr>
        </p:nvSpPr>
        <p:spPr>
          <a:xfrm>
            <a:off x="685800" y="1143000"/>
            <a:ext cx="5486400" cy="3086100"/>
          </a:xfrm>
          <a:prstGeom prst="rect">
            <a:avLst/>
          </a:prstGeom>
          <a:noFill/>
          <a:ln w="12700">
            <a:solidFill>
              <a:prstClr val="black"/>
            </a:solidFill>
          </a:ln>
        </p:spPr>
        <p:txBody>
          <a:bodyPr vert="horz" lIns="91440" tIns="45720" rIns="91440" bIns="45720" rtlCol="0" anchor="ctr"/>
          <a:lstStyle/>
          <a:p>
            <a:endParaRPr lang="en-US"/>
          </a:p>
        </p:txBody>
      </p:sp>
      <p:sp>
        <p:nvSpPr>
          <p:cNvPr id="5" name="Notes Placeholder 4"/>
          <p:cNvSpPr>
            <a:spLocks noGrp="1"/>
          </p:cNvSpPr>
          <p:nvPr>
            <p:ph type="body" sz="quarter" idx="3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vert="horz" lIns="91440" tIns="45720" rIns="91440" bIns="45720" rtlCol="0"/>
          <a:lstStyle/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4"/>
          </p:nvPr>
        </p:nvSpPr>
        <p:spPr>
          <a:xfrm>
            <a:off x="0" y="8685213"/>
            <a:ext cx="2971800" cy="458787"/>
          </a:xfrm>
          <a:prstGeom prst="rect">
            <a:avLst/>
          </a:prstGeom>
        </p:spPr>
        <p:txBody>
          <a:bodyPr vert="horz" lIns="91440" tIns="45720" rIns="91440" bIns="45720" rtlCol="0" anchor="b"/>
          <a:lstStyle>
            <a:lvl1pPr algn="l">
              <a:defRPr sz="1200"/>
            </a:lvl1pPr>
          </a:lstStyle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5"/>
          </p:nvPr>
        </p:nvSpPr>
        <p:spPr>
          <a:xfrm>
            <a:off x="3884613" y="8685213"/>
            <a:ext cx="2971800" cy="458787"/>
          </a:xfrm>
          <a:prstGeom prst="rect">
            <a:avLst/>
          </a:prstGeom>
        </p:spPr>
        <p:txBody>
          <a:bodyPr vert="horz" lIns="91440" tIns="45720" rIns="91440" bIns="45720" rtlCol="0" anchor="b"/>
          <a:lstStyle>
            <a:lvl1pPr algn="r">
              <a:defRPr sz="1200"/>
            </a:lvl1pPr>
          </a:lstStyle>
          <a:p>
            <a:fld id="{CE5E9CC1-C706-0F49-92D6-E571CC5EEA8F}" type="slidenum">
              <a:rPr lang="en-US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 bg1="lt1" tx1="dk1" bg2="lt2" tx2="dk2" accent1="accent1" accent2="accent2" accent3="accent3" accent4="accent4" accent5="accent5" accent6="accent6" hlink="hlink" folHlink="folHlink"/>
  <p:notesStyle>
    <a:lvl1pPr marL="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9pPr>
  </p:notesStyle>
</p:notesMaster>
</file>

<file path=ppt/notesSlides/_rels/notesSlide1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1.xml"/>
		</Relationships>
</file>

<file path=ppt/notesSlides/_rels/notesSlide2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2.xml"/>
		</Relationships>
</file>

<file path=ppt/notesSlides/_rels/notesSlide3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3.xml"/>
		</Relationships>
</file>

<file path=ppt/notesSlides/_rels/notesSlide4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4.xml"/>
		</Relationships>
</file>

<file path=ppt/notesSlides/_rels/notesSlide5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5.xml"/>
		</Relationships>
</file>

<file path=ppt/notesSlides/_rels/notesSlide6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6.xml"/>
		</Relationships>
</file>

<file path=ppt/notesSlides/_rels/notesSlide7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7.xml"/>
		</Relationships>
</file>

<file path=ppt/notesSlides/_rels/notesSlide8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8.xml"/>
		</Relationships>
</file>

<file path=ppt/notesSlides/_rels/notesSlide9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9.xml"/>
		</Relationships>
</file>

<file path=ppt/notesSlides/_rels/notesSlide10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10.xml"/>
		</Relationships>
</file>

<file path=ppt/notesSlides/_rels/notesSlide11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11.xml"/>
		</Relationships>
</file>

<file path=ppt/notesSlides/_rels/notesSlide12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12.xml"/>
		</Relationships>
</file>

<file path=ppt/notesSlides/notesSlide1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Cover. Positioning statement is the website H1 and hero lead, verbatim. The ledger-to-network figure is CPeak’s signature brand element, reproduced from the site.</a:t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2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Company introduction. Every claim here is on the About page: independence, the finance-only focus, the partner arrangement for logistics scope, and the three corporate facts. The dark strip is the website’s own capability band — qualitative, with 10+ years the only figure.</a:t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2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3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The three focus areas from the About page, in the site’s own order. The triangle carries the site’s claim that the three areas meet and inform one another.</a:t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3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4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SAP capability map. Deployment models and AI capabilities are exactly those named on the site; the core lists the finance work described on the Finance Modules page. Nothing here is a partnership or certification claim.</a:t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4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5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The five solution pages, compared on the site’s own criteria — fit, duration and primary benefit — with the durations taken from each page’s comparison row.</a:t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5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6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The vendor-neutral comparison is CPeak’s clearest differentiator. Criteria and wording condensed from the Solutions overview comparison table.</a:t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6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7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The working principles from the Approach page, arranged as the value chain they describe: measure, compare, decide, own. The last two principles sit below as the delivery discipline that holds the chain together.</a:t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7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8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The four-stage delivery model from the homepage, with each stage’s named deliverable and duration. No stage is a milestone without an artefact attached.</a:t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8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9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The AI section of the homepage. The point of the slide is that both sides run through the same SAP system and the same review discipline — technology serving the finance process, not sold alongside it.</a:t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9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10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The three typical engagements from the homepage, carrying the site’s own disclaimer. No invented metrics, clients or results.</a:t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10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11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The four differentiators from the homepage, verbatim in substance. The reference strip is the site’s own logo band — no partnership, certification or award claims are made anywhere in this deck, because the site makes none.</a:t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11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12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Closing. All contact details are taken from the site configuration: general and direct addresses, telephone, registered office, website and LinkedIn.</a:t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12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slideLayouts/_rels/slideLayout1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slideLayout1.xml><?xml version="1.0" encoding="utf-8"?>
<p:sldLayout xmlns:a="http://schemas.openxmlformats.org/drawingml/2006/main" xmlns:r="http://schemas.openxmlformats.org/officeDocument/2006/relationships" xmlns:p="http://schemas.openxmlformats.org/presentationml/2006/main" preserve="1">
  <p:cSld name="DEFAULT"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</p:spTree>
  </p:cSld>
  <p:clrMapOvr>
    <a:masterClrMapping/>
  </p:clrMapOvr>
</p:sldLayout>
</file>

<file path=ppt/slideMasters/_rels/slideMaster1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theme" Target="../theme/theme1.xml"/></Relationships>
</file>

<file path=ppt/slideMasters/slideMaster1.xml><?xml version="1.0" encoding="utf-8"?>
<p:sldMaster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</p:spTree>
  </p:cSld>
  <p:clrMap bg1="lt1" tx1="dk1" bg2="lt2" tx2="dk2" accent1="accent1" accent2="accent2" accent3="accent3" accent4="accent4" accent5="accent5" accent6="accent6" hlink="hlink" folHlink="folHlink"/>
  <p:sldLayoutIdLst>
    <p:sldLayoutId id="2147483649" r:id="rId1"/>
  </p:sldLayoutIdLst>
  <p:hf sldNum="0" hdr="0" ftr="0" dt="0"/>
  <p:txStyles>
    <p:titleStyle>
      <a:lvl1pPr algn="ctr" defTabSz="914400" rtl="0" eaLnBrk="1" latinLnBrk="0" hangingPunct="1">
        <a:spcBef>
          <a:spcPct val="0"/>
        </a:spcBef>
        <a:buNone/>
        <a:defRPr sz="4400" kern="1200">
          <a:solidFill>
            <a:schemeClr val="tx1"/>
          </a:solidFill>
          <a:latin typeface="+mj-lt"/>
          <a:ea typeface="+mj-ea"/>
          <a:cs typeface="+mj-cs"/>
        </a:defRPr>
      </a:lvl1pPr>
    </p:titleStyle>
    <p:bodyStyle>
      <a:lvl1pPr marL="342900" indent="-342900" algn="l" defTabSz="914400" rtl="0" eaLnBrk="1" latinLnBrk="0" hangingPunct="1">
        <a:spcBef>
          <a:spcPct val="20000"/>
        </a:spcBef>
        <a:buFont typeface="Arial" pitchFamily="34" charset="0"/>
        <a:buChar char="•"/>
        <a:defRPr sz="3200" kern="1200">
          <a:solidFill>
            <a:schemeClr val="tx1"/>
          </a:solidFill>
          <a:latin typeface="+mn-lt"/>
          <a:ea typeface="+mn-ea"/>
          <a:cs typeface="+mn-cs"/>
        </a:defRPr>
      </a:lvl1pPr>
      <a:lvl2pPr marL="742950" indent="-285750" algn="l" defTabSz="914400" rtl="0" eaLnBrk="1" latinLnBrk="0" hangingPunct="1">
        <a:spcBef>
          <a:spcPct val="20000"/>
        </a:spcBef>
        <a:buFont typeface="Arial" pitchFamily="34" charset="0"/>
        <a:buChar char="–"/>
        <a:defRPr sz="2800" kern="1200">
          <a:solidFill>
            <a:schemeClr val="tx1"/>
          </a:solidFill>
          <a:latin typeface="+mn-lt"/>
          <a:ea typeface="+mn-ea"/>
          <a:cs typeface="+mn-cs"/>
        </a:defRPr>
      </a:lvl2pPr>
      <a:lvl3pPr marL="11430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400" kern="1200">
          <a:solidFill>
            <a:schemeClr val="tx1"/>
          </a:solidFill>
          <a:latin typeface="+mn-lt"/>
          <a:ea typeface="+mn-ea"/>
          <a:cs typeface="+mn-cs"/>
        </a:defRPr>
      </a:lvl3pPr>
      <a:lvl4pPr marL="1600200" indent="-228600" algn="l" defTabSz="914400" rtl="0" eaLnBrk="1" latinLnBrk="0" hangingPunct="1">
        <a:spcBef>
          <a:spcPct val="20000"/>
        </a:spcBef>
        <a:buFont typeface="Arial" pitchFamily="34" charset="0"/>
        <a:buChar char="–"/>
        <a:defRPr sz="2000" kern="1200">
          <a:solidFill>
            <a:schemeClr val="tx1"/>
          </a:solidFill>
          <a:latin typeface="+mn-lt"/>
          <a:ea typeface="+mn-ea"/>
          <a:cs typeface="+mn-cs"/>
        </a:defRPr>
      </a:lvl4pPr>
      <a:lvl5pPr marL="2057400" indent="-228600" algn="l" defTabSz="914400" rtl="0" eaLnBrk="1" latinLnBrk="0" hangingPunct="1">
        <a:spcBef>
          <a:spcPct val="20000"/>
        </a:spcBef>
        <a:buFont typeface="Arial" pitchFamily="34" charset="0"/>
        <a:buChar char="»"/>
        <a:defRPr sz="2000" kern="1200">
          <a:solidFill>
            <a:schemeClr val="tx1"/>
          </a:solidFill>
          <a:latin typeface="+mn-lt"/>
          <a:ea typeface="+mn-ea"/>
          <a:cs typeface="+mn-cs"/>
        </a:defRPr>
      </a:lvl5pPr>
      <a:lvl6pPr marL="25146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6pPr>
      <a:lvl7pPr marL="29718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7pPr>
      <a:lvl8pPr marL="34290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8pPr>
      <a:lvl9pPr marL="38862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9pPr>
    </p:bodyStyle>
    <p:otherStyle>
      <a:defPPr>
        <a:defRPr lang="en-US"/>
      </a:defPPr>
      <a:lvl1pPr marL="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1pPr>
      <a:lvl2pPr marL="4572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2pPr>
      <a:lvl3pPr marL="9144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3pPr>
      <a:lvl4pPr marL="13716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4pPr>
      <a:lvl5pPr marL="18288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5pPr>
      <a:lvl6pPr marL="22860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6pPr>
      <a:lvl7pPr marL="27432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7pPr>
      <a:lvl8pPr marL="32004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8pPr>
      <a:lvl9pPr marL="36576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9pPr>
    </p:otherStyle>
  </p:txStyles>
</p:sldMaster>
</file>

<file path=ppt/slides/_rels/slide1.xml.rels><?xml version="1.0" encoding="UTF-8" standalone="yes"?>
<Relationships xmlns="http://schemas.openxmlformats.org/package/2006/relationships"><Relationship Id="rId1" Type="http://schemas.openxmlformats.org/officeDocument/2006/relationships/image" Target="../media/image-1-1.png"/><Relationship Id="rId2" Type="http://schemas.openxmlformats.org/officeDocument/2006/relationships/slideLayout" Target="../slideLayouts/slideLayout1.xml"/><Relationship Id="rId3" Type="http://schemas.openxmlformats.org/officeDocument/2006/relationships/notesSlide" Target="../notesSlides/notesSlide1.xml"/></Relationships>
</file>

<file path=ppt/slides/_rels/slide2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2.xml"/></Relationships>
</file>

<file path=ppt/slides/_rels/slide3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3.xml"/></Relationships>
</file>

<file path=ppt/slides/_rels/slide4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4.xml"/></Relationships>
</file>

<file path=ppt/slides/_rels/slide5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5.xml"/></Relationships>
</file>

<file path=ppt/slides/_rels/slide6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6.xml"/></Relationships>
</file>

<file path=ppt/slides/_rels/slide7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7.xml"/></Relationships>
</file>

<file path=ppt/slides/_rels/slide8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8.xml"/></Relationships>
</file>

<file path=ppt/slides/_rels/slide9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9.xml"/></Relationships>
</file>

<file path=ppt/slides/_rels/slide10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10.xml"/></Relationships>
</file>

<file path=ppt/slides/_rels/slide11.xml.rels><?xml version="1.0" encoding="UTF-8" standalone="yes"?>
<Relationships xmlns="http://schemas.openxmlformats.org/package/2006/relationships"><Relationship Id="rId1" Type="http://schemas.openxmlformats.org/officeDocument/2006/relationships/image" Target="../media/image-11-1.png"/><Relationship Id="rId2" Type="http://schemas.openxmlformats.org/officeDocument/2006/relationships/image" Target="../media/image-11-2.png"/><Relationship Id="rId3" Type="http://schemas.openxmlformats.org/officeDocument/2006/relationships/image" Target="../media/image-11-3.png"/><Relationship Id="rId4" Type="http://schemas.openxmlformats.org/officeDocument/2006/relationships/image" Target="../media/image-11-4.png"/><Relationship Id="rId5" Type="http://schemas.openxmlformats.org/officeDocument/2006/relationships/image" Target="../media/image-11-5.png"/><Relationship Id="rId6" Type="http://schemas.openxmlformats.org/officeDocument/2006/relationships/image" Target="../media/image-11-6.png"/><Relationship Id="rId7" Type="http://schemas.openxmlformats.org/officeDocument/2006/relationships/image" Target="../media/image-11-7.png"/><Relationship Id="rId8" Type="http://schemas.openxmlformats.org/officeDocument/2006/relationships/image" Target="../media/image-11-8.png"/><Relationship Id="rId9" Type="http://schemas.openxmlformats.org/officeDocument/2006/relationships/image" Target="../media/image-11-9.png"/><Relationship Id="rId10" Type="http://schemas.openxmlformats.org/officeDocument/2006/relationships/slideLayout" Target="../slideLayouts/slideLayout1.xml"/><Relationship Id="rId11" Type="http://schemas.openxmlformats.org/officeDocument/2006/relationships/notesSlide" Target="../notesSlides/notesSlide11.xml"/></Relationships>
</file>

<file path=ppt/slides/_rels/slide12.xml.rels><?xml version="1.0" encoding="UTF-8" standalone="yes"?>
<Relationships xmlns="http://schemas.openxmlformats.org/package/2006/relationships"><Relationship Id="rId1" Type="http://schemas.openxmlformats.org/officeDocument/2006/relationships/image" Target="../media/image-12-1.png"/><Relationship Id="rId2" Type="http://schemas.openxmlformats.org/officeDocument/2006/relationships/slideLayout" Target="../slideLayouts/slideLayout1.xml"/><Relationship Id="rId3" Type="http://schemas.openxmlformats.org/officeDocument/2006/relationships/notesSlide" Target="../notesSlides/notesSlide12.xml"/></Relationships>
</file>

<file path=ppt/slides/slide1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">
    <p:bg>
      <p:bgPr>
        <a:solidFill>
          <a:srgbClr val="003F82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6355080" y="993648"/>
            <a:ext cx="5120640" cy="0"/>
          </a:xfrm>
          <a:prstGeom prst="line">
            <a:avLst/>
          </a:prstGeom>
          <a:noFill/>
          <a:ln w="9525">
            <a:solidFill>
              <a:srgbClr val="285D95"/>
            </a:solidFill>
            <a:prstDash val="solid"/>
          </a:ln>
        </p:spPr>
      </p:sp>
      <p:sp>
        <p:nvSpPr>
          <p:cNvPr id="3" name="Shape 1"/>
          <p:cNvSpPr/>
          <p:nvPr/>
        </p:nvSpPr>
        <p:spPr>
          <a:xfrm>
            <a:off x="6355080" y="1420368"/>
            <a:ext cx="5120640" cy="0"/>
          </a:xfrm>
          <a:prstGeom prst="line">
            <a:avLst/>
          </a:prstGeom>
          <a:noFill/>
          <a:ln w="9525">
            <a:solidFill>
              <a:srgbClr val="285D95"/>
            </a:solidFill>
            <a:prstDash val="solid"/>
          </a:ln>
        </p:spPr>
      </p:sp>
      <p:sp>
        <p:nvSpPr>
          <p:cNvPr id="4" name="Shape 2"/>
          <p:cNvSpPr/>
          <p:nvPr/>
        </p:nvSpPr>
        <p:spPr>
          <a:xfrm>
            <a:off x="6355080" y="1847088"/>
            <a:ext cx="5120640" cy="0"/>
          </a:xfrm>
          <a:prstGeom prst="line">
            <a:avLst/>
          </a:prstGeom>
          <a:noFill/>
          <a:ln w="9525">
            <a:solidFill>
              <a:srgbClr val="285D95"/>
            </a:solidFill>
            <a:prstDash val="solid"/>
          </a:ln>
        </p:spPr>
      </p:sp>
      <p:sp>
        <p:nvSpPr>
          <p:cNvPr id="5" name="Shape 3"/>
          <p:cNvSpPr/>
          <p:nvPr/>
        </p:nvSpPr>
        <p:spPr>
          <a:xfrm>
            <a:off x="6355080" y="2273808"/>
            <a:ext cx="5120640" cy="0"/>
          </a:xfrm>
          <a:prstGeom prst="line">
            <a:avLst/>
          </a:prstGeom>
          <a:noFill/>
          <a:ln w="9525">
            <a:solidFill>
              <a:srgbClr val="285D95"/>
            </a:solidFill>
            <a:prstDash val="solid"/>
          </a:ln>
        </p:spPr>
      </p:sp>
      <p:sp>
        <p:nvSpPr>
          <p:cNvPr id="6" name="Shape 4"/>
          <p:cNvSpPr/>
          <p:nvPr/>
        </p:nvSpPr>
        <p:spPr>
          <a:xfrm>
            <a:off x="6355080" y="2700528"/>
            <a:ext cx="5120640" cy="0"/>
          </a:xfrm>
          <a:prstGeom prst="line">
            <a:avLst/>
          </a:prstGeom>
          <a:noFill/>
          <a:ln w="9525">
            <a:solidFill>
              <a:srgbClr val="285D95"/>
            </a:solidFill>
            <a:prstDash val="solid"/>
          </a:ln>
        </p:spPr>
      </p:sp>
      <p:sp>
        <p:nvSpPr>
          <p:cNvPr id="7" name="Shape 5"/>
          <p:cNvSpPr/>
          <p:nvPr/>
        </p:nvSpPr>
        <p:spPr>
          <a:xfrm>
            <a:off x="6355080" y="3127248"/>
            <a:ext cx="5120640" cy="0"/>
          </a:xfrm>
          <a:prstGeom prst="line">
            <a:avLst/>
          </a:prstGeom>
          <a:noFill/>
          <a:ln w="9525">
            <a:solidFill>
              <a:srgbClr val="285D95"/>
            </a:solidFill>
            <a:prstDash val="solid"/>
          </a:ln>
        </p:spPr>
      </p:sp>
      <p:sp>
        <p:nvSpPr>
          <p:cNvPr id="8" name="Shape 6"/>
          <p:cNvSpPr/>
          <p:nvPr/>
        </p:nvSpPr>
        <p:spPr>
          <a:xfrm>
            <a:off x="6355080" y="3553968"/>
            <a:ext cx="5120640" cy="0"/>
          </a:xfrm>
          <a:prstGeom prst="line">
            <a:avLst/>
          </a:prstGeom>
          <a:noFill/>
          <a:ln w="9525">
            <a:solidFill>
              <a:srgbClr val="285D95"/>
            </a:solidFill>
            <a:prstDash val="solid"/>
          </a:ln>
        </p:spPr>
      </p:sp>
      <p:sp>
        <p:nvSpPr>
          <p:cNvPr id="9" name="Shape 7"/>
          <p:cNvSpPr/>
          <p:nvPr/>
        </p:nvSpPr>
        <p:spPr>
          <a:xfrm>
            <a:off x="6355080" y="3980688"/>
            <a:ext cx="5120640" cy="0"/>
          </a:xfrm>
          <a:prstGeom prst="line">
            <a:avLst/>
          </a:prstGeom>
          <a:noFill/>
          <a:ln w="9525">
            <a:solidFill>
              <a:srgbClr val="285D95"/>
            </a:solidFill>
            <a:prstDash val="solid"/>
          </a:ln>
        </p:spPr>
      </p:sp>
      <p:sp>
        <p:nvSpPr>
          <p:cNvPr id="10" name="Shape 8"/>
          <p:cNvSpPr/>
          <p:nvPr/>
        </p:nvSpPr>
        <p:spPr>
          <a:xfrm>
            <a:off x="6355080" y="4407408"/>
            <a:ext cx="5120640" cy="0"/>
          </a:xfrm>
          <a:prstGeom prst="line">
            <a:avLst/>
          </a:prstGeom>
          <a:noFill/>
          <a:ln w="9525">
            <a:solidFill>
              <a:srgbClr val="285D95"/>
            </a:solidFill>
            <a:prstDash val="solid"/>
          </a:ln>
        </p:spPr>
      </p:sp>
      <p:sp>
        <p:nvSpPr>
          <p:cNvPr id="11" name="Shape 9"/>
          <p:cNvSpPr/>
          <p:nvPr/>
        </p:nvSpPr>
        <p:spPr>
          <a:xfrm>
            <a:off x="6355080" y="4834128"/>
            <a:ext cx="5120640" cy="0"/>
          </a:xfrm>
          <a:prstGeom prst="line">
            <a:avLst/>
          </a:prstGeom>
          <a:noFill/>
          <a:ln w="9525">
            <a:solidFill>
              <a:srgbClr val="285D95"/>
            </a:solidFill>
            <a:prstDash val="solid"/>
          </a:ln>
        </p:spPr>
      </p:sp>
      <p:sp>
        <p:nvSpPr>
          <p:cNvPr id="12" name="Shape 10"/>
          <p:cNvSpPr/>
          <p:nvPr/>
        </p:nvSpPr>
        <p:spPr>
          <a:xfrm>
            <a:off x="6824472" y="566928"/>
            <a:ext cx="0" cy="4480560"/>
          </a:xfrm>
          <a:prstGeom prst="line">
            <a:avLst/>
          </a:prstGeom>
          <a:noFill/>
          <a:ln w="9525">
            <a:solidFill>
              <a:srgbClr val="285D95"/>
            </a:solidFill>
            <a:prstDash val="solid"/>
          </a:ln>
        </p:spPr>
      </p:sp>
      <p:sp>
        <p:nvSpPr>
          <p:cNvPr id="13" name="Shape 11"/>
          <p:cNvSpPr/>
          <p:nvPr/>
        </p:nvSpPr>
        <p:spPr>
          <a:xfrm flipV="1">
            <a:off x="7379208" y="1420368"/>
            <a:ext cx="1280160" cy="426720"/>
          </a:xfrm>
          <a:prstGeom prst="line">
            <a:avLst/>
          </a:prstGeom>
          <a:noFill/>
          <a:ln w="9525">
            <a:solidFill>
              <a:srgbClr val="7597BC"/>
            </a:solidFill>
            <a:prstDash val="solid"/>
          </a:ln>
        </p:spPr>
      </p:sp>
      <p:sp>
        <p:nvSpPr>
          <p:cNvPr id="14" name="Shape 12"/>
          <p:cNvSpPr/>
          <p:nvPr/>
        </p:nvSpPr>
        <p:spPr>
          <a:xfrm>
            <a:off x="8659368" y="1420368"/>
            <a:ext cx="1216152" cy="853440"/>
          </a:xfrm>
          <a:prstGeom prst="line">
            <a:avLst/>
          </a:prstGeom>
          <a:noFill/>
          <a:ln w="9525">
            <a:solidFill>
              <a:srgbClr val="7597BC"/>
            </a:solidFill>
            <a:prstDash val="solid"/>
          </a:ln>
        </p:spPr>
      </p:sp>
      <p:sp>
        <p:nvSpPr>
          <p:cNvPr id="15" name="Shape 13"/>
          <p:cNvSpPr/>
          <p:nvPr/>
        </p:nvSpPr>
        <p:spPr>
          <a:xfrm>
            <a:off x="7379208" y="1847088"/>
            <a:ext cx="1280160" cy="853440"/>
          </a:xfrm>
          <a:prstGeom prst="line">
            <a:avLst/>
          </a:prstGeom>
          <a:noFill/>
          <a:ln w="9525">
            <a:solidFill>
              <a:srgbClr val="7597BC"/>
            </a:solidFill>
            <a:prstDash val="solid"/>
          </a:ln>
        </p:spPr>
      </p:sp>
      <p:sp>
        <p:nvSpPr>
          <p:cNvPr id="16" name="Shape 14"/>
          <p:cNvSpPr/>
          <p:nvPr/>
        </p:nvSpPr>
        <p:spPr>
          <a:xfrm flipV="1">
            <a:off x="8659368" y="2273808"/>
            <a:ext cx="1216152" cy="426720"/>
          </a:xfrm>
          <a:prstGeom prst="line">
            <a:avLst/>
          </a:prstGeom>
          <a:noFill/>
          <a:ln w="9525">
            <a:solidFill>
              <a:srgbClr val="7597BC"/>
            </a:solidFill>
            <a:prstDash val="solid"/>
          </a:ln>
        </p:spPr>
      </p:sp>
      <p:sp>
        <p:nvSpPr>
          <p:cNvPr id="17" name="Shape 15"/>
          <p:cNvSpPr/>
          <p:nvPr/>
        </p:nvSpPr>
        <p:spPr>
          <a:xfrm flipV="1">
            <a:off x="7955280" y="2700528"/>
            <a:ext cx="704088" cy="426720"/>
          </a:xfrm>
          <a:prstGeom prst="line">
            <a:avLst/>
          </a:prstGeom>
          <a:noFill/>
          <a:ln w="9525">
            <a:solidFill>
              <a:srgbClr val="7597BC"/>
            </a:solidFill>
            <a:prstDash val="solid"/>
          </a:ln>
        </p:spPr>
      </p:sp>
      <p:sp>
        <p:nvSpPr>
          <p:cNvPr id="18" name="Shape 16"/>
          <p:cNvSpPr/>
          <p:nvPr/>
        </p:nvSpPr>
        <p:spPr>
          <a:xfrm>
            <a:off x="7955280" y="3127248"/>
            <a:ext cx="1472184" cy="426720"/>
          </a:xfrm>
          <a:prstGeom prst="line">
            <a:avLst/>
          </a:prstGeom>
          <a:noFill/>
          <a:ln w="9525">
            <a:solidFill>
              <a:srgbClr val="7597BC"/>
            </a:solidFill>
            <a:prstDash val="solid"/>
          </a:ln>
        </p:spPr>
      </p:sp>
      <p:sp>
        <p:nvSpPr>
          <p:cNvPr id="19" name="Shape 17"/>
          <p:cNvSpPr/>
          <p:nvPr/>
        </p:nvSpPr>
        <p:spPr>
          <a:xfrm flipV="1">
            <a:off x="9427464" y="2273808"/>
            <a:ext cx="448056" cy="1280160"/>
          </a:xfrm>
          <a:prstGeom prst="line">
            <a:avLst/>
          </a:prstGeom>
          <a:noFill/>
          <a:ln w="9525">
            <a:solidFill>
              <a:srgbClr val="7597BC"/>
            </a:solidFill>
            <a:prstDash val="solid"/>
          </a:ln>
        </p:spPr>
      </p:sp>
      <p:sp>
        <p:nvSpPr>
          <p:cNvPr id="20" name="Shape 18"/>
          <p:cNvSpPr/>
          <p:nvPr/>
        </p:nvSpPr>
        <p:spPr>
          <a:xfrm>
            <a:off x="9427464" y="3553968"/>
            <a:ext cx="1216152" cy="426720"/>
          </a:xfrm>
          <a:prstGeom prst="line">
            <a:avLst/>
          </a:prstGeom>
          <a:noFill/>
          <a:ln w="9525">
            <a:solidFill>
              <a:srgbClr val="7597BC"/>
            </a:solidFill>
            <a:prstDash val="solid"/>
          </a:ln>
        </p:spPr>
      </p:sp>
      <p:sp>
        <p:nvSpPr>
          <p:cNvPr id="21" name="Shape 19"/>
          <p:cNvSpPr/>
          <p:nvPr/>
        </p:nvSpPr>
        <p:spPr>
          <a:xfrm flipV="1">
            <a:off x="7123176" y="3127248"/>
            <a:ext cx="832104" cy="1024128"/>
          </a:xfrm>
          <a:prstGeom prst="line">
            <a:avLst/>
          </a:prstGeom>
          <a:noFill/>
          <a:ln w="9525">
            <a:solidFill>
              <a:srgbClr val="7597BC"/>
            </a:solidFill>
            <a:prstDash val="solid"/>
          </a:ln>
        </p:spPr>
      </p:sp>
      <p:sp>
        <p:nvSpPr>
          <p:cNvPr id="22" name="Shape 20"/>
          <p:cNvSpPr/>
          <p:nvPr/>
        </p:nvSpPr>
        <p:spPr>
          <a:xfrm flipV="1">
            <a:off x="7123176" y="3553968"/>
            <a:ext cx="2304288" cy="597408"/>
          </a:xfrm>
          <a:prstGeom prst="line">
            <a:avLst/>
          </a:prstGeom>
          <a:noFill/>
          <a:ln w="9525">
            <a:solidFill>
              <a:srgbClr val="7597BC"/>
            </a:solidFill>
            <a:prstDash val="solid"/>
          </a:ln>
        </p:spPr>
      </p:sp>
      <p:sp>
        <p:nvSpPr>
          <p:cNvPr id="23" name="Shape 21"/>
          <p:cNvSpPr/>
          <p:nvPr/>
        </p:nvSpPr>
        <p:spPr>
          <a:xfrm>
            <a:off x="7298131" y="1766011"/>
            <a:ext cx="162154" cy="162154"/>
          </a:xfrm>
          <a:prstGeom prst="ellipse">
            <a:avLst/>
          </a:prstGeom>
          <a:solidFill>
            <a:srgbClr val="FFFFFF"/>
          </a:solidFill>
          <a:ln w="3175">
            <a:solidFill>
              <a:srgbClr val="FFFFFF"/>
            </a:solidFill>
            <a:prstDash val="solid"/>
          </a:ln>
        </p:spPr>
      </p:sp>
      <p:sp>
        <p:nvSpPr>
          <p:cNvPr id="24" name="Shape 22"/>
          <p:cNvSpPr/>
          <p:nvPr/>
        </p:nvSpPr>
        <p:spPr>
          <a:xfrm>
            <a:off x="8598560" y="1359560"/>
            <a:ext cx="121615" cy="121615"/>
          </a:xfrm>
          <a:prstGeom prst="ellipse">
            <a:avLst/>
          </a:prstGeom>
          <a:solidFill>
            <a:srgbClr val="FFFFFF"/>
          </a:solidFill>
          <a:ln w="3175">
            <a:solidFill>
              <a:srgbClr val="FFFFFF"/>
            </a:solidFill>
            <a:prstDash val="solid"/>
          </a:ln>
        </p:spPr>
      </p:sp>
      <p:sp>
        <p:nvSpPr>
          <p:cNvPr id="25" name="Shape 23"/>
          <p:cNvSpPr/>
          <p:nvPr/>
        </p:nvSpPr>
        <p:spPr>
          <a:xfrm>
            <a:off x="9774174" y="2172462"/>
            <a:ext cx="202692" cy="202692"/>
          </a:xfrm>
          <a:prstGeom prst="ellipse">
            <a:avLst/>
          </a:prstGeom>
          <a:solidFill>
            <a:srgbClr val="FFFFFF"/>
          </a:solidFill>
          <a:ln w="3175">
            <a:solidFill>
              <a:srgbClr val="FFFFFF"/>
            </a:solidFill>
            <a:prstDash val="solid"/>
          </a:ln>
        </p:spPr>
      </p:sp>
      <p:sp>
        <p:nvSpPr>
          <p:cNvPr id="26" name="Shape 24"/>
          <p:cNvSpPr/>
          <p:nvPr/>
        </p:nvSpPr>
        <p:spPr>
          <a:xfrm>
            <a:off x="7894472" y="3066440"/>
            <a:ext cx="121615" cy="121615"/>
          </a:xfrm>
          <a:prstGeom prst="ellipse">
            <a:avLst/>
          </a:prstGeom>
          <a:solidFill>
            <a:srgbClr val="FFFFFF"/>
          </a:solidFill>
          <a:ln w="3175">
            <a:solidFill>
              <a:srgbClr val="FFFFFF"/>
            </a:solidFill>
            <a:prstDash val="solid"/>
          </a:ln>
        </p:spPr>
      </p:sp>
      <p:sp>
        <p:nvSpPr>
          <p:cNvPr id="27" name="Shape 25"/>
          <p:cNvSpPr/>
          <p:nvPr/>
        </p:nvSpPr>
        <p:spPr>
          <a:xfrm>
            <a:off x="9346387" y="3472891"/>
            <a:ext cx="162154" cy="162154"/>
          </a:xfrm>
          <a:prstGeom prst="ellipse">
            <a:avLst/>
          </a:prstGeom>
          <a:solidFill>
            <a:srgbClr val="FFFFFF"/>
          </a:solidFill>
          <a:ln w="3175">
            <a:solidFill>
              <a:srgbClr val="FFFFFF"/>
            </a:solidFill>
            <a:prstDash val="solid"/>
          </a:ln>
        </p:spPr>
      </p:sp>
      <p:sp>
        <p:nvSpPr>
          <p:cNvPr id="28" name="Shape 26"/>
          <p:cNvSpPr/>
          <p:nvPr/>
        </p:nvSpPr>
        <p:spPr>
          <a:xfrm>
            <a:off x="10582808" y="3919880"/>
            <a:ext cx="121615" cy="121615"/>
          </a:xfrm>
          <a:prstGeom prst="ellipse">
            <a:avLst/>
          </a:prstGeom>
          <a:solidFill>
            <a:srgbClr val="FFFFFF"/>
          </a:solidFill>
          <a:ln w="3175">
            <a:solidFill>
              <a:srgbClr val="FFFFFF"/>
            </a:solidFill>
            <a:prstDash val="solid"/>
          </a:ln>
        </p:spPr>
      </p:sp>
      <p:sp>
        <p:nvSpPr>
          <p:cNvPr id="29" name="Shape 27"/>
          <p:cNvSpPr/>
          <p:nvPr/>
        </p:nvSpPr>
        <p:spPr>
          <a:xfrm>
            <a:off x="7062368" y="4090568"/>
            <a:ext cx="121615" cy="121615"/>
          </a:xfrm>
          <a:prstGeom prst="ellipse">
            <a:avLst/>
          </a:prstGeom>
          <a:solidFill>
            <a:srgbClr val="FFFFFF"/>
          </a:solidFill>
          <a:ln w="3175">
            <a:solidFill>
              <a:srgbClr val="FFFFFF"/>
            </a:solidFill>
            <a:prstDash val="solid"/>
          </a:ln>
        </p:spPr>
      </p:sp>
      <p:sp>
        <p:nvSpPr>
          <p:cNvPr id="30" name="Shape 28"/>
          <p:cNvSpPr/>
          <p:nvPr/>
        </p:nvSpPr>
        <p:spPr>
          <a:xfrm>
            <a:off x="8537753" y="2578913"/>
            <a:ext cx="243230" cy="243230"/>
          </a:xfrm>
          <a:prstGeom prst="ellipse">
            <a:avLst/>
          </a:prstGeom>
          <a:solidFill>
            <a:srgbClr val="E8B33A"/>
          </a:solidFill>
          <a:ln w="3175">
            <a:solidFill>
              <a:srgbClr val="E8B33A"/>
            </a:solidFill>
            <a:prstDash val="solid"/>
          </a:ln>
        </p:spPr>
      </p:sp>
      <p:pic>
        <p:nvPicPr>
          <p:cNvPr id="31" name="Image 0" descr="./assets/logo-dark.png">    </p:cNvPr>
          <p:cNvPicPr>
            <a:picLocks noChangeAspect="1"/>
          </p:cNvPicPr>
          <p:nvPr/>
        </p:nvPicPr>
        <p:blipFill>
          <a:blip r:embed="rId1"/>
          <a:stretch>
            <a:fillRect/>
          </a:stretch>
        </p:blipFill>
        <p:spPr>
          <a:xfrm>
            <a:off x="777240" y="658368"/>
            <a:ext cx="1874520" cy="645274"/>
          </a:xfrm>
          <a:prstGeom prst="rect">
            <a:avLst/>
          </a:prstGeom>
        </p:spPr>
      </p:pic>
      <p:sp>
        <p:nvSpPr>
          <p:cNvPr id="32" name="Shape 29"/>
          <p:cNvSpPr/>
          <p:nvPr/>
        </p:nvSpPr>
        <p:spPr>
          <a:xfrm>
            <a:off x="777240" y="2263140"/>
            <a:ext cx="237744" cy="0"/>
          </a:xfrm>
          <a:prstGeom prst="line">
            <a:avLst/>
          </a:prstGeom>
          <a:noFill/>
          <a:ln w="12700">
            <a:solidFill>
              <a:srgbClr val="F5DCA4"/>
            </a:solidFill>
            <a:prstDash val="solid"/>
          </a:ln>
        </p:spPr>
      </p:sp>
      <p:sp>
        <p:nvSpPr>
          <p:cNvPr id="33" name="Text 30"/>
          <p:cNvSpPr txBox="1"/>
          <p:nvPr/>
        </p:nvSpPr>
        <p:spPr>
          <a:xfrm>
            <a:off x="1106424" y="2144268"/>
            <a:ext cx="5486400" cy="23774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850" spc="90" kern="0" dirty="0">
                <a:solidFill>
                  <a:srgbClr val="F5DCA4"/>
                </a:solidFill>
                <a:latin typeface="IBM Plex Mono" pitchFamily="34" charset="0"/>
                <a:ea typeface="IBM Plex Mono" pitchFamily="34" charset="-122"/>
                <a:cs typeface="IBM Plex Mono" pitchFamily="34" charset="-120"/>
              </a:rPr>
              <a:t>COMPANY OVERVIEW</a:t>
            </a:r>
            <a:endParaRPr lang="en-US" sz="850" dirty="0"/>
          </a:p>
        </p:txBody>
      </p:sp>
      <p:sp>
        <p:nvSpPr>
          <p:cNvPr id="34" name="Text 31"/>
          <p:cNvSpPr txBox="1"/>
          <p:nvPr/>
        </p:nvSpPr>
        <p:spPr>
          <a:xfrm>
            <a:off x="777240" y="2578608"/>
            <a:ext cx="6128842" cy="192024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lnSpc>
                <a:spcPts val="4000"/>
              </a:lnSpc>
              <a:buNone/>
            </a:pPr>
            <a:r>
              <a:rPr lang="en-US" sz="3300" b="1" spc="-90" kern="0" dirty="0">
                <a:solidFill>
                  <a:srgbClr val="FFFFFF"/>
                </a:solidFill>
                <a:latin typeface="Schibsted Grotesk" pitchFamily="34" charset="0"/>
                <a:ea typeface="Schibsted Grotesk" pitchFamily="34" charset="-122"/>
                <a:cs typeface="Schibsted Grotesk" pitchFamily="34" charset="-120"/>
              </a:rPr>
              <a:t>10+ years of SAP finance</a:t>
            </a:r>
            <a:endParaRPr lang="en-US" sz="3300" dirty="0"/>
          </a:p>
          <a:p>
            <a:pPr indent="0" marL="0">
              <a:lnSpc>
                <a:spcPts val="4000"/>
              </a:lnSpc>
              <a:buNone/>
            </a:pPr>
            <a:r>
              <a:rPr lang="en-US" sz="3300" b="1" spc="-90" kern="0" dirty="0">
                <a:solidFill>
                  <a:srgbClr val="FFFFFF"/>
                </a:solidFill>
                <a:latin typeface="Schibsted Grotesk" pitchFamily="34" charset="0"/>
                <a:ea typeface="Schibsted Grotesk" pitchFamily="34" charset="-122"/>
                <a:cs typeface="Schibsted Grotesk" pitchFamily="34" charset="-120"/>
              </a:rPr>
              <a:t>experience and SAP</a:t>
            </a:r>
            <a:endParaRPr lang="en-US" sz="3300" dirty="0"/>
          </a:p>
          <a:p>
            <a:pPr indent="0" marL="0">
              <a:lnSpc>
                <a:spcPts val="4000"/>
              </a:lnSpc>
              <a:buNone/>
            </a:pPr>
            <a:r>
              <a:rPr lang="en-US" sz="3300" b="1" spc="-90" kern="0" dirty="0">
                <a:solidFill>
                  <a:srgbClr val="FFFFFF"/>
                </a:solidFill>
                <a:latin typeface="Schibsted Grotesk" pitchFamily="34" charset="0"/>
                <a:ea typeface="Schibsted Grotesk" pitchFamily="34" charset="-122"/>
                <a:cs typeface="Schibsted Grotesk" pitchFamily="34" charset="-120"/>
              </a:rPr>
              <a:t>cloud architecture</a:t>
            </a:r>
            <a:endParaRPr lang="en-US" sz="3300" dirty="0"/>
          </a:p>
        </p:txBody>
      </p:sp>
      <p:sp>
        <p:nvSpPr>
          <p:cNvPr id="35" name="Text 32"/>
          <p:cNvSpPr txBox="1"/>
          <p:nvPr/>
        </p:nvSpPr>
        <p:spPr>
          <a:xfrm>
            <a:off x="777240" y="4590288"/>
            <a:ext cx="5227168" cy="82296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lnSpc>
                <a:spcPts val="1705"/>
              </a:lnSpc>
              <a:buNone/>
            </a:pPr>
            <a:r>
              <a:rPr lang="en-US" sz="1100" dirty="0">
                <a:solidFill>
                  <a:srgbClr val="D2DDE6"/>
                </a:solidFill>
                <a:latin typeface="Inter" pitchFamily="34" charset="0"/>
                <a:ea typeface="Inter" pitchFamily="34" charset="-122"/>
                <a:cs typeface="Inter" pitchFamily="34" charset="-120"/>
              </a:rPr>
              <a:t>Deep expertise across the SAP finance modules and a genuinely neutral read on the cloud models — so the decision you take is one you can defend with its reasoning.</a:t>
            </a:r>
            <a:endParaRPr lang="en-US" sz="1100" dirty="0"/>
          </a:p>
        </p:txBody>
      </p:sp>
      <p:sp>
        <p:nvSpPr>
          <p:cNvPr id="36" name="Shape 33"/>
          <p:cNvSpPr/>
          <p:nvPr/>
        </p:nvSpPr>
        <p:spPr>
          <a:xfrm>
            <a:off x="777240" y="5870448"/>
            <a:ext cx="10637215" cy="0"/>
          </a:xfrm>
          <a:prstGeom prst="line">
            <a:avLst/>
          </a:prstGeom>
          <a:noFill/>
          <a:ln w="9525">
            <a:solidFill>
              <a:srgbClr val="33659B"/>
            </a:solidFill>
            <a:prstDash val="solid"/>
          </a:ln>
        </p:spPr>
      </p:sp>
      <p:sp>
        <p:nvSpPr>
          <p:cNvPr id="37" name="Text 34"/>
          <p:cNvSpPr txBox="1"/>
          <p:nvPr/>
        </p:nvSpPr>
        <p:spPr>
          <a:xfrm>
            <a:off x="777240" y="6053328"/>
            <a:ext cx="3657600" cy="1828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850" spc="75" kern="0" dirty="0">
                <a:solidFill>
                  <a:srgbClr val="F5DCA4"/>
                </a:solidFill>
                <a:latin typeface="IBM Plex Mono" pitchFamily="34" charset="0"/>
                <a:ea typeface="IBM Plex Mono" pitchFamily="34" charset="-122"/>
                <a:cs typeface="IBM Plex Mono" pitchFamily="34" charset="-120"/>
              </a:rPr>
              <a:t>CPEAKCONSULTANCY.COM</a:t>
            </a:r>
            <a:endParaRPr lang="en-US" sz="850" dirty="0"/>
          </a:p>
        </p:txBody>
      </p:sp>
      <p:sp>
        <p:nvSpPr>
          <p:cNvPr id="38" name="Text 35"/>
          <p:cNvSpPr txBox="1"/>
          <p:nvPr/>
        </p:nvSpPr>
        <p:spPr>
          <a:xfrm>
            <a:off x="5928055" y="6053328"/>
            <a:ext cx="5486400" cy="1828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850" spc="75" kern="0" dirty="0">
                <a:solidFill>
                  <a:srgbClr val="9EB6D0"/>
                </a:solidFill>
                <a:latin typeface="IBM Plex Mono" pitchFamily="34" charset="0"/>
                <a:ea typeface="IBM Plex Mono" pitchFamily="34" charset="-122"/>
                <a:cs typeface="IBM Plex Mono" pitchFamily="34" charset="-120"/>
              </a:rPr>
              <a:t>Istanbul  ·  Türkiye, EMEA and the United States</a:t>
            </a:r>
            <a:endParaRPr lang="en-US" sz="850" dirty="0"/>
          </a:p>
        </p:txBody>
      </p:sp>
    </p:spTree>
  </p:cSld>
  <p:clrMapOvr>
    <a:masterClrMapping/>
  </p:clrMapOvr>
</p:sld>
</file>

<file path=ppt/slides/slide2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2">
    <p:bg>
      <p:bgPr>
        <a:solidFill>
          <a:srgbClr val="F7F8F7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777240" y="580644"/>
            <a:ext cx="237744" cy="0"/>
          </a:xfrm>
          <a:prstGeom prst="line">
            <a:avLst/>
          </a:prstGeom>
          <a:noFill/>
          <a:ln w="12700">
            <a:solidFill>
              <a:srgbClr val="11676A"/>
            </a:solidFill>
            <a:prstDash val="solid"/>
          </a:ln>
        </p:spPr>
      </p:sp>
      <p:sp>
        <p:nvSpPr>
          <p:cNvPr id="3" name="Text 1"/>
          <p:cNvSpPr txBox="1"/>
          <p:nvPr/>
        </p:nvSpPr>
        <p:spPr>
          <a:xfrm>
            <a:off x="1106424" y="461772"/>
            <a:ext cx="5486400" cy="23774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850" spc="90" kern="0" dirty="0">
                <a:solidFill>
                  <a:srgbClr val="11676A"/>
                </a:solidFill>
                <a:latin typeface="IBM Plex Mono" pitchFamily="34" charset="0"/>
                <a:ea typeface="IBM Plex Mono" pitchFamily="34" charset="-122"/>
                <a:cs typeface="IBM Plex Mono" pitchFamily="34" charset="-120"/>
              </a:rPr>
              <a:t>WHO WE ARE</a:t>
            </a:r>
            <a:endParaRPr lang="en-US" sz="850" dirty="0"/>
          </a:p>
        </p:txBody>
      </p:sp>
      <p:sp>
        <p:nvSpPr>
          <p:cNvPr id="4" name="Text 2"/>
          <p:cNvSpPr txBox="1"/>
          <p:nvPr/>
        </p:nvSpPr>
        <p:spPr>
          <a:xfrm>
            <a:off x="777240" y="804672"/>
            <a:ext cx="5227168" cy="124206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lnSpc>
                <a:spcPts val="3068"/>
              </a:lnSpc>
              <a:buNone/>
            </a:pPr>
            <a:r>
              <a:rPr lang="en-US" sz="2600" b="1" spc="-50" kern="0" dirty="0">
                <a:solidFill>
                  <a:srgbClr val="11676A"/>
                </a:solidFill>
                <a:latin typeface="Schibsted Grotesk" pitchFamily="34" charset="0"/>
                <a:ea typeface="Schibsted Grotesk" pitchFamily="34" charset="-122"/>
                <a:cs typeface="Schibsted Grotesk" pitchFamily="34" charset="-120"/>
              </a:rPr>
              <a:t>An independent consultancy, specialised end to end in SAP finance</a:t>
            </a:r>
            <a:endParaRPr lang="en-US" sz="2600" dirty="0"/>
          </a:p>
        </p:txBody>
      </p:sp>
      <p:sp>
        <p:nvSpPr>
          <p:cNvPr id="5" name="Text 3"/>
          <p:cNvSpPr txBox="1"/>
          <p:nvPr/>
        </p:nvSpPr>
        <p:spPr>
          <a:xfrm>
            <a:off x="6187288" y="804672"/>
            <a:ext cx="5227168" cy="96012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lnSpc>
                <a:spcPts val="1628"/>
              </a:lnSpc>
              <a:buNone/>
            </a:pPr>
            <a:r>
              <a:rPr lang="en-US" sz="1050" dirty="0">
                <a:solidFill>
                  <a:srgbClr val="4A5A67"/>
                </a:solidFill>
                <a:latin typeface="Inter" pitchFamily="34" charset="0"/>
                <a:ea typeface="Inter" pitchFamily="34" charset="-122"/>
                <a:cs typeface="Inter" pitchFamily="34" charset="-120"/>
              </a:rPr>
              <a:t>CPeak Consultancy works end to end on the finance modules across SAP ECC, S/4HANA on-premise, Private Cloud and Public Cloud. Our focus is a senior team and an AI-supported way of working.</a:t>
            </a:r>
            <a:endParaRPr lang="en-US" sz="1050" dirty="0"/>
          </a:p>
        </p:txBody>
      </p:sp>
      <p:sp>
        <p:nvSpPr>
          <p:cNvPr id="6" name="Shape 4"/>
          <p:cNvSpPr/>
          <p:nvPr/>
        </p:nvSpPr>
        <p:spPr>
          <a:xfrm>
            <a:off x="6187288" y="1755648"/>
            <a:ext cx="5227168" cy="0"/>
          </a:xfrm>
          <a:prstGeom prst="line">
            <a:avLst/>
          </a:prstGeom>
          <a:noFill/>
          <a:ln w="9525">
            <a:solidFill>
              <a:srgbClr val="E2E9EE"/>
            </a:solidFill>
            <a:prstDash val="solid"/>
          </a:ln>
        </p:spPr>
      </p:sp>
      <p:sp>
        <p:nvSpPr>
          <p:cNvPr id="7" name="Text 5"/>
          <p:cNvSpPr txBox="1"/>
          <p:nvPr/>
        </p:nvSpPr>
        <p:spPr>
          <a:xfrm>
            <a:off x="6187288" y="1975104"/>
            <a:ext cx="5227168" cy="96012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lnSpc>
                <a:spcPts val="1628"/>
              </a:lnSpc>
              <a:buNone/>
            </a:pPr>
            <a:r>
              <a:rPr lang="en-US" sz="1050" dirty="0">
                <a:solidFill>
                  <a:srgbClr val="4A5A67"/>
                </a:solidFill>
                <a:latin typeface="Inter" pitchFamily="34" charset="0"/>
                <a:ea typeface="Inter" pitchFamily="34" charset="-122"/>
                <a:cs typeface="Inter" pitchFamily="34" charset="-120"/>
              </a:rPr>
              <a:t>The common model in SAP consulting is to offer broad scope and then source a different specialist for each area. We took the opposite position: if we take an engagement, we are not subcontracting the difficult part of it.</a:t>
            </a:r>
            <a:endParaRPr lang="en-US" sz="1050" dirty="0"/>
          </a:p>
        </p:txBody>
      </p:sp>
      <p:sp>
        <p:nvSpPr>
          <p:cNvPr id="8" name="Shape 6"/>
          <p:cNvSpPr/>
          <p:nvPr/>
        </p:nvSpPr>
        <p:spPr>
          <a:xfrm>
            <a:off x="6187288" y="2926080"/>
            <a:ext cx="5227168" cy="0"/>
          </a:xfrm>
          <a:prstGeom prst="line">
            <a:avLst/>
          </a:prstGeom>
          <a:noFill/>
          <a:ln w="9525">
            <a:solidFill>
              <a:srgbClr val="E2E9EE"/>
            </a:solidFill>
            <a:prstDash val="solid"/>
          </a:ln>
        </p:spPr>
      </p:sp>
      <p:sp>
        <p:nvSpPr>
          <p:cNvPr id="9" name="Text 7"/>
          <p:cNvSpPr txBox="1"/>
          <p:nvPr/>
        </p:nvSpPr>
        <p:spPr>
          <a:xfrm>
            <a:off x="6187288" y="3145536"/>
            <a:ext cx="5227168" cy="96012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lnSpc>
                <a:spcPts val="1628"/>
              </a:lnSpc>
              <a:buNone/>
            </a:pPr>
            <a:r>
              <a:rPr lang="en-US" sz="1050" dirty="0">
                <a:solidFill>
                  <a:srgbClr val="4A5A67"/>
                </a:solidFill>
                <a:latin typeface="Inter" pitchFamily="34" charset="0"/>
                <a:ea typeface="Inter" pitchFamily="34" charset="-122"/>
                <a:cs typeface="Inter" pitchFamily="34" charset="-120"/>
              </a:rPr>
              <a:t>Where a programme extends into logistics modules outside our specialism, we work alongside partners in Türkiye and abroad so that the finance scope stays covered end to end.</a:t>
            </a:r>
            <a:endParaRPr lang="en-US" sz="1050" dirty="0"/>
          </a:p>
        </p:txBody>
      </p:sp>
      <p:sp>
        <p:nvSpPr>
          <p:cNvPr id="10" name="Shape 8"/>
          <p:cNvSpPr/>
          <p:nvPr/>
        </p:nvSpPr>
        <p:spPr>
          <a:xfrm>
            <a:off x="777240" y="2322576"/>
            <a:ext cx="4325493" cy="0"/>
          </a:xfrm>
          <a:prstGeom prst="line">
            <a:avLst/>
          </a:prstGeom>
          <a:noFill/>
          <a:ln w="9525">
            <a:solidFill>
              <a:srgbClr val="C9D6DE"/>
            </a:solidFill>
            <a:prstDash val="solid"/>
          </a:ln>
        </p:spPr>
      </p:sp>
      <p:sp>
        <p:nvSpPr>
          <p:cNvPr id="11" name="Text 9"/>
          <p:cNvSpPr txBox="1"/>
          <p:nvPr/>
        </p:nvSpPr>
        <p:spPr>
          <a:xfrm>
            <a:off x="777240" y="2487168"/>
            <a:ext cx="4325493" cy="1828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750" spc="75" kern="0" dirty="0">
                <a:solidFill>
                  <a:srgbClr val="5F6D77"/>
                </a:solidFill>
                <a:latin typeface="IBM Plex Mono" pitchFamily="34" charset="0"/>
                <a:ea typeface="IBM Plex Mono" pitchFamily="34" charset="-122"/>
                <a:cs typeface="IBM Plex Mono" pitchFamily="34" charset="-120"/>
              </a:rPr>
              <a:t>FOUNDED</a:t>
            </a:r>
            <a:endParaRPr lang="en-US" sz="750" dirty="0"/>
          </a:p>
        </p:txBody>
      </p:sp>
      <p:sp>
        <p:nvSpPr>
          <p:cNvPr id="12" name="Text 10"/>
          <p:cNvSpPr txBox="1"/>
          <p:nvPr/>
        </p:nvSpPr>
        <p:spPr>
          <a:xfrm>
            <a:off x="777240" y="2670048"/>
            <a:ext cx="4325493" cy="25603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350" b="1" spc="-20" kern="0" dirty="0">
                <a:solidFill>
                  <a:srgbClr val="11676A"/>
                </a:solidFill>
                <a:latin typeface="Schibsted Grotesk" pitchFamily="34" charset="0"/>
                <a:ea typeface="Schibsted Grotesk" pitchFamily="34" charset="-122"/>
                <a:cs typeface="Schibsted Grotesk" pitchFamily="34" charset="-120"/>
              </a:rPr>
              <a:t>2021</a:t>
            </a:r>
            <a:endParaRPr lang="en-US" sz="1350" dirty="0"/>
          </a:p>
        </p:txBody>
      </p:sp>
      <p:sp>
        <p:nvSpPr>
          <p:cNvPr id="13" name="Shape 11"/>
          <p:cNvSpPr/>
          <p:nvPr/>
        </p:nvSpPr>
        <p:spPr>
          <a:xfrm>
            <a:off x="777240" y="2999232"/>
            <a:ext cx="4325493" cy="0"/>
          </a:xfrm>
          <a:prstGeom prst="line">
            <a:avLst/>
          </a:prstGeom>
          <a:noFill/>
          <a:ln w="9525">
            <a:solidFill>
              <a:srgbClr val="E2E9EE"/>
            </a:solidFill>
            <a:prstDash val="solid"/>
          </a:ln>
        </p:spPr>
      </p:sp>
      <p:sp>
        <p:nvSpPr>
          <p:cNvPr id="14" name="Text 12"/>
          <p:cNvSpPr txBox="1"/>
          <p:nvPr/>
        </p:nvSpPr>
        <p:spPr>
          <a:xfrm>
            <a:off x="777240" y="3163824"/>
            <a:ext cx="4325493" cy="1828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750" spc="75" kern="0" dirty="0">
                <a:solidFill>
                  <a:srgbClr val="5F6D77"/>
                </a:solidFill>
                <a:latin typeface="IBM Plex Mono" pitchFamily="34" charset="0"/>
                <a:ea typeface="IBM Plex Mono" pitchFamily="34" charset="-122"/>
                <a:cs typeface="IBM Plex Mono" pitchFamily="34" charset="-120"/>
              </a:rPr>
              <a:t>HEAD OFFICE</a:t>
            </a:r>
            <a:endParaRPr lang="en-US" sz="750" dirty="0"/>
          </a:p>
        </p:txBody>
      </p:sp>
      <p:sp>
        <p:nvSpPr>
          <p:cNvPr id="15" name="Text 13"/>
          <p:cNvSpPr txBox="1"/>
          <p:nvPr/>
        </p:nvSpPr>
        <p:spPr>
          <a:xfrm>
            <a:off x="777240" y="3346704"/>
            <a:ext cx="4325493" cy="25603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350" b="1" spc="-20" kern="0" dirty="0">
                <a:solidFill>
                  <a:srgbClr val="11676A"/>
                </a:solidFill>
                <a:latin typeface="Schibsted Grotesk" pitchFamily="34" charset="0"/>
                <a:ea typeface="Schibsted Grotesk" pitchFamily="34" charset="-122"/>
                <a:cs typeface="Schibsted Grotesk" pitchFamily="34" charset="-120"/>
              </a:rPr>
              <a:t>Istanbul</a:t>
            </a:r>
            <a:endParaRPr lang="en-US" sz="1350" dirty="0"/>
          </a:p>
        </p:txBody>
      </p:sp>
      <p:sp>
        <p:nvSpPr>
          <p:cNvPr id="16" name="Shape 14"/>
          <p:cNvSpPr/>
          <p:nvPr/>
        </p:nvSpPr>
        <p:spPr>
          <a:xfrm>
            <a:off x="777240" y="3675888"/>
            <a:ext cx="4325493" cy="0"/>
          </a:xfrm>
          <a:prstGeom prst="line">
            <a:avLst/>
          </a:prstGeom>
          <a:noFill/>
          <a:ln w="9525">
            <a:solidFill>
              <a:srgbClr val="E2E9EE"/>
            </a:solidFill>
            <a:prstDash val="solid"/>
          </a:ln>
        </p:spPr>
      </p:sp>
      <p:sp>
        <p:nvSpPr>
          <p:cNvPr id="17" name="Text 15"/>
          <p:cNvSpPr txBox="1"/>
          <p:nvPr/>
        </p:nvSpPr>
        <p:spPr>
          <a:xfrm>
            <a:off x="777240" y="3840480"/>
            <a:ext cx="4325493" cy="1828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750" spc="75" kern="0" dirty="0">
                <a:solidFill>
                  <a:srgbClr val="5F6D77"/>
                </a:solidFill>
                <a:latin typeface="IBM Plex Mono" pitchFamily="34" charset="0"/>
                <a:ea typeface="IBM Plex Mono" pitchFamily="34" charset="-122"/>
                <a:cs typeface="IBM Plex Mono" pitchFamily="34" charset="-120"/>
              </a:rPr>
              <a:t>REGIONS SERVED</a:t>
            </a:r>
            <a:endParaRPr lang="en-US" sz="750" dirty="0"/>
          </a:p>
        </p:txBody>
      </p:sp>
      <p:sp>
        <p:nvSpPr>
          <p:cNvPr id="18" name="Text 16"/>
          <p:cNvSpPr txBox="1"/>
          <p:nvPr/>
        </p:nvSpPr>
        <p:spPr>
          <a:xfrm>
            <a:off x="777240" y="4023360"/>
            <a:ext cx="4325493" cy="25603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350" b="1" spc="-20" kern="0" dirty="0">
                <a:solidFill>
                  <a:srgbClr val="11676A"/>
                </a:solidFill>
                <a:latin typeface="Schibsted Grotesk" pitchFamily="34" charset="0"/>
                <a:ea typeface="Schibsted Grotesk" pitchFamily="34" charset="-122"/>
                <a:cs typeface="Schibsted Grotesk" pitchFamily="34" charset="-120"/>
              </a:rPr>
              <a:t>Türkiye, EMEA and the United States</a:t>
            </a:r>
            <a:endParaRPr lang="en-US" sz="1350" dirty="0"/>
          </a:p>
        </p:txBody>
      </p:sp>
      <p:sp>
        <p:nvSpPr>
          <p:cNvPr id="19" name="Shape 17"/>
          <p:cNvSpPr/>
          <p:nvPr/>
        </p:nvSpPr>
        <p:spPr>
          <a:xfrm>
            <a:off x="777240" y="4352544"/>
            <a:ext cx="4325493" cy="0"/>
          </a:xfrm>
          <a:prstGeom prst="line">
            <a:avLst/>
          </a:prstGeom>
          <a:noFill/>
          <a:ln w="9525">
            <a:solidFill>
              <a:srgbClr val="E2E9EE"/>
            </a:solidFill>
            <a:prstDash val="solid"/>
          </a:ln>
        </p:spPr>
      </p:sp>
      <p:sp>
        <p:nvSpPr>
          <p:cNvPr id="20" name="Shape 18"/>
          <p:cNvSpPr/>
          <p:nvPr/>
        </p:nvSpPr>
        <p:spPr>
          <a:xfrm>
            <a:off x="777240" y="4828032"/>
            <a:ext cx="10637215" cy="0"/>
          </a:xfrm>
          <a:prstGeom prst="line">
            <a:avLst/>
          </a:prstGeom>
          <a:noFill/>
          <a:ln w="9525">
            <a:solidFill>
              <a:srgbClr val="C9D6DE"/>
            </a:solidFill>
            <a:prstDash val="solid"/>
          </a:ln>
        </p:spPr>
      </p:sp>
      <p:sp>
        <p:nvSpPr>
          <p:cNvPr id="21" name="Text 19"/>
          <p:cNvSpPr txBox="1"/>
          <p:nvPr/>
        </p:nvSpPr>
        <p:spPr>
          <a:xfrm>
            <a:off x="777240" y="4992624"/>
            <a:ext cx="7932191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lnSpc>
                <a:spcPts val="2000"/>
              </a:lnSpc>
              <a:buNone/>
            </a:pPr>
            <a:r>
              <a:rPr lang="en-US" sz="1450" spc="-30" kern="0" dirty="0">
                <a:solidFill>
                  <a:srgbClr val="11676A"/>
                </a:solidFill>
                <a:latin typeface="Schibsted Grotesk" pitchFamily="34" charset="0"/>
                <a:ea typeface="Schibsted Grotesk" pitchFamily="34" charset="-122"/>
                <a:cs typeface="Schibsted Grotesk" pitchFamily="34" charset="-120"/>
              </a:rPr>
              <a:t>Rather than running many programmes in parallel, we run the number that allows senior people to be genuinely present on each.</a:t>
            </a:r>
            <a:endParaRPr lang="en-US" sz="1450" dirty="0"/>
          </a:p>
        </p:txBody>
      </p:sp>
      <p:sp>
        <p:nvSpPr>
          <p:cNvPr id="22" name="Shape 20"/>
          <p:cNvSpPr/>
          <p:nvPr/>
        </p:nvSpPr>
        <p:spPr>
          <a:xfrm>
            <a:off x="0" y="5687568"/>
            <a:ext cx="12191695" cy="1170432"/>
          </a:xfrm>
          <a:prstGeom prst="rect">
            <a:avLst/>
          </a:prstGeom>
          <a:solidFill>
            <a:srgbClr val="11676A"/>
          </a:solidFill>
          <a:ln/>
        </p:spPr>
      </p:sp>
      <p:sp>
        <p:nvSpPr>
          <p:cNvPr id="23" name="Text 21"/>
          <p:cNvSpPr txBox="1"/>
          <p:nvPr/>
        </p:nvSpPr>
        <p:spPr>
          <a:xfrm>
            <a:off x="777240" y="5980176"/>
            <a:ext cx="2384984" cy="1828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750" spc="75" kern="0" dirty="0">
                <a:solidFill>
                  <a:srgbClr val="F5DCA4"/>
                </a:solidFill>
                <a:latin typeface="IBM Plex Mono" pitchFamily="34" charset="0"/>
                <a:ea typeface="IBM Plex Mono" pitchFamily="34" charset="-122"/>
                <a:cs typeface="IBM Plex Mono" pitchFamily="34" charset="-120"/>
              </a:rPr>
              <a:t>EXPERIENCE</a:t>
            </a:r>
            <a:endParaRPr lang="en-US" sz="750" dirty="0"/>
          </a:p>
        </p:txBody>
      </p:sp>
      <p:sp>
        <p:nvSpPr>
          <p:cNvPr id="24" name="Text 22"/>
          <p:cNvSpPr txBox="1"/>
          <p:nvPr/>
        </p:nvSpPr>
        <p:spPr>
          <a:xfrm>
            <a:off x="777240" y="6217920"/>
            <a:ext cx="2384984" cy="38404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900" spc="-20" kern="0" dirty="0">
                <a:solidFill>
                  <a:srgbClr val="E8B33A"/>
                </a:solidFill>
                <a:latin typeface="IBM Plex Mono" pitchFamily="34" charset="0"/>
                <a:ea typeface="IBM Plex Mono" pitchFamily="34" charset="-122"/>
                <a:cs typeface="IBM Plex Mono" pitchFamily="34" charset="-120"/>
              </a:rPr>
              <a:t>10+</a:t>
            </a:r>
            <a:pPr indent="0" marL="0">
              <a:buNone/>
            </a:pPr>
            <a:r>
              <a:rPr lang="en-US" sz="1000" dirty="0">
                <a:solidFill>
                  <a:srgbClr val="FFFFFF"/>
                </a:solidFill>
                <a:latin typeface="Inter" pitchFamily="34" charset="0"/>
                <a:ea typeface="Inter" pitchFamily="34" charset="-122"/>
                <a:cs typeface="Inter" pitchFamily="34" charset="-120"/>
              </a:rPr>
              <a:t>  years in SAP finance</a:t>
            </a:r>
            <a:endParaRPr lang="en-US" sz="1900" dirty="0"/>
          </a:p>
        </p:txBody>
      </p:sp>
      <p:sp>
        <p:nvSpPr>
          <p:cNvPr id="25" name="Shape 23"/>
          <p:cNvSpPr/>
          <p:nvPr/>
        </p:nvSpPr>
        <p:spPr>
          <a:xfrm>
            <a:off x="3290240" y="5925312"/>
            <a:ext cx="0" cy="694944"/>
          </a:xfrm>
          <a:prstGeom prst="line">
            <a:avLst/>
          </a:prstGeom>
          <a:noFill/>
          <a:ln w="9525">
            <a:solidFill>
              <a:srgbClr val="4A8B8E"/>
            </a:solidFill>
            <a:prstDash val="solid"/>
          </a:ln>
        </p:spPr>
      </p:sp>
      <p:sp>
        <p:nvSpPr>
          <p:cNvPr id="26" name="Text 24"/>
          <p:cNvSpPr txBox="1"/>
          <p:nvPr/>
        </p:nvSpPr>
        <p:spPr>
          <a:xfrm>
            <a:off x="3436544" y="5980176"/>
            <a:ext cx="2384984" cy="1828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750" spc="75" kern="0" dirty="0">
                <a:solidFill>
                  <a:srgbClr val="F5DCA4"/>
                </a:solidFill>
                <a:latin typeface="IBM Plex Mono" pitchFamily="34" charset="0"/>
                <a:ea typeface="IBM Plex Mono" pitchFamily="34" charset="-122"/>
                <a:cs typeface="IBM Plex Mono" pitchFamily="34" charset="-120"/>
              </a:rPr>
              <a:t>EXPERTISE</a:t>
            </a:r>
            <a:endParaRPr lang="en-US" sz="750" dirty="0"/>
          </a:p>
        </p:txBody>
      </p:sp>
      <p:sp>
        <p:nvSpPr>
          <p:cNvPr id="27" name="Text 25"/>
          <p:cNvSpPr txBox="1"/>
          <p:nvPr/>
        </p:nvSpPr>
        <p:spPr>
          <a:xfrm>
            <a:off x="3436544" y="6217920"/>
            <a:ext cx="2384984" cy="38404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lnSpc>
                <a:spcPts val="1400"/>
              </a:lnSpc>
              <a:buNone/>
            </a:pPr>
            <a:r>
              <a:rPr lang="en-US" sz="1000" dirty="0">
                <a:solidFill>
                  <a:srgbClr val="FFFFFF"/>
                </a:solidFill>
                <a:latin typeface="Inter" pitchFamily="34" charset="0"/>
                <a:ea typeface="Inter" pitchFamily="34" charset="-122"/>
                <a:cs typeface="Inter" pitchFamily="34" charset="-120"/>
              </a:rPr>
              <a:t>Depth across FI and CO</a:t>
            </a:r>
            <a:endParaRPr lang="en-US" sz="1000" dirty="0"/>
          </a:p>
        </p:txBody>
      </p:sp>
      <p:sp>
        <p:nvSpPr>
          <p:cNvPr id="28" name="Shape 26"/>
          <p:cNvSpPr/>
          <p:nvPr/>
        </p:nvSpPr>
        <p:spPr>
          <a:xfrm>
            <a:off x="5949544" y="5925312"/>
            <a:ext cx="0" cy="694944"/>
          </a:xfrm>
          <a:prstGeom prst="line">
            <a:avLst/>
          </a:prstGeom>
          <a:noFill/>
          <a:ln w="9525">
            <a:solidFill>
              <a:srgbClr val="4A8B8E"/>
            </a:solidFill>
            <a:prstDash val="solid"/>
          </a:ln>
        </p:spPr>
      </p:sp>
      <p:sp>
        <p:nvSpPr>
          <p:cNvPr id="29" name="Text 27"/>
          <p:cNvSpPr txBox="1"/>
          <p:nvPr/>
        </p:nvSpPr>
        <p:spPr>
          <a:xfrm>
            <a:off x="6095848" y="5980176"/>
            <a:ext cx="2384984" cy="1828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750" spc="75" kern="0" dirty="0">
                <a:solidFill>
                  <a:srgbClr val="F5DCA4"/>
                </a:solidFill>
                <a:latin typeface="IBM Plex Mono" pitchFamily="34" charset="0"/>
                <a:ea typeface="IBM Plex Mono" pitchFamily="34" charset="-122"/>
                <a:cs typeface="IBM Plex Mono" pitchFamily="34" charset="-120"/>
              </a:rPr>
              <a:t>INDEPENDENCE</a:t>
            </a:r>
            <a:endParaRPr lang="en-US" sz="750" dirty="0"/>
          </a:p>
        </p:txBody>
      </p:sp>
      <p:sp>
        <p:nvSpPr>
          <p:cNvPr id="30" name="Text 28"/>
          <p:cNvSpPr txBox="1"/>
          <p:nvPr/>
        </p:nvSpPr>
        <p:spPr>
          <a:xfrm>
            <a:off x="6095848" y="6217920"/>
            <a:ext cx="2384984" cy="38404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lnSpc>
                <a:spcPts val="1400"/>
              </a:lnSpc>
              <a:buNone/>
            </a:pPr>
            <a:r>
              <a:rPr lang="en-US" sz="1000" dirty="0">
                <a:solidFill>
                  <a:srgbClr val="FFFFFF"/>
                </a:solidFill>
                <a:latin typeface="Inter" pitchFamily="34" charset="0"/>
                <a:ea typeface="Inter" pitchFamily="34" charset="-122"/>
                <a:cs typeface="Inter" pitchFamily="34" charset="-120"/>
              </a:rPr>
              <a:t>Public vs Private Cloud, vendor-neutral</a:t>
            </a:r>
            <a:endParaRPr lang="en-US" sz="1000" dirty="0"/>
          </a:p>
        </p:txBody>
      </p:sp>
      <p:sp>
        <p:nvSpPr>
          <p:cNvPr id="31" name="Shape 29"/>
          <p:cNvSpPr/>
          <p:nvPr/>
        </p:nvSpPr>
        <p:spPr>
          <a:xfrm>
            <a:off x="8608847" y="5925312"/>
            <a:ext cx="0" cy="694944"/>
          </a:xfrm>
          <a:prstGeom prst="line">
            <a:avLst/>
          </a:prstGeom>
          <a:noFill/>
          <a:ln w="9525">
            <a:solidFill>
              <a:srgbClr val="4A8B8E"/>
            </a:solidFill>
            <a:prstDash val="solid"/>
          </a:ln>
        </p:spPr>
      </p:sp>
      <p:sp>
        <p:nvSpPr>
          <p:cNvPr id="32" name="Text 30"/>
          <p:cNvSpPr txBox="1"/>
          <p:nvPr/>
        </p:nvSpPr>
        <p:spPr>
          <a:xfrm>
            <a:off x="8755151" y="5980176"/>
            <a:ext cx="2384984" cy="1828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750" spc="75" kern="0" dirty="0">
                <a:solidFill>
                  <a:srgbClr val="F5DCA4"/>
                </a:solidFill>
                <a:latin typeface="IBM Plex Mono" pitchFamily="34" charset="0"/>
                <a:ea typeface="IBM Plex Mono" pitchFamily="34" charset="-122"/>
                <a:cs typeface="IBM Plex Mono" pitchFamily="34" charset="-120"/>
              </a:rPr>
              <a:t>TEAM</a:t>
            </a:r>
            <a:endParaRPr lang="en-US" sz="750" dirty="0"/>
          </a:p>
        </p:txBody>
      </p:sp>
      <p:sp>
        <p:nvSpPr>
          <p:cNvPr id="33" name="Text 31"/>
          <p:cNvSpPr txBox="1"/>
          <p:nvPr/>
        </p:nvSpPr>
        <p:spPr>
          <a:xfrm>
            <a:off x="8755151" y="6217920"/>
            <a:ext cx="2384984" cy="38404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lnSpc>
                <a:spcPts val="1400"/>
              </a:lnSpc>
              <a:buNone/>
            </a:pPr>
            <a:r>
              <a:rPr lang="en-US" sz="1000" dirty="0">
                <a:solidFill>
                  <a:srgbClr val="FFFFFF"/>
                </a:solidFill>
                <a:latin typeface="Inter" pitchFamily="34" charset="0"/>
                <a:ea typeface="Inter" pitchFamily="34" charset="-122"/>
                <a:cs typeface="Inter" pitchFamily="34" charset="-120"/>
              </a:rPr>
              <a:t>Senior consultants only</a:t>
            </a:r>
            <a:endParaRPr lang="en-US" sz="1000" dirty="0"/>
          </a:p>
        </p:txBody>
      </p:sp>
      <p:sp>
        <p:nvSpPr>
          <p:cNvPr id="34" name="Text 32"/>
          <p:cNvSpPr txBox="1"/>
          <p:nvPr/>
        </p:nvSpPr>
        <p:spPr>
          <a:xfrm>
            <a:off x="10500055" y="6492240"/>
            <a:ext cx="914400" cy="21945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750" spc="60" kern="0" dirty="0">
                <a:solidFill>
                  <a:srgbClr val="88B3B5"/>
                </a:solidFill>
                <a:latin typeface="IBM Plex Mono" pitchFamily="34" charset="0"/>
                <a:ea typeface="IBM Plex Mono" pitchFamily="34" charset="-122"/>
                <a:cs typeface="IBM Plex Mono" pitchFamily="34" charset="-120"/>
              </a:rPr>
              <a:t>02</a:t>
            </a:r>
            <a:endParaRPr lang="en-US" sz="750" dirty="0"/>
          </a:p>
        </p:txBody>
      </p:sp>
    </p:spTree>
  </p:cSld>
  <p:clrMapOvr>
    <a:masterClrMapping/>
  </p:clrMapOvr>
</p:sld>
</file>

<file path=ppt/slides/slide3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3">
    <p:bg>
      <p:bgPr>
        <a:solidFill>
          <a:srgbClr val="FFFFFF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777240" y="580644"/>
            <a:ext cx="237744" cy="0"/>
          </a:xfrm>
          <a:prstGeom prst="line">
            <a:avLst/>
          </a:prstGeom>
          <a:noFill/>
          <a:ln w="12700">
            <a:solidFill>
              <a:srgbClr val="11676A"/>
            </a:solidFill>
            <a:prstDash val="solid"/>
          </a:ln>
        </p:spPr>
      </p:sp>
      <p:sp>
        <p:nvSpPr>
          <p:cNvPr id="3" name="Text 1"/>
          <p:cNvSpPr txBox="1"/>
          <p:nvPr/>
        </p:nvSpPr>
        <p:spPr>
          <a:xfrm>
            <a:off x="1106424" y="461772"/>
            <a:ext cx="5486400" cy="23774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850" spc="90" kern="0" dirty="0">
                <a:solidFill>
                  <a:srgbClr val="11676A"/>
                </a:solidFill>
                <a:latin typeface="IBM Plex Mono" pitchFamily="34" charset="0"/>
                <a:ea typeface="IBM Plex Mono" pitchFamily="34" charset="-122"/>
                <a:cs typeface="IBM Plex Mono" pitchFamily="34" charset="-120"/>
              </a:rPr>
              <a:t>OUR EXPERTISE</a:t>
            </a:r>
            <a:endParaRPr lang="en-US" sz="850" dirty="0"/>
          </a:p>
        </p:txBody>
      </p:sp>
      <p:sp>
        <p:nvSpPr>
          <p:cNvPr id="4" name="Text 2"/>
          <p:cNvSpPr txBox="1"/>
          <p:nvPr/>
        </p:nvSpPr>
        <p:spPr>
          <a:xfrm>
            <a:off x="777240" y="804672"/>
            <a:ext cx="6128842" cy="852424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lnSpc>
                <a:spcPts val="3068"/>
              </a:lnSpc>
              <a:buNone/>
            </a:pPr>
            <a:r>
              <a:rPr lang="en-US" sz="2600" b="1" spc="-50" kern="0" dirty="0">
                <a:solidFill>
                  <a:srgbClr val="11676A"/>
                </a:solidFill>
                <a:latin typeface="Schibsted Grotesk" pitchFamily="34" charset="0"/>
                <a:ea typeface="Schibsted Grotesk" pitchFamily="34" charset="-122"/>
                <a:cs typeface="Schibsted Grotesk" pitchFamily="34" charset="-120"/>
              </a:rPr>
              <a:t>Three areas of expertise, and each one informs the others</a:t>
            </a:r>
            <a:endParaRPr lang="en-US" sz="2600" dirty="0"/>
          </a:p>
        </p:txBody>
      </p:sp>
      <p:sp>
        <p:nvSpPr>
          <p:cNvPr id="5" name="Shape 3"/>
          <p:cNvSpPr/>
          <p:nvPr/>
        </p:nvSpPr>
        <p:spPr>
          <a:xfrm>
            <a:off x="777240" y="2121408"/>
            <a:ext cx="3423818" cy="0"/>
          </a:xfrm>
          <a:prstGeom prst="line">
            <a:avLst/>
          </a:prstGeom>
          <a:noFill/>
          <a:ln w="9525">
            <a:solidFill>
              <a:srgbClr val="EDF2F5"/>
            </a:solidFill>
            <a:prstDash val="solid"/>
          </a:ln>
        </p:spPr>
      </p:sp>
      <p:sp>
        <p:nvSpPr>
          <p:cNvPr id="6" name="Shape 4"/>
          <p:cNvSpPr/>
          <p:nvPr/>
        </p:nvSpPr>
        <p:spPr>
          <a:xfrm>
            <a:off x="777240" y="2523744"/>
            <a:ext cx="3423818" cy="0"/>
          </a:xfrm>
          <a:prstGeom prst="line">
            <a:avLst/>
          </a:prstGeom>
          <a:noFill/>
          <a:ln w="9525">
            <a:solidFill>
              <a:srgbClr val="EDF2F5"/>
            </a:solidFill>
            <a:prstDash val="solid"/>
          </a:ln>
        </p:spPr>
      </p:sp>
      <p:sp>
        <p:nvSpPr>
          <p:cNvPr id="7" name="Shape 5"/>
          <p:cNvSpPr/>
          <p:nvPr/>
        </p:nvSpPr>
        <p:spPr>
          <a:xfrm>
            <a:off x="777240" y="2926080"/>
            <a:ext cx="3423818" cy="0"/>
          </a:xfrm>
          <a:prstGeom prst="line">
            <a:avLst/>
          </a:prstGeom>
          <a:noFill/>
          <a:ln w="9525">
            <a:solidFill>
              <a:srgbClr val="EDF2F5"/>
            </a:solidFill>
            <a:prstDash val="solid"/>
          </a:ln>
        </p:spPr>
      </p:sp>
      <p:sp>
        <p:nvSpPr>
          <p:cNvPr id="8" name="Shape 6"/>
          <p:cNvSpPr/>
          <p:nvPr/>
        </p:nvSpPr>
        <p:spPr>
          <a:xfrm>
            <a:off x="777240" y="3328416"/>
            <a:ext cx="3423818" cy="0"/>
          </a:xfrm>
          <a:prstGeom prst="line">
            <a:avLst/>
          </a:prstGeom>
          <a:noFill/>
          <a:ln w="9525">
            <a:solidFill>
              <a:srgbClr val="EDF2F5"/>
            </a:solidFill>
            <a:prstDash val="solid"/>
          </a:ln>
        </p:spPr>
      </p:sp>
      <p:sp>
        <p:nvSpPr>
          <p:cNvPr id="9" name="Shape 7"/>
          <p:cNvSpPr/>
          <p:nvPr/>
        </p:nvSpPr>
        <p:spPr>
          <a:xfrm>
            <a:off x="777240" y="3730752"/>
            <a:ext cx="3423818" cy="0"/>
          </a:xfrm>
          <a:prstGeom prst="line">
            <a:avLst/>
          </a:prstGeom>
          <a:noFill/>
          <a:ln w="9525">
            <a:solidFill>
              <a:srgbClr val="EDF2F5"/>
            </a:solidFill>
            <a:prstDash val="solid"/>
          </a:ln>
        </p:spPr>
      </p:sp>
      <p:sp>
        <p:nvSpPr>
          <p:cNvPr id="10" name="Shape 8"/>
          <p:cNvSpPr/>
          <p:nvPr/>
        </p:nvSpPr>
        <p:spPr>
          <a:xfrm>
            <a:off x="777240" y="4133088"/>
            <a:ext cx="3423818" cy="0"/>
          </a:xfrm>
          <a:prstGeom prst="line">
            <a:avLst/>
          </a:prstGeom>
          <a:noFill/>
          <a:ln w="9525">
            <a:solidFill>
              <a:srgbClr val="EDF2F5"/>
            </a:solidFill>
            <a:prstDash val="solid"/>
          </a:ln>
        </p:spPr>
      </p:sp>
      <p:sp>
        <p:nvSpPr>
          <p:cNvPr id="11" name="Shape 9"/>
          <p:cNvSpPr/>
          <p:nvPr/>
        </p:nvSpPr>
        <p:spPr>
          <a:xfrm>
            <a:off x="777240" y="4535424"/>
            <a:ext cx="3423818" cy="0"/>
          </a:xfrm>
          <a:prstGeom prst="line">
            <a:avLst/>
          </a:prstGeom>
          <a:noFill/>
          <a:ln w="9525">
            <a:solidFill>
              <a:srgbClr val="EDF2F5"/>
            </a:solidFill>
            <a:prstDash val="solid"/>
          </a:ln>
        </p:spPr>
      </p:sp>
      <p:sp>
        <p:nvSpPr>
          <p:cNvPr id="12" name="Shape 10"/>
          <p:cNvSpPr/>
          <p:nvPr/>
        </p:nvSpPr>
        <p:spPr>
          <a:xfrm>
            <a:off x="1598956" y="2459736"/>
            <a:ext cx="2054291" cy="987552"/>
          </a:xfrm>
          <a:prstGeom prst="line">
            <a:avLst/>
          </a:prstGeom>
          <a:noFill/>
          <a:ln w="11430">
            <a:solidFill>
              <a:srgbClr val="9FB4C2"/>
            </a:solidFill>
            <a:prstDash val="solid"/>
          </a:ln>
        </p:spPr>
      </p:sp>
      <p:sp>
        <p:nvSpPr>
          <p:cNvPr id="13" name="Shape 11"/>
          <p:cNvSpPr/>
          <p:nvPr/>
        </p:nvSpPr>
        <p:spPr>
          <a:xfrm flipV="1">
            <a:off x="1804386" y="3447288"/>
            <a:ext cx="1848862" cy="1036930"/>
          </a:xfrm>
          <a:prstGeom prst="line">
            <a:avLst/>
          </a:prstGeom>
          <a:noFill/>
          <a:ln w="11430">
            <a:solidFill>
              <a:srgbClr val="9FB4C2"/>
            </a:solidFill>
            <a:prstDash val="solid"/>
          </a:ln>
        </p:spPr>
      </p:sp>
      <p:sp>
        <p:nvSpPr>
          <p:cNvPr id="14" name="Shape 12"/>
          <p:cNvSpPr/>
          <p:nvPr/>
        </p:nvSpPr>
        <p:spPr>
          <a:xfrm>
            <a:off x="1598956" y="2459736"/>
            <a:ext cx="205429" cy="2024482"/>
          </a:xfrm>
          <a:prstGeom prst="line">
            <a:avLst/>
          </a:prstGeom>
          <a:noFill/>
          <a:ln w="11430">
            <a:solidFill>
              <a:srgbClr val="9FB4C2"/>
            </a:solidFill>
            <a:prstDash val="solid"/>
          </a:ln>
        </p:spPr>
      </p:sp>
      <p:sp>
        <p:nvSpPr>
          <p:cNvPr id="15" name="Shape 13"/>
          <p:cNvSpPr/>
          <p:nvPr/>
        </p:nvSpPr>
        <p:spPr>
          <a:xfrm>
            <a:off x="1470940" y="2331720"/>
            <a:ext cx="256032" cy="256032"/>
          </a:xfrm>
          <a:prstGeom prst="ellipse">
            <a:avLst/>
          </a:prstGeom>
          <a:solidFill>
            <a:srgbClr val="11676A"/>
          </a:solidFill>
          <a:ln w="12700">
            <a:solidFill>
              <a:srgbClr val="11676A"/>
            </a:solidFill>
            <a:prstDash val="solid"/>
          </a:ln>
        </p:spPr>
      </p:sp>
      <p:sp>
        <p:nvSpPr>
          <p:cNvPr id="16" name="Text 14"/>
          <p:cNvSpPr txBox="1"/>
          <p:nvPr/>
        </p:nvSpPr>
        <p:spPr>
          <a:xfrm>
            <a:off x="1470940" y="2331720"/>
            <a:ext cx="256032" cy="25603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800" dirty="0">
                <a:solidFill>
                  <a:srgbClr val="FFFFFF"/>
                </a:solidFill>
                <a:latin typeface="IBM Plex Mono" pitchFamily="34" charset="0"/>
                <a:ea typeface="IBM Plex Mono" pitchFamily="34" charset="-122"/>
                <a:cs typeface="IBM Plex Mono" pitchFamily="34" charset="-120"/>
              </a:rPr>
              <a:t>01</a:t>
            </a:r>
            <a:endParaRPr lang="en-US" sz="800" dirty="0"/>
          </a:p>
        </p:txBody>
      </p:sp>
      <p:sp>
        <p:nvSpPr>
          <p:cNvPr id="17" name="Text 15"/>
          <p:cNvSpPr txBox="1"/>
          <p:nvPr/>
        </p:nvSpPr>
        <p:spPr>
          <a:xfrm>
            <a:off x="1818412" y="2340864"/>
            <a:ext cx="2103120" cy="23774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1100" b="1" spc="-20" kern="0" dirty="0">
                <a:solidFill>
                  <a:srgbClr val="0E1620"/>
                </a:solidFill>
                <a:latin typeface="Schibsted Grotesk" pitchFamily="34" charset="0"/>
                <a:ea typeface="Schibsted Grotesk" pitchFamily="34" charset="-122"/>
                <a:cs typeface="Schibsted Grotesk" pitchFamily="34" charset="-120"/>
              </a:rPr>
              <a:t>Finance modules</a:t>
            </a:r>
            <a:endParaRPr lang="en-US" sz="1100" dirty="0"/>
          </a:p>
        </p:txBody>
      </p:sp>
      <p:sp>
        <p:nvSpPr>
          <p:cNvPr id="18" name="Shape 16"/>
          <p:cNvSpPr/>
          <p:nvPr/>
        </p:nvSpPr>
        <p:spPr>
          <a:xfrm>
            <a:off x="3525231" y="3319272"/>
            <a:ext cx="256032" cy="256032"/>
          </a:xfrm>
          <a:prstGeom prst="ellipse">
            <a:avLst/>
          </a:prstGeom>
          <a:solidFill>
            <a:srgbClr val="11676A"/>
          </a:solidFill>
          <a:ln w="12700">
            <a:solidFill>
              <a:srgbClr val="11676A"/>
            </a:solidFill>
            <a:prstDash val="solid"/>
          </a:ln>
        </p:spPr>
      </p:sp>
      <p:sp>
        <p:nvSpPr>
          <p:cNvPr id="19" name="Text 17"/>
          <p:cNvSpPr txBox="1"/>
          <p:nvPr/>
        </p:nvSpPr>
        <p:spPr>
          <a:xfrm>
            <a:off x="3525231" y="3319272"/>
            <a:ext cx="256032" cy="25603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800" dirty="0">
                <a:solidFill>
                  <a:srgbClr val="FFFFFF"/>
                </a:solidFill>
                <a:latin typeface="IBM Plex Mono" pitchFamily="34" charset="0"/>
                <a:ea typeface="IBM Plex Mono" pitchFamily="34" charset="-122"/>
                <a:cs typeface="IBM Plex Mono" pitchFamily="34" charset="-120"/>
              </a:rPr>
              <a:t>02</a:t>
            </a:r>
            <a:endParaRPr lang="en-US" sz="800" dirty="0"/>
          </a:p>
        </p:txBody>
      </p:sp>
      <p:sp>
        <p:nvSpPr>
          <p:cNvPr id="20" name="Text 18"/>
          <p:cNvSpPr txBox="1"/>
          <p:nvPr/>
        </p:nvSpPr>
        <p:spPr>
          <a:xfrm>
            <a:off x="1330671" y="3328416"/>
            <a:ext cx="2103120" cy="23774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1100" b="1" spc="-20" kern="0" dirty="0">
                <a:solidFill>
                  <a:srgbClr val="0E1620"/>
                </a:solidFill>
                <a:latin typeface="Schibsted Grotesk" pitchFamily="34" charset="0"/>
                <a:ea typeface="Schibsted Grotesk" pitchFamily="34" charset="-122"/>
                <a:cs typeface="Schibsted Grotesk" pitchFamily="34" charset="-120"/>
              </a:rPr>
              <a:t>Cloud architecture</a:t>
            </a:r>
            <a:endParaRPr lang="en-US" sz="1100" dirty="0"/>
          </a:p>
        </p:txBody>
      </p:sp>
      <p:sp>
        <p:nvSpPr>
          <p:cNvPr id="21" name="Shape 19"/>
          <p:cNvSpPr/>
          <p:nvPr/>
        </p:nvSpPr>
        <p:spPr>
          <a:xfrm>
            <a:off x="1676370" y="4356202"/>
            <a:ext cx="256032" cy="256032"/>
          </a:xfrm>
          <a:prstGeom prst="ellipse">
            <a:avLst/>
          </a:prstGeom>
          <a:solidFill>
            <a:srgbClr val="11676A"/>
          </a:solidFill>
          <a:ln w="12700">
            <a:solidFill>
              <a:srgbClr val="11676A"/>
            </a:solidFill>
            <a:prstDash val="solid"/>
          </a:ln>
        </p:spPr>
      </p:sp>
      <p:sp>
        <p:nvSpPr>
          <p:cNvPr id="22" name="Text 20"/>
          <p:cNvSpPr txBox="1"/>
          <p:nvPr/>
        </p:nvSpPr>
        <p:spPr>
          <a:xfrm>
            <a:off x="1676370" y="4356202"/>
            <a:ext cx="256032" cy="25603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800" dirty="0">
                <a:solidFill>
                  <a:srgbClr val="FFFFFF"/>
                </a:solidFill>
                <a:latin typeface="IBM Plex Mono" pitchFamily="34" charset="0"/>
                <a:ea typeface="IBM Plex Mono" pitchFamily="34" charset="-122"/>
                <a:cs typeface="IBM Plex Mono" pitchFamily="34" charset="-120"/>
              </a:rPr>
              <a:t>03</a:t>
            </a:r>
            <a:endParaRPr lang="en-US" sz="800" dirty="0"/>
          </a:p>
        </p:txBody>
      </p:sp>
      <p:sp>
        <p:nvSpPr>
          <p:cNvPr id="23" name="Text 21"/>
          <p:cNvSpPr txBox="1"/>
          <p:nvPr/>
        </p:nvSpPr>
        <p:spPr>
          <a:xfrm>
            <a:off x="2023842" y="4365346"/>
            <a:ext cx="2103120" cy="23774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1100" b="1" spc="-20" kern="0" dirty="0">
                <a:solidFill>
                  <a:srgbClr val="0E1620"/>
                </a:solidFill>
                <a:latin typeface="Schibsted Grotesk" pitchFamily="34" charset="0"/>
                <a:ea typeface="Schibsted Grotesk" pitchFamily="34" charset="-122"/>
                <a:cs typeface="Schibsted Grotesk" pitchFamily="34" charset="-120"/>
              </a:rPr>
              <a:t>AI and automation</a:t>
            </a:r>
            <a:endParaRPr lang="en-US" sz="1100" dirty="0"/>
          </a:p>
        </p:txBody>
      </p:sp>
      <p:sp>
        <p:nvSpPr>
          <p:cNvPr id="24" name="Text 22"/>
          <p:cNvSpPr txBox="1"/>
          <p:nvPr/>
        </p:nvSpPr>
        <p:spPr>
          <a:xfrm>
            <a:off x="777240" y="5065776"/>
            <a:ext cx="3423818" cy="54864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lnSpc>
                <a:spcPts val="1473"/>
              </a:lnSpc>
              <a:buNone/>
            </a:pPr>
            <a:r>
              <a:rPr lang="en-US" sz="950" dirty="0">
                <a:solidFill>
                  <a:srgbClr val="4A5A67"/>
                </a:solidFill>
                <a:latin typeface="Inter" pitchFamily="34" charset="0"/>
                <a:ea typeface="Inter" pitchFamily="34" charset="-122"/>
                <a:cs typeface="Inter" pitchFamily="34" charset="-120"/>
              </a:rPr>
              <a:t>One discipline, not three practices sold beside each other — a cloud decision is a finance decision here.</a:t>
            </a:r>
            <a:endParaRPr lang="en-US" sz="950" dirty="0"/>
          </a:p>
        </p:txBody>
      </p:sp>
      <p:sp>
        <p:nvSpPr>
          <p:cNvPr id="25" name="Shape 23"/>
          <p:cNvSpPr/>
          <p:nvPr/>
        </p:nvSpPr>
        <p:spPr>
          <a:xfrm>
            <a:off x="5285613" y="1901952"/>
            <a:ext cx="6128842" cy="0"/>
          </a:xfrm>
          <a:prstGeom prst="line">
            <a:avLst/>
          </a:prstGeom>
          <a:noFill/>
          <a:ln w="9525">
            <a:solidFill>
              <a:srgbClr val="C9D6DE"/>
            </a:solidFill>
            <a:prstDash val="solid"/>
          </a:ln>
        </p:spPr>
      </p:sp>
      <p:sp>
        <p:nvSpPr>
          <p:cNvPr id="26" name="Text 24"/>
          <p:cNvSpPr txBox="1"/>
          <p:nvPr/>
        </p:nvSpPr>
        <p:spPr>
          <a:xfrm>
            <a:off x="5285613" y="2084832"/>
            <a:ext cx="457200" cy="1828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850" spc="75" kern="0" dirty="0">
                <a:solidFill>
                  <a:srgbClr val="11676A"/>
                </a:solidFill>
                <a:latin typeface="IBM Plex Mono" pitchFamily="34" charset="0"/>
                <a:ea typeface="IBM Plex Mono" pitchFamily="34" charset="-122"/>
                <a:cs typeface="IBM Plex Mono" pitchFamily="34" charset="-120"/>
              </a:rPr>
              <a:t>01</a:t>
            </a:r>
            <a:endParaRPr lang="en-US" sz="850" dirty="0"/>
          </a:p>
        </p:txBody>
      </p:sp>
      <p:sp>
        <p:nvSpPr>
          <p:cNvPr id="27" name="Text 25"/>
          <p:cNvSpPr txBox="1"/>
          <p:nvPr/>
        </p:nvSpPr>
        <p:spPr>
          <a:xfrm>
            <a:off x="5852541" y="2034540"/>
            <a:ext cx="5561914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500" b="1" spc="-30" kern="0" dirty="0">
                <a:solidFill>
                  <a:srgbClr val="11676A"/>
                </a:solidFill>
                <a:latin typeface="Schibsted Grotesk" pitchFamily="34" charset="0"/>
                <a:ea typeface="Schibsted Grotesk" pitchFamily="34" charset="-122"/>
                <a:cs typeface="Schibsted Grotesk" pitchFamily="34" charset="-120"/>
              </a:rPr>
              <a:t>Finance modules</a:t>
            </a:r>
            <a:endParaRPr lang="en-US" sz="1500" dirty="0"/>
          </a:p>
        </p:txBody>
      </p:sp>
      <p:sp>
        <p:nvSpPr>
          <p:cNvPr id="28" name="Text 26"/>
          <p:cNvSpPr txBox="1"/>
          <p:nvPr/>
        </p:nvSpPr>
        <p:spPr>
          <a:xfrm>
            <a:off x="5852541" y="2322576"/>
            <a:ext cx="5561914" cy="21945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750" spc="60" kern="0" dirty="0">
                <a:solidFill>
                  <a:srgbClr val="5F6D77"/>
                </a:solidFill>
                <a:latin typeface="IBM Plex Mono" pitchFamily="34" charset="0"/>
                <a:ea typeface="IBM Plex Mono" pitchFamily="34" charset="-122"/>
                <a:cs typeface="IBM Plex Mono" pitchFamily="34" charset="-120"/>
              </a:rPr>
              <a:t>SAP FI, CO, PA (MARGIN ANALYSIS) AND PS (PROJECT SYSTEM)</a:t>
            </a:r>
            <a:endParaRPr lang="en-US" sz="750" dirty="0"/>
          </a:p>
        </p:txBody>
      </p:sp>
      <p:sp>
        <p:nvSpPr>
          <p:cNvPr id="29" name="Text 27"/>
          <p:cNvSpPr txBox="1"/>
          <p:nvPr/>
        </p:nvSpPr>
        <p:spPr>
          <a:xfrm>
            <a:off x="5852541" y="2596896"/>
            <a:ext cx="5561914" cy="64008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lnSpc>
                <a:spcPts val="1550"/>
              </a:lnSpc>
              <a:buNone/>
            </a:pPr>
            <a:r>
              <a:rPr lang="en-US" sz="1000" dirty="0">
                <a:solidFill>
                  <a:srgbClr val="4A5A67"/>
                </a:solidFill>
                <a:latin typeface="Inter" pitchFamily="34" charset="0"/>
                <a:ea typeface="Inter" pitchFamily="34" charset="-122"/>
                <a:cs typeface="Inter" pitchFamily="34" charset="-120"/>
              </a:rPr>
              <a:t>Enterprise structure and global chart of accounts design, controlling and profitability, and redesign of the financial close.</a:t>
            </a:r>
            <a:endParaRPr lang="en-US" sz="1000" dirty="0"/>
          </a:p>
        </p:txBody>
      </p:sp>
      <p:sp>
        <p:nvSpPr>
          <p:cNvPr id="30" name="Shape 28"/>
          <p:cNvSpPr/>
          <p:nvPr/>
        </p:nvSpPr>
        <p:spPr>
          <a:xfrm>
            <a:off x="5285613" y="3273552"/>
            <a:ext cx="6128842" cy="0"/>
          </a:xfrm>
          <a:prstGeom prst="line">
            <a:avLst/>
          </a:prstGeom>
          <a:noFill/>
          <a:ln w="9525">
            <a:solidFill>
              <a:srgbClr val="E2E9EE"/>
            </a:solidFill>
            <a:prstDash val="solid"/>
          </a:ln>
        </p:spPr>
      </p:sp>
      <p:sp>
        <p:nvSpPr>
          <p:cNvPr id="31" name="Text 29"/>
          <p:cNvSpPr txBox="1"/>
          <p:nvPr/>
        </p:nvSpPr>
        <p:spPr>
          <a:xfrm>
            <a:off x="5285613" y="3456432"/>
            <a:ext cx="457200" cy="1828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850" spc="75" kern="0" dirty="0">
                <a:solidFill>
                  <a:srgbClr val="11676A"/>
                </a:solidFill>
                <a:latin typeface="IBM Plex Mono" pitchFamily="34" charset="0"/>
                <a:ea typeface="IBM Plex Mono" pitchFamily="34" charset="-122"/>
                <a:cs typeface="IBM Plex Mono" pitchFamily="34" charset="-120"/>
              </a:rPr>
              <a:t>02</a:t>
            </a:r>
            <a:endParaRPr lang="en-US" sz="850" dirty="0"/>
          </a:p>
        </p:txBody>
      </p:sp>
      <p:sp>
        <p:nvSpPr>
          <p:cNvPr id="32" name="Text 30"/>
          <p:cNvSpPr txBox="1"/>
          <p:nvPr/>
        </p:nvSpPr>
        <p:spPr>
          <a:xfrm>
            <a:off x="5852541" y="3406140"/>
            <a:ext cx="5561914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500" b="1" spc="-30" kern="0" dirty="0">
                <a:solidFill>
                  <a:srgbClr val="11676A"/>
                </a:solidFill>
                <a:latin typeface="Schibsted Grotesk" pitchFamily="34" charset="0"/>
                <a:ea typeface="Schibsted Grotesk" pitchFamily="34" charset="-122"/>
                <a:cs typeface="Schibsted Grotesk" pitchFamily="34" charset="-120"/>
              </a:rPr>
              <a:t>SAP cloud architecture</a:t>
            </a:r>
            <a:endParaRPr lang="en-US" sz="1500" dirty="0"/>
          </a:p>
        </p:txBody>
      </p:sp>
      <p:sp>
        <p:nvSpPr>
          <p:cNvPr id="33" name="Text 31"/>
          <p:cNvSpPr txBox="1"/>
          <p:nvPr/>
        </p:nvSpPr>
        <p:spPr>
          <a:xfrm>
            <a:off x="5852541" y="3694176"/>
            <a:ext cx="5561914" cy="21945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750" spc="60" kern="0" dirty="0">
                <a:solidFill>
                  <a:srgbClr val="5F6D77"/>
                </a:solidFill>
                <a:latin typeface="IBM Plex Mono" pitchFamily="34" charset="0"/>
                <a:ea typeface="IBM Plex Mono" pitchFamily="34" charset="-122"/>
                <a:cs typeface="IBM Plex Mono" pitchFamily="34" charset="-120"/>
              </a:rPr>
              <a:t>PRIVATE CLOUD AND PUBLIC CLOUD</a:t>
            </a:r>
            <a:endParaRPr lang="en-US" sz="750" dirty="0"/>
          </a:p>
        </p:txBody>
      </p:sp>
      <p:sp>
        <p:nvSpPr>
          <p:cNvPr id="34" name="Text 32"/>
          <p:cNvSpPr txBox="1"/>
          <p:nvPr/>
        </p:nvSpPr>
        <p:spPr>
          <a:xfrm>
            <a:off x="5852541" y="3968496"/>
            <a:ext cx="5561914" cy="64008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lnSpc>
                <a:spcPts val="1550"/>
              </a:lnSpc>
              <a:buNone/>
            </a:pPr>
            <a:r>
              <a:rPr lang="en-US" sz="1000" dirty="0">
                <a:solidFill>
                  <a:srgbClr val="4A5A67"/>
                </a:solidFill>
                <a:latin typeface="Inter" pitchFamily="34" charset="0"/>
                <a:ea typeface="Inter" pitchFamily="34" charset="-122"/>
                <a:cs typeface="Inter" pitchFamily="34" charset="-120"/>
              </a:rPr>
              <a:t>Fit assessment between the two models, target architecture design and migration management. We do not advocate for a particular model.</a:t>
            </a:r>
            <a:endParaRPr lang="en-US" sz="1000" dirty="0"/>
          </a:p>
        </p:txBody>
      </p:sp>
      <p:sp>
        <p:nvSpPr>
          <p:cNvPr id="35" name="Shape 33"/>
          <p:cNvSpPr/>
          <p:nvPr/>
        </p:nvSpPr>
        <p:spPr>
          <a:xfrm>
            <a:off x="5285613" y="4645152"/>
            <a:ext cx="6128842" cy="0"/>
          </a:xfrm>
          <a:prstGeom prst="line">
            <a:avLst/>
          </a:prstGeom>
          <a:noFill/>
          <a:ln w="9525">
            <a:solidFill>
              <a:srgbClr val="E2E9EE"/>
            </a:solidFill>
            <a:prstDash val="solid"/>
          </a:ln>
        </p:spPr>
      </p:sp>
      <p:sp>
        <p:nvSpPr>
          <p:cNvPr id="36" name="Text 34"/>
          <p:cNvSpPr txBox="1"/>
          <p:nvPr/>
        </p:nvSpPr>
        <p:spPr>
          <a:xfrm>
            <a:off x="5285613" y="4828032"/>
            <a:ext cx="457200" cy="1828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850" spc="75" kern="0" dirty="0">
                <a:solidFill>
                  <a:srgbClr val="11676A"/>
                </a:solidFill>
                <a:latin typeface="IBM Plex Mono" pitchFamily="34" charset="0"/>
                <a:ea typeface="IBM Plex Mono" pitchFamily="34" charset="-122"/>
                <a:cs typeface="IBM Plex Mono" pitchFamily="34" charset="-120"/>
              </a:rPr>
              <a:t>03</a:t>
            </a:r>
            <a:endParaRPr lang="en-US" sz="850" dirty="0"/>
          </a:p>
        </p:txBody>
      </p:sp>
      <p:sp>
        <p:nvSpPr>
          <p:cNvPr id="37" name="Text 35"/>
          <p:cNvSpPr txBox="1"/>
          <p:nvPr/>
        </p:nvSpPr>
        <p:spPr>
          <a:xfrm>
            <a:off x="5852541" y="4777740"/>
            <a:ext cx="5561914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500" b="1" spc="-30" kern="0" dirty="0">
                <a:solidFill>
                  <a:srgbClr val="11676A"/>
                </a:solidFill>
                <a:latin typeface="Schibsted Grotesk" pitchFamily="34" charset="0"/>
                <a:ea typeface="Schibsted Grotesk" pitchFamily="34" charset="-122"/>
                <a:cs typeface="Schibsted Grotesk" pitchFamily="34" charset="-120"/>
              </a:rPr>
              <a:t>AI and RPA-powered automation</a:t>
            </a:r>
            <a:endParaRPr lang="en-US" sz="1500" dirty="0"/>
          </a:p>
        </p:txBody>
      </p:sp>
      <p:sp>
        <p:nvSpPr>
          <p:cNvPr id="38" name="Text 36"/>
          <p:cNvSpPr txBox="1"/>
          <p:nvPr/>
        </p:nvSpPr>
        <p:spPr>
          <a:xfrm>
            <a:off x="5852541" y="5065776"/>
            <a:ext cx="5561914" cy="21945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750" spc="60" kern="0" dirty="0">
                <a:solidFill>
                  <a:srgbClr val="5F6D77"/>
                </a:solidFill>
                <a:latin typeface="IBM Plex Mono" pitchFamily="34" charset="0"/>
                <a:ea typeface="IBM Plex Mono" pitchFamily="34" charset="-122"/>
                <a:cs typeface="IBM Plex Mono" pitchFamily="34" charset="-120"/>
              </a:rPr>
              <a:t>EMBEDDED IN SAP, NOT BOUGHT BESIDE IT</a:t>
            </a:r>
            <a:endParaRPr lang="en-US" sz="750" dirty="0"/>
          </a:p>
        </p:txBody>
      </p:sp>
      <p:sp>
        <p:nvSpPr>
          <p:cNvPr id="39" name="Text 37"/>
          <p:cNvSpPr txBox="1"/>
          <p:nvPr/>
        </p:nvSpPr>
        <p:spPr>
          <a:xfrm>
            <a:off x="5852541" y="5340096"/>
            <a:ext cx="5561914" cy="64008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lnSpc>
                <a:spcPts val="1550"/>
              </a:lnSpc>
              <a:buNone/>
            </a:pPr>
            <a:r>
              <a:rPr lang="en-US" sz="1000" dirty="0">
                <a:solidFill>
                  <a:srgbClr val="4A5A67"/>
                </a:solidFill>
                <a:latin typeface="Inter" pitchFamily="34" charset="0"/>
                <a:ea typeface="Inter" pitchFamily="34" charset="-122"/>
                <a:cs typeface="Inter" pitchFamily="34" charset="-120"/>
              </a:rPr>
              <a:t>Matching, anomaly detection and predictive accounting using SAP’s embedded AI capabilities — measured first, then phased.</a:t>
            </a:r>
            <a:endParaRPr lang="en-US" sz="1000" dirty="0"/>
          </a:p>
        </p:txBody>
      </p:sp>
      <p:sp>
        <p:nvSpPr>
          <p:cNvPr id="40" name="Text 38"/>
          <p:cNvSpPr txBox="1"/>
          <p:nvPr/>
        </p:nvSpPr>
        <p:spPr>
          <a:xfrm>
            <a:off x="777240" y="6345936"/>
            <a:ext cx="3657600" cy="21945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750" spc="60" kern="0" dirty="0">
                <a:solidFill>
                  <a:srgbClr val="5F6D77"/>
                </a:solidFill>
                <a:latin typeface="IBM Plex Mono" pitchFamily="34" charset="0"/>
                <a:ea typeface="IBM Plex Mono" pitchFamily="34" charset="-122"/>
                <a:cs typeface="IBM Plex Mono" pitchFamily="34" charset="-120"/>
              </a:rPr>
              <a:t>CPeak Consultancy</a:t>
            </a:r>
            <a:endParaRPr lang="en-US" sz="750" dirty="0"/>
          </a:p>
        </p:txBody>
      </p:sp>
      <p:sp>
        <p:nvSpPr>
          <p:cNvPr id="41" name="Text 39"/>
          <p:cNvSpPr txBox="1"/>
          <p:nvPr/>
        </p:nvSpPr>
        <p:spPr>
          <a:xfrm>
            <a:off x="10500055" y="6345936"/>
            <a:ext cx="914400" cy="21945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750" spc="60" kern="0" dirty="0">
                <a:solidFill>
                  <a:srgbClr val="5F6D77"/>
                </a:solidFill>
                <a:latin typeface="IBM Plex Mono" pitchFamily="34" charset="0"/>
                <a:ea typeface="IBM Plex Mono" pitchFamily="34" charset="-122"/>
                <a:cs typeface="IBM Plex Mono" pitchFamily="34" charset="-120"/>
              </a:rPr>
              <a:t>03</a:t>
            </a:r>
            <a:endParaRPr lang="en-US" sz="750" dirty="0"/>
          </a:p>
        </p:txBody>
      </p:sp>
    </p:spTree>
  </p:cSld>
  <p:clrMapOvr>
    <a:masterClrMapping/>
  </p:clrMapOvr>
</p:sld>
</file>

<file path=ppt/slides/slide4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4">
    <p:bg>
      <p:bgPr>
        <a:solidFill>
          <a:srgbClr val="F7F8F7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777240" y="580644"/>
            <a:ext cx="237744" cy="0"/>
          </a:xfrm>
          <a:prstGeom prst="line">
            <a:avLst/>
          </a:prstGeom>
          <a:noFill/>
          <a:ln w="12700">
            <a:solidFill>
              <a:srgbClr val="11676A"/>
            </a:solidFill>
            <a:prstDash val="solid"/>
          </a:ln>
        </p:spPr>
      </p:sp>
      <p:sp>
        <p:nvSpPr>
          <p:cNvPr id="3" name="Text 1"/>
          <p:cNvSpPr txBox="1"/>
          <p:nvPr/>
        </p:nvSpPr>
        <p:spPr>
          <a:xfrm>
            <a:off x="1106424" y="461772"/>
            <a:ext cx="5486400" cy="23774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850" spc="90" kern="0" dirty="0">
                <a:solidFill>
                  <a:srgbClr val="11676A"/>
                </a:solidFill>
                <a:latin typeface="IBM Plex Mono" pitchFamily="34" charset="0"/>
                <a:ea typeface="IBM Plex Mono" pitchFamily="34" charset="-122"/>
                <a:cs typeface="IBM Plex Mono" pitchFamily="34" charset="-120"/>
              </a:rPr>
              <a:t>SAP EXPERTISE</a:t>
            </a:r>
            <a:endParaRPr lang="en-US" sz="850" dirty="0"/>
          </a:p>
        </p:txBody>
      </p:sp>
      <p:sp>
        <p:nvSpPr>
          <p:cNvPr id="4" name="Text 2"/>
          <p:cNvSpPr txBox="1"/>
          <p:nvPr/>
        </p:nvSpPr>
        <p:spPr>
          <a:xfrm>
            <a:off x="777240" y="804672"/>
            <a:ext cx="7932191" cy="822452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lnSpc>
                <a:spcPts val="2950"/>
              </a:lnSpc>
              <a:buNone/>
            </a:pPr>
            <a:r>
              <a:rPr lang="en-US" sz="2500" b="1" spc="-50" kern="0" dirty="0">
                <a:solidFill>
                  <a:srgbClr val="11676A"/>
                </a:solidFill>
                <a:latin typeface="Schibsted Grotesk" pitchFamily="34" charset="0"/>
                <a:ea typeface="Schibsted Grotesk" pitchFamily="34" charset="-122"/>
                <a:cs typeface="Schibsted Grotesk" pitchFamily="34" charset="-120"/>
              </a:rPr>
              <a:t>One finance core, four deployment models, one embedded AI layer</a:t>
            </a:r>
            <a:endParaRPr lang="en-US" sz="2500" dirty="0"/>
          </a:p>
        </p:txBody>
      </p:sp>
      <p:sp>
        <p:nvSpPr>
          <p:cNvPr id="5" name="Text 3"/>
          <p:cNvSpPr txBox="1"/>
          <p:nvPr/>
        </p:nvSpPr>
        <p:spPr>
          <a:xfrm>
            <a:off x="777240" y="1810512"/>
            <a:ext cx="2522144" cy="1828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750" spc="75" kern="0" dirty="0">
                <a:solidFill>
                  <a:srgbClr val="5F6D77"/>
                </a:solidFill>
                <a:latin typeface="IBM Plex Mono" pitchFamily="34" charset="0"/>
                <a:ea typeface="IBM Plex Mono" pitchFamily="34" charset="-122"/>
                <a:cs typeface="IBM Plex Mono" pitchFamily="34" charset="-120"/>
              </a:rPr>
              <a:t>DEPLOYMENT MODELS</a:t>
            </a:r>
            <a:endParaRPr lang="en-US" sz="750" dirty="0"/>
          </a:p>
        </p:txBody>
      </p:sp>
      <p:sp>
        <p:nvSpPr>
          <p:cNvPr id="6" name="Text 4"/>
          <p:cNvSpPr txBox="1"/>
          <p:nvPr/>
        </p:nvSpPr>
        <p:spPr>
          <a:xfrm>
            <a:off x="8892311" y="1810512"/>
            <a:ext cx="2522144" cy="1828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750" spc="75" kern="0" dirty="0">
                <a:solidFill>
                  <a:srgbClr val="5F6D77"/>
                </a:solidFill>
                <a:latin typeface="IBM Plex Mono" pitchFamily="34" charset="0"/>
                <a:ea typeface="IBM Plex Mono" pitchFamily="34" charset="-122"/>
                <a:cs typeface="IBM Plex Mono" pitchFamily="34" charset="-120"/>
              </a:rPr>
              <a:t>EMBEDDED AI CAPABILITIES</a:t>
            </a:r>
            <a:endParaRPr lang="en-US" sz="750" dirty="0"/>
          </a:p>
        </p:txBody>
      </p:sp>
      <p:sp>
        <p:nvSpPr>
          <p:cNvPr id="7" name="Shape 5"/>
          <p:cNvSpPr/>
          <p:nvPr/>
        </p:nvSpPr>
        <p:spPr>
          <a:xfrm>
            <a:off x="777240" y="2103120"/>
            <a:ext cx="2522144" cy="640080"/>
          </a:xfrm>
          <a:prstGeom prst="rect">
            <a:avLst/>
          </a:prstGeom>
          <a:solidFill>
            <a:srgbClr val="FFFFFF"/>
          </a:solidFill>
          <a:ln w="9525">
            <a:solidFill>
              <a:srgbClr val="C9D6DE"/>
            </a:solidFill>
            <a:prstDash val="solid"/>
          </a:ln>
        </p:spPr>
      </p:sp>
      <p:sp>
        <p:nvSpPr>
          <p:cNvPr id="8" name="Text 6"/>
          <p:cNvSpPr txBox="1"/>
          <p:nvPr/>
        </p:nvSpPr>
        <p:spPr>
          <a:xfrm>
            <a:off x="923544" y="2185416"/>
            <a:ext cx="2229536" cy="21945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100" b="1" spc="-20" kern="0" dirty="0">
                <a:solidFill>
                  <a:srgbClr val="11676A"/>
                </a:solidFill>
                <a:latin typeface="Schibsted Grotesk" pitchFamily="34" charset="0"/>
                <a:ea typeface="Schibsted Grotesk" pitchFamily="34" charset="-122"/>
                <a:cs typeface="Schibsted Grotesk" pitchFamily="34" charset="-120"/>
              </a:rPr>
              <a:t>SAP ECC</a:t>
            </a:r>
            <a:endParaRPr lang="en-US" sz="1100" dirty="0"/>
          </a:p>
        </p:txBody>
      </p:sp>
      <p:sp>
        <p:nvSpPr>
          <p:cNvPr id="9" name="Text 7"/>
          <p:cNvSpPr txBox="1"/>
          <p:nvPr/>
        </p:nvSpPr>
        <p:spPr>
          <a:xfrm>
            <a:off x="923544" y="2404872"/>
            <a:ext cx="2229536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lnSpc>
                <a:spcPts val="1100"/>
              </a:lnSpc>
              <a:buNone/>
            </a:pPr>
            <a:r>
              <a:rPr lang="en-US" sz="850" dirty="0">
                <a:solidFill>
                  <a:srgbClr val="4A5A67"/>
                </a:solidFill>
                <a:latin typeface="Inter" pitchFamily="34" charset="0"/>
                <a:ea typeface="Inter" pitchFamily="34" charset="-122"/>
                <a:cs typeface="Inter" pitchFamily="34" charset="-120"/>
              </a:rPr>
              <a:t>The landscape most programmes start from</a:t>
            </a:r>
            <a:endParaRPr lang="en-US" sz="850" dirty="0"/>
          </a:p>
        </p:txBody>
      </p:sp>
      <p:sp>
        <p:nvSpPr>
          <p:cNvPr id="10" name="Shape 8"/>
          <p:cNvSpPr/>
          <p:nvPr/>
        </p:nvSpPr>
        <p:spPr>
          <a:xfrm>
            <a:off x="3299384" y="2423160"/>
            <a:ext cx="632445" cy="0"/>
          </a:xfrm>
          <a:prstGeom prst="line">
            <a:avLst/>
          </a:prstGeom>
          <a:noFill/>
          <a:ln w="9525">
            <a:solidFill>
              <a:srgbClr val="C9D6DE"/>
            </a:solidFill>
            <a:prstDash val="solid"/>
          </a:ln>
        </p:spPr>
      </p:sp>
      <p:sp>
        <p:nvSpPr>
          <p:cNvPr id="11" name="Shape 9"/>
          <p:cNvSpPr/>
          <p:nvPr/>
        </p:nvSpPr>
        <p:spPr>
          <a:xfrm>
            <a:off x="777240" y="2884932"/>
            <a:ext cx="2522144" cy="640080"/>
          </a:xfrm>
          <a:prstGeom prst="rect">
            <a:avLst/>
          </a:prstGeom>
          <a:solidFill>
            <a:srgbClr val="FFFFFF"/>
          </a:solidFill>
          <a:ln w="9525">
            <a:solidFill>
              <a:srgbClr val="C9D6DE"/>
            </a:solidFill>
            <a:prstDash val="solid"/>
          </a:ln>
        </p:spPr>
      </p:sp>
      <p:sp>
        <p:nvSpPr>
          <p:cNvPr id="12" name="Text 10"/>
          <p:cNvSpPr txBox="1"/>
          <p:nvPr/>
        </p:nvSpPr>
        <p:spPr>
          <a:xfrm>
            <a:off x="923544" y="2967228"/>
            <a:ext cx="2229536" cy="21945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100" b="1" spc="-20" kern="0" dirty="0">
                <a:solidFill>
                  <a:srgbClr val="11676A"/>
                </a:solidFill>
                <a:latin typeface="Schibsted Grotesk" pitchFamily="34" charset="0"/>
                <a:ea typeface="Schibsted Grotesk" pitchFamily="34" charset="-122"/>
                <a:cs typeface="Schibsted Grotesk" pitchFamily="34" charset="-120"/>
              </a:rPr>
              <a:t>S/4HANA on-premise</a:t>
            </a:r>
            <a:endParaRPr lang="en-US" sz="1100" dirty="0"/>
          </a:p>
        </p:txBody>
      </p:sp>
      <p:sp>
        <p:nvSpPr>
          <p:cNvPr id="13" name="Text 11"/>
          <p:cNvSpPr txBox="1"/>
          <p:nvPr/>
        </p:nvSpPr>
        <p:spPr>
          <a:xfrm>
            <a:off x="923544" y="3186684"/>
            <a:ext cx="2229536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lnSpc>
                <a:spcPts val="1100"/>
              </a:lnSpc>
              <a:buNone/>
            </a:pPr>
            <a:r>
              <a:rPr lang="en-US" sz="850" dirty="0">
                <a:solidFill>
                  <a:srgbClr val="4A5A67"/>
                </a:solidFill>
                <a:latin typeface="Inter" pitchFamily="34" charset="0"/>
                <a:ea typeface="Inter" pitchFamily="34" charset="-122"/>
                <a:cs typeface="Inter" pitchFamily="34" charset="-120"/>
              </a:rPr>
              <a:t>Own infrastructure, full flexibility</a:t>
            </a:r>
            <a:endParaRPr lang="en-US" sz="850" dirty="0"/>
          </a:p>
        </p:txBody>
      </p:sp>
      <p:sp>
        <p:nvSpPr>
          <p:cNvPr id="14" name="Shape 12"/>
          <p:cNvSpPr/>
          <p:nvPr/>
        </p:nvSpPr>
        <p:spPr>
          <a:xfrm>
            <a:off x="3299384" y="3204972"/>
            <a:ext cx="632445" cy="0"/>
          </a:xfrm>
          <a:prstGeom prst="line">
            <a:avLst/>
          </a:prstGeom>
          <a:noFill/>
          <a:ln w="9525">
            <a:solidFill>
              <a:srgbClr val="C9D6DE"/>
            </a:solidFill>
            <a:prstDash val="solid"/>
          </a:ln>
        </p:spPr>
      </p:sp>
      <p:sp>
        <p:nvSpPr>
          <p:cNvPr id="15" name="Shape 13"/>
          <p:cNvSpPr/>
          <p:nvPr/>
        </p:nvSpPr>
        <p:spPr>
          <a:xfrm>
            <a:off x="777240" y="3666744"/>
            <a:ext cx="2522144" cy="640080"/>
          </a:xfrm>
          <a:prstGeom prst="rect">
            <a:avLst/>
          </a:prstGeom>
          <a:solidFill>
            <a:srgbClr val="FFFFFF"/>
          </a:solidFill>
          <a:ln w="9525">
            <a:solidFill>
              <a:srgbClr val="C9D6DE"/>
            </a:solidFill>
            <a:prstDash val="solid"/>
          </a:ln>
        </p:spPr>
      </p:sp>
      <p:sp>
        <p:nvSpPr>
          <p:cNvPr id="16" name="Text 14"/>
          <p:cNvSpPr txBox="1"/>
          <p:nvPr/>
        </p:nvSpPr>
        <p:spPr>
          <a:xfrm>
            <a:off x="923544" y="3749040"/>
            <a:ext cx="2229536" cy="21945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100" b="1" spc="-20" kern="0" dirty="0">
                <a:solidFill>
                  <a:srgbClr val="11676A"/>
                </a:solidFill>
                <a:latin typeface="Schibsted Grotesk" pitchFamily="34" charset="0"/>
                <a:ea typeface="Schibsted Grotesk" pitchFamily="34" charset="-122"/>
                <a:cs typeface="Schibsted Grotesk" pitchFamily="34" charset="-120"/>
              </a:rPr>
              <a:t>Cloud ERP Private Edition</a:t>
            </a:r>
            <a:endParaRPr lang="en-US" sz="1100" dirty="0"/>
          </a:p>
        </p:txBody>
      </p:sp>
      <p:sp>
        <p:nvSpPr>
          <p:cNvPr id="17" name="Text 15"/>
          <p:cNvSpPr txBox="1"/>
          <p:nvPr/>
        </p:nvSpPr>
        <p:spPr>
          <a:xfrm>
            <a:off x="923544" y="3968496"/>
            <a:ext cx="2229536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lnSpc>
                <a:spcPts val="1100"/>
              </a:lnSpc>
              <a:buNone/>
            </a:pPr>
            <a:r>
              <a:rPr lang="en-US" sz="850" dirty="0">
                <a:solidFill>
                  <a:srgbClr val="4A5A67"/>
                </a:solidFill>
                <a:latin typeface="Inter" pitchFamily="34" charset="0"/>
                <a:ea typeface="Inter" pitchFamily="34" charset="-122"/>
                <a:cs typeface="Inter" pitchFamily="34" charset="-120"/>
              </a:rPr>
              <a:t>RISE with SAP — cloud operations, flexibility retained</a:t>
            </a:r>
            <a:endParaRPr lang="en-US" sz="850" dirty="0"/>
          </a:p>
        </p:txBody>
      </p:sp>
      <p:sp>
        <p:nvSpPr>
          <p:cNvPr id="18" name="Shape 16"/>
          <p:cNvSpPr/>
          <p:nvPr/>
        </p:nvSpPr>
        <p:spPr>
          <a:xfrm>
            <a:off x="3299384" y="3986784"/>
            <a:ext cx="632445" cy="0"/>
          </a:xfrm>
          <a:prstGeom prst="line">
            <a:avLst/>
          </a:prstGeom>
          <a:noFill/>
          <a:ln w="9525">
            <a:solidFill>
              <a:srgbClr val="C9D6DE"/>
            </a:solidFill>
            <a:prstDash val="solid"/>
          </a:ln>
        </p:spPr>
      </p:sp>
      <p:sp>
        <p:nvSpPr>
          <p:cNvPr id="19" name="Shape 17"/>
          <p:cNvSpPr/>
          <p:nvPr/>
        </p:nvSpPr>
        <p:spPr>
          <a:xfrm>
            <a:off x="777240" y="4448556"/>
            <a:ext cx="2522144" cy="640080"/>
          </a:xfrm>
          <a:prstGeom prst="rect">
            <a:avLst/>
          </a:prstGeom>
          <a:solidFill>
            <a:srgbClr val="FFFFFF"/>
          </a:solidFill>
          <a:ln w="9525">
            <a:solidFill>
              <a:srgbClr val="C9D6DE"/>
            </a:solidFill>
            <a:prstDash val="solid"/>
          </a:ln>
        </p:spPr>
      </p:sp>
      <p:sp>
        <p:nvSpPr>
          <p:cNvPr id="20" name="Text 18"/>
          <p:cNvSpPr txBox="1"/>
          <p:nvPr/>
        </p:nvSpPr>
        <p:spPr>
          <a:xfrm>
            <a:off x="923544" y="4530852"/>
            <a:ext cx="2229536" cy="21945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100" b="1" spc="-20" kern="0" dirty="0">
                <a:solidFill>
                  <a:srgbClr val="11676A"/>
                </a:solidFill>
                <a:latin typeface="Schibsted Grotesk" pitchFamily="34" charset="0"/>
                <a:ea typeface="Schibsted Grotesk" pitchFamily="34" charset="-122"/>
                <a:cs typeface="Schibsted Grotesk" pitchFamily="34" charset="-120"/>
              </a:rPr>
              <a:t>Cloud ERP Public Edition</a:t>
            </a:r>
            <a:endParaRPr lang="en-US" sz="1100" dirty="0"/>
          </a:p>
        </p:txBody>
      </p:sp>
      <p:sp>
        <p:nvSpPr>
          <p:cNvPr id="21" name="Text 19"/>
          <p:cNvSpPr txBox="1"/>
          <p:nvPr/>
        </p:nvSpPr>
        <p:spPr>
          <a:xfrm>
            <a:off x="923544" y="4750308"/>
            <a:ext cx="2229536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lnSpc>
                <a:spcPts val="1100"/>
              </a:lnSpc>
              <a:buNone/>
            </a:pPr>
            <a:r>
              <a:rPr lang="en-US" sz="850" dirty="0">
                <a:solidFill>
                  <a:srgbClr val="4A5A67"/>
                </a:solidFill>
                <a:latin typeface="Inter" pitchFamily="34" charset="0"/>
                <a:ea typeface="Inter" pitchFamily="34" charset="-122"/>
                <a:cs typeface="Inter" pitchFamily="34" charset="-120"/>
              </a:rPr>
              <a:t>Standard scope, rapid deployment</a:t>
            </a:r>
            <a:endParaRPr lang="en-US" sz="850" dirty="0"/>
          </a:p>
        </p:txBody>
      </p:sp>
      <p:sp>
        <p:nvSpPr>
          <p:cNvPr id="22" name="Shape 20"/>
          <p:cNvSpPr/>
          <p:nvPr/>
        </p:nvSpPr>
        <p:spPr>
          <a:xfrm>
            <a:off x="3299384" y="4768596"/>
            <a:ext cx="632445" cy="0"/>
          </a:xfrm>
          <a:prstGeom prst="line">
            <a:avLst/>
          </a:prstGeom>
          <a:noFill/>
          <a:ln w="9525">
            <a:solidFill>
              <a:srgbClr val="C9D6DE"/>
            </a:solidFill>
            <a:prstDash val="solid"/>
          </a:ln>
        </p:spPr>
      </p:sp>
      <p:sp>
        <p:nvSpPr>
          <p:cNvPr id="23" name="Shape 21"/>
          <p:cNvSpPr/>
          <p:nvPr/>
        </p:nvSpPr>
        <p:spPr>
          <a:xfrm>
            <a:off x="8892311" y="2103120"/>
            <a:ext cx="2522144" cy="640080"/>
          </a:xfrm>
          <a:prstGeom prst="rect">
            <a:avLst/>
          </a:prstGeom>
          <a:solidFill>
            <a:srgbClr val="FFFFFF"/>
          </a:solidFill>
          <a:ln w="9525">
            <a:solidFill>
              <a:srgbClr val="C9D6DE"/>
            </a:solidFill>
            <a:prstDash val="solid"/>
          </a:ln>
        </p:spPr>
      </p:sp>
      <p:sp>
        <p:nvSpPr>
          <p:cNvPr id="24" name="Text 22"/>
          <p:cNvSpPr txBox="1"/>
          <p:nvPr/>
        </p:nvSpPr>
        <p:spPr>
          <a:xfrm>
            <a:off x="9038615" y="2185416"/>
            <a:ext cx="2229536" cy="21945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100" b="1" spc="-20" kern="0" dirty="0">
                <a:solidFill>
                  <a:srgbClr val="11676A"/>
                </a:solidFill>
                <a:latin typeface="Schibsted Grotesk" pitchFamily="34" charset="0"/>
                <a:ea typeface="Schibsted Grotesk" pitchFamily="34" charset="-122"/>
                <a:cs typeface="Schibsted Grotesk" pitchFamily="34" charset="-120"/>
              </a:rPr>
              <a:t>Intelligent matching</a:t>
            </a:r>
            <a:endParaRPr lang="en-US" sz="1100" dirty="0"/>
          </a:p>
        </p:txBody>
      </p:sp>
      <p:sp>
        <p:nvSpPr>
          <p:cNvPr id="25" name="Text 23"/>
          <p:cNvSpPr txBox="1"/>
          <p:nvPr/>
        </p:nvSpPr>
        <p:spPr>
          <a:xfrm>
            <a:off x="9038615" y="2404872"/>
            <a:ext cx="2229536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lnSpc>
                <a:spcPts val="1100"/>
              </a:lnSpc>
              <a:buNone/>
            </a:pPr>
            <a:r>
              <a:rPr lang="en-US" sz="850" dirty="0">
                <a:solidFill>
                  <a:srgbClr val="4A5A67"/>
                </a:solidFill>
                <a:latin typeface="Inter" pitchFamily="34" charset="0"/>
                <a:ea typeface="Inter" pitchFamily="34" charset="-122"/>
                <a:cs typeface="Inter" pitchFamily="34" charset="-120"/>
              </a:rPr>
              <a:t>Bank and open items cleared from learned behaviour</a:t>
            </a:r>
            <a:endParaRPr lang="en-US" sz="850" dirty="0"/>
          </a:p>
        </p:txBody>
      </p:sp>
      <p:sp>
        <p:nvSpPr>
          <p:cNvPr id="26" name="Shape 24"/>
          <p:cNvSpPr/>
          <p:nvPr/>
        </p:nvSpPr>
        <p:spPr>
          <a:xfrm>
            <a:off x="8076987" y="2423160"/>
            <a:ext cx="815325" cy="0"/>
          </a:xfrm>
          <a:prstGeom prst="line">
            <a:avLst/>
          </a:prstGeom>
          <a:noFill/>
          <a:ln w="9525">
            <a:solidFill>
              <a:srgbClr val="C9D6DE"/>
            </a:solidFill>
            <a:prstDash val="solid"/>
          </a:ln>
        </p:spPr>
      </p:sp>
      <p:sp>
        <p:nvSpPr>
          <p:cNvPr id="27" name="Shape 25"/>
          <p:cNvSpPr/>
          <p:nvPr/>
        </p:nvSpPr>
        <p:spPr>
          <a:xfrm>
            <a:off x="8892311" y="2884932"/>
            <a:ext cx="2522144" cy="640080"/>
          </a:xfrm>
          <a:prstGeom prst="rect">
            <a:avLst/>
          </a:prstGeom>
          <a:solidFill>
            <a:srgbClr val="FFFFFF"/>
          </a:solidFill>
          <a:ln w="9525">
            <a:solidFill>
              <a:srgbClr val="C9D6DE"/>
            </a:solidFill>
            <a:prstDash val="solid"/>
          </a:ln>
        </p:spPr>
      </p:sp>
      <p:sp>
        <p:nvSpPr>
          <p:cNvPr id="28" name="Text 26"/>
          <p:cNvSpPr txBox="1"/>
          <p:nvPr/>
        </p:nvSpPr>
        <p:spPr>
          <a:xfrm>
            <a:off x="9038615" y="2967228"/>
            <a:ext cx="2229536" cy="21945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100" b="1" spc="-20" kern="0" dirty="0">
                <a:solidFill>
                  <a:srgbClr val="11676A"/>
                </a:solidFill>
                <a:latin typeface="Schibsted Grotesk" pitchFamily="34" charset="0"/>
                <a:ea typeface="Schibsted Grotesk" pitchFamily="34" charset="-122"/>
                <a:cs typeface="Schibsted Grotesk" pitchFamily="34" charset="-120"/>
              </a:rPr>
              <a:t>Anomaly detection</a:t>
            </a:r>
            <a:endParaRPr lang="en-US" sz="1100" dirty="0"/>
          </a:p>
        </p:txBody>
      </p:sp>
      <p:sp>
        <p:nvSpPr>
          <p:cNvPr id="29" name="Text 27"/>
          <p:cNvSpPr txBox="1"/>
          <p:nvPr/>
        </p:nvSpPr>
        <p:spPr>
          <a:xfrm>
            <a:off x="9038615" y="3186684"/>
            <a:ext cx="2229536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lnSpc>
                <a:spcPts val="1100"/>
              </a:lnSpc>
              <a:buNone/>
            </a:pPr>
            <a:r>
              <a:rPr lang="en-US" sz="850" dirty="0">
                <a:solidFill>
                  <a:srgbClr val="4A5A67"/>
                </a:solidFill>
                <a:latin typeface="Inter" pitchFamily="34" charset="0"/>
                <a:ea typeface="Inter" pitchFamily="34" charset="-122"/>
                <a:cs typeface="Inter" pitchFamily="34" charset="-120"/>
              </a:rPr>
              <a:t>Unusual postings flagged before the close, not after</a:t>
            </a:r>
            <a:endParaRPr lang="en-US" sz="850" dirty="0"/>
          </a:p>
        </p:txBody>
      </p:sp>
      <p:sp>
        <p:nvSpPr>
          <p:cNvPr id="30" name="Shape 28"/>
          <p:cNvSpPr/>
          <p:nvPr/>
        </p:nvSpPr>
        <p:spPr>
          <a:xfrm>
            <a:off x="8076987" y="3204972"/>
            <a:ext cx="815325" cy="0"/>
          </a:xfrm>
          <a:prstGeom prst="line">
            <a:avLst/>
          </a:prstGeom>
          <a:noFill/>
          <a:ln w="9525">
            <a:solidFill>
              <a:srgbClr val="C9D6DE"/>
            </a:solidFill>
            <a:prstDash val="solid"/>
          </a:ln>
        </p:spPr>
      </p:sp>
      <p:sp>
        <p:nvSpPr>
          <p:cNvPr id="31" name="Shape 29"/>
          <p:cNvSpPr/>
          <p:nvPr/>
        </p:nvSpPr>
        <p:spPr>
          <a:xfrm>
            <a:off x="8892311" y="3666744"/>
            <a:ext cx="2522144" cy="640080"/>
          </a:xfrm>
          <a:prstGeom prst="rect">
            <a:avLst/>
          </a:prstGeom>
          <a:solidFill>
            <a:srgbClr val="FFFFFF"/>
          </a:solidFill>
          <a:ln w="9525">
            <a:solidFill>
              <a:srgbClr val="C9D6DE"/>
            </a:solidFill>
            <a:prstDash val="solid"/>
          </a:ln>
        </p:spPr>
      </p:sp>
      <p:sp>
        <p:nvSpPr>
          <p:cNvPr id="32" name="Text 30"/>
          <p:cNvSpPr txBox="1"/>
          <p:nvPr/>
        </p:nvSpPr>
        <p:spPr>
          <a:xfrm>
            <a:off x="9038615" y="3749040"/>
            <a:ext cx="2229536" cy="21945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100" b="1" spc="-20" kern="0" dirty="0">
                <a:solidFill>
                  <a:srgbClr val="11676A"/>
                </a:solidFill>
                <a:latin typeface="Schibsted Grotesk" pitchFamily="34" charset="0"/>
                <a:ea typeface="Schibsted Grotesk" pitchFamily="34" charset="-122"/>
                <a:cs typeface="Schibsted Grotesk" pitchFamily="34" charset="-120"/>
              </a:rPr>
              <a:t>Predictive accounting</a:t>
            </a:r>
            <a:endParaRPr lang="en-US" sz="1100" dirty="0"/>
          </a:p>
        </p:txBody>
      </p:sp>
      <p:sp>
        <p:nvSpPr>
          <p:cNvPr id="33" name="Text 31"/>
          <p:cNvSpPr txBox="1"/>
          <p:nvPr/>
        </p:nvSpPr>
        <p:spPr>
          <a:xfrm>
            <a:off x="9038615" y="3968496"/>
            <a:ext cx="2229536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lnSpc>
                <a:spcPts val="1100"/>
              </a:lnSpc>
              <a:buNone/>
            </a:pPr>
            <a:r>
              <a:rPr lang="en-US" sz="850" dirty="0">
                <a:solidFill>
                  <a:srgbClr val="4A5A67"/>
                </a:solidFill>
                <a:latin typeface="Inter" pitchFamily="34" charset="0"/>
                <a:ea typeface="Inter" pitchFamily="34" charset="-122"/>
                <a:cs typeface="Inter" pitchFamily="34" charset="-120"/>
              </a:rPr>
              <a:t>Not-yet-final transactions visible during the period</a:t>
            </a:r>
            <a:endParaRPr lang="en-US" sz="850" dirty="0"/>
          </a:p>
        </p:txBody>
      </p:sp>
      <p:sp>
        <p:nvSpPr>
          <p:cNvPr id="34" name="Shape 32"/>
          <p:cNvSpPr/>
          <p:nvPr/>
        </p:nvSpPr>
        <p:spPr>
          <a:xfrm>
            <a:off x="8076987" y="3986784"/>
            <a:ext cx="815325" cy="0"/>
          </a:xfrm>
          <a:prstGeom prst="line">
            <a:avLst/>
          </a:prstGeom>
          <a:noFill/>
          <a:ln w="9525">
            <a:solidFill>
              <a:srgbClr val="C9D6DE"/>
            </a:solidFill>
            <a:prstDash val="solid"/>
          </a:ln>
        </p:spPr>
      </p:sp>
      <p:sp>
        <p:nvSpPr>
          <p:cNvPr id="35" name="Shape 33"/>
          <p:cNvSpPr/>
          <p:nvPr/>
        </p:nvSpPr>
        <p:spPr>
          <a:xfrm>
            <a:off x="8892311" y="4448556"/>
            <a:ext cx="2522144" cy="640080"/>
          </a:xfrm>
          <a:prstGeom prst="rect">
            <a:avLst/>
          </a:prstGeom>
          <a:solidFill>
            <a:srgbClr val="FFFFFF"/>
          </a:solidFill>
          <a:ln w="9525">
            <a:solidFill>
              <a:srgbClr val="C9D6DE"/>
            </a:solidFill>
            <a:prstDash val="solid"/>
          </a:ln>
        </p:spPr>
      </p:sp>
      <p:sp>
        <p:nvSpPr>
          <p:cNvPr id="36" name="Text 34"/>
          <p:cNvSpPr txBox="1"/>
          <p:nvPr/>
        </p:nvSpPr>
        <p:spPr>
          <a:xfrm>
            <a:off x="9038615" y="4530852"/>
            <a:ext cx="2229536" cy="21945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100" b="1" spc="-20" kern="0" dirty="0">
                <a:solidFill>
                  <a:srgbClr val="11676A"/>
                </a:solidFill>
                <a:latin typeface="Schibsted Grotesk" pitchFamily="34" charset="0"/>
                <a:ea typeface="Schibsted Grotesk" pitchFamily="34" charset="-122"/>
                <a:cs typeface="Schibsted Grotesk" pitchFamily="34" charset="-120"/>
              </a:rPr>
              <a:t>Joule</a:t>
            </a:r>
            <a:endParaRPr lang="en-US" sz="1100" dirty="0"/>
          </a:p>
        </p:txBody>
      </p:sp>
      <p:sp>
        <p:nvSpPr>
          <p:cNvPr id="37" name="Text 35"/>
          <p:cNvSpPr txBox="1"/>
          <p:nvPr/>
        </p:nvSpPr>
        <p:spPr>
          <a:xfrm>
            <a:off x="9038615" y="4750308"/>
            <a:ext cx="2229536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lnSpc>
                <a:spcPts val="1100"/>
              </a:lnSpc>
              <a:buNone/>
            </a:pPr>
            <a:r>
              <a:rPr lang="en-US" sz="850" dirty="0">
                <a:solidFill>
                  <a:srgbClr val="4A5A67"/>
                </a:solidFill>
                <a:latin typeface="Inter" pitchFamily="34" charset="0"/>
                <a:ea typeface="Inter" pitchFamily="34" charset="-122"/>
                <a:cs typeface="Inter" pitchFamily="34" charset="-120"/>
              </a:rPr>
              <a:t>A natural-language layer for querying and navigation</a:t>
            </a:r>
            <a:endParaRPr lang="en-US" sz="850" dirty="0"/>
          </a:p>
        </p:txBody>
      </p:sp>
      <p:sp>
        <p:nvSpPr>
          <p:cNvPr id="38" name="Shape 36"/>
          <p:cNvSpPr/>
          <p:nvPr/>
        </p:nvSpPr>
        <p:spPr>
          <a:xfrm>
            <a:off x="8076987" y="4768596"/>
            <a:ext cx="815325" cy="0"/>
          </a:xfrm>
          <a:prstGeom prst="line">
            <a:avLst/>
          </a:prstGeom>
          <a:noFill/>
          <a:ln w="9525">
            <a:solidFill>
              <a:srgbClr val="C9D6DE"/>
            </a:solidFill>
            <a:prstDash val="solid"/>
          </a:ln>
        </p:spPr>
      </p:sp>
      <p:sp>
        <p:nvSpPr>
          <p:cNvPr id="39" name="Shape 37"/>
          <p:cNvSpPr/>
          <p:nvPr/>
        </p:nvSpPr>
        <p:spPr>
          <a:xfrm>
            <a:off x="3931829" y="2103120"/>
            <a:ext cx="4145158" cy="2985516"/>
          </a:xfrm>
          <a:prstGeom prst="rect">
            <a:avLst/>
          </a:prstGeom>
          <a:solidFill>
            <a:srgbClr val="11676A"/>
          </a:solidFill>
          <a:ln/>
        </p:spPr>
      </p:sp>
      <p:sp>
        <p:nvSpPr>
          <p:cNvPr id="40" name="Text 38"/>
          <p:cNvSpPr txBox="1"/>
          <p:nvPr/>
        </p:nvSpPr>
        <p:spPr>
          <a:xfrm>
            <a:off x="4206149" y="2414016"/>
            <a:ext cx="3596518" cy="1828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800" spc="75" kern="0" dirty="0">
                <a:solidFill>
                  <a:srgbClr val="F5DCA4"/>
                </a:solidFill>
                <a:latin typeface="IBM Plex Mono" pitchFamily="34" charset="0"/>
                <a:ea typeface="IBM Plex Mono" pitchFamily="34" charset="-122"/>
                <a:cs typeface="IBM Plex Mono" pitchFamily="34" charset="-120"/>
              </a:rPr>
              <a:t>SAP FINANCE CORE</a:t>
            </a:r>
            <a:endParaRPr lang="en-US" sz="800" dirty="0"/>
          </a:p>
        </p:txBody>
      </p:sp>
      <p:sp>
        <p:nvSpPr>
          <p:cNvPr id="41" name="Text 39"/>
          <p:cNvSpPr txBox="1"/>
          <p:nvPr/>
        </p:nvSpPr>
        <p:spPr>
          <a:xfrm>
            <a:off x="4206149" y="2670048"/>
            <a:ext cx="3596518" cy="5029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2700" b="1" spc="-60" kern="0" dirty="0">
                <a:solidFill>
                  <a:srgbClr val="FFFFFF"/>
                </a:solidFill>
                <a:latin typeface="Schibsted Grotesk" pitchFamily="34" charset="0"/>
                <a:ea typeface="Schibsted Grotesk" pitchFamily="34" charset="-122"/>
                <a:cs typeface="Schibsted Grotesk" pitchFamily="34" charset="-120"/>
              </a:rPr>
              <a:t>FI · CO · PA · PS</a:t>
            </a:r>
            <a:endParaRPr lang="en-US" sz="2700" dirty="0"/>
          </a:p>
        </p:txBody>
      </p:sp>
      <p:sp>
        <p:nvSpPr>
          <p:cNvPr id="42" name="Shape 40"/>
          <p:cNvSpPr/>
          <p:nvPr/>
        </p:nvSpPr>
        <p:spPr>
          <a:xfrm>
            <a:off x="4206149" y="3310128"/>
            <a:ext cx="3596518" cy="0"/>
          </a:xfrm>
          <a:prstGeom prst="line">
            <a:avLst/>
          </a:prstGeom>
          <a:noFill/>
          <a:ln w="9525">
            <a:solidFill>
              <a:srgbClr val="4A8B8E"/>
            </a:solidFill>
            <a:prstDash val="solid"/>
          </a:ln>
        </p:spPr>
      </p:sp>
      <p:sp>
        <p:nvSpPr>
          <p:cNvPr id="43" name="Shape 41"/>
          <p:cNvSpPr/>
          <p:nvPr/>
        </p:nvSpPr>
        <p:spPr>
          <a:xfrm>
            <a:off x="4224437" y="3547872"/>
            <a:ext cx="68580" cy="68580"/>
          </a:xfrm>
          <a:prstGeom prst="ellipse">
            <a:avLst/>
          </a:prstGeom>
          <a:solidFill>
            <a:srgbClr val="F5DCA4"/>
          </a:solidFill>
          <a:ln w="3175">
            <a:solidFill>
              <a:srgbClr val="F5DCA4"/>
            </a:solidFill>
            <a:prstDash val="solid"/>
          </a:ln>
        </p:spPr>
      </p:sp>
      <p:sp>
        <p:nvSpPr>
          <p:cNvPr id="44" name="Text 42"/>
          <p:cNvSpPr txBox="1"/>
          <p:nvPr/>
        </p:nvSpPr>
        <p:spPr>
          <a:xfrm>
            <a:off x="4443893" y="3456432"/>
            <a:ext cx="3358774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000" dirty="0">
                <a:solidFill>
                  <a:srgbClr val="FFFFFF"/>
                </a:solidFill>
                <a:latin typeface="Inter" pitchFamily="34" charset="0"/>
                <a:ea typeface="Inter" pitchFamily="34" charset="-122"/>
                <a:cs typeface="Inter" pitchFamily="34" charset="-120"/>
              </a:rPr>
              <a:t>Enterprise structure and global chart of accounts</a:t>
            </a:r>
            <a:endParaRPr lang="en-US" sz="1000" dirty="0"/>
          </a:p>
        </p:txBody>
      </p:sp>
      <p:sp>
        <p:nvSpPr>
          <p:cNvPr id="45" name="Shape 43"/>
          <p:cNvSpPr/>
          <p:nvPr/>
        </p:nvSpPr>
        <p:spPr>
          <a:xfrm>
            <a:off x="4224437" y="3931920"/>
            <a:ext cx="68580" cy="68580"/>
          </a:xfrm>
          <a:prstGeom prst="ellipse">
            <a:avLst/>
          </a:prstGeom>
          <a:solidFill>
            <a:srgbClr val="F5DCA4"/>
          </a:solidFill>
          <a:ln w="3175">
            <a:solidFill>
              <a:srgbClr val="F5DCA4"/>
            </a:solidFill>
            <a:prstDash val="solid"/>
          </a:ln>
        </p:spPr>
      </p:sp>
      <p:sp>
        <p:nvSpPr>
          <p:cNvPr id="46" name="Text 44"/>
          <p:cNvSpPr txBox="1"/>
          <p:nvPr/>
        </p:nvSpPr>
        <p:spPr>
          <a:xfrm>
            <a:off x="4443893" y="3840480"/>
            <a:ext cx="3358774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000" dirty="0">
                <a:solidFill>
                  <a:srgbClr val="FFFFFF"/>
                </a:solidFill>
                <a:latin typeface="Inter" pitchFamily="34" charset="0"/>
                <a:ea typeface="Inter" pitchFamily="34" charset="-122"/>
                <a:cs typeface="Inter" pitchFamily="34" charset="-120"/>
              </a:rPr>
              <a:t>Controlling, costing and profitability</a:t>
            </a:r>
            <a:endParaRPr lang="en-US" sz="1000" dirty="0"/>
          </a:p>
        </p:txBody>
      </p:sp>
      <p:sp>
        <p:nvSpPr>
          <p:cNvPr id="47" name="Shape 45"/>
          <p:cNvSpPr/>
          <p:nvPr/>
        </p:nvSpPr>
        <p:spPr>
          <a:xfrm>
            <a:off x="4224437" y="4315968"/>
            <a:ext cx="68580" cy="68580"/>
          </a:xfrm>
          <a:prstGeom prst="ellipse">
            <a:avLst/>
          </a:prstGeom>
          <a:solidFill>
            <a:srgbClr val="F5DCA4"/>
          </a:solidFill>
          <a:ln w="3175">
            <a:solidFill>
              <a:srgbClr val="F5DCA4"/>
            </a:solidFill>
            <a:prstDash val="solid"/>
          </a:ln>
        </p:spPr>
      </p:sp>
      <p:sp>
        <p:nvSpPr>
          <p:cNvPr id="48" name="Text 46"/>
          <p:cNvSpPr txBox="1"/>
          <p:nvPr/>
        </p:nvSpPr>
        <p:spPr>
          <a:xfrm>
            <a:off x="4443893" y="4224528"/>
            <a:ext cx="3358774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000" dirty="0">
                <a:solidFill>
                  <a:srgbClr val="FFFFFF"/>
                </a:solidFill>
                <a:latin typeface="Inter" pitchFamily="34" charset="0"/>
                <a:ea typeface="Inter" pitchFamily="34" charset="-122"/>
                <a:cs typeface="Inter" pitchFamily="34" charset="-120"/>
              </a:rPr>
              <a:t>The financial close, redesigned step by step</a:t>
            </a:r>
            <a:endParaRPr lang="en-US" sz="1000" dirty="0"/>
          </a:p>
        </p:txBody>
      </p:sp>
      <p:sp>
        <p:nvSpPr>
          <p:cNvPr id="49" name="Shape 47"/>
          <p:cNvSpPr/>
          <p:nvPr/>
        </p:nvSpPr>
        <p:spPr>
          <a:xfrm>
            <a:off x="4224437" y="4700016"/>
            <a:ext cx="68580" cy="68580"/>
          </a:xfrm>
          <a:prstGeom prst="ellipse">
            <a:avLst/>
          </a:prstGeom>
          <a:solidFill>
            <a:srgbClr val="F5DCA4"/>
          </a:solidFill>
          <a:ln w="3175">
            <a:solidFill>
              <a:srgbClr val="F5DCA4"/>
            </a:solidFill>
            <a:prstDash val="solid"/>
          </a:ln>
        </p:spPr>
      </p:sp>
      <p:sp>
        <p:nvSpPr>
          <p:cNvPr id="50" name="Text 48"/>
          <p:cNvSpPr txBox="1"/>
          <p:nvPr/>
        </p:nvSpPr>
        <p:spPr>
          <a:xfrm>
            <a:off x="4443893" y="4608576"/>
            <a:ext cx="3358774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000" dirty="0">
                <a:solidFill>
                  <a:srgbClr val="FFFFFF"/>
                </a:solidFill>
                <a:latin typeface="Inter" pitchFamily="34" charset="0"/>
                <a:ea typeface="Inter" pitchFamily="34" charset="-122"/>
                <a:cs typeface="Inter" pitchFamily="34" charset="-120"/>
              </a:rPr>
              <a:t>Statutory and management reporting from one source</a:t>
            </a:r>
            <a:endParaRPr lang="en-US" sz="1000" dirty="0"/>
          </a:p>
        </p:txBody>
      </p:sp>
      <p:sp>
        <p:nvSpPr>
          <p:cNvPr id="51" name="Shape 49"/>
          <p:cNvSpPr/>
          <p:nvPr/>
        </p:nvSpPr>
        <p:spPr>
          <a:xfrm>
            <a:off x="777240" y="5367528"/>
            <a:ext cx="10637215" cy="0"/>
          </a:xfrm>
          <a:prstGeom prst="line">
            <a:avLst/>
          </a:prstGeom>
          <a:noFill/>
          <a:ln w="9525">
            <a:solidFill>
              <a:srgbClr val="C9D6DE"/>
            </a:solidFill>
            <a:prstDash val="solid"/>
          </a:ln>
        </p:spPr>
      </p:sp>
      <p:sp>
        <p:nvSpPr>
          <p:cNvPr id="52" name="Text 50"/>
          <p:cNvSpPr txBox="1"/>
          <p:nvPr/>
        </p:nvSpPr>
        <p:spPr>
          <a:xfrm>
            <a:off x="777240" y="5522976"/>
            <a:ext cx="7932191" cy="54864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lnSpc>
                <a:spcPts val="1473"/>
              </a:lnSpc>
              <a:buNone/>
            </a:pPr>
            <a:r>
              <a:rPr lang="en-US" sz="950" dirty="0">
                <a:solidFill>
                  <a:srgbClr val="4A5A67"/>
                </a:solidFill>
                <a:latin typeface="Inter" pitchFamily="34" charset="0"/>
                <a:ea typeface="Inter" pitchFamily="34" charset="-122"/>
                <a:cs typeface="Inter" pitchFamily="34" charset="-120"/>
              </a:rPr>
              <a:t>SAP’s AI capabilities are embedded in the system rather than bought separately. Enabling all of them is not a strategy — we assess which ones your data volume and process discipline can support, and sequence them.</a:t>
            </a:r>
            <a:endParaRPr lang="en-US" sz="950" dirty="0"/>
          </a:p>
        </p:txBody>
      </p:sp>
      <p:sp>
        <p:nvSpPr>
          <p:cNvPr id="53" name="Text 51"/>
          <p:cNvSpPr txBox="1"/>
          <p:nvPr/>
        </p:nvSpPr>
        <p:spPr>
          <a:xfrm>
            <a:off x="777240" y="6345936"/>
            <a:ext cx="3657600" cy="21945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750" spc="60" kern="0" dirty="0">
                <a:solidFill>
                  <a:srgbClr val="5F6D77"/>
                </a:solidFill>
                <a:latin typeface="IBM Plex Mono" pitchFamily="34" charset="0"/>
                <a:ea typeface="IBM Plex Mono" pitchFamily="34" charset="-122"/>
                <a:cs typeface="IBM Plex Mono" pitchFamily="34" charset="-120"/>
              </a:rPr>
              <a:t>CPeak Consultancy</a:t>
            </a:r>
            <a:endParaRPr lang="en-US" sz="750" dirty="0"/>
          </a:p>
        </p:txBody>
      </p:sp>
      <p:sp>
        <p:nvSpPr>
          <p:cNvPr id="54" name="Text 52"/>
          <p:cNvSpPr txBox="1"/>
          <p:nvPr/>
        </p:nvSpPr>
        <p:spPr>
          <a:xfrm>
            <a:off x="10500055" y="6345936"/>
            <a:ext cx="914400" cy="21945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750" spc="60" kern="0" dirty="0">
                <a:solidFill>
                  <a:srgbClr val="5F6D77"/>
                </a:solidFill>
                <a:latin typeface="IBM Plex Mono" pitchFamily="34" charset="0"/>
                <a:ea typeface="IBM Plex Mono" pitchFamily="34" charset="-122"/>
                <a:cs typeface="IBM Plex Mono" pitchFamily="34" charset="-120"/>
              </a:rPr>
              <a:t>04</a:t>
            </a:r>
            <a:endParaRPr lang="en-US" sz="750" dirty="0"/>
          </a:p>
        </p:txBody>
      </p:sp>
    </p:spTree>
  </p:cSld>
  <p:clrMapOvr>
    <a:masterClrMapping/>
  </p:clrMapOvr>
</p:sld>
</file>

<file path=ppt/slides/slide5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5">
    <p:bg>
      <p:bgPr>
        <a:solidFill>
          <a:srgbClr val="FFFFFF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777240" y="580644"/>
            <a:ext cx="237744" cy="0"/>
          </a:xfrm>
          <a:prstGeom prst="line">
            <a:avLst/>
          </a:prstGeom>
          <a:noFill/>
          <a:ln w="12700">
            <a:solidFill>
              <a:srgbClr val="11676A"/>
            </a:solidFill>
            <a:prstDash val="solid"/>
          </a:ln>
        </p:spPr>
      </p:sp>
      <p:sp>
        <p:nvSpPr>
          <p:cNvPr id="3" name="Text 1"/>
          <p:cNvSpPr txBox="1"/>
          <p:nvPr/>
        </p:nvSpPr>
        <p:spPr>
          <a:xfrm>
            <a:off x="1106424" y="461772"/>
            <a:ext cx="5486400" cy="23774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850" spc="90" kern="0" dirty="0">
                <a:solidFill>
                  <a:srgbClr val="11676A"/>
                </a:solidFill>
                <a:latin typeface="IBM Plex Mono" pitchFamily="34" charset="0"/>
                <a:ea typeface="IBM Plex Mono" pitchFamily="34" charset="-122"/>
                <a:cs typeface="IBM Plex Mono" pitchFamily="34" charset="-120"/>
              </a:rPr>
              <a:t>SOLUTIONS</a:t>
            </a:r>
            <a:endParaRPr lang="en-US" sz="850" dirty="0"/>
          </a:p>
        </p:txBody>
      </p:sp>
      <p:sp>
        <p:nvSpPr>
          <p:cNvPr id="4" name="Text 2"/>
          <p:cNvSpPr txBox="1"/>
          <p:nvPr/>
        </p:nvSpPr>
        <p:spPr>
          <a:xfrm>
            <a:off x="777240" y="804672"/>
            <a:ext cx="8833866" cy="447802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lnSpc>
                <a:spcPts val="2950"/>
              </a:lnSpc>
              <a:buNone/>
            </a:pPr>
            <a:r>
              <a:rPr lang="en-US" sz="2500" b="1" spc="-50" kern="0" dirty="0">
                <a:solidFill>
                  <a:srgbClr val="11676A"/>
                </a:solidFill>
                <a:latin typeface="Schibsted Grotesk" pitchFamily="34" charset="0"/>
                <a:ea typeface="Schibsted Grotesk" pitchFamily="34" charset="-122"/>
                <a:cs typeface="Schibsted Grotesk" pitchFamily="34" charset="-120"/>
              </a:rPr>
              <a:t>Five service areas, one finance perspective</a:t>
            </a:r>
            <a:endParaRPr lang="en-US" sz="2500" dirty="0"/>
          </a:p>
        </p:txBody>
      </p:sp>
      <p:sp>
        <p:nvSpPr>
          <p:cNvPr id="5" name="Text 3"/>
          <p:cNvSpPr txBox="1"/>
          <p:nvPr/>
        </p:nvSpPr>
        <p:spPr>
          <a:xfrm>
            <a:off x="777240" y="1362202"/>
            <a:ext cx="7932191" cy="49149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lnSpc>
                <a:spcPts val="1628"/>
              </a:lnSpc>
              <a:buNone/>
            </a:pPr>
            <a:r>
              <a:rPr lang="en-US" sz="1050" dirty="0">
                <a:solidFill>
                  <a:srgbClr val="4A5A67"/>
                </a:solidFill>
                <a:latin typeface="Inter" pitchFamily="34" charset="0"/>
                <a:ea typeface="Inter" pitchFamily="34" charset="-122"/>
                <a:cs typeface="Inter" pitchFamily="34" charset="-120"/>
              </a:rPr>
              <a:t>The same organisation often sits in more than one category. This table exists to show which piece of work makes more sense to start with.</a:t>
            </a:r>
            <a:endParaRPr lang="en-US" sz="1050" dirty="0"/>
          </a:p>
        </p:txBody>
      </p:sp>
      <p:sp>
        <p:nvSpPr>
          <p:cNvPr id="6" name="Text 4"/>
          <p:cNvSpPr txBox="1"/>
          <p:nvPr/>
        </p:nvSpPr>
        <p:spPr>
          <a:xfrm>
            <a:off x="777240" y="2073148"/>
            <a:ext cx="2834640" cy="1828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750" spc="75" kern="0" dirty="0">
                <a:solidFill>
                  <a:srgbClr val="11676A"/>
                </a:solidFill>
                <a:latin typeface="IBM Plex Mono" pitchFamily="34" charset="0"/>
                <a:ea typeface="IBM Plex Mono" pitchFamily="34" charset="-122"/>
                <a:cs typeface="IBM Plex Mono" pitchFamily="34" charset="-120"/>
              </a:rPr>
              <a:t>SOLUTION</a:t>
            </a:r>
            <a:endParaRPr lang="en-US" sz="750" dirty="0"/>
          </a:p>
        </p:txBody>
      </p:sp>
      <p:sp>
        <p:nvSpPr>
          <p:cNvPr id="7" name="Text 5"/>
          <p:cNvSpPr txBox="1"/>
          <p:nvPr/>
        </p:nvSpPr>
        <p:spPr>
          <a:xfrm>
            <a:off x="3840480" y="2073148"/>
            <a:ext cx="2788920" cy="1828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750" spc="75" kern="0" dirty="0">
                <a:solidFill>
                  <a:srgbClr val="11676A"/>
                </a:solidFill>
                <a:latin typeface="IBM Plex Mono" pitchFamily="34" charset="0"/>
                <a:ea typeface="IBM Plex Mono" pitchFamily="34" charset="-122"/>
                <a:cs typeface="IBM Plex Mono" pitchFamily="34" charset="-120"/>
              </a:rPr>
              <a:t>WHO IT SUITS</a:t>
            </a:r>
            <a:endParaRPr lang="en-US" sz="750" dirty="0"/>
          </a:p>
        </p:txBody>
      </p:sp>
      <p:sp>
        <p:nvSpPr>
          <p:cNvPr id="8" name="Text 6"/>
          <p:cNvSpPr txBox="1"/>
          <p:nvPr/>
        </p:nvSpPr>
        <p:spPr>
          <a:xfrm>
            <a:off x="6766560" y="2073148"/>
            <a:ext cx="2057400" cy="1828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750" spc="75" kern="0" dirty="0">
                <a:solidFill>
                  <a:srgbClr val="11676A"/>
                </a:solidFill>
                <a:latin typeface="IBM Plex Mono" pitchFamily="34" charset="0"/>
                <a:ea typeface="IBM Plex Mono" pitchFamily="34" charset="-122"/>
                <a:cs typeface="IBM Plex Mono" pitchFamily="34" charset="-120"/>
              </a:rPr>
              <a:t>TYPICAL DURATION</a:t>
            </a:r>
            <a:endParaRPr lang="en-US" sz="750" dirty="0"/>
          </a:p>
        </p:txBody>
      </p:sp>
      <p:sp>
        <p:nvSpPr>
          <p:cNvPr id="9" name="Text 7"/>
          <p:cNvSpPr txBox="1"/>
          <p:nvPr/>
        </p:nvSpPr>
        <p:spPr>
          <a:xfrm>
            <a:off x="8961120" y="2073148"/>
            <a:ext cx="2450592" cy="1828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750" spc="75" kern="0" dirty="0">
                <a:solidFill>
                  <a:srgbClr val="11676A"/>
                </a:solidFill>
                <a:latin typeface="IBM Plex Mono" pitchFamily="34" charset="0"/>
                <a:ea typeface="IBM Plex Mono" pitchFamily="34" charset="-122"/>
                <a:cs typeface="IBM Plex Mono" pitchFamily="34" charset="-120"/>
              </a:rPr>
              <a:t>PRIMARY BENEFIT</a:t>
            </a:r>
            <a:endParaRPr lang="en-US" sz="750" dirty="0"/>
          </a:p>
        </p:txBody>
      </p:sp>
      <p:sp>
        <p:nvSpPr>
          <p:cNvPr id="10" name="Shape 8"/>
          <p:cNvSpPr/>
          <p:nvPr/>
        </p:nvSpPr>
        <p:spPr>
          <a:xfrm>
            <a:off x="777240" y="2292604"/>
            <a:ext cx="10637215" cy="0"/>
          </a:xfrm>
          <a:prstGeom prst="line">
            <a:avLst/>
          </a:prstGeom>
          <a:noFill/>
          <a:ln w="12700">
            <a:solidFill>
              <a:srgbClr val="11676A"/>
            </a:solidFill>
            <a:prstDash val="solid"/>
          </a:ln>
        </p:spPr>
      </p:sp>
      <p:sp>
        <p:nvSpPr>
          <p:cNvPr id="11" name="Text 9"/>
          <p:cNvSpPr txBox="1"/>
          <p:nvPr/>
        </p:nvSpPr>
        <p:spPr>
          <a:xfrm>
            <a:off x="777240" y="2402332"/>
            <a:ext cx="2834640" cy="23774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250" b="1" spc="-25" kern="0" dirty="0">
                <a:solidFill>
                  <a:srgbClr val="11676A"/>
                </a:solidFill>
                <a:latin typeface="Schibsted Grotesk" pitchFamily="34" charset="0"/>
                <a:ea typeface="Schibsted Grotesk" pitchFamily="34" charset="-122"/>
                <a:cs typeface="Schibsted Grotesk" pitchFamily="34" charset="-120"/>
              </a:rPr>
              <a:t>SAP Finance Modules</a:t>
            </a:r>
            <a:endParaRPr lang="en-US" sz="1250" dirty="0"/>
          </a:p>
        </p:txBody>
      </p:sp>
      <p:sp>
        <p:nvSpPr>
          <p:cNvPr id="12" name="Text 10"/>
          <p:cNvSpPr txBox="1"/>
          <p:nvPr/>
        </p:nvSpPr>
        <p:spPr>
          <a:xfrm>
            <a:off x="777240" y="2658364"/>
            <a:ext cx="2834640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lnSpc>
                <a:spcPts val="1100"/>
              </a:lnSpc>
              <a:buNone/>
            </a:pPr>
            <a:r>
              <a:rPr lang="en-US" sz="850" dirty="0">
                <a:solidFill>
                  <a:srgbClr val="5F6D77"/>
                </a:solidFill>
                <a:latin typeface="Inter" pitchFamily="34" charset="0"/>
                <a:ea typeface="Inter" pitchFamily="34" charset="-122"/>
                <a:cs typeface="Inter" pitchFamily="34" charset="-120"/>
              </a:rPr>
              <a:t>FI, CO and end-to-end financial process design</a:t>
            </a:r>
            <a:endParaRPr lang="en-US" sz="850" dirty="0"/>
          </a:p>
        </p:txBody>
      </p:sp>
      <p:sp>
        <p:nvSpPr>
          <p:cNvPr id="13" name="Text 11"/>
          <p:cNvSpPr txBox="1"/>
          <p:nvPr/>
        </p:nvSpPr>
        <p:spPr>
          <a:xfrm>
            <a:off x="3840480" y="2429764"/>
            <a:ext cx="2788920" cy="54864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lnSpc>
                <a:spcPts val="1473"/>
              </a:lnSpc>
              <a:buNone/>
            </a:pPr>
            <a:r>
              <a:rPr lang="en-US" sz="950" dirty="0">
                <a:solidFill>
                  <a:srgbClr val="4A5A67"/>
                </a:solidFill>
                <a:latin typeface="Inter" pitchFamily="34" charset="0"/>
                <a:ea typeface="Inter" pitchFamily="34" charset="-122"/>
                <a:cs typeface="Inter" pitchFamily="34" charset="-120"/>
              </a:rPr>
              <a:t>Organisations with a drifted SAP setup, or implementing fresh</a:t>
            </a:r>
            <a:endParaRPr lang="en-US" sz="950" dirty="0"/>
          </a:p>
        </p:txBody>
      </p:sp>
      <p:sp>
        <p:nvSpPr>
          <p:cNvPr id="14" name="Text 12"/>
          <p:cNvSpPr txBox="1"/>
          <p:nvPr/>
        </p:nvSpPr>
        <p:spPr>
          <a:xfrm>
            <a:off x="6766560" y="2429764"/>
            <a:ext cx="2057400" cy="50292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lnSpc>
                <a:spcPts val="1250"/>
              </a:lnSpc>
              <a:buNone/>
            </a:pPr>
            <a:r>
              <a:rPr lang="en-US" sz="800" dirty="0">
                <a:solidFill>
                  <a:srgbClr val="4A5A67"/>
                </a:solidFill>
                <a:latin typeface="IBM Plex Mono" pitchFamily="34" charset="0"/>
                <a:ea typeface="IBM Plex Mono" pitchFamily="34" charset="-122"/>
                <a:cs typeface="IBM Plex Mono" pitchFamily="34" charset="-120"/>
              </a:rPr>
              <a:t>Diagnosis 3–4 weeks</a:t>
            </a:r>
            <a:endParaRPr lang="en-US" sz="800" dirty="0"/>
          </a:p>
          <a:p>
            <a:pPr indent="0" marL="0">
              <a:lnSpc>
                <a:spcPts val="1250"/>
              </a:lnSpc>
              <a:buNone/>
            </a:pPr>
            <a:r>
              <a:rPr lang="en-US" sz="800" dirty="0">
                <a:solidFill>
                  <a:srgbClr val="4A5A67"/>
                </a:solidFill>
                <a:latin typeface="IBM Plex Mono" pitchFamily="34" charset="0"/>
                <a:ea typeface="IBM Plex Mono" pitchFamily="34" charset="-122"/>
                <a:cs typeface="IBM Plex Mono" pitchFamily="34" charset="-120"/>
              </a:rPr>
              <a:t>Redesign 4–7 months</a:t>
            </a:r>
            <a:endParaRPr lang="en-US" sz="800" dirty="0"/>
          </a:p>
        </p:txBody>
      </p:sp>
      <p:sp>
        <p:nvSpPr>
          <p:cNvPr id="15" name="Text 13"/>
          <p:cNvSpPr txBox="1"/>
          <p:nvPr/>
        </p:nvSpPr>
        <p:spPr>
          <a:xfrm>
            <a:off x="8961120" y="2429764"/>
            <a:ext cx="2450592" cy="54864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lnSpc>
                <a:spcPts val="1473"/>
              </a:lnSpc>
              <a:buNone/>
            </a:pPr>
            <a:r>
              <a:rPr lang="en-US" sz="950" dirty="0">
                <a:solidFill>
                  <a:srgbClr val="4A5A67"/>
                </a:solidFill>
                <a:latin typeface="Inter" pitchFamily="34" charset="0"/>
                <a:ea typeface="Inter" pitchFamily="34" charset="-122"/>
                <a:cs typeface="Inter" pitchFamily="34" charset="-120"/>
              </a:rPr>
              <a:t>Consistent reporting and a predictable close</a:t>
            </a:r>
            <a:endParaRPr lang="en-US" sz="950" dirty="0"/>
          </a:p>
        </p:txBody>
      </p:sp>
      <p:sp>
        <p:nvSpPr>
          <p:cNvPr id="16" name="Shape 14"/>
          <p:cNvSpPr/>
          <p:nvPr/>
        </p:nvSpPr>
        <p:spPr>
          <a:xfrm>
            <a:off x="777240" y="3024124"/>
            <a:ext cx="10637215" cy="0"/>
          </a:xfrm>
          <a:prstGeom prst="line">
            <a:avLst/>
          </a:prstGeom>
          <a:noFill/>
          <a:ln w="9525">
            <a:solidFill>
              <a:srgbClr val="E2E9EE"/>
            </a:solidFill>
            <a:prstDash val="solid"/>
          </a:ln>
        </p:spPr>
      </p:sp>
      <p:sp>
        <p:nvSpPr>
          <p:cNvPr id="17" name="Text 15"/>
          <p:cNvSpPr txBox="1"/>
          <p:nvPr/>
        </p:nvSpPr>
        <p:spPr>
          <a:xfrm>
            <a:off x="777240" y="3142996"/>
            <a:ext cx="2834640" cy="23774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250" b="1" spc="-25" kern="0" dirty="0">
                <a:solidFill>
                  <a:srgbClr val="11676A"/>
                </a:solidFill>
                <a:latin typeface="Schibsted Grotesk" pitchFamily="34" charset="0"/>
                <a:ea typeface="Schibsted Grotesk" pitchFamily="34" charset="-122"/>
                <a:cs typeface="Schibsted Grotesk" pitchFamily="34" charset="-120"/>
              </a:rPr>
              <a:t>S/4HANA Transformation</a:t>
            </a:r>
            <a:endParaRPr lang="en-US" sz="1250" dirty="0"/>
          </a:p>
        </p:txBody>
      </p:sp>
      <p:sp>
        <p:nvSpPr>
          <p:cNvPr id="18" name="Text 16"/>
          <p:cNvSpPr txBox="1"/>
          <p:nvPr/>
        </p:nvSpPr>
        <p:spPr>
          <a:xfrm>
            <a:off x="777240" y="3399028"/>
            <a:ext cx="2834640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lnSpc>
                <a:spcPts val="1100"/>
              </a:lnSpc>
              <a:buNone/>
            </a:pPr>
            <a:r>
              <a:rPr lang="en-US" sz="850" dirty="0">
                <a:solidFill>
                  <a:srgbClr val="5F6D77"/>
                </a:solidFill>
                <a:latin typeface="Inter" pitchFamily="34" charset="0"/>
                <a:ea typeface="Inter" pitchFamily="34" charset="-122"/>
                <a:cs typeface="Inter" pitchFamily="34" charset="-120"/>
              </a:rPr>
              <a:t>Brownfield, greenfield or selective transition</a:t>
            </a:r>
            <a:endParaRPr lang="en-US" sz="850" dirty="0"/>
          </a:p>
        </p:txBody>
      </p:sp>
      <p:sp>
        <p:nvSpPr>
          <p:cNvPr id="19" name="Text 17"/>
          <p:cNvSpPr txBox="1"/>
          <p:nvPr/>
        </p:nvSpPr>
        <p:spPr>
          <a:xfrm>
            <a:off x="3840480" y="3170428"/>
            <a:ext cx="2788920" cy="54864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lnSpc>
                <a:spcPts val="1473"/>
              </a:lnSpc>
              <a:buNone/>
            </a:pPr>
            <a:r>
              <a:rPr lang="en-US" sz="950" dirty="0">
                <a:solidFill>
                  <a:srgbClr val="4A5A67"/>
                </a:solidFill>
                <a:latin typeface="Inter" pitchFamily="34" charset="0"/>
                <a:ea typeface="Inter" pitchFamily="34" charset="-122"/>
                <a:cs typeface="Inter" pitchFamily="34" charset="-120"/>
              </a:rPr>
              <a:t>Organisations on ECC that need a conversion plan</a:t>
            </a:r>
            <a:endParaRPr lang="en-US" sz="950" dirty="0"/>
          </a:p>
        </p:txBody>
      </p:sp>
      <p:sp>
        <p:nvSpPr>
          <p:cNvPr id="20" name="Text 18"/>
          <p:cNvSpPr txBox="1"/>
          <p:nvPr/>
        </p:nvSpPr>
        <p:spPr>
          <a:xfrm>
            <a:off x="6766560" y="3170428"/>
            <a:ext cx="2057400" cy="50292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lnSpc>
                <a:spcPts val="1250"/>
              </a:lnSpc>
              <a:buNone/>
            </a:pPr>
            <a:r>
              <a:rPr lang="en-US" sz="800" dirty="0">
                <a:solidFill>
                  <a:srgbClr val="4A5A67"/>
                </a:solidFill>
                <a:latin typeface="IBM Plex Mono" pitchFamily="34" charset="0"/>
                <a:ea typeface="IBM Plex Mono" pitchFamily="34" charset="-122"/>
                <a:cs typeface="IBM Plex Mono" pitchFamily="34" charset="-120"/>
              </a:rPr>
              <a:t>Assessment 4–6 weeks</a:t>
            </a:r>
            <a:endParaRPr lang="en-US" sz="800" dirty="0"/>
          </a:p>
          <a:p>
            <a:pPr indent="0" marL="0">
              <a:lnSpc>
                <a:spcPts val="1250"/>
              </a:lnSpc>
              <a:buNone/>
            </a:pPr>
            <a:r>
              <a:rPr lang="en-US" sz="800" dirty="0">
                <a:solidFill>
                  <a:srgbClr val="4A5A67"/>
                </a:solidFill>
                <a:latin typeface="IBM Plex Mono" pitchFamily="34" charset="0"/>
                <a:ea typeface="IBM Plex Mono" pitchFamily="34" charset="-122"/>
                <a:cs typeface="IBM Plex Mono" pitchFamily="34" charset="-120"/>
              </a:rPr>
              <a:t>Conversion 6–14 months</a:t>
            </a:r>
            <a:endParaRPr lang="en-US" sz="800" dirty="0"/>
          </a:p>
        </p:txBody>
      </p:sp>
      <p:sp>
        <p:nvSpPr>
          <p:cNvPr id="21" name="Text 19"/>
          <p:cNvSpPr txBox="1"/>
          <p:nvPr/>
        </p:nvSpPr>
        <p:spPr>
          <a:xfrm>
            <a:off x="8961120" y="3170428"/>
            <a:ext cx="2450592" cy="54864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lnSpc>
                <a:spcPts val="1473"/>
              </a:lnSpc>
              <a:buNone/>
            </a:pPr>
            <a:r>
              <a:rPr lang="en-US" sz="950" dirty="0">
                <a:solidFill>
                  <a:srgbClr val="4A5A67"/>
                </a:solidFill>
                <a:latin typeface="Inter" pitchFamily="34" charset="0"/>
                <a:ea typeface="Inter" pitchFamily="34" charset="-122"/>
                <a:cs typeface="Inter" pitchFamily="34" charset="-120"/>
              </a:rPr>
              <a:t>A defensible approach decision and a predictable cutover</a:t>
            </a:r>
            <a:endParaRPr lang="en-US" sz="950" dirty="0"/>
          </a:p>
        </p:txBody>
      </p:sp>
      <p:sp>
        <p:nvSpPr>
          <p:cNvPr id="22" name="Shape 20"/>
          <p:cNvSpPr/>
          <p:nvPr/>
        </p:nvSpPr>
        <p:spPr>
          <a:xfrm>
            <a:off x="777240" y="3764788"/>
            <a:ext cx="10637215" cy="0"/>
          </a:xfrm>
          <a:prstGeom prst="line">
            <a:avLst/>
          </a:prstGeom>
          <a:noFill/>
          <a:ln w="9525">
            <a:solidFill>
              <a:srgbClr val="E2E9EE"/>
            </a:solidFill>
            <a:prstDash val="solid"/>
          </a:ln>
        </p:spPr>
      </p:sp>
      <p:sp>
        <p:nvSpPr>
          <p:cNvPr id="23" name="Text 21"/>
          <p:cNvSpPr txBox="1"/>
          <p:nvPr/>
        </p:nvSpPr>
        <p:spPr>
          <a:xfrm>
            <a:off x="777240" y="3883660"/>
            <a:ext cx="2834640" cy="23774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250" b="1" spc="-25" kern="0" dirty="0">
                <a:solidFill>
                  <a:srgbClr val="11676A"/>
                </a:solidFill>
                <a:latin typeface="Schibsted Grotesk" pitchFamily="34" charset="0"/>
                <a:ea typeface="Schibsted Grotesk" pitchFamily="34" charset="-122"/>
                <a:cs typeface="Schibsted Grotesk" pitchFamily="34" charset="-120"/>
              </a:rPr>
              <a:t>SAP Public Cloud</a:t>
            </a:r>
            <a:endParaRPr lang="en-US" sz="1250" dirty="0"/>
          </a:p>
        </p:txBody>
      </p:sp>
      <p:sp>
        <p:nvSpPr>
          <p:cNvPr id="24" name="Text 22"/>
          <p:cNvSpPr txBox="1"/>
          <p:nvPr/>
        </p:nvSpPr>
        <p:spPr>
          <a:xfrm>
            <a:off x="777240" y="4139692"/>
            <a:ext cx="2834640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lnSpc>
                <a:spcPts val="1100"/>
              </a:lnSpc>
              <a:buNone/>
            </a:pPr>
            <a:r>
              <a:rPr lang="en-US" sz="850" dirty="0">
                <a:solidFill>
                  <a:srgbClr val="5F6D77"/>
                </a:solidFill>
                <a:latin typeface="Inter" pitchFamily="34" charset="0"/>
                <a:ea typeface="Inter" pitchFamily="34" charset="-122"/>
                <a:cs typeface="Inter" pitchFamily="34" charset="-120"/>
              </a:rPr>
              <a:t>Cloud ERP Public Edition architecture and delivery</a:t>
            </a:r>
            <a:endParaRPr lang="en-US" sz="850" dirty="0"/>
          </a:p>
        </p:txBody>
      </p:sp>
      <p:sp>
        <p:nvSpPr>
          <p:cNvPr id="25" name="Text 23"/>
          <p:cNvSpPr txBox="1"/>
          <p:nvPr/>
        </p:nvSpPr>
        <p:spPr>
          <a:xfrm>
            <a:off x="3840480" y="3911092"/>
            <a:ext cx="2788920" cy="54864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lnSpc>
                <a:spcPts val="1473"/>
              </a:lnSpc>
              <a:buNone/>
            </a:pPr>
            <a:r>
              <a:rPr lang="en-US" sz="950" dirty="0">
                <a:solidFill>
                  <a:srgbClr val="4A5A67"/>
                </a:solidFill>
                <a:latin typeface="Inter" pitchFamily="34" charset="0"/>
                <a:ea typeface="Inter" pitchFamily="34" charset="-122"/>
                <a:cs typeface="Inter" pitchFamily="34" charset="-120"/>
              </a:rPr>
              <a:t>Companies able to adopt standard, wanting fast deployment</a:t>
            </a:r>
            <a:endParaRPr lang="en-US" sz="950" dirty="0"/>
          </a:p>
        </p:txBody>
      </p:sp>
      <p:sp>
        <p:nvSpPr>
          <p:cNvPr id="26" name="Text 24"/>
          <p:cNvSpPr txBox="1"/>
          <p:nvPr/>
        </p:nvSpPr>
        <p:spPr>
          <a:xfrm>
            <a:off x="6766560" y="3911092"/>
            <a:ext cx="2057400" cy="50292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lnSpc>
                <a:spcPts val="1250"/>
              </a:lnSpc>
              <a:buNone/>
            </a:pPr>
            <a:r>
              <a:rPr lang="en-US" sz="800" dirty="0">
                <a:solidFill>
                  <a:srgbClr val="4A5A67"/>
                </a:solidFill>
                <a:latin typeface="IBM Plex Mono" pitchFamily="34" charset="0"/>
                <a:ea typeface="IBM Plex Mono" pitchFamily="34" charset="-122"/>
                <a:cs typeface="IBM Plex Mono" pitchFamily="34" charset="-120"/>
              </a:rPr>
              <a:t>Assessment 2–3 weeks</a:t>
            </a:r>
            <a:endParaRPr lang="en-US" sz="800" dirty="0"/>
          </a:p>
          <a:p>
            <a:pPr indent="0" marL="0">
              <a:lnSpc>
                <a:spcPts val="1250"/>
              </a:lnSpc>
              <a:buNone/>
            </a:pPr>
            <a:r>
              <a:rPr lang="en-US" sz="800" dirty="0">
                <a:solidFill>
                  <a:srgbClr val="4A5A67"/>
                </a:solidFill>
                <a:latin typeface="IBM Plex Mono" pitchFamily="34" charset="0"/>
                <a:ea typeface="IBM Plex Mono" pitchFamily="34" charset="-122"/>
                <a:cs typeface="IBM Plex Mono" pitchFamily="34" charset="-120"/>
              </a:rPr>
              <a:t>Deployment 3–5 months</a:t>
            </a:r>
            <a:endParaRPr lang="en-US" sz="800" dirty="0"/>
          </a:p>
        </p:txBody>
      </p:sp>
      <p:sp>
        <p:nvSpPr>
          <p:cNvPr id="27" name="Text 25"/>
          <p:cNvSpPr txBox="1"/>
          <p:nvPr/>
        </p:nvSpPr>
        <p:spPr>
          <a:xfrm>
            <a:off x="8961120" y="3911092"/>
            <a:ext cx="2450592" cy="54864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lnSpc>
                <a:spcPts val="1473"/>
              </a:lnSpc>
              <a:buNone/>
            </a:pPr>
            <a:r>
              <a:rPr lang="en-US" sz="950" dirty="0">
                <a:solidFill>
                  <a:srgbClr val="4A5A67"/>
                </a:solidFill>
                <a:latin typeface="Inter" pitchFamily="34" charset="0"/>
                <a:ea typeface="Inter" pitchFamily="34" charset="-122"/>
                <a:cs typeface="Inter" pitchFamily="34" charset="-120"/>
              </a:rPr>
              <a:t>Rapid go-live and low operational overhead</a:t>
            </a:r>
            <a:endParaRPr lang="en-US" sz="950" dirty="0"/>
          </a:p>
        </p:txBody>
      </p:sp>
      <p:sp>
        <p:nvSpPr>
          <p:cNvPr id="28" name="Shape 26"/>
          <p:cNvSpPr/>
          <p:nvPr/>
        </p:nvSpPr>
        <p:spPr>
          <a:xfrm>
            <a:off x="777240" y="4505452"/>
            <a:ext cx="10637215" cy="0"/>
          </a:xfrm>
          <a:prstGeom prst="line">
            <a:avLst/>
          </a:prstGeom>
          <a:noFill/>
          <a:ln w="9525">
            <a:solidFill>
              <a:srgbClr val="E2E9EE"/>
            </a:solidFill>
            <a:prstDash val="solid"/>
          </a:ln>
        </p:spPr>
      </p:sp>
      <p:sp>
        <p:nvSpPr>
          <p:cNvPr id="29" name="Text 27"/>
          <p:cNvSpPr txBox="1"/>
          <p:nvPr/>
        </p:nvSpPr>
        <p:spPr>
          <a:xfrm>
            <a:off x="777240" y="4624324"/>
            <a:ext cx="2834640" cy="23774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250" b="1" spc="-25" kern="0" dirty="0">
                <a:solidFill>
                  <a:srgbClr val="11676A"/>
                </a:solidFill>
                <a:latin typeface="Schibsted Grotesk" pitchFamily="34" charset="0"/>
                <a:ea typeface="Schibsted Grotesk" pitchFamily="34" charset="-122"/>
                <a:cs typeface="Schibsted Grotesk" pitchFamily="34" charset="-120"/>
              </a:rPr>
              <a:t>SAP Private Cloud</a:t>
            </a:r>
            <a:endParaRPr lang="en-US" sz="1250" dirty="0"/>
          </a:p>
        </p:txBody>
      </p:sp>
      <p:sp>
        <p:nvSpPr>
          <p:cNvPr id="30" name="Text 28"/>
          <p:cNvSpPr txBox="1"/>
          <p:nvPr/>
        </p:nvSpPr>
        <p:spPr>
          <a:xfrm>
            <a:off x="777240" y="4880356"/>
            <a:ext cx="2834640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lnSpc>
                <a:spcPts val="1100"/>
              </a:lnSpc>
              <a:buNone/>
            </a:pPr>
            <a:r>
              <a:rPr lang="en-US" sz="850" dirty="0">
                <a:solidFill>
                  <a:srgbClr val="5F6D77"/>
                </a:solidFill>
                <a:latin typeface="Inter" pitchFamily="34" charset="0"/>
                <a:ea typeface="Inter" pitchFamily="34" charset="-122"/>
                <a:cs typeface="Inter" pitchFamily="34" charset="-120"/>
              </a:rPr>
              <a:t>RISE with SAP and Cloud ERP Private Edition</a:t>
            </a:r>
            <a:endParaRPr lang="en-US" sz="850" dirty="0"/>
          </a:p>
        </p:txBody>
      </p:sp>
      <p:sp>
        <p:nvSpPr>
          <p:cNvPr id="31" name="Text 29"/>
          <p:cNvSpPr txBox="1"/>
          <p:nvPr/>
        </p:nvSpPr>
        <p:spPr>
          <a:xfrm>
            <a:off x="3840480" y="4651756"/>
            <a:ext cx="2788920" cy="54864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lnSpc>
                <a:spcPts val="1473"/>
              </a:lnSpc>
              <a:buNone/>
            </a:pPr>
            <a:r>
              <a:rPr lang="en-US" sz="950" dirty="0">
                <a:solidFill>
                  <a:srgbClr val="4A5A67"/>
                </a:solidFill>
                <a:latin typeface="Inter" pitchFamily="34" charset="0"/>
                <a:ea typeface="Inter" pitchFamily="34" charset="-122"/>
                <a:cs typeface="Inter" pitchFamily="34" charset="-120"/>
              </a:rPr>
              <a:t>Larger organisations that must retain process flexibility</a:t>
            </a:r>
            <a:endParaRPr lang="en-US" sz="950" dirty="0"/>
          </a:p>
        </p:txBody>
      </p:sp>
      <p:sp>
        <p:nvSpPr>
          <p:cNvPr id="32" name="Text 30"/>
          <p:cNvSpPr txBox="1"/>
          <p:nvPr/>
        </p:nvSpPr>
        <p:spPr>
          <a:xfrm>
            <a:off x="6766560" y="4651756"/>
            <a:ext cx="2057400" cy="50292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lnSpc>
                <a:spcPts val="1250"/>
              </a:lnSpc>
              <a:buNone/>
            </a:pPr>
            <a:r>
              <a:rPr lang="en-US" sz="800" dirty="0">
                <a:solidFill>
                  <a:srgbClr val="4A5A67"/>
                </a:solidFill>
                <a:latin typeface="IBM Plex Mono" pitchFamily="34" charset="0"/>
                <a:ea typeface="IBM Plex Mono" pitchFamily="34" charset="-122"/>
                <a:cs typeface="IBM Plex Mono" pitchFamily="34" charset="-120"/>
              </a:rPr>
              <a:t>Preparation 5–8 weeks</a:t>
            </a:r>
            <a:endParaRPr lang="en-US" sz="800" dirty="0"/>
          </a:p>
          <a:p>
            <a:pPr indent="0" marL="0">
              <a:lnSpc>
                <a:spcPts val="1250"/>
              </a:lnSpc>
              <a:buNone/>
            </a:pPr>
            <a:r>
              <a:rPr lang="en-US" sz="800" dirty="0">
                <a:solidFill>
                  <a:srgbClr val="4A5A67"/>
                </a:solidFill>
                <a:latin typeface="IBM Plex Mono" pitchFamily="34" charset="0"/>
                <a:ea typeface="IBM Plex Mono" pitchFamily="34" charset="-122"/>
                <a:cs typeface="IBM Plex Mono" pitchFamily="34" charset="-120"/>
              </a:rPr>
              <a:t>Migration 7–14 months</a:t>
            </a:r>
            <a:endParaRPr lang="en-US" sz="800" dirty="0"/>
          </a:p>
        </p:txBody>
      </p:sp>
      <p:sp>
        <p:nvSpPr>
          <p:cNvPr id="33" name="Text 31"/>
          <p:cNvSpPr txBox="1"/>
          <p:nvPr/>
        </p:nvSpPr>
        <p:spPr>
          <a:xfrm>
            <a:off x="8961120" y="4651756"/>
            <a:ext cx="2450592" cy="54864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lnSpc>
                <a:spcPts val="1473"/>
              </a:lnSpc>
              <a:buNone/>
            </a:pPr>
            <a:r>
              <a:rPr lang="en-US" sz="950" dirty="0">
                <a:solidFill>
                  <a:srgbClr val="4A5A67"/>
                </a:solidFill>
                <a:latin typeface="Inter" pitchFamily="34" charset="0"/>
                <a:ea typeface="Inter" pitchFamily="34" charset="-122"/>
                <a:cs typeface="Inter" pitchFamily="34" charset="-120"/>
              </a:rPr>
              <a:t>Cloud operations without giving up flexibility</a:t>
            </a:r>
            <a:endParaRPr lang="en-US" sz="950" dirty="0"/>
          </a:p>
        </p:txBody>
      </p:sp>
      <p:sp>
        <p:nvSpPr>
          <p:cNvPr id="34" name="Shape 32"/>
          <p:cNvSpPr/>
          <p:nvPr/>
        </p:nvSpPr>
        <p:spPr>
          <a:xfrm>
            <a:off x="777240" y="5246116"/>
            <a:ext cx="10637215" cy="0"/>
          </a:xfrm>
          <a:prstGeom prst="line">
            <a:avLst/>
          </a:prstGeom>
          <a:noFill/>
          <a:ln w="9525">
            <a:solidFill>
              <a:srgbClr val="E2E9EE"/>
            </a:solidFill>
            <a:prstDash val="solid"/>
          </a:ln>
        </p:spPr>
      </p:sp>
      <p:sp>
        <p:nvSpPr>
          <p:cNvPr id="35" name="Text 33"/>
          <p:cNvSpPr txBox="1"/>
          <p:nvPr/>
        </p:nvSpPr>
        <p:spPr>
          <a:xfrm>
            <a:off x="777240" y="5364988"/>
            <a:ext cx="2834640" cy="23774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250" b="1" spc="-25" kern="0" dirty="0">
                <a:solidFill>
                  <a:srgbClr val="11676A"/>
                </a:solidFill>
                <a:latin typeface="Schibsted Grotesk" pitchFamily="34" charset="0"/>
                <a:ea typeface="Schibsted Grotesk" pitchFamily="34" charset="-122"/>
                <a:cs typeface="Schibsted Grotesk" pitchFamily="34" charset="-120"/>
              </a:rPr>
              <a:t>AI in Finance</a:t>
            </a:r>
            <a:endParaRPr lang="en-US" sz="1250" dirty="0"/>
          </a:p>
        </p:txBody>
      </p:sp>
      <p:sp>
        <p:nvSpPr>
          <p:cNvPr id="36" name="Text 34"/>
          <p:cNvSpPr txBox="1"/>
          <p:nvPr/>
        </p:nvSpPr>
        <p:spPr>
          <a:xfrm>
            <a:off x="777240" y="5621020"/>
            <a:ext cx="2834640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lnSpc>
                <a:spcPts val="1100"/>
              </a:lnSpc>
              <a:buNone/>
            </a:pPr>
            <a:r>
              <a:rPr lang="en-US" sz="850" dirty="0">
                <a:solidFill>
                  <a:srgbClr val="5F6D77"/>
                </a:solidFill>
                <a:latin typeface="Inter" pitchFamily="34" charset="0"/>
                <a:ea typeface="Inter" pitchFamily="34" charset="-122"/>
                <a:cs typeface="Inter" pitchFamily="34" charset="-120"/>
              </a:rPr>
              <a:t>SAP’s embedded AI capabilities and process automation</a:t>
            </a:r>
            <a:endParaRPr lang="en-US" sz="850" dirty="0"/>
          </a:p>
        </p:txBody>
      </p:sp>
      <p:sp>
        <p:nvSpPr>
          <p:cNvPr id="37" name="Text 35"/>
          <p:cNvSpPr txBox="1"/>
          <p:nvPr/>
        </p:nvSpPr>
        <p:spPr>
          <a:xfrm>
            <a:off x="3840480" y="5392420"/>
            <a:ext cx="2788920" cy="54864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lnSpc>
                <a:spcPts val="1473"/>
              </a:lnSpc>
              <a:buNone/>
            </a:pPr>
            <a:r>
              <a:rPr lang="en-US" sz="950" dirty="0">
                <a:solidFill>
                  <a:srgbClr val="4A5A67"/>
                </a:solidFill>
                <a:latin typeface="Inter" pitchFamily="34" charset="0"/>
                <a:ea typeface="Inter" pitchFamily="34" charset="-122"/>
                <a:cs typeface="Inter" pitchFamily="34" charset="-120"/>
              </a:rPr>
              <a:t>Teams spending heavy manual hours on repetitive finance work</a:t>
            </a:r>
            <a:endParaRPr lang="en-US" sz="950" dirty="0"/>
          </a:p>
        </p:txBody>
      </p:sp>
      <p:sp>
        <p:nvSpPr>
          <p:cNvPr id="38" name="Text 36"/>
          <p:cNvSpPr txBox="1"/>
          <p:nvPr/>
        </p:nvSpPr>
        <p:spPr>
          <a:xfrm>
            <a:off x="6766560" y="5392420"/>
            <a:ext cx="2057400" cy="50292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lnSpc>
                <a:spcPts val="1250"/>
              </a:lnSpc>
              <a:buNone/>
            </a:pPr>
            <a:r>
              <a:rPr lang="en-US" sz="800" dirty="0">
                <a:solidFill>
                  <a:srgbClr val="4A5A67"/>
                </a:solidFill>
                <a:latin typeface="IBM Plex Mono" pitchFamily="34" charset="0"/>
                <a:ea typeface="IBM Plex Mono" pitchFamily="34" charset="-122"/>
                <a:cs typeface="IBM Plex Mono" pitchFamily="34" charset="-120"/>
              </a:rPr>
              <a:t>Assessment 2–3 weeks</a:t>
            </a:r>
            <a:endParaRPr lang="en-US" sz="800" dirty="0"/>
          </a:p>
          <a:p>
            <a:pPr indent="0" marL="0">
              <a:lnSpc>
                <a:spcPts val="1250"/>
              </a:lnSpc>
              <a:buNone/>
            </a:pPr>
            <a:r>
              <a:rPr lang="en-US" sz="800" dirty="0">
                <a:solidFill>
                  <a:srgbClr val="4A5A67"/>
                </a:solidFill>
                <a:latin typeface="IBM Plex Mono" pitchFamily="34" charset="0"/>
                <a:ea typeface="IBM Plex Mono" pitchFamily="34" charset="-122"/>
                <a:cs typeface="IBM Plex Mono" pitchFamily="34" charset="-120"/>
              </a:rPr>
              <a:t>First phase 6–12 weeks</a:t>
            </a:r>
            <a:endParaRPr lang="en-US" sz="800" dirty="0"/>
          </a:p>
        </p:txBody>
      </p:sp>
      <p:sp>
        <p:nvSpPr>
          <p:cNvPr id="39" name="Text 37"/>
          <p:cNvSpPr txBox="1"/>
          <p:nvPr/>
        </p:nvSpPr>
        <p:spPr>
          <a:xfrm>
            <a:off x="8961120" y="5392420"/>
            <a:ext cx="2450592" cy="54864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lnSpc>
                <a:spcPts val="1473"/>
              </a:lnSpc>
              <a:buNone/>
            </a:pPr>
            <a:r>
              <a:rPr lang="en-US" sz="950" dirty="0">
                <a:solidFill>
                  <a:srgbClr val="4A5A67"/>
                </a:solidFill>
                <a:latin typeface="Inter" pitchFamily="34" charset="0"/>
                <a:ea typeface="Inter" pitchFamily="34" charset="-122"/>
                <a:cs typeface="Inter" pitchFamily="34" charset="-120"/>
              </a:rPr>
              <a:t>Recovered hours and errors caught earlier</a:t>
            </a:r>
            <a:endParaRPr lang="en-US" sz="950" dirty="0"/>
          </a:p>
        </p:txBody>
      </p:sp>
      <p:sp>
        <p:nvSpPr>
          <p:cNvPr id="40" name="Shape 38"/>
          <p:cNvSpPr/>
          <p:nvPr/>
        </p:nvSpPr>
        <p:spPr>
          <a:xfrm>
            <a:off x="777240" y="5986780"/>
            <a:ext cx="10637215" cy="0"/>
          </a:xfrm>
          <a:prstGeom prst="line">
            <a:avLst/>
          </a:prstGeom>
          <a:noFill/>
          <a:ln w="9525">
            <a:solidFill>
              <a:srgbClr val="C9D6DE"/>
            </a:solidFill>
            <a:prstDash val="solid"/>
          </a:ln>
        </p:spPr>
      </p:sp>
      <p:sp>
        <p:nvSpPr>
          <p:cNvPr id="41" name="Text 39"/>
          <p:cNvSpPr txBox="1"/>
          <p:nvPr/>
        </p:nvSpPr>
        <p:spPr>
          <a:xfrm>
            <a:off x="777240" y="6345936"/>
            <a:ext cx="3657600" cy="21945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750" spc="60" kern="0" dirty="0">
                <a:solidFill>
                  <a:srgbClr val="5F6D77"/>
                </a:solidFill>
                <a:latin typeface="IBM Plex Mono" pitchFamily="34" charset="0"/>
                <a:ea typeface="IBM Plex Mono" pitchFamily="34" charset="-122"/>
                <a:cs typeface="IBM Plex Mono" pitchFamily="34" charset="-120"/>
              </a:rPr>
              <a:t>CPeak Consultancy</a:t>
            </a:r>
            <a:endParaRPr lang="en-US" sz="750" dirty="0"/>
          </a:p>
        </p:txBody>
      </p:sp>
      <p:sp>
        <p:nvSpPr>
          <p:cNvPr id="42" name="Text 40"/>
          <p:cNvSpPr txBox="1"/>
          <p:nvPr/>
        </p:nvSpPr>
        <p:spPr>
          <a:xfrm>
            <a:off x="10500055" y="6345936"/>
            <a:ext cx="914400" cy="21945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750" spc="60" kern="0" dirty="0">
                <a:solidFill>
                  <a:srgbClr val="5F6D77"/>
                </a:solidFill>
                <a:latin typeface="IBM Plex Mono" pitchFamily="34" charset="0"/>
                <a:ea typeface="IBM Plex Mono" pitchFamily="34" charset="-122"/>
                <a:cs typeface="IBM Plex Mono" pitchFamily="34" charset="-120"/>
              </a:rPr>
              <a:t>05</a:t>
            </a:r>
            <a:endParaRPr lang="en-US" sz="750" dirty="0"/>
          </a:p>
        </p:txBody>
      </p:sp>
    </p:spTree>
  </p:cSld>
  <p:clrMapOvr>
    <a:masterClrMapping/>
  </p:clrMapOvr>
</p:sld>
</file>

<file path=ppt/slides/slide6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6">
    <p:bg>
      <p:bgPr>
        <a:solidFill>
          <a:srgbClr val="F7F8F7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777240" y="580644"/>
            <a:ext cx="237744" cy="0"/>
          </a:xfrm>
          <a:prstGeom prst="line">
            <a:avLst/>
          </a:prstGeom>
          <a:noFill/>
          <a:ln w="12700">
            <a:solidFill>
              <a:srgbClr val="11676A"/>
            </a:solidFill>
            <a:prstDash val="solid"/>
          </a:ln>
        </p:spPr>
      </p:sp>
      <p:sp>
        <p:nvSpPr>
          <p:cNvPr id="3" name="Text 1"/>
          <p:cNvSpPr txBox="1"/>
          <p:nvPr/>
        </p:nvSpPr>
        <p:spPr>
          <a:xfrm>
            <a:off x="1106424" y="461772"/>
            <a:ext cx="5486400" cy="23774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850" spc="90" kern="0" dirty="0">
                <a:solidFill>
                  <a:srgbClr val="11676A"/>
                </a:solidFill>
                <a:latin typeface="IBM Plex Mono" pitchFamily="34" charset="0"/>
                <a:ea typeface="IBM Plex Mono" pitchFamily="34" charset="-122"/>
                <a:cs typeface="IBM Plex Mono" pitchFamily="34" charset="-120"/>
              </a:rPr>
              <a:t>CLOUD ARCHITECTURE</a:t>
            </a:r>
            <a:endParaRPr lang="en-US" sz="850" dirty="0"/>
          </a:p>
        </p:txBody>
      </p:sp>
      <p:sp>
        <p:nvSpPr>
          <p:cNvPr id="4" name="Text 2"/>
          <p:cNvSpPr txBox="1"/>
          <p:nvPr/>
        </p:nvSpPr>
        <p:spPr>
          <a:xfrm>
            <a:off x="777240" y="804672"/>
            <a:ext cx="8833866" cy="79248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lnSpc>
                <a:spcPts val="2832"/>
              </a:lnSpc>
              <a:buNone/>
            </a:pPr>
            <a:r>
              <a:rPr lang="en-US" sz="2400" b="1" spc="-50" kern="0" dirty="0">
                <a:solidFill>
                  <a:srgbClr val="11676A"/>
                </a:solidFill>
                <a:latin typeface="Schibsted Grotesk" pitchFamily="34" charset="0"/>
                <a:ea typeface="Schibsted Grotesk" pitchFamily="34" charset="-122"/>
                <a:cs typeface="Schibsted Grotesk" pitchFamily="34" charset="-120"/>
              </a:rPr>
              <a:t>Public or Private Cloud — the most expensive decision to reverse</a:t>
            </a:r>
            <a:endParaRPr lang="en-US" sz="2400" dirty="0"/>
          </a:p>
        </p:txBody>
      </p:sp>
      <p:sp>
        <p:nvSpPr>
          <p:cNvPr id="5" name="Text 3"/>
          <p:cNvSpPr txBox="1"/>
          <p:nvPr/>
        </p:nvSpPr>
        <p:spPr>
          <a:xfrm>
            <a:off x="777240" y="1706880"/>
            <a:ext cx="8833866" cy="291465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lnSpc>
                <a:spcPts val="1628"/>
              </a:lnSpc>
              <a:buNone/>
            </a:pPr>
            <a:r>
              <a:rPr lang="en-US" sz="1050" dirty="0">
                <a:solidFill>
                  <a:srgbClr val="4A5A67"/>
                </a:solidFill>
                <a:latin typeface="Inter" pitchFamily="34" charset="0"/>
                <a:ea typeface="Inter" pitchFamily="34" charset="-122"/>
                <a:cs typeface="Inter" pitchFamily="34" charset="-120"/>
              </a:rPr>
              <a:t>Not the advanced and the cheap version of one another, but different trades.</a:t>
            </a:r>
            <a:endParaRPr lang="en-US" sz="1050" dirty="0"/>
          </a:p>
        </p:txBody>
      </p:sp>
      <p:sp>
        <p:nvSpPr>
          <p:cNvPr id="6" name="Text 4"/>
          <p:cNvSpPr txBox="1"/>
          <p:nvPr/>
        </p:nvSpPr>
        <p:spPr>
          <a:xfrm>
            <a:off x="3474720" y="2217801"/>
            <a:ext cx="3584448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500" b="1" spc="-30" kern="0" dirty="0">
                <a:solidFill>
                  <a:srgbClr val="11676A"/>
                </a:solidFill>
                <a:latin typeface="Schibsted Grotesk" pitchFamily="34" charset="0"/>
                <a:ea typeface="Schibsted Grotesk" pitchFamily="34" charset="-122"/>
                <a:cs typeface="Schibsted Grotesk" pitchFamily="34" charset="-120"/>
              </a:rPr>
              <a:t>Public Cloud</a:t>
            </a:r>
            <a:endParaRPr lang="en-US" sz="1500" dirty="0"/>
          </a:p>
        </p:txBody>
      </p:sp>
      <p:sp>
        <p:nvSpPr>
          <p:cNvPr id="7" name="Text 5"/>
          <p:cNvSpPr txBox="1"/>
          <p:nvPr/>
        </p:nvSpPr>
        <p:spPr>
          <a:xfrm>
            <a:off x="7543800" y="2217801"/>
            <a:ext cx="4096512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500" b="1" spc="-30" kern="0" dirty="0">
                <a:solidFill>
                  <a:srgbClr val="11676A"/>
                </a:solidFill>
                <a:latin typeface="Schibsted Grotesk" pitchFamily="34" charset="0"/>
                <a:ea typeface="Schibsted Grotesk" pitchFamily="34" charset="-122"/>
                <a:cs typeface="Schibsted Grotesk" pitchFamily="34" charset="-120"/>
              </a:rPr>
              <a:t>Private Cloud</a:t>
            </a:r>
            <a:endParaRPr lang="en-US" sz="1500" dirty="0"/>
          </a:p>
        </p:txBody>
      </p:sp>
      <p:sp>
        <p:nvSpPr>
          <p:cNvPr id="8" name="Text 6"/>
          <p:cNvSpPr txBox="1"/>
          <p:nvPr/>
        </p:nvSpPr>
        <p:spPr>
          <a:xfrm>
            <a:off x="3474720" y="2510409"/>
            <a:ext cx="3584448" cy="1828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700" spc="75" kern="0" dirty="0">
                <a:solidFill>
                  <a:srgbClr val="5F6D77"/>
                </a:solidFill>
                <a:latin typeface="IBM Plex Mono" pitchFamily="34" charset="0"/>
                <a:ea typeface="IBM Plex Mono" pitchFamily="34" charset="-122"/>
                <a:cs typeface="IBM Plex Mono" pitchFamily="34" charset="-120"/>
              </a:rPr>
              <a:t>CLOUD ERP PUBLIC EDITION</a:t>
            </a:r>
            <a:endParaRPr lang="en-US" sz="700" dirty="0"/>
          </a:p>
        </p:txBody>
      </p:sp>
      <p:sp>
        <p:nvSpPr>
          <p:cNvPr id="9" name="Text 7"/>
          <p:cNvSpPr txBox="1"/>
          <p:nvPr/>
        </p:nvSpPr>
        <p:spPr>
          <a:xfrm>
            <a:off x="7543800" y="2510409"/>
            <a:ext cx="4096512" cy="1828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700" spc="75" kern="0" dirty="0">
                <a:solidFill>
                  <a:srgbClr val="5F6D77"/>
                </a:solidFill>
                <a:latin typeface="IBM Plex Mono" pitchFamily="34" charset="0"/>
                <a:ea typeface="IBM Plex Mono" pitchFamily="34" charset="-122"/>
                <a:cs typeface="IBM Plex Mono" pitchFamily="34" charset="-120"/>
              </a:rPr>
              <a:t>CLOUD ERP PRIVATE EDITION</a:t>
            </a:r>
            <a:endParaRPr lang="en-US" sz="700" dirty="0"/>
          </a:p>
        </p:txBody>
      </p:sp>
      <p:sp>
        <p:nvSpPr>
          <p:cNvPr id="10" name="Shape 8"/>
          <p:cNvSpPr/>
          <p:nvPr/>
        </p:nvSpPr>
        <p:spPr>
          <a:xfrm>
            <a:off x="777240" y="2839593"/>
            <a:ext cx="10637215" cy="0"/>
          </a:xfrm>
          <a:prstGeom prst="line">
            <a:avLst/>
          </a:prstGeom>
          <a:noFill/>
          <a:ln w="12700">
            <a:solidFill>
              <a:srgbClr val="11676A"/>
            </a:solidFill>
            <a:prstDash val="solid"/>
          </a:ln>
        </p:spPr>
      </p:sp>
      <p:sp>
        <p:nvSpPr>
          <p:cNvPr id="11" name="Text 9"/>
          <p:cNvSpPr txBox="1"/>
          <p:nvPr/>
        </p:nvSpPr>
        <p:spPr>
          <a:xfrm>
            <a:off x="777240" y="2985897"/>
            <a:ext cx="233172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100" b="1" spc="-20" kern="0" dirty="0">
                <a:solidFill>
                  <a:srgbClr val="0E1620"/>
                </a:solidFill>
                <a:latin typeface="Schibsted Grotesk" pitchFamily="34" charset="0"/>
                <a:ea typeface="Schibsted Grotesk" pitchFamily="34" charset="-122"/>
                <a:cs typeface="Schibsted Grotesk" pitchFamily="34" charset="-120"/>
              </a:rPr>
              <a:t>Cost model</a:t>
            </a:r>
            <a:endParaRPr lang="en-US" sz="1100" dirty="0"/>
          </a:p>
        </p:txBody>
      </p:sp>
      <p:sp>
        <p:nvSpPr>
          <p:cNvPr id="12" name="Text 10"/>
          <p:cNvSpPr txBox="1"/>
          <p:nvPr/>
        </p:nvSpPr>
        <p:spPr>
          <a:xfrm>
            <a:off x="3474720" y="2985897"/>
            <a:ext cx="3584448" cy="50292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lnSpc>
                <a:spcPts val="1473"/>
              </a:lnSpc>
              <a:buNone/>
            </a:pPr>
            <a:r>
              <a:rPr lang="en-US" sz="950" dirty="0">
                <a:solidFill>
                  <a:srgbClr val="4A5A67"/>
                </a:solidFill>
                <a:latin typeface="Inter" pitchFamily="34" charset="0"/>
                <a:ea typeface="Inter" pitchFamily="34" charset="-122"/>
                <a:cs typeface="Inter" pitchFamily="34" charset="-120"/>
              </a:rPr>
              <a:t>Subscription by user and scope. Infrastructure, operations and upgrades included.</a:t>
            </a:r>
            <a:endParaRPr lang="en-US" sz="950" dirty="0"/>
          </a:p>
        </p:txBody>
      </p:sp>
      <p:sp>
        <p:nvSpPr>
          <p:cNvPr id="13" name="Text 11"/>
          <p:cNvSpPr txBox="1"/>
          <p:nvPr/>
        </p:nvSpPr>
        <p:spPr>
          <a:xfrm>
            <a:off x="7543800" y="2985897"/>
            <a:ext cx="4096512" cy="50292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lnSpc>
                <a:spcPts val="1473"/>
              </a:lnSpc>
              <a:buNone/>
            </a:pPr>
            <a:r>
              <a:rPr lang="en-US" sz="950" dirty="0">
                <a:solidFill>
                  <a:srgbClr val="4A5A67"/>
                </a:solidFill>
                <a:latin typeface="Inter" pitchFamily="34" charset="0"/>
                <a:ea typeface="Inter" pitchFamily="34" charset="-122"/>
                <a:cs typeface="Inter" pitchFamily="34" charset="-120"/>
              </a:rPr>
              <a:t>Subscription varying with sizing. Customisation maintenance and upgrade testing stay in your budget.</a:t>
            </a:r>
            <a:endParaRPr lang="en-US" sz="950" dirty="0"/>
          </a:p>
        </p:txBody>
      </p:sp>
      <p:sp>
        <p:nvSpPr>
          <p:cNvPr id="14" name="Shape 12"/>
          <p:cNvSpPr/>
          <p:nvPr/>
        </p:nvSpPr>
        <p:spPr>
          <a:xfrm>
            <a:off x="777240" y="3424809"/>
            <a:ext cx="10637215" cy="0"/>
          </a:xfrm>
          <a:prstGeom prst="line">
            <a:avLst/>
          </a:prstGeom>
          <a:noFill/>
          <a:ln w="9525">
            <a:solidFill>
              <a:srgbClr val="E2E9EE"/>
            </a:solidFill>
            <a:prstDash val="solid"/>
          </a:ln>
        </p:spPr>
      </p:sp>
      <p:sp>
        <p:nvSpPr>
          <p:cNvPr id="15" name="Text 13"/>
          <p:cNvSpPr txBox="1"/>
          <p:nvPr/>
        </p:nvSpPr>
        <p:spPr>
          <a:xfrm>
            <a:off x="777240" y="3534537"/>
            <a:ext cx="233172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100" b="1" spc="-20" kern="0" dirty="0">
                <a:solidFill>
                  <a:srgbClr val="0E1620"/>
                </a:solidFill>
                <a:latin typeface="Schibsted Grotesk" pitchFamily="34" charset="0"/>
                <a:ea typeface="Schibsted Grotesk" pitchFamily="34" charset="-122"/>
                <a:cs typeface="Schibsted Grotesk" pitchFamily="34" charset="-120"/>
              </a:rPr>
              <a:t>Extensibility</a:t>
            </a:r>
            <a:endParaRPr lang="en-US" sz="1100" dirty="0"/>
          </a:p>
        </p:txBody>
      </p:sp>
      <p:sp>
        <p:nvSpPr>
          <p:cNvPr id="16" name="Text 14"/>
          <p:cNvSpPr txBox="1"/>
          <p:nvPr/>
        </p:nvSpPr>
        <p:spPr>
          <a:xfrm>
            <a:off x="3474720" y="3534537"/>
            <a:ext cx="3584448" cy="50292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lnSpc>
                <a:spcPts val="1473"/>
              </a:lnSpc>
              <a:buNone/>
            </a:pPr>
            <a:r>
              <a:rPr lang="en-US" sz="950" dirty="0">
                <a:solidFill>
                  <a:srgbClr val="4A5A67"/>
                </a:solidFill>
                <a:latin typeface="Inter" pitchFamily="34" charset="0"/>
                <a:ea typeface="Inter" pitchFamily="34" charset="-122"/>
                <a:cs typeface="Inter" pitchFamily="34" charset="-120"/>
              </a:rPr>
              <a:t>The core cannot be modified. Extension only through supported mechanisms, in a separate layer.</a:t>
            </a:r>
            <a:endParaRPr lang="en-US" sz="950" dirty="0"/>
          </a:p>
        </p:txBody>
      </p:sp>
      <p:sp>
        <p:nvSpPr>
          <p:cNvPr id="17" name="Text 15"/>
          <p:cNvSpPr txBox="1"/>
          <p:nvPr/>
        </p:nvSpPr>
        <p:spPr>
          <a:xfrm>
            <a:off x="7543800" y="3534537"/>
            <a:ext cx="4096512" cy="50292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lnSpc>
                <a:spcPts val="1473"/>
              </a:lnSpc>
              <a:buNone/>
            </a:pPr>
            <a:r>
              <a:rPr lang="en-US" sz="950" dirty="0">
                <a:solidFill>
                  <a:srgbClr val="4A5A67"/>
                </a:solidFill>
                <a:latin typeface="Inter" pitchFamily="34" charset="0"/>
                <a:ea typeface="Inter" pitchFamily="34" charset="-122"/>
                <a:cs typeface="Inter" pitchFamily="34" charset="-120"/>
              </a:rPr>
              <a:t>Broad flexibility including core modification. Existing ABAP developments can be carried across.</a:t>
            </a:r>
            <a:endParaRPr lang="en-US" sz="950" dirty="0"/>
          </a:p>
        </p:txBody>
      </p:sp>
      <p:sp>
        <p:nvSpPr>
          <p:cNvPr id="18" name="Shape 16"/>
          <p:cNvSpPr/>
          <p:nvPr/>
        </p:nvSpPr>
        <p:spPr>
          <a:xfrm>
            <a:off x="777240" y="3973449"/>
            <a:ext cx="10637215" cy="0"/>
          </a:xfrm>
          <a:prstGeom prst="line">
            <a:avLst/>
          </a:prstGeom>
          <a:noFill/>
          <a:ln w="9525">
            <a:solidFill>
              <a:srgbClr val="E2E9EE"/>
            </a:solidFill>
            <a:prstDash val="solid"/>
          </a:ln>
        </p:spPr>
      </p:sp>
      <p:sp>
        <p:nvSpPr>
          <p:cNvPr id="19" name="Text 17"/>
          <p:cNvSpPr txBox="1"/>
          <p:nvPr/>
        </p:nvSpPr>
        <p:spPr>
          <a:xfrm>
            <a:off x="777240" y="4083177"/>
            <a:ext cx="233172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100" b="1" spc="-20" kern="0" dirty="0">
                <a:solidFill>
                  <a:srgbClr val="0E1620"/>
                </a:solidFill>
                <a:latin typeface="Schibsted Grotesk" pitchFamily="34" charset="0"/>
                <a:ea typeface="Schibsted Grotesk" pitchFamily="34" charset="-122"/>
                <a:cs typeface="Schibsted Grotesk" pitchFamily="34" charset="-120"/>
              </a:rPr>
              <a:t>Upgrade cadence</a:t>
            </a:r>
            <a:endParaRPr lang="en-US" sz="1100" dirty="0"/>
          </a:p>
        </p:txBody>
      </p:sp>
      <p:sp>
        <p:nvSpPr>
          <p:cNvPr id="20" name="Text 18"/>
          <p:cNvSpPr txBox="1"/>
          <p:nvPr/>
        </p:nvSpPr>
        <p:spPr>
          <a:xfrm>
            <a:off x="3474720" y="4083177"/>
            <a:ext cx="3584448" cy="50292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lnSpc>
                <a:spcPts val="1473"/>
              </a:lnSpc>
              <a:buNone/>
            </a:pPr>
            <a:r>
              <a:rPr lang="en-US" sz="950" dirty="0">
                <a:solidFill>
                  <a:srgbClr val="4A5A67"/>
                </a:solidFill>
                <a:latin typeface="Inter" pitchFamily="34" charset="0"/>
                <a:ea typeface="Inter" pitchFamily="34" charset="-122"/>
                <a:cs typeface="Inter" pitchFamily="34" charset="-120"/>
              </a:rPr>
              <a:t>Regular and automatic. Upgrades are not optional and cannot be deferred.</a:t>
            </a:r>
            <a:endParaRPr lang="en-US" sz="950" dirty="0"/>
          </a:p>
        </p:txBody>
      </p:sp>
      <p:sp>
        <p:nvSpPr>
          <p:cNvPr id="21" name="Text 19"/>
          <p:cNvSpPr txBox="1"/>
          <p:nvPr/>
        </p:nvSpPr>
        <p:spPr>
          <a:xfrm>
            <a:off x="7543800" y="4083177"/>
            <a:ext cx="4096512" cy="50292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lnSpc>
                <a:spcPts val="1473"/>
              </a:lnSpc>
              <a:buNone/>
            </a:pPr>
            <a:r>
              <a:rPr lang="en-US" sz="950" dirty="0">
                <a:solidFill>
                  <a:srgbClr val="4A5A67"/>
                </a:solidFill>
                <a:latin typeface="Inter" pitchFamily="34" charset="0"/>
                <a:ea typeface="Inter" pitchFamily="34" charset="-122"/>
                <a:cs typeface="Inter" pitchFamily="34" charset="-120"/>
              </a:rPr>
              <a:t>You largely control the timing. Each release upgrade is planned as its own project.</a:t>
            </a:r>
            <a:endParaRPr lang="en-US" sz="950" dirty="0"/>
          </a:p>
        </p:txBody>
      </p:sp>
      <p:sp>
        <p:nvSpPr>
          <p:cNvPr id="22" name="Shape 20"/>
          <p:cNvSpPr/>
          <p:nvPr/>
        </p:nvSpPr>
        <p:spPr>
          <a:xfrm>
            <a:off x="777240" y="4522089"/>
            <a:ext cx="10637215" cy="0"/>
          </a:xfrm>
          <a:prstGeom prst="line">
            <a:avLst/>
          </a:prstGeom>
          <a:noFill/>
          <a:ln w="9525">
            <a:solidFill>
              <a:srgbClr val="E2E9EE"/>
            </a:solidFill>
            <a:prstDash val="solid"/>
          </a:ln>
        </p:spPr>
      </p:sp>
      <p:sp>
        <p:nvSpPr>
          <p:cNvPr id="23" name="Text 21"/>
          <p:cNvSpPr txBox="1"/>
          <p:nvPr/>
        </p:nvSpPr>
        <p:spPr>
          <a:xfrm>
            <a:off x="777240" y="4631817"/>
            <a:ext cx="233172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100" b="1" spc="-20" kern="0" dirty="0">
                <a:solidFill>
                  <a:srgbClr val="0E1620"/>
                </a:solidFill>
                <a:latin typeface="Schibsted Grotesk" pitchFamily="34" charset="0"/>
                <a:ea typeface="Schibsted Grotesk" pitchFamily="34" charset="-122"/>
                <a:cs typeface="Schibsted Grotesk" pitchFamily="34" charset="-120"/>
              </a:rPr>
              <a:t>Implementation time</a:t>
            </a:r>
            <a:endParaRPr lang="en-US" sz="1100" dirty="0"/>
          </a:p>
        </p:txBody>
      </p:sp>
      <p:sp>
        <p:nvSpPr>
          <p:cNvPr id="24" name="Text 22"/>
          <p:cNvSpPr txBox="1"/>
          <p:nvPr/>
        </p:nvSpPr>
        <p:spPr>
          <a:xfrm>
            <a:off x="3474720" y="4631817"/>
            <a:ext cx="3584448" cy="50292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lnSpc>
                <a:spcPts val="1473"/>
              </a:lnSpc>
              <a:buNone/>
            </a:pPr>
            <a:r>
              <a:rPr lang="en-US" sz="950" dirty="0">
                <a:solidFill>
                  <a:srgbClr val="4A5A67"/>
                </a:solidFill>
                <a:latin typeface="Inter" pitchFamily="34" charset="0"/>
                <a:ea typeface="Inter" pitchFamily="34" charset="-122"/>
                <a:cs typeface="Inter" pitchFamily="34" charset="-120"/>
              </a:rPr>
              <a:t>Short — a single-country finance deployment typically takes 3–5 months.</a:t>
            </a:r>
            <a:endParaRPr lang="en-US" sz="950" dirty="0"/>
          </a:p>
        </p:txBody>
      </p:sp>
      <p:sp>
        <p:nvSpPr>
          <p:cNvPr id="25" name="Text 23"/>
          <p:cNvSpPr txBox="1"/>
          <p:nvPr/>
        </p:nvSpPr>
        <p:spPr>
          <a:xfrm>
            <a:off x="7543800" y="4631817"/>
            <a:ext cx="4096512" cy="50292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lnSpc>
                <a:spcPts val="1473"/>
              </a:lnSpc>
              <a:buNone/>
            </a:pPr>
            <a:r>
              <a:rPr lang="en-US" sz="950" dirty="0">
                <a:solidFill>
                  <a:srgbClr val="4A5A67"/>
                </a:solidFill>
                <a:latin typeface="Inter" pitchFamily="34" charset="0"/>
                <a:ea typeface="Inter" pitchFamily="34" charset="-122"/>
                <a:cs typeface="Inter" pitchFamily="34" charset="-120"/>
              </a:rPr>
              <a:t>Longer — typically 7–14 months, depending on scope and inherited landscape.</a:t>
            </a:r>
            <a:endParaRPr lang="en-US" sz="950" dirty="0"/>
          </a:p>
        </p:txBody>
      </p:sp>
      <p:sp>
        <p:nvSpPr>
          <p:cNvPr id="26" name="Shape 24"/>
          <p:cNvSpPr/>
          <p:nvPr/>
        </p:nvSpPr>
        <p:spPr>
          <a:xfrm>
            <a:off x="777240" y="5070729"/>
            <a:ext cx="10637215" cy="0"/>
          </a:xfrm>
          <a:prstGeom prst="line">
            <a:avLst/>
          </a:prstGeom>
          <a:noFill/>
          <a:ln w="9525">
            <a:solidFill>
              <a:srgbClr val="E2E9EE"/>
            </a:solidFill>
            <a:prstDash val="solid"/>
          </a:ln>
        </p:spPr>
      </p:sp>
      <p:sp>
        <p:nvSpPr>
          <p:cNvPr id="27" name="Text 25"/>
          <p:cNvSpPr txBox="1"/>
          <p:nvPr/>
        </p:nvSpPr>
        <p:spPr>
          <a:xfrm>
            <a:off x="777240" y="5180457"/>
            <a:ext cx="233172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100" b="1" spc="-20" kern="0" dirty="0">
                <a:solidFill>
                  <a:srgbClr val="0E1620"/>
                </a:solidFill>
                <a:latin typeface="Schibsted Grotesk" pitchFamily="34" charset="0"/>
                <a:ea typeface="Schibsted Grotesk" pitchFamily="34" charset="-122"/>
                <a:cs typeface="Schibsted Grotesk" pitchFamily="34" charset="-120"/>
              </a:rPr>
              <a:t>Typical fit</a:t>
            </a:r>
            <a:endParaRPr lang="en-US" sz="1100" dirty="0"/>
          </a:p>
        </p:txBody>
      </p:sp>
      <p:sp>
        <p:nvSpPr>
          <p:cNvPr id="28" name="Text 26"/>
          <p:cNvSpPr txBox="1"/>
          <p:nvPr/>
        </p:nvSpPr>
        <p:spPr>
          <a:xfrm>
            <a:off x="3474720" y="5180457"/>
            <a:ext cx="3584448" cy="50292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lnSpc>
                <a:spcPts val="1473"/>
              </a:lnSpc>
              <a:buNone/>
            </a:pPr>
            <a:r>
              <a:rPr lang="en-US" sz="950" dirty="0">
                <a:solidFill>
                  <a:srgbClr val="4A5A67"/>
                </a:solidFill>
                <a:latin typeface="Inter" pitchFamily="34" charset="0"/>
                <a:ea typeface="Inter" pitchFamily="34" charset="-122"/>
                <a:cs typeface="Inter" pitchFamily="34" charset="-120"/>
              </a:rPr>
              <a:t>Mid-market organisations close to standard, and subsidiaries on a group template.</a:t>
            </a:r>
            <a:endParaRPr lang="en-US" sz="950" dirty="0"/>
          </a:p>
        </p:txBody>
      </p:sp>
      <p:sp>
        <p:nvSpPr>
          <p:cNvPr id="29" name="Text 27"/>
          <p:cNvSpPr txBox="1"/>
          <p:nvPr/>
        </p:nvSpPr>
        <p:spPr>
          <a:xfrm>
            <a:off x="7543800" y="5180457"/>
            <a:ext cx="4096512" cy="50292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lnSpc>
                <a:spcPts val="1473"/>
              </a:lnSpc>
              <a:buNone/>
            </a:pPr>
            <a:r>
              <a:rPr lang="en-US" sz="950" dirty="0">
                <a:solidFill>
                  <a:srgbClr val="4A5A67"/>
                </a:solidFill>
                <a:latin typeface="Inter" pitchFamily="34" charset="0"/>
                <a:ea typeface="Inter" pitchFamily="34" charset="-122"/>
                <a:cs typeface="Inter" pitchFamily="34" charset="-120"/>
              </a:rPr>
              <a:t>Larger organisations carrying substantial customisation and integration history.</a:t>
            </a:r>
            <a:endParaRPr lang="en-US" sz="950" dirty="0"/>
          </a:p>
        </p:txBody>
      </p:sp>
      <p:sp>
        <p:nvSpPr>
          <p:cNvPr id="30" name="Shape 28"/>
          <p:cNvSpPr/>
          <p:nvPr/>
        </p:nvSpPr>
        <p:spPr>
          <a:xfrm>
            <a:off x="777240" y="5619369"/>
            <a:ext cx="10637215" cy="0"/>
          </a:xfrm>
          <a:prstGeom prst="line">
            <a:avLst/>
          </a:prstGeom>
          <a:noFill/>
          <a:ln w="9525">
            <a:solidFill>
              <a:srgbClr val="C9D6DE"/>
            </a:solidFill>
            <a:prstDash val="solid"/>
          </a:ln>
        </p:spPr>
      </p:sp>
      <p:sp>
        <p:nvSpPr>
          <p:cNvPr id="31" name="Shape 29"/>
          <p:cNvSpPr/>
          <p:nvPr/>
        </p:nvSpPr>
        <p:spPr>
          <a:xfrm>
            <a:off x="7223760" y="2190369"/>
            <a:ext cx="0" cy="3429000"/>
          </a:xfrm>
          <a:prstGeom prst="line">
            <a:avLst/>
          </a:prstGeom>
          <a:noFill/>
          <a:ln w="9525">
            <a:solidFill>
              <a:srgbClr val="C9D6DE"/>
            </a:solidFill>
            <a:prstDash val="solid"/>
          </a:ln>
        </p:spPr>
      </p:sp>
      <p:sp>
        <p:nvSpPr>
          <p:cNvPr id="32" name="Shape 30"/>
          <p:cNvSpPr/>
          <p:nvPr/>
        </p:nvSpPr>
        <p:spPr>
          <a:xfrm>
            <a:off x="0" y="5897880"/>
            <a:ext cx="12191695" cy="960120"/>
          </a:xfrm>
          <a:prstGeom prst="rect">
            <a:avLst/>
          </a:prstGeom>
          <a:solidFill>
            <a:srgbClr val="11676A"/>
          </a:solidFill>
          <a:ln/>
        </p:spPr>
      </p:sp>
      <p:sp>
        <p:nvSpPr>
          <p:cNvPr id="33" name="Text 31"/>
          <p:cNvSpPr txBox="1"/>
          <p:nvPr/>
        </p:nvSpPr>
        <p:spPr>
          <a:xfrm>
            <a:off x="777240" y="5897880"/>
            <a:ext cx="8833866" cy="7772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lnSpc>
                <a:spcPts val="1400"/>
              </a:lnSpc>
              <a:buNone/>
            </a:pPr>
            <a:r>
              <a:rPr lang="en-US" sz="1200" b="1" dirty="0">
                <a:solidFill>
                  <a:srgbClr val="FFFFFF"/>
                </a:solidFill>
                <a:latin typeface="Schibsted Grotesk" pitchFamily="34" charset="0"/>
                <a:ea typeface="Schibsted Grotesk" pitchFamily="34" charset="-122"/>
                <a:cs typeface="Schibsted Grotesk" pitchFamily="34" charset="-120"/>
              </a:rPr>
              <a:t>We do not advocate for a model.  </a:t>
            </a:r>
            <a:pPr indent="0" marL="0">
              <a:lnSpc>
                <a:spcPts val="1400"/>
              </a:lnSpc>
              <a:buNone/>
            </a:pPr>
            <a:r>
              <a:rPr lang="en-US" sz="1000" dirty="0">
                <a:solidFill>
                  <a:srgbClr val="D2DDE6"/>
                </a:solidFill>
                <a:latin typeface="Inter" pitchFamily="34" charset="0"/>
                <a:ea typeface="Inter" pitchFamily="34" charset="-122"/>
                <a:cs typeface="Inter" pitchFamily="34" charset="-120"/>
              </a:rPr>
              <a:t>We compare your processes against standard scope and put the cost and the constraint of both models side by side for your situation. The decision stays yours.</a:t>
            </a:r>
            <a:endParaRPr lang="en-US" sz="1200" dirty="0"/>
          </a:p>
        </p:txBody>
      </p:sp>
      <p:sp>
        <p:nvSpPr>
          <p:cNvPr id="34" name="Text 32"/>
          <p:cNvSpPr txBox="1"/>
          <p:nvPr/>
        </p:nvSpPr>
        <p:spPr>
          <a:xfrm>
            <a:off x="10500055" y="6327648"/>
            <a:ext cx="914400" cy="21945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750" spc="60" kern="0" dirty="0">
                <a:solidFill>
                  <a:srgbClr val="88B3B5"/>
                </a:solidFill>
                <a:latin typeface="IBM Plex Mono" pitchFamily="34" charset="0"/>
                <a:ea typeface="IBM Plex Mono" pitchFamily="34" charset="-122"/>
                <a:cs typeface="IBM Plex Mono" pitchFamily="34" charset="-120"/>
              </a:rPr>
              <a:t>06</a:t>
            </a:r>
            <a:endParaRPr lang="en-US" sz="750" dirty="0"/>
          </a:p>
        </p:txBody>
      </p:sp>
    </p:spTree>
  </p:cSld>
  <p:clrMapOvr>
    <a:masterClrMapping/>
  </p:clrMapOvr>
</p:sld>
</file>

<file path=ppt/slides/slide7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7">
    <p:bg>
      <p:bgPr>
        <a:solidFill>
          <a:srgbClr val="003F82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0" y="256032"/>
            <a:ext cx="12191695" cy="0"/>
          </a:xfrm>
          <a:prstGeom prst="line">
            <a:avLst/>
          </a:prstGeom>
          <a:noFill/>
          <a:ln w="9525">
            <a:solidFill>
              <a:srgbClr val="104B8A"/>
            </a:solidFill>
            <a:prstDash val="solid"/>
          </a:ln>
        </p:spPr>
      </p:sp>
      <p:sp>
        <p:nvSpPr>
          <p:cNvPr id="3" name="Shape 1"/>
          <p:cNvSpPr/>
          <p:nvPr/>
        </p:nvSpPr>
        <p:spPr>
          <a:xfrm>
            <a:off x="0" y="658368"/>
            <a:ext cx="12191695" cy="0"/>
          </a:xfrm>
          <a:prstGeom prst="line">
            <a:avLst/>
          </a:prstGeom>
          <a:noFill/>
          <a:ln w="9525">
            <a:solidFill>
              <a:srgbClr val="104B8A"/>
            </a:solidFill>
            <a:prstDash val="solid"/>
          </a:ln>
        </p:spPr>
      </p:sp>
      <p:sp>
        <p:nvSpPr>
          <p:cNvPr id="4" name="Shape 2"/>
          <p:cNvSpPr/>
          <p:nvPr/>
        </p:nvSpPr>
        <p:spPr>
          <a:xfrm>
            <a:off x="0" y="1060704"/>
            <a:ext cx="12191695" cy="0"/>
          </a:xfrm>
          <a:prstGeom prst="line">
            <a:avLst/>
          </a:prstGeom>
          <a:noFill/>
          <a:ln w="9525">
            <a:solidFill>
              <a:srgbClr val="104B8A"/>
            </a:solidFill>
            <a:prstDash val="solid"/>
          </a:ln>
        </p:spPr>
      </p:sp>
      <p:sp>
        <p:nvSpPr>
          <p:cNvPr id="5" name="Shape 3"/>
          <p:cNvSpPr/>
          <p:nvPr/>
        </p:nvSpPr>
        <p:spPr>
          <a:xfrm>
            <a:off x="0" y="1463040"/>
            <a:ext cx="12191695" cy="0"/>
          </a:xfrm>
          <a:prstGeom prst="line">
            <a:avLst/>
          </a:prstGeom>
          <a:noFill/>
          <a:ln w="9525">
            <a:solidFill>
              <a:srgbClr val="104B8A"/>
            </a:solidFill>
            <a:prstDash val="solid"/>
          </a:ln>
        </p:spPr>
      </p:sp>
      <p:sp>
        <p:nvSpPr>
          <p:cNvPr id="6" name="Shape 4"/>
          <p:cNvSpPr/>
          <p:nvPr/>
        </p:nvSpPr>
        <p:spPr>
          <a:xfrm>
            <a:off x="0" y="1865376"/>
            <a:ext cx="12191695" cy="0"/>
          </a:xfrm>
          <a:prstGeom prst="line">
            <a:avLst/>
          </a:prstGeom>
          <a:noFill/>
          <a:ln w="9525">
            <a:solidFill>
              <a:srgbClr val="104B8A"/>
            </a:solidFill>
            <a:prstDash val="solid"/>
          </a:ln>
        </p:spPr>
      </p:sp>
      <p:sp>
        <p:nvSpPr>
          <p:cNvPr id="7" name="Shape 5"/>
          <p:cNvSpPr/>
          <p:nvPr/>
        </p:nvSpPr>
        <p:spPr>
          <a:xfrm>
            <a:off x="0" y="2267712"/>
            <a:ext cx="12191695" cy="0"/>
          </a:xfrm>
          <a:prstGeom prst="line">
            <a:avLst/>
          </a:prstGeom>
          <a:noFill/>
          <a:ln w="9525">
            <a:solidFill>
              <a:srgbClr val="104B8A"/>
            </a:solidFill>
            <a:prstDash val="solid"/>
          </a:ln>
        </p:spPr>
      </p:sp>
      <p:sp>
        <p:nvSpPr>
          <p:cNvPr id="8" name="Shape 6"/>
          <p:cNvSpPr/>
          <p:nvPr/>
        </p:nvSpPr>
        <p:spPr>
          <a:xfrm>
            <a:off x="0" y="2670048"/>
            <a:ext cx="12191695" cy="0"/>
          </a:xfrm>
          <a:prstGeom prst="line">
            <a:avLst/>
          </a:prstGeom>
          <a:noFill/>
          <a:ln w="9525">
            <a:solidFill>
              <a:srgbClr val="104B8A"/>
            </a:solidFill>
            <a:prstDash val="solid"/>
          </a:ln>
        </p:spPr>
      </p:sp>
      <p:sp>
        <p:nvSpPr>
          <p:cNvPr id="9" name="Shape 7"/>
          <p:cNvSpPr/>
          <p:nvPr/>
        </p:nvSpPr>
        <p:spPr>
          <a:xfrm>
            <a:off x="0" y="3072384"/>
            <a:ext cx="12191695" cy="0"/>
          </a:xfrm>
          <a:prstGeom prst="line">
            <a:avLst/>
          </a:prstGeom>
          <a:noFill/>
          <a:ln w="9525">
            <a:solidFill>
              <a:srgbClr val="104B8A"/>
            </a:solidFill>
            <a:prstDash val="solid"/>
          </a:ln>
        </p:spPr>
      </p:sp>
      <p:sp>
        <p:nvSpPr>
          <p:cNvPr id="10" name="Shape 8"/>
          <p:cNvSpPr/>
          <p:nvPr/>
        </p:nvSpPr>
        <p:spPr>
          <a:xfrm>
            <a:off x="0" y="3474720"/>
            <a:ext cx="12191695" cy="0"/>
          </a:xfrm>
          <a:prstGeom prst="line">
            <a:avLst/>
          </a:prstGeom>
          <a:noFill/>
          <a:ln w="9525">
            <a:solidFill>
              <a:srgbClr val="104B8A"/>
            </a:solidFill>
            <a:prstDash val="solid"/>
          </a:ln>
        </p:spPr>
      </p:sp>
      <p:sp>
        <p:nvSpPr>
          <p:cNvPr id="11" name="Shape 9"/>
          <p:cNvSpPr/>
          <p:nvPr/>
        </p:nvSpPr>
        <p:spPr>
          <a:xfrm>
            <a:off x="0" y="3877056"/>
            <a:ext cx="12191695" cy="0"/>
          </a:xfrm>
          <a:prstGeom prst="line">
            <a:avLst/>
          </a:prstGeom>
          <a:noFill/>
          <a:ln w="9525">
            <a:solidFill>
              <a:srgbClr val="104B8A"/>
            </a:solidFill>
            <a:prstDash val="solid"/>
          </a:ln>
        </p:spPr>
      </p:sp>
      <p:sp>
        <p:nvSpPr>
          <p:cNvPr id="12" name="Shape 10"/>
          <p:cNvSpPr/>
          <p:nvPr/>
        </p:nvSpPr>
        <p:spPr>
          <a:xfrm>
            <a:off x="0" y="4279392"/>
            <a:ext cx="12191695" cy="0"/>
          </a:xfrm>
          <a:prstGeom prst="line">
            <a:avLst/>
          </a:prstGeom>
          <a:noFill/>
          <a:ln w="9525">
            <a:solidFill>
              <a:srgbClr val="104B8A"/>
            </a:solidFill>
            <a:prstDash val="solid"/>
          </a:ln>
        </p:spPr>
      </p:sp>
      <p:sp>
        <p:nvSpPr>
          <p:cNvPr id="13" name="Shape 11"/>
          <p:cNvSpPr/>
          <p:nvPr/>
        </p:nvSpPr>
        <p:spPr>
          <a:xfrm>
            <a:off x="0" y="4681728"/>
            <a:ext cx="12191695" cy="0"/>
          </a:xfrm>
          <a:prstGeom prst="line">
            <a:avLst/>
          </a:prstGeom>
          <a:noFill/>
          <a:ln w="9525">
            <a:solidFill>
              <a:srgbClr val="104B8A"/>
            </a:solidFill>
            <a:prstDash val="solid"/>
          </a:ln>
        </p:spPr>
      </p:sp>
      <p:sp>
        <p:nvSpPr>
          <p:cNvPr id="14" name="Shape 12"/>
          <p:cNvSpPr/>
          <p:nvPr/>
        </p:nvSpPr>
        <p:spPr>
          <a:xfrm>
            <a:off x="0" y="5084064"/>
            <a:ext cx="12191695" cy="0"/>
          </a:xfrm>
          <a:prstGeom prst="line">
            <a:avLst/>
          </a:prstGeom>
          <a:noFill/>
          <a:ln w="9525">
            <a:solidFill>
              <a:srgbClr val="104B8A"/>
            </a:solidFill>
            <a:prstDash val="solid"/>
          </a:ln>
        </p:spPr>
      </p:sp>
      <p:sp>
        <p:nvSpPr>
          <p:cNvPr id="15" name="Shape 13"/>
          <p:cNvSpPr/>
          <p:nvPr/>
        </p:nvSpPr>
        <p:spPr>
          <a:xfrm>
            <a:off x="0" y="5486400"/>
            <a:ext cx="12191695" cy="0"/>
          </a:xfrm>
          <a:prstGeom prst="line">
            <a:avLst/>
          </a:prstGeom>
          <a:noFill/>
          <a:ln w="9525">
            <a:solidFill>
              <a:srgbClr val="104B8A"/>
            </a:solidFill>
            <a:prstDash val="solid"/>
          </a:ln>
        </p:spPr>
      </p:sp>
      <p:sp>
        <p:nvSpPr>
          <p:cNvPr id="16" name="Shape 14"/>
          <p:cNvSpPr/>
          <p:nvPr/>
        </p:nvSpPr>
        <p:spPr>
          <a:xfrm>
            <a:off x="0" y="5888736"/>
            <a:ext cx="12191695" cy="0"/>
          </a:xfrm>
          <a:prstGeom prst="line">
            <a:avLst/>
          </a:prstGeom>
          <a:noFill/>
          <a:ln w="9525">
            <a:solidFill>
              <a:srgbClr val="104B8A"/>
            </a:solidFill>
            <a:prstDash val="solid"/>
          </a:ln>
        </p:spPr>
      </p:sp>
      <p:sp>
        <p:nvSpPr>
          <p:cNvPr id="17" name="Shape 15"/>
          <p:cNvSpPr/>
          <p:nvPr/>
        </p:nvSpPr>
        <p:spPr>
          <a:xfrm>
            <a:off x="0" y="6291072"/>
            <a:ext cx="12191695" cy="0"/>
          </a:xfrm>
          <a:prstGeom prst="line">
            <a:avLst/>
          </a:prstGeom>
          <a:noFill/>
          <a:ln w="9525">
            <a:solidFill>
              <a:srgbClr val="104B8A"/>
            </a:solidFill>
            <a:prstDash val="solid"/>
          </a:ln>
        </p:spPr>
      </p:sp>
      <p:sp>
        <p:nvSpPr>
          <p:cNvPr id="18" name="Shape 16"/>
          <p:cNvSpPr/>
          <p:nvPr/>
        </p:nvSpPr>
        <p:spPr>
          <a:xfrm>
            <a:off x="411480" y="0"/>
            <a:ext cx="0" cy="6858000"/>
          </a:xfrm>
          <a:prstGeom prst="line">
            <a:avLst/>
          </a:prstGeom>
          <a:noFill/>
          <a:ln w="9525">
            <a:solidFill>
              <a:srgbClr val="17508D"/>
            </a:solidFill>
            <a:prstDash val="solid"/>
          </a:ln>
        </p:spPr>
      </p:sp>
      <p:sp>
        <p:nvSpPr>
          <p:cNvPr id="19" name="Shape 17"/>
          <p:cNvSpPr/>
          <p:nvPr/>
        </p:nvSpPr>
        <p:spPr>
          <a:xfrm>
            <a:off x="777240" y="580644"/>
            <a:ext cx="237744" cy="0"/>
          </a:xfrm>
          <a:prstGeom prst="line">
            <a:avLst/>
          </a:prstGeom>
          <a:noFill/>
          <a:ln w="12700">
            <a:solidFill>
              <a:srgbClr val="F5DCA4"/>
            </a:solidFill>
            <a:prstDash val="solid"/>
          </a:ln>
        </p:spPr>
      </p:sp>
      <p:sp>
        <p:nvSpPr>
          <p:cNvPr id="20" name="Text 18"/>
          <p:cNvSpPr txBox="1"/>
          <p:nvPr/>
        </p:nvSpPr>
        <p:spPr>
          <a:xfrm>
            <a:off x="1106424" y="461772"/>
            <a:ext cx="5486400" cy="23774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850" spc="90" kern="0" dirty="0">
                <a:solidFill>
                  <a:srgbClr val="F5DCA4"/>
                </a:solidFill>
                <a:latin typeface="IBM Plex Mono" pitchFamily="34" charset="0"/>
                <a:ea typeface="IBM Plex Mono" pitchFamily="34" charset="-122"/>
                <a:cs typeface="IBM Plex Mono" pitchFamily="34" charset="-120"/>
              </a:rPr>
              <a:t>HOW WE CREATE VALUE</a:t>
            </a:r>
            <a:endParaRPr lang="en-US" sz="850" dirty="0"/>
          </a:p>
        </p:txBody>
      </p:sp>
      <p:sp>
        <p:nvSpPr>
          <p:cNvPr id="21" name="Text 19"/>
          <p:cNvSpPr txBox="1"/>
          <p:nvPr/>
        </p:nvSpPr>
        <p:spPr>
          <a:xfrm>
            <a:off x="777240" y="804672"/>
            <a:ext cx="7030517" cy="852424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lnSpc>
                <a:spcPts val="3068"/>
              </a:lnSpc>
              <a:buNone/>
            </a:pPr>
            <a:r>
              <a:rPr lang="en-US" sz="2600" b="1" spc="-50" kern="0" dirty="0">
                <a:solidFill>
                  <a:srgbClr val="FFFFFF"/>
                </a:solidFill>
                <a:latin typeface="Schibsted Grotesk" pitchFamily="34" charset="0"/>
                <a:ea typeface="Schibsted Grotesk" pitchFamily="34" charset="-122"/>
                <a:cs typeface="Schibsted Grotesk" pitchFamily="34" charset="-120"/>
              </a:rPr>
              <a:t>Measurement first, then a decision you can defend</a:t>
            </a:r>
            <a:endParaRPr lang="en-US" sz="2600" dirty="0"/>
          </a:p>
        </p:txBody>
      </p:sp>
      <p:sp>
        <p:nvSpPr>
          <p:cNvPr id="22" name="Text 20"/>
          <p:cNvSpPr txBox="1"/>
          <p:nvPr/>
        </p:nvSpPr>
        <p:spPr>
          <a:xfrm>
            <a:off x="777240" y="1766824"/>
            <a:ext cx="7932191" cy="291465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lnSpc>
                <a:spcPts val="1628"/>
              </a:lnSpc>
              <a:buNone/>
            </a:pPr>
            <a:r>
              <a:rPr lang="en-US" sz="1050" dirty="0">
                <a:solidFill>
                  <a:srgbClr val="D2DDE6"/>
                </a:solidFill>
                <a:latin typeface="Inter" pitchFamily="34" charset="0"/>
                <a:ea typeface="Inter" pitchFamily="34" charset="-122"/>
                <a:cs typeface="Inter" pitchFamily="34" charset="-120"/>
              </a:rPr>
              <a:t>The outcome is decided by the weekly working discipline, not by the name of the methodology.</a:t>
            </a:r>
            <a:endParaRPr lang="en-US" sz="1050" dirty="0"/>
          </a:p>
        </p:txBody>
      </p:sp>
      <p:sp>
        <p:nvSpPr>
          <p:cNvPr id="23" name="Shape 21"/>
          <p:cNvSpPr/>
          <p:nvPr/>
        </p:nvSpPr>
        <p:spPr>
          <a:xfrm>
            <a:off x="777240" y="2734945"/>
            <a:ext cx="10637215" cy="0"/>
          </a:xfrm>
          <a:prstGeom prst="line">
            <a:avLst/>
          </a:prstGeom>
          <a:noFill/>
          <a:ln w="9525">
            <a:solidFill>
              <a:srgbClr val="33659B"/>
            </a:solidFill>
            <a:prstDash val="solid"/>
          </a:ln>
        </p:spPr>
      </p:sp>
      <p:sp>
        <p:nvSpPr>
          <p:cNvPr id="24" name="Shape 22"/>
          <p:cNvSpPr/>
          <p:nvPr/>
        </p:nvSpPr>
        <p:spPr>
          <a:xfrm>
            <a:off x="726948" y="2684653"/>
            <a:ext cx="100584" cy="100584"/>
          </a:xfrm>
          <a:prstGeom prst="ellipse">
            <a:avLst/>
          </a:prstGeom>
          <a:solidFill>
            <a:srgbClr val="FFFFFF"/>
          </a:solidFill>
          <a:ln w="3175">
            <a:solidFill>
              <a:srgbClr val="FFFFFF"/>
            </a:solidFill>
            <a:prstDash val="solid"/>
          </a:ln>
        </p:spPr>
      </p:sp>
      <p:sp>
        <p:nvSpPr>
          <p:cNvPr id="25" name="Text 23"/>
          <p:cNvSpPr txBox="1"/>
          <p:nvPr/>
        </p:nvSpPr>
        <p:spPr>
          <a:xfrm>
            <a:off x="777240" y="2405761"/>
            <a:ext cx="2487168" cy="1828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850" spc="75" kern="0" dirty="0">
                <a:solidFill>
                  <a:srgbClr val="F5DCA4"/>
                </a:solidFill>
                <a:latin typeface="IBM Plex Mono" pitchFamily="34" charset="0"/>
                <a:ea typeface="IBM Plex Mono" pitchFamily="34" charset="-122"/>
                <a:cs typeface="IBM Plex Mono" pitchFamily="34" charset="-120"/>
              </a:rPr>
              <a:t>01  MEASURE</a:t>
            </a:r>
            <a:endParaRPr lang="en-US" sz="850" dirty="0"/>
          </a:p>
        </p:txBody>
      </p:sp>
      <p:sp>
        <p:nvSpPr>
          <p:cNvPr id="26" name="Text 24"/>
          <p:cNvSpPr txBox="1"/>
          <p:nvPr/>
        </p:nvSpPr>
        <p:spPr>
          <a:xfrm>
            <a:off x="777240" y="2954401"/>
            <a:ext cx="2395728" cy="109728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lnSpc>
                <a:spcPts val="1550"/>
              </a:lnSpc>
              <a:buNone/>
            </a:pPr>
            <a:r>
              <a:rPr lang="en-US" sz="1000" dirty="0">
                <a:solidFill>
                  <a:srgbClr val="D2DDE6"/>
                </a:solidFill>
                <a:latin typeface="Inter" pitchFamily="34" charset="0"/>
                <a:ea typeface="Inter" pitchFamily="34" charset="-122"/>
                <a:cs typeface="Inter" pitchFamily="34" charset="-120"/>
              </a:rPr>
              <a:t>No recommendation is made without reading the actual system data. Advice given without measurement is a guess, and its cost falls to you.</a:t>
            </a:r>
            <a:endParaRPr lang="en-US" sz="1000" dirty="0"/>
          </a:p>
        </p:txBody>
      </p:sp>
      <p:sp>
        <p:nvSpPr>
          <p:cNvPr id="27" name="Shape 25"/>
          <p:cNvSpPr/>
          <p:nvPr/>
        </p:nvSpPr>
        <p:spPr>
          <a:xfrm>
            <a:off x="3305556" y="2666365"/>
            <a:ext cx="86868" cy="68580"/>
          </a:xfrm>
          <a:prstGeom prst="line">
            <a:avLst/>
          </a:prstGeom>
          <a:noFill/>
          <a:ln w="11430">
            <a:solidFill>
              <a:srgbClr val="8CA9C7"/>
            </a:solidFill>
            <a:prstDash val="solid"/>
          </a:ln>
        </p:spPr>
      </p:sp>
      <p:sp>
        <p:nvSpPr>
          <p:cNvPr id="28" name="Shape 26"/>
          <p:cNvSpPr/>
          <p:nvPr/>
        </p:nvSpPr>
        <p:spPr>
          <a:xfrm flipV="1">
            <a:off x="3305556" y="2734945"/>
            <a:ext cx="86868" cy="68580"/>
          </a:xfrm>
          <a:prstGeom prst="line">
            <a:avLst/>
          </a:prstGeom>
          <a:noFill/>
          <a:ln w="11430">
            <a:solidFill>
              <a:srgbClr val="8CA9C7"/>
            </a:solidFill>
            <a:prstDash val="solid"/>
          </a:ln>
        </p:spPr>
      </p:sp>
      <p:sp>
        <p:nvSpPr>
          <p:cNvPr id="29" name="Shape 27"/>
          <p:cNvSpPr/>
          <p:nvPr/>
        </p:nvSpPr>
        <p:spPr>
          <a:xfrm>
            <a:off x="3433572" y="2684653"/>
            <a:ext cx="100584" cy="100584"/>
          </a:xfrm>
          <a:prstGeom prst="ellipse">
            <a:avLst/>
          </a:prstGeom>
          <a:solidFill>
            <a:srgbClr val="FFFFFF"/>
          </a:solidFill>
          <a:ln w="3175">
            <a:solidFill>
              <a:srgbClr val="FFFFFF"/>
            </a:solidFill>
            <a:prstDash val="solid"/>
          </a:ln>
        </p:spPr>
      </p:sp>
      <p:sp>
        <p:nvSpPr>
          <p:cNvPr id="30" name="Text 28"/>
          <p:cNvSpPr txBox="1"/>
          <p:nvPr/>
        </p:nvSpPr>
        <p:spPr>
          <a:xfrm>
            <a:off x="3483864" y="2405761"/>
            <a:ext cx="2487168" cy="1828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850" spc="75" kern="0" dirty="0">
                <a:solidFill>
                  <a:srgbClr val="F5DCA4"/>
                </a:solidFill>
                <a:latin typeface="IBM Plex Mono" pitchFamily="34" charset="0"/>
                <a:ea typeface="IBM Plex Mono" pitchFamily="34" charset="-122"/>
                <a:cs typeface="IBM Plex Mono" pitchFamily="34" charset="-120"/>
              </a:rPr>
              <a:t>02  COMPARE</a:t>
            </a:r>
            <a:endParaRPr lang="en-US" sz="850" dirty="0"/>
          </a:p>
        </p:txBody>
      </p:sp>
      <p:sp>
        <p:nvSpPr>
          <p:cNvPr id="31" name="Text 29"/>
          <p:cNvSpPr txBox="1"/>
          <p:nvPr/>
        </p:nvSpPr>
        <p:spPr>
          <a:xfrm>
            <a:off x="3483864" y="2954401"/>
            <a:ext cx="2395728" cy="109728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lnSpc>
                <a:spcPts val="1550"/>
              </a:lnSpc>
              <a:buNone/>
            </a:pPr>
            <a:r>
              <a:rPr lang="en-US" sz="1000" dirty="0">
                <a:solidFill>
                  <a:srgbClr val="D2DDE6"/>
                </a:solidFill>
                <a:latin typeface="Inter" pitchFamily="34" charset="0"/>
                <a:ea typeface="Inter" pitchFamily="34" charset="-122"/>
                <a:cs typeface="Inter" pitchFamily="34" charset="-120"/>
              </a:rPr>
              <a:t>Options placed side by side with cost, duration and risk — together with our own view and the reasoning behind it.</a:t>
            </a:r>
            <a:endParaRPr lang="en-US" sz="1000" dirty="0"/>
          </a:p>
        </p:txBody>
      </p:sp>
      <p:sp>
        <p:nvSpPr>
          <p:cNvPr id="32" name="Shape 30"/>
          <p:cNvSpPr/>
          <p:nvPr/>
        </p:nvSpPr>
        <p:spPr>
          <a:xfrm>
            <a:off x="6012180" y="2666365"/>
            <a:ext cx="86868" cy="68580"/>
          </a:xfrm>
          <a:prstGeom prst="line">
            <a:avLst/>
          </a:prstGeom>
          <a:noFill/>
          <a:ln w="11430">
            <a:solidFill>
              <a:srgbClr val="8CA9C7"/>
            </a:solidFill>
            <a:prstDash val="solid"/>
          </a:ln>
        </p:spPr>
      </p:sp>
      <p:sp>
        <p:nvSpPr>
          <p:cNvPr id="33" name="Shape 31"/>
          <p:cNvSpPr/>
          <p:nvPr/>
        </p:nvSpPr>
        <p:spPr>
          <a:xfrm flipV="1">
            <a:off x="6012180" y="2734945"/>
            <a:ext cx="86868" cy="68580"/>
          </a:xfrm>
          <a:prstGeom prst="line">
            <a:avLst/>
          </a:prstGeom>
          <a:noFill/>
          <a:ln w="11430">
            <a:solidFill>
              <a:srgbClr val="8CA9C7"/>
            </a:solidFill>
            <a:prstDash val="solid"/>
          </a:ln>
        </p:spPr>
      </p:sp>
      <p:sp>
        <p:nvSpPr>
          <p:cNvPr id="34" name="Shape 32"/>
          <p:cNvSpPr/>
          <p:nvPr/>
        </p:nvSpPr>
        <p:spPr>
          <a:xfrm>
            <a:off x="6140196" y="2684653"/>
            <a:ext cx="100584" cy="100584"/>
          </a:xfrm>
          <a:prstGeom prst="ellipse">
            <a:avLst/>
          </a:prstGeom>
          <a:solidFill>
            <a:srgbClr val="FFFFFF"/>
          </a:solidFill>
          <a:ln w="3175">
            <a:solidFill>
              <a:srgbClr val="FFFFFF"/>
            </a:solidFill>
            <a:prstDash val="solid"/>
          </a:ln>
        </p:spPr>
      </p:sp>
      <p:sp>
        <p:nvSpPr>
          <p:cNvPr id="35" name="Text 33"/>
          <p:cNvSpPr txBox="1"/>
          <p:nvPr/>
        </p:nvSpPr>
        <p:spPr>
          <a:xfrm>
            <a:off x="6190488" y="2405761"/>
            <a:ext cx="2487168" cy="1828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850" spc="75" kern="0" dirty="0">
                <a:solidFill>
                  <a:srgbClr val="F5DCA4"/>
                </a:solidFill>
                <a:latin typeface="IBM Plex Mono" pitchFamily="34" charset="0"/>
                <a:ea typeface="IBM Plex Mono" pitchFamily="34" charset="-122"/>
                <a:cs typeface="IBM Plex Mono" pitchFamily="34" charset="-120"/>
              </a:rPr>
              <a:t>03  DECIDE</a:t>
            </a:r>
            <a:endParaRPr lang="en-US" sz="850" dirty="0"/>
          </a:p>
        </p:txBody>
      </p:sp>
      <p:sp>
        <p:nvSpPr>
          <p:cNvPr id="36" name="Text 34"/>
          <p:cNvSpPr txBox="1"/>
          <p:nvPr/>
        </p:nvSpPr>
        <p:spPr>
          <a:xfrm>
            <a:off x="6190488" y="2954401"/>
            <a:ext cx="2395728" cy="109728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lnSpc>
                <a:spcPts val="1550"/>
              </a:lnSpc>
              <a:buNone/>
            </a:pPr>
            <a:r>
              <a:rPr lang="en-US" sz="1000" dirty="0">
                <a:solidFill>
                  <a:srgbClr val="D2DDE6"/>
                </a:solidFill>
                <a:latin typeface="Inter" pitchFamily="34" charset="0"/>
                <a:ea typeface="Inter" pitchFamily="34" charset="-122"/>
                <a:cs typeface="Inter" pitchFamily="34" charset="-120"/>
              </a:rPr>
              <a:t>The decision is yours and the reasoning stays on paper. That is what answers “why did we do it this way?” two years later.</a:t>
            </a:r>
            <a:endParaRPr lang="en-US" sz="1000" dirty="0"/>
          </a:p>
        </p:txBody>
      </p:sp>
      <p:sp>
        <p:nvSpPr>
          <p:cNvPr id="37" name="Shape 35"/>
          <p:cNvSpPr/>
          <p:nvPr/>
        </p:nvSpPr>
        <p:spPr>
          <a:xfrm>
            <a:off x="8718804" y="2666365"/>
            <a:ext cx="86868" cy="68580"/>
          </a:xfrm>
          <a:prstGeom prst="line">
            <a:avLst/>
          </a:prstGeom>
          <a:noFill/>
          <a:ln w="11430">
            <a:solidFill>
              <a:srgbClr val="8CA9C7"/>
            </a:solidFill>
            <a:prstDash val="solid"/>
          </a:ln>
        </p:spPr>
      </p:sp>
      <p:sp>
        <p:nvSpPr>
          <p:cNvPr id="38" name="Shape 36"/>
          <p:cNvSpPr/>
          <p:nvPr/>
        </p:nvSpPr>
        <p:spPr>
          <a:xfrm flipV="1">
            <a:off x="8718804" y="2734945"/>
            <a:ext cx="86868" cy="68580"/>
          </a:xfrm>
          <a:prstGeom prst="line">
            <a:avLst/>
          </a:prstGeom>
          <a:noFill/>
          <a:ln w="11430">
            <a:solidFill>
              <a:srgbClr val="8CA9C7"/>
            </a:solidFill>
            <a:prstDash val="solid"/>
          </a:ln>
        </p:spPr>
      </p:sp>
      <p:sp>
        <p:nvSpPr>
          <p:cNvPr id="39" name="Shape 37"/>
          <p:cNvSpPr/>
          <p:nvPr/>
        </p:nvSpPr>
        <p:spPr>
          <a:xfrm>
            <a:off x="8846820" y="2684653"/>
            <a:ext cx="100584" cy="100584"/>
          </a:xfrm>
          <a:prstGeom prst="ellipse">
            <a:avLst/>
          </a:prstGeom>
          <a:solidFill>
            <a:srgbClr val="E8B33A"/>
          </a:solidFill>
          <a:ln w="3175">
            <a:solidFill>
              <a:srgbClr val="E8B33A"/>
            </a:solidFill>
            <a:prstDash val="solid"/>
          </a:ln>
        </p:spPr>
      </p:sp>
      <p:sp>
        <p:nvSpPr>
          <p:cNvPr id="40" name="Text 38"/>
          <p:cNvSpPr txBox="1"/>
          <p:nvPr/>
        </p:nvSpPr>
        <p:spPr>
          <a:xfrm>
            <a:off x="8897112" y="2405761"/>
            <a:ext cx="2487168" cy="1828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850" spc="75" kern="0" dirty="0">
                <a:solidFill>
                  <a:srgbClr val="E8B33A"/>
                </a:solidFill>
                <a:latin typeface="IBM Plex Mono" pitchFamily="34" charset="0"/>
                <a:ea typeface="IBM Plex Mono" pitchFamily="34" charset="-122"/>
                <a:cs typeface="IBM Plex Mono" pitchFamily="34" charset="-120"/>
              </a:rPr>
              <a:t>04  OWN</a:t>
            </a:r>
            <a:endParaRPr lang="en-US" sz="850" dirty="0"/>
          </a:p>
        </p:txBody>
      </p:sp>
      <p:sp>
        <p:nvSpPr>
          <p:cNvPr id="41" name="Text 39"/>
          <p:cNvSpPr txBox="1"/>
          <p:nvPr/>
        </p:nvSpPr>
        <p:spPr>
          <a:xfrm>
            <a:off x="8897112" y="2954401"/>
            <a:ext cx="2395728" cy="109728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lnSpc>
                <a:spcPts val="1550"/>
              </a:lnSpc>
              <a:buNone/>
            </a:pPr>
            <a:r>
              <a:rPr lang="en-US" sz="1000" dirty="0">
                <a:solidFill>
                  <a:srgbClr val="D2DDE6"/>
                </a:solidFill>
                <a:latin typeface="Inter" pitchFamily="34" charset="0"/>
                <a:ea typeface="Inter" pitchFamily="34" charset="-122"/>
                <a:cs typeface="Inter" pitchFamily="34" charset="-120"/>
              </a:rPr>
              <a:t>Test scenarios written together, the first close run together, documentation left in a form people actually use.</a:t>
            </a:r>
            <a:endParaRPr lang="en-US" sz="1000" dirty="0"/>
          </a:p>
        </p:txBody>
      </p:sp>
      <p:sp>
        <p:nvSpPr>
          <p:cNvPr id="42" name="Shape 40"/>
          <p:cNvSpPr/>
          <p:nvPr/>
        </p:nvSpPr>
        <p:spPr>
          <a:xfrm>
            <a:off x="777240" y="4435729"/>
            <a:ext cx="10637215" cy="0"/>
          </a:xfrm>
          <a:prstGeom prst="line">
            <a:avLst/>
          </a:prstGeom>
          <a:noFill/>
          <a:ln w="9525">
            <a:solidFill>
              <a:srgbClr val="215892"/>
            </a:solidFill>
            <a:prstDash val="solid"/>
          </a:ln>
        </p:spPr>
      </p:sp>
      <p:sp>
        <p:nvSpPr>
          <p:cNvPr id="43" name="Text 41"/>
          <p:cNvSpPr txBox="1"/>
          <p:nvPr/>
        </p:nvSpPr>
        <p:spPr>
          <a:xfrm>
            <a:off x="777240" y="4618609"/>
            <a:ext cx="5062576" cy="23774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200" b="1" spc="-25" kern="0" dirty="0">
                <a:solidFill>
                  <a:srgbClr val="FFFFFF"/>
                </a:solidFill>
                <a:latin typeface="Schibsted Grotesk" pitchFamily="34" charset="0"/>
                <a:ea typeface="Schibsted Grotesk" pitchFamily="34" charset="-122"/>
                <a:cs typeface="Schibsted Grotesk" pitchFamily="34" charset="-120"/>
              </a:rPr>
              <a:t>Bad news travels immediately</a:t>
            </a:r>
            <a:endParaRPr lang="en-US" sz="1200" dirty="0"/>
          </a:p>
        </p:txBody>
      </p:sp>
      <p:sp>
        <p:nvSpPr>
          <p:cNvPr id="44" name="Text 42"/>
          <p:cNvSpPr txBox="1"/>
          <p:nvPr/>
        </p:nvSpPr>
        <p:spPr>
          <a:xfrm>
            <a:off x="777240" y="4902073"/>
            <a:ext cx="5062576" cy="54864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lnSpc>
                <a:spcPts val="1473"/>
              </a:lnSpc>
              <a:buNone/>
            </a:pPr>
            <a:r>
              <a:rPr lang="en-US" sz="950" dirty="0">
                <a:solidFill>
                  <a:srgbClr val="D2DDE6"/>
                </a:solidFill>
                <a:latin typeface="Inter" pitchFamily="34" charset="0"/>
                <a:ea typeface="Inter" pitchFamily="34" charset="-122"/>
                <a:cs typeface="Inter" pitchFamily="34" charset="-120"/>
              </a:rPr>
              <a:t>When it becomes clear an estimate will not hold, you hear it that week rather than in the month-end report.</a:t>
            </a:r>
            <a:endParaRPr lang="en-US" sz="950" dirty="0"/>
          </a:p>
        </p:txBody>
      </p:sp>
      <p:sp>
        <p:nvSpPr>
          <p:cNvPr id="45" name="Text 43"/>
          <p:cNvSpPr txBox="1"/>
          <p:nvPr/>
        </p:nvSpPr>
        <p:spPr>
          <a:xfrm>
            <a:off x="6223864" y="4618609"/>
            <a:ext cx="5062576" cy="23774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200" b="1" spc="-25" kern="0" dirty="0">
                <a:solidFill>
                  <a:srgbClr val="FFFFFF"/>
                </a:solidFill>
                <a:latin typeface="Schibsted Grotesk" pitchFamily="34" charset="0"/>
                <a:ea typeface="Schibsted Grotesk" pitchFamily="34" charset="-122"/>
                <a:cs typeface="Schibsted Grotesk" pitchFamily="34" charset="-120"/>
              </a:rPr>
              <a:t>Phase the work, don’t grow the team</a:t>
            </a:r>
            <a:endParaRPr lang="en-US" sz="1200" dirty="0"/>
          </a:p>
        </p:txBody>
      </p:sp>
      <p:sp>
        <p:nvSpPr>
          <p:cNvPr id="46" name="Text 44"/>
          <p:cNvSpPr txBox="1"/>
          <p:nvPr/>
        </p:nvSpPr>
        <p:spPr>
          <a:xfrm>
            <a:off x="6223864" y="4902073"/>
            <a:ext cx="5062576" cy="54864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lnSpc>
                <a:spcPts val="1473"/>
              </a:lnSpc>
              <a:buNone/>
            </a:pPr>
            <a:r>
              <a:rPr lang="en-US" sz="950" dirty="0">
                <a:solidFill>
                  <a:srgbClr val="D2DDE6"/>
                </a:solidFill>
                <a:latin typeface="Inter" pitchFamily="34" charset="0"/>
                <a:ea typeface="Inter" pitchFamily="34" charset="-122"/>
                <a:cs typeface="Inter" pitchFamily="34" charset="-120"/>
              </a:rPr>
              <a:t>Each phase ends in something that works, and the decision to continue gets taken again.</a:t>
            </a:r>
            <a:endParaRPr lang="en-US" sz="950" dirty="0"/>
          </a:p>
        </p:txBody>
      </p:sp>
      <p:sp>
        <p:nvSpPr>
          <p:cNvPr id="47" name="Shape 45"/>
          <p:cNvSpPr/>
          <p:nvPr/>
        </p:nvSpPr>
        <p:spPr>
          <a:xfrm>
            <a:off x="6031840" y="4572889"/>
            <a:ext cx="0" cy="868680"/>
          </a:xfrm>
          <a:prstGeom prst="line">
            <a:avLst/>
          </a:prstGeom>
          <a:noFill/>
          <a:ln w="9525">
            <a:solidFill>
              <a:srgbClr val="215892"/>
            </a:solidFill>
            <a:prstDash val="solid"/>
          </a:ln>
        </p:spPr>
      </p:sp>
      <p:sp>
        <p:nvSpPr>
          <p:cNvPr id="48" name="Text 46"/>
          <p:cNvSpPr txBox="1"/>
          <p:nvPr/>
        </p:nvSpPr>
        <p:spPr>
          <a:xfrm>
            <a:off x="777240" y="6345936"/>
            <a:ext cx="3657600" cy="21945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750" spc="60" kern="0" dirty="0">
                <a:solidFill>
                  <a:srgbClr val="8CA9C7"/>
                </a:solidFill>
                <a:latin typeface="IBM Plex Mono" pitchFamily="34" charset="0"/>
                <a:ea typeface="IBM Plex Mono" pitchFamily="34" charset="-122"/>
                <a:cs typeface="IBM Plex Mono" pitchFamily="34" charset="-120"/>
              </a:rPr>
              <a:t>CPeak Consultancy</a:t>
            </a:r>
            <a:endParaRPr lang="en-US" sz="750" dirty="0"/>
          </a:p>
        </p:txBody>
      </p:sp>
      <p:sp>
        <p:nvSpPr>
          <p:cNvPr id="49" name="Text 47"/>
          <p:cNvSpPr txBox="1"/>
          <p:nvPr/>
        </p:nvSpPr>
        <p:spPr>
          <a:xfrm>
            <a:off x="10500055" y="6345936"/>
            <a:ext cx="914400" cy="21945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750" spc="60" kern="0" dirty="0">
                <a:solidFill>
                  <a:srgbClr val="8CA9C7"/>
                </a:solidFill>
                <a:latin typeface="IBM Plex Mono" pitchFamily="34" charset="0"/>
                <a:ea typeface="IBM Plex Mono" pitchFamily="34" charset="-122"/>
                <a:cs typeface="IBM Plex Mono" pitchFamily="34" charset="-120"/>
              </a:rPr>
              <a:t>07</a:t>
            </a:r>
            <a:endParaRPr lang="en-US" sz="750" dirty="0"/>
          </a:p>
        </p:txBody>
      </p:sp>
    </p:spTree>
  </p:cSld>
  <p:clrMapOvr>
    <a:masterClrMapping/>
  </p:clrMapOvr>
</p:sld>
</file>

<file path=ppt/slides/slide8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8">
    <p:bg>
      <p:bgPr>
        <a:solidFill>
          <a:srgbClr val="FFFFFF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777240" y="580644"/>
            <a:ext cx="237744" cy="0"/>
          </a:xfrm>
          <a:prstGeom prst="line">
            <a:avLst/>
          </a:prstGeom>
          <a:noFill/>
          <a:ln w="12700">
            <a:solidFill>
              <a:srgbClr val="11676A"/>
            </a:solidFill>
            <a:prstDash val="solid"/>
          </a:ln>
        </p:spPr>
      </p:sp>
      <p:sp>
        <p:nvSpPr>
          <p:cNvPr id="3" name="Text 1"/>
          <p:cNvSpPr txBox="1"/>
          <p:nvPr/>
        </p:nvSpPr>
        <p:spPr>
          <a:xfrm>
            <a:off x="1106424" y="461772"/>
            <a:ext cx="5486400" cy="23774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850" spc="90" kern="0" dirty="0">
                <a:solidFill>
                  <a:srgbClr val="11676A"/>
                </a:solidFill>
                <a:latin typeface="IBM Plex Mono" pitchFamily="34" charset="0"/>
                <a:ea typeface="IBM Plex Mono" pitchFamily="34" charset="-122"/>
                <a:cs typeface="IBM Plex Mono" pitchFamily="34" charset="-120"/>
              </a:rPr>
              <a:t>OUR APPROACH</a:t>
            </a:r>
            <a:endParaRPr lang="en-US" sz="850" dirty="0"/>
          </a:p>
        </p:txBody>
      </p:sp>
      <p:sp>
        <p:nvSpPr>
          <p:cNvPr id="4" name="Text 2"/>
          <p:cNvSpPr txBox="1"/>
          <p:nvPr/>
        </p:nvSpPr>
        <p:spPr>
          <a:xfrm>
            <a:off x="777240" y="804672"/>
            <a:ext cx="8833866" cy="447802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lnSpc>
                <a:spcPts val="2950"/>
              </a:lnSpc>
              <a:buNone/>
            </a:pPr>
            <a:r>
              <a:rPr lang="en-US" sz="2500" b="1" spc="-50" kern="0" dirty="0">
                <a:solidFill>
                  <a:srgbClr val="11676A"/>
                </a:solidFill>
                <a:latin typeface="Schibsted Grotesk" pitchFamily="34" charset="0"/>
                <a:ea typeface="Schibsted Grotesk" pitchFamily="34" charset="-122"/>
                <a:cs typeface="Schibsted Grotesk" pitchFamily="34" charset="-120"/>
              </a:rPr>
              <a:t>Four stages, each ending in something tangible</a:t>
            </a:r>
            <a:endParaRPr lang="en-US" sz="2500" dirty="0"/>
          </a:p>
        </p:txBody>
      </p:sp>
      <p:sp>
        <p:nvSpPr>
          <p:cNvPr id="5" name="Text 3"/>
          <p:cNvSpPr txBox="1"/>
          <p:nvPr/>
        </p:nvSpPr>
        <p:spPr>
          <a:xfrm>
            <a:off x="777240" y="1362202"/>
            <a:ext cx="7932191" cy="49149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lnSpc>
                <a:spcPts val="1628"/>
              </a:lnSpc>
              <a:buNone/>
            </a:pPr>
            <a:r>
              <a:rPr lang="en-US" sz="1050" dirty="0">
                <a:solidFill>
                  <a:srgbClr val="4A5A67"/>
                </a:solidFill>
                <a:latin typeface="Inter" pitchFamily="34" charset="0"/>
                <a:ea typeface="Inter" pitchFamily="34" charset="-122"/>
                <a:cs typeface="Inter" pitchFamily="34" charset="-120"/>
              </a:rPr>
              <a:t>What gets delivered at the end of each stage is defined before it starts, and no stage begins before the previous one has closed.</a:t>
            </a:r>
            <a:endParaRPr lang="en-US" sz="1050" dirty="0"/>
          </a:p>
        </p:txBody>
      </p:sp>
      <p:sp>
        <p:nvSpPr>
          <p:cNvPr id="6" name="Shape 4"/>
          <p:cNvSpPr/>
          <p:nvPr/>
        </p:nvSpPr>
        <p:spPr>
          <a:xfrm>
            <a:off x="777240" y="2457196"/>
            <a:ext cx="10637215" cy="0"/>
          </a:xfrm>
          <a:prstGeom prst="line">
            <a:avLst/>
          </a:prstGeom>
          <a:noFill/>
          <a:ln w="9525">
            <a:solidFill>
              <a:srgbClr val="C9D6DE"/>
            </a:solidFill>
            <a:prstDash val="solid"/>
          </a:ln>
        </p:spPr>
      </p:sp>
      <p:sp>
        <p:nvSpPr>
          <p:cNvPr id="7" name="Shape 5"/>
          <p:cNvSpPr/>
          <p:nvPr/>
        </p:nvSpPr>
        <p:spPr>
          <a:xfrm>
            <a:off x="717804" y="2397760"/>
            <a:ext cx="118872" cy="118872"/>
          </a:xfrm>
          <a:prstGeom prst="ellipse">
            <a:avLst/>
          </a:prstGeom>
          <a:solidFill>
            <a:srgbClr val="11676A"/>
          </a:solidFill>
          <a:ln w="3175">
            <a:solidFill>
              <a:srgbClr val="11676A"/>
            </a:solidFill>
            <a:prstDash val="solid"/>
          </a:ln>
        </p:spPr>
      </p:sp>
      <p:sp>
        <p:nvSpPr>
          <p:cNvPr id="8" name="Text 6"/>
          <p:cNvSpPr txBox="1"/>
          <p:nvPr/>
        </p:nvSpPr>
        <p:spPr>
          <a:xfrm>
            <a:off x="978408" y="2123440"/>
            <a:ext cx="914400" cy="1828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200" spc="75" kern="0" dirty="0">
                <a:solidFill>
                  <a:srgbClr val="11676A"/>
                </a:solidFill>
                <a:latin typeface="IBM Plex Mono" pitchFamily="34" charset="0"/>
                <a:ea typeface="IBM Plex Mono" pitchFamily="34" charset="-122"/>
                <a:cs typeface="IBM Plex Mono" pitchFamily="34" charset="-120"/>
              </a:rPr>
              <a:t>01</a:t>
            </a:r>
            <a:endParaRPr lang="en-US" sz="1200" dirty="0"/>
          </a:p>
        </p:txBody>
      </p:sp>
      <p:sp>
        <p:nvSpPr>
          <p:cNvPr id="9" name="Text 7"/>
          <p:cNvSpPr txBox="1"/>
          <p:nvPr/>
        </p:nvSpPr>
        <p:spPr>
          <a:xfrm>
            <a:off x="777240" y="2658364"/>
            <a:ext cx="237744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400" b="1" spc="-30" kern="0" dirty="0">
                <a:solidFill>
                  <a:srgbClr val="11676A"/>
                </a:solidFill>
                <a:latin typeface="Schibsted Grotesk" pitchFamily="34" charset="0"/>
                <a:ea typeface="Schibsted Grotesk" pitchFamily="34" charset="-122"/>
                <a:cs typeface="Schibsted Grotesk" pitchFamily="34" charset="-120"/>
              </a:rPr>
              <a:t>Assessment</a:t>
            </a:r>
            <a:endParaRPr lang="en-US" sz="1400" dirty="0"/>
          </a:p>
        </p:txBody>
      </p:sp>
      <p:sp>
        <p:nvSpPr>
          <p:cNvPr id="10" name="Text 8"/>
          <p:cNvSpPr txBox="1"/>
          <p:nvPr/>
        </p:nvSpPr>
        <p:spPr>
          <a:xfrm>
            <a:off x="777240" y="3024124"/>
            <a:ext cx="2377440" cy="109728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lnSpc>
                <a:spcPts val="1473"/>
              </a:lnSpc>
              <a:buNone/>
            </a:pPr>
            <a:r>
              <a:rPr lang="en-US" sz="950" dirty="0">
                <a:solidFill>
                  <a:srgbClr val="4A5A67"/>
                </a:solidFill>
                <a:latin typeface="Inter" pitchFamily="34" charset="0"/>
                <a:ea typeface="Inter" pitchFamily="34" charset="-122"/>
                <a:cs typeface="Inter" pitchFamily="34" charset="-120"/>
              </a:rPr>
              <a:t>We read the actual system: usage statistics, data quality, custom code inventory and process durations. The findings come from the gap between the process as described and the process as executed.</a:t>
            </a:r>
            <a:endParaRPr lang="en-US" sz="950" dirty="0"/>
          </a:p>
        </p:txBody>
      </p:sp>
      <p:sp>
        <p:nvSpPr>
          <p:cNvPr id="11" name="Shape 9"/>
          <p:cNvSpPr/>
          <p:nvPr/>
        </p:nvSpPr>
        <p:spPr>
          <a:xfrm>
            <a:off x="777240" y="4304284"/>
            <a:ext cx="2377440" cy="786384"/>
          </a:xfrm>
          <a:prstGeom prst="rect">
            <a:avLst/>
          </a:prstGeom>
          <a:solidFill>
            <a:srgbClr val="F7F8F7"/>
          </a:solidFill>
          <a:ln/>
        </p:spPr>
      </p:sp>
      <p:sp>
        <p:nvSpPr>
          <p:cNvPr id="12" name="Text 10"/>
          <p:cNvSpPr txBox="1"/>
          <p:nvPr/>
        </p:nvSpPr>
        <p:spPr>
          <a:xfrm>
            <a:off x="905256" y="4414012"/>
            <a:ext cx="2121408" cy="1828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700" spc="75" kern="0" dirty="0">
                <a:solidFill>
                  <a:srgbClr val="5F6D77"/>
                </a:solidFill>
                <a:latin typeface="IBM Plex Mono" pitchFamily="34" charset="0"/>
                <a:ea typeface="IBM Plex Mono" pitchFamily="34" charset="-122"/>
                <a:cs typeface="IBM Plex Mono" pitchFamily="34" charset="-120"/>
              </a:rPr>
              <a:t>DELIVERABLE</a:t>
            </a:r>
            <a:endParaRPr lang="en-US" sz="700" dirty="0"/>
          </a:p>
        </p:txBody>
      </p:sp>
      <p:sp>
        <p:nvSpPr>
          <p:cNvPr id="13" name="Text 11"/>
          <p:cNvSpPr txBox="1"/>
          <p:nvPr/>
        </p:nvSpPr>
        <p:spPr>
          <a:xfrm>
            <a:off x="905256" y="4615180"/>
            <a:ext cx="2121408" cy="420624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lnSpc>
                <a:spcPts val="1150"/>
              </a:lnSpc>
              <a:buNone/>
            </a:pPr>
            <a:r>
              <a:rPr lang="en-US" sz="900" dirty="0">
                <a:solidFill>
                  <a:srgbClr val="0E1620"/>
                </a:solidFill>
                <a:latin typeface="Inter" pitchFamily="34" charset="0"/>
                <a:ea typeface="Inter" pitchFamily="34" charset="-122"/>
                <a:cs typeface="Inter" pitchFamily="34" charset="-120"/>
              </a:rPr>
              <a:t>Diagnostic report with prioritised findings</a:t>
            </a:r>
            <a:endParaRPr lang="en-US" sz="900" dirty="0"/>
          </a:p>
        </p:txBody>
      </p:sp>
      <p:sp>
        <p:nvSpPr>
          <p:cNvPr id="14" name="Shape 12"/>
          <p:cNvSpPr/>
          <p:nvPr/>
        </p:nvSpPr>
        <p:spPr>
          <a:xfrm>
            <a:off x="777240" y="5218684"/>
            <a:ext cx="2377440" cy="0"/>
          </a:xfrm>
          <a:prstGeom prst="line">
            <a:avLst/>
          </a:prstGeom>
          <a:noFill/>
          <a:ln w="9525">
            <a:solidFill>
              <a:srgbClr val="E2E9EE"/>
            </a:solidFill>
            <a:prstDash val="solid"/>
          </a:ln>
        </p:spPr>
      </p:sp>
      <p:sp>
        <p:nvSpPr>
          <p:cNvPr id="15" name="Text 13"/>
          <p:cNvSpPr txBox="1"/>
          <p:nvPr/>
        </p:nvSpPr>
        <p:spPr>
          <a:xfrm>
            <a:off x="777240" y="5291836"/>
            <a:ext cx="2377440" cy="21945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850" spc="60" kern="0" dirty="0">
                <a:solidFill>
                  <a:srgbClr val="11676A"/>
                </a:solidFill>
                <a:latin typeface="IBM Plex Mono" pitchFamily="34" charset="0"/>
                <a:ea typeface="IBM Plex Mono" pitchFamily="34" charset="-122"/>
                <a:cs typeface="IBM Plex Mono" pitchFamily="34" charset="-120"/>
              </a:rPr>
              <a:t>2–6 weeks</a:t>
            </a:r>
            <a:endParaRPr lang="en-US" sz="850" dirty="0"/>
          </a:p>
        </p:txBody>
      </p:sp>
      <p:sp>
        <p:nvSpPr>
          <p:cNvPr id="16" name="Shape 14"/>
          <p:cNvSpPr/>
          <p:nvPr/>
        </p:nvSpPr>
        <p:spPr>
          <a:xfrm>
            <a:off x="3278124" y="2388616"/>
            <a:ext cx="86868" cy="68580"/>
          </a:xfrm>
          <a:prstGeom prst="line">
            <a:avLst/>
          </a:prstGeom>
          <a:noFill/>
          <a:ln w="11430">
            <a:solidFill>
              <a:srgbClr val="C9D6DE"/>
            </a:solidFill>
            <a:prstDash val="solid"/>
          </a:ln>
        </p:spPr>
      </p:sp>
      <p:sp>
        <p:nvSpPr>
          <p:cNvPr id="17" name="Shape 15"/>
          <p:cNvSpPr/>
          <p:nvPr/>
        </p:nvSpPr>
        <p:spPr>
          <a:xfrm flipV="1">
            <a:off x="3278124" y="2457196"/>
            <a:ext cx="86868" cy="68580"/>
          </a:xfrm>
          <a:prstGeom prst="line">
            <a:avLst/>
          </a:prstGeom>
          <a:noFill/>
          <a:ln w="11430">
            <a:solidFill>
              <a:srgbClr val="C9D6DE"/>
            </a:solidFill>
            <a:prstDash val="solid"/>
          </a:ln>
        </p:spPr>
      </p:sp>
      <p:sp>
        <p:nvSpPr>
          <p:cNvPr id="18" name="Shape 16"/>
          <p:cNvSpPr/>
          <p:nvPr/>
        </p:nvSpPr>
        <p:spPr>
          <a:xfrm>
            <a:off x="3424428" y="2397760"/>
            <a:ext cx="118872" cy="118872"/>
          </a:xfrm>
          <a:prstGeom prst="ellipse">
            <a:avLst/>
          </a:prstGeom>
          <a:solidFill>
            <a:srgbClr val="11676A"/>
          </a:solidFill>
          <a:ln w="3175">
            <a:solidFill>
              <a:srgbClr val="11676A"/>
            </a:solidFill>
            <a:prstDash val="solid"/>
          </a:ln>
        </p:spPr>
      </p:sp>
      <p:sp>
        <p:nvSpPr>
          <p:cNvPr id="19" name="Text 17"/>
          <p:cNvSpPr txBox="1"/>
          <p:nvPr/>
        </p:nvSpPr>
        <p:spPr>
          <a:xfrm>
            <a:off x="3685032" y="2123440"/>
            <a:ext cx="914400" cy="1828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200" spc="75" kern="0" dirty="0">
                <a:solidFill>
                  <a:srgbClr val="11676A"/>
                </a:solidFill>
                <a:latin typeface="IBM Plex Mono" pitchFamily="34" charset="0"/>
                <a:ea typeface="IBM Plex Mono" pitchFamily="34" charset="-122"/>
                <a:cs typeface="IBM Plex Mono" pitchFamily="34" charset="-120"/>
              </a:rPr>
              <a:t>02</a:t>
            </a:r>
            <a:endParaRPr lang="en-US" sz="1200" dirty="0"/>
          </a:p>
        </p:txBody>
      </p:sp>
      <p:sp>
        <p:nvSpPr>
          <p:cNvPr id="20" name="Text 18"/>
          <p:cNvSpPr txBox="1"/>
          <p:nvPr/>
        </p:nvSpPr>
        <p:spPr>
          <a:xfrm>
            <a:off x="3483864" y="2658364"/>
            <a:ext cx="237744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400" b="1" spc="-30" kern="0" dirty="0">
                <a:solidFill>
                  <a:srgbClr val="11676A"/>
                </a:solidFill>
                <a:latin typeface="Schibsted Grotesk" pitchFamily="34" charset="0"/>
                <a:ea typeface="Schibsted Grotesk" pitchFamily="34" charset="-122"/>
                <a:cs typeface="Schibsted Grotesk" pitchFamily="34" charset="-120"/>
              </a:rPr>
              <a:t>Architecture and roadmap</a:t>
            </a:r>
            <a:endParaRPr lang="en-US" sz="1400" dirty="0"/>
          </a:p>
        </p:txBody>
      </p:sp>
      <p:sp>
        <p:nvSpPr>
          <p:cNvPr id="21" name="Text 19"/>
          <p:cNvSpPr txBox="1"/>
          <p:nvPr/>
        </p:nvSpPr>
        <p:spPr>
          <a:xfrm>
            <a:off x="3483864" y="3024124"/>
            <a:ext cx="2377440" cy="109728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lnSpc>
                <a:spcPts val="1473"/>
              </a:lnSpc>
              <a:buNone/>
            </a:pPr>
            <a:r>
              <a:rPr lang="en-US" sz="950" dirty="0">
                <a:solidFill>
                  <a:srgbClr val="4A5A67"/>
                </a:solidFill>
                <a:latin typeface="Inter" pitchFamily="34" charset="0"/>
                <a:ea typeface="Inter" pitchFamily="34" charset="-122"/>
                <a:cs typeface="Inter" pitchFamily="34" charset="-120"/>
              </a:rPr>
              <a:t>We place the options side by side with cost, duration and risk, and design the target architecture. You take the decision; the reasoning stays on paper.</a:t>
            </a:r>
            <a:endParaRPr lang="en-US" sz="950" dirty="0"/>
          </a:p>
        </p:txBody>
      </p:sp>
      <p:sp>
        <p:nvSpPr>
          <p:cNvPr id="22" name="Shape 20"/>
          <p:cNvSpPr/>
          <p:nvPr/>
        </p:nvSpPr>
        <p:spPr>
          <a:xfrm>
            <a:off x="3483864" y="4304284"/>
            <a:ext cx="2377440" cy="786384"/>
          </a:xfrm>
          <a:prstGeom prst="rect">
            <a:avLst/>
          </a:prstGeom>
          <a:solidFill>
            <a:srgbClr val="F7F8F7"/>
          </a:solidFill>
          <a:ln/>
        </p:spPr>
      </p:sp>
      <p:sp>
        <p:nvSpPr>
          <p:cNvPr id="23" name="Text 21"/>
          <p:cNvSpPr txBox="1"/>
          <p:nvPr/>
        </p:nvSpPr>
        <p:spPr>
          <a:xfrm>
            <a:off x="3611880" y="4414012"/>
            <a:ext cx="2121408" cy="1828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700" spc="75" kern="0" dirty="0">
                <a:solidFill>
                  <a:srgbClr val="5F6D77"/>
                </a:solidFill>
                <a:latin typeface="IBM Plex Mono" pitchFamily="34" charset="0"/>
                <a:ea typeface="IBM Plex Mono" pitchFamily="34" charset="-122"/>
                <a:cs typeface="IBM Plex Mono" pitchFamily="34" charset="-120"/>
              </a:rPr>
              <a:t>DELIVERABLE</a:t>
            </a:r>
            <a:endParaRPr lang="en-US" sz="700" dirty="0"/>
          </a:p>
        </p:txBody>
      </p:sp>
      <p:sp>
        <p:nvSpPr>
          <p:cNvPr id="24" name="Text 22"/>
          <p:cNvSpPr txBox="1"/>
          <p:nvPr/>
        </p:nvSpPr>
        <p:spPr>
          <a:xfrm>
            <a:off x="3611880" y="4615180"/>
            <a:ext cx="2121408" cy="420624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lnSpc>
                <a:spcPts val="1150"/>
              </a:lnSpc>
              <a:buNone/>
            </a:pPr>
            <a:r>
              <a:rPr lang="en-US" sz="900" dirty="0">
                <a:solidFill>
                  <a:srgbClr val="0E1620"/>
                </a:solidFill>
                <a:latin typeface="Inter" pitchFamily="34" charset="0"/>
                <a:ea typeface="Inter" pitchFamily="34" charset="-122"/>
                <a:cs typeface="Inter" pitchFamily="34" charset="-120"/>
              </a:rPr>
              <a:t>Target architecture document and phased roadmap</a:t>
            </a:r>
            <a:endParaRPr lang="en-US" sz="900" dirty="0"/>
          </a:p>
        </p:txBody>
      </p:sp>
      <p:sp>
        <p:nvSpPr>
          <p:cNvPr id="25" name="Shape 23"/>
          <p:cNvSpPr/>
          <p:nvPr/>
        </p:nvSpPr>
        <p:spPr>
          <a:xfrm>
            <a:off x="3483864" y="5218684"/>
            <a:ext cx="2377440" cy="0"/>
          </a:xfrm>
          <a:prstGeom prst="line">
            <a:avLst/>
          </a:prstGeom>
          <a:noFill/>
          <a:ln w="9525">
            <a:solidFill>
              <a:srgbClr val="E2E9EE"/>
            </a:solidFill>
            <a:prstDash val="solid"/>
          </a:ln>
        </p:spPr>
      </p:sp>
      <p:sp>
        <p:nvSpPr>
          <p:cNvPr id="26" name="Text 24"/>
          <p:cNvSpPr txBox="1"/>
          <p:nvPr/>
        </p:nvSpPr>
        <p:spPr>
          <a:xfrm>
            <a:off x="3483864" y="5291836"/>
            <a:ext cx="2377440" cy="21945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850" spc="60" kern="0" dirty="0">
                <a:solidFill>
                  <a:srgbClr val="11676A"/>
                </a:solidFill>
                <a:latin typeface="IBM Plex Mono" pitchFamily="34" charset="0"/>
                <a:ea typeface="IBM Plex Mono" pitchFamily="34" charset="-122"/>
                <a:cs typeface="IBM Plex Mono" pitchFamily="34" charset="-120"/>
              </a:rPr>
              <a:t>3–6 weeks</a:t>
            </a:r>
            <a:endParaRPr lang="en-US" sz="850" dirty="0"/>
          </a:p>
        </p:txBody>
      </p:sp>
      <p:sp>
        <p:nvSpPr>
          <p:cNvPr id="27" name="Shape 25"/>
          <p:cNvSpPr/>
          <p:nvPr/>
        </p:nvSpPr>
        <p:spPr>
          <a:xfrm>
            <a:off x="5984748" y="2388616"/>
            <a:ext cx="86868" cy="68580"/>
          </a:xfrm>
          <a:prstGeom prst="line">
            <a:avLst/>
          </a:prstGeom>
          <a:noFill/>
          <a:ln w="11430">
            <a:solidFill>
              <a:srgbClr val="C9D6DE"/>
            </a:solidFill>
            <a:prstDash val="solid"/>
          </a:ln>
        </p:spPr>
      </p:sp>
      <p:sp>
        <p:nvSpPr>
          <p:cNvPr id="28" name="Shape 26"/>
          <p:cNvSpPr/>
          <p:nvPr/>
        </p:nvSpPr>
        <p:spPr>
          <a:xfrm flipV="1">
            <a:off x="5984748" y="2457196"/>
            <a:ext cx="86868" cy="68580"/>
          </a:xfrm>
          <a:prstGeom prst="line">
            <a:avLst/>
          </a:prstGeom>
          <a:noFill/>
          <a:ln w="11430">
            <a:solidFill>
              <a:srgbClr val="C9D6DE"/>
            </a:solidFill>
            <a:prstDash val="solid"/>
          </a:ln>
        </p:spPr>
      </p:sp>
      <p:sp>
        <p:nvSpPr>
          <p:cNvPr id="29" name="Shape 27"/>
          <p:cNvSpPr/>
          <p:nvPr/>
        </p:nvSpPr>
        <p:spPr>
          <a:xfrm>
            <a:off x="6131052" y="2397760"/>
            <a:ext cx="118872" cy="118872"/>
          </a:xfrm>
          <a:prstGeom prst="ellipse">
            <a:avLst/>
          </a:prstGeom>
          <a:solidFill>
            <a:srgbClr val="11676A"/>
          </a:solidFill>
          <a:ln w="3175">
            <a:solidFill>
              <a:srgbClr val="11676A"/>
            </a:solidFill>
            <a:prstDash val="solid"/>
          </a:ln>
        </p:spPr>
      </p:sp>
      <p:sp>
        <p:nvSpPr>
          <p:cNvPr id="30" name="Text 28"/>
          <p:cNvSpPr txBox="1"/>
          <p:nvPr/>
        </p:nvSpPr>
        <p:spPr>
          <a:xfrm>
            <a:off x="6391656" y="2123440"/>
            <a:ext cx="914400" cy="1828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200" spc="75" kern="0" dirty="0">
                <a:solidFill>
                  <a:srgbClr val="11676A"/>
                </a:solidFill>
                <a:latin typeface="IBM Plex Mono" pitchFamily="34" charset="0"/>
                <a:ea typeface="IBM Plex Mono" pitchFamily="34" charset="-122"/>
                <a:cs typeface="IBM Plex Mono" pitchFamily="34" charset="-120"/>
              </a:rPr>
              <a:t>03</a:t>
            </a:r>
            <a:endParaRPr lang="en-US" sz="1200" dirty="0"/>
          </a:p>
        </p:txBody>
      </p:sp>
      <p:sp>
        <p:nvSpPr>
          <p:cNvPr id="31" name="Text 29"/>
          <p:cNvSpPr txBox="1"/>
          <p:nvPr/>
        </p:nvSpPr>
        <p:spPr>
          <a:xfrm>
            <a:off x="6190488" y="2658364"/>
            <a:ext cx="237744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400" b="1" spc="-30" kern="0" dirty="0">
                <a:solidFill>
                  <a:srgbClr val="11676A"/>
                </a:solidFill>
                <a:latin typeface="Schibsted Grotesk" pitchFamily="34" charset="0"/>
                <a:ea typeface="Schibsted Grotesk" pitchFamily="34" charset="-122"/>
                <a:cs typeface="Schibsted Grotesk" pitchFamily="34" charset="-120"/>
              </a:rPr>
              <a:t>Delivery</a:t>
            </a:r>
            <a:endParaRPr lang="en-US" sz="1400" dirty="0"/>
          </a:p>
        </p:txBody>
      </p:sp>
      <p:sp>
        <p:nvSpPr>
          <p:cNvPr id="32" name="Text 30"/>
          <p:cNvSpPr txBox="1"/>
          <p:nvPr/>
        </p:nvSpPr>
        <p:spPr>
          <a:xfrm>
            <a:off x="6190488" y="3024124"/>
            <a:ext cx="2377440" cy="109728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lnSpc>
                <a:spcPts val="1473"/>
              </a:lnSpc>
              <a:buNone/>
            </a:pPr>
            <a:r>
              <a:rPr lang="en-US" sz="950" dirty="0">
                <a:solidFill>
                  <a:srgbClr val="4A5A67"/>
                </a:solidFill>
                <a:latin typeface="Inter" pitchFamily="34" charset="0"/>
                <a:ea typeface="Inter" pitchFamily="34" charset="-122"/>
                <a:cs typeface="Inter" pitchFamily="34" charset="-120"/>
              </a:rPr>
              <a:t>Configuration, data migration, integration and testing. Mock migrations and reconciliation reporting become routine rather than milestones.</a:t>
            </a:r>
            <a:endParaRPr lang="en-US" sz="950" dirty="0"/>
          </a:p>
        </p:txBody>
      </p:sp>
      <p:sp>
        <p:nvSpPr>
          <p:cNvPr id="33" name="Shape 31"/>
          <p:cNvSpPr/>
          <p:nvPr/>
        </p:nvSpPr>
        <p:spPr>
          <a:xfrm>
            <a:off x="6190488" y="4304284"/>
            <a:ext cx="2377440" cy="786384"/>
          </a:xfrm>
          <a:prstGeom prst="rect">
            <a:avLst/>
          </a:prstGeom>
          <a:solidFill>
            <a:srgbClr val="F7F8F7"/>
          </a:solidFill>
          <a:ln/>
        </p:spPr>
      </p:sp>
      <p:sp>
        <p:nvSpPr>
          <p:cNvPr id="34" name="Text 32"/>
          <p:cNvSpPr txBox="1"/>
          <p:nvPr/>
        </p:nvSpPr>
        <p:spPr>
          <a:xfrm>
            <a:off x="6318504" y="4414012"/>
            <a:ext cx="2121408" cy="1828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700" spc="75" kern="0" dirty="0">
                <a:solidFill>
                  <a:srgbClr val="5F6D77"/>
                </a:solidFill>
                <a:latin typeface="IBM Plex Mono" pitchFamily="34" charset="0"/>
                <a:ea typeface="IBM Plex Mono" pitchFamily="34" charset="-122"/>
                <a:cs typeface="IBM Plex Mono" pitchFamily="34" charset="-120"/>
              </a:rPr>
              <a:t>DELIVERABLE</a:t>
            </a:r>
            <a:endParaRPr lang="en-US" sz="700" dirty="0"/>
          </a:p>
        </p:txBody>
      </p:sp>
      <p:sp>
        <p:nvSpPr>
          <p:cNvPr id="35" name="Text 33"/>
          <p:cNvSpPr txBox="1"/>
          <p:nvPr/>
        </p:nvSpPr>
        <p:spPr>
          <a:xfrm>
            <a:off x="6318504" y="4615180"/>
            <a:ext cx="2121408" cy="420624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lnSpc>
                <a:spcPts val="1150"/>
              </a:lnSpc>
              <a:buNone/>
            </a:pPr>
            <a:r>
              <a:rPr lang="en-US" sz="900" dirty="0">
                <a:solidFill>
                  <a:srgbClr val="0E1620"/>
                </a:solidFill>
                <a:latin typeface="Inter" pitchFamily="34" charset="0"/>
                <a:ea typeface="Inter" pitchFamily="34" charset="-122"/>
                <a:cs typeface="Inter" pitchFamily="34" charset="-120"/>
              </a:rPr>
              <a:t>Working system, test records and cutover plan</a:t>
            </a:r>
            <a:endParaRPr lang="en-US" sz="900" dirty="0"/>
          </a:p>
        </p:txBody>
      </p:sp>
      <p:sp>
        <p:nvSpPr>
          <p:cNvPr id="36" name="Shape 34"/>
          <p:cNvSpPr/>
          <p:nvPr/>
        </p:nvSpPr>
        <p:spPr>
          <a:xfrm>
            <a:off x="6190488" y="5218684"/>
            <a:ext cx="2377440" cy="0"/>
          </a:xfrm>
          <a:prstGeom prst="line">
            <a:avLst/>
          </a:prstGeom>
          <a:noFill/>
          <a:ln w="9525">
            <a:solidFill>
              <a:srgbClr val="E2E9EE"/>
            </a:solidFill>
            <a:prstDash val="solid"/>
          </a:ln>
        </p:spPr>
      </p:sp>
      <p:sp>
        <p:nvSpPr>
          <p:cNvPr id="37" name="Text 35"/>
          <p:cNvSpPr txBox="1"/>
          <p:nvPr/>
        </p:nvSpPr>
        <p:spPr>
          <a:xfrm>
            <a:off x="6190488" y="5291836"/>
            <a:ext cx="2377440" cy="21945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850" spc="60" kern="0" dirty="0">
                <a:solidFill>
                  <a:srgbClr val="11676A"/>
                </a:solidFill>
                <a:latin typeface="IBM Plex Mono" pitchFamily="34" charset="0"/>
                <a:ea typeface="IBM Plex Mono" pitchFamily="34" charset="-122"/>
                <a:cs typeface="IBM Plex Mono" pitchFamily="34" charset="-120"/>
              </a:rPr>
              <a:t>3–14 months</a:t>
            </a:r>
            <a:endParaRPr lang="en-US" sz="850" dirty="0"/>
          </a:p>
        </p:txBody>
      </p:sp>
      <p:sp>
        <p:nvSpPr>
          <p:cNvPr id="38" name="Shape 36"/>
          <p:cNvSpPr/>
          <p:nvPr/>
        </p:nvSpPr>
        <p:spPr>
          <a:xfrm>
            <a:off x="8691372" y="2388616"/>
            <a:ext cx="86868" cy="68580"/>
          </a:xfrm>
          <a:prstGeom prst="line">
            <a:avLst/>
          </a:prstGeom>
          <a:noFill/>
          <a:ln w="11430">
            <a:solidFill>
              <a:srgbClr val="C9D6DE"/>
            </a:solidFill>
            <a:prstDash val="solid"/>
          </a:ln>
        </p:spPr>
      </p:sp>
      <p:sp>
        <p:nvSpPr>
          <p:cNvPr id="39" name="Shape 37"/>
          <p:cNvSpPr/>
          <p:nvPr/>
        </p:nvSpPr>
        <p:spPr>
          <a:xfrm flipV="1">
            <a:off x="8691372" y="2457196"/>
            <a:ext cx="86868" cy="68580"/>
          </a:xfrm>
          <a:prstGeom prst="line">
            <a:avLst/>
          </a:prstGeom>
          <a:noFill/>
          <a:ln w="11430">
            <a:solidFill>
              <a:srgbClr val="C9D6DE"/>
            </a:solidFill>
            <a:prstDash val="solid"/>
          </a:ln>
        </p:spPr>
      </p:sp>
      <p:sp>
        <p:nvSpPr>
          <p:cNvPr id="40" name="Shape 38"/>
          <p:cNvSpPr/>
          <p:nvPr/>
        </p:nvSpPr>
        <p:spPr>
          <a:xfrm>
            <a:off x="8837676" y="2397760"/>
            <a:ext cx="118872" cy="118872"/>
          </a:xfrm>
          <a:prstGeom prst="ellipse">
            <a:avLst/>
          </a:prstGeom>
          <a:solidFill>
            <a:srgbClr val="11676A"/>
          </a:solidFill>
          <a:ln w="3175">
            <a:solidFill>
              <a:srgbClr val="11676A"/>
            </a:solidFill>
            <a:prstDash val="solid"/>
          </a:ln>
        </p:spPr>
      </p:sp>
      <p:sp>
        <p:nvSpPr>
          <p:cNvPr id="41" name="Text 39"/>
          <p:cNvSpPr txBox="1"/>
          <p:nvPr/>
        </p:nvSpPr>
        <p:spPr>
          <a:xfrm>
            <a:off x="9098280" y="2123440"/>
            <a:ext cx="914400" cy="1828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200" spc="75" kern="0" dirty="0">
                <a:solidFill>
                  <a:srgbClr val="11676A"/>
                </a:solidFill>
                <a:latin typeface="IBM Plex Mono" pitchFamily="34" charset="0"/>
                <a:ea typeface="IBM Plex Mono" pitchFamily="34" charset="-122"/>
                <a:cs typeface="IBM Plex Mono" pitchFamily="34" charset="-120"/>
              </a:rPr>
              <a:t>04</a:t>
            </a:r>
            <a:endParaRPr lang="en-US" sz="1200" dirty="0"/>
          </a:p>
        </p:txBody>
      </p:sp>
      <p:sp>
        <p:nvSpPr>
          <p:cNvPr id="42" name="Text 40"/>
          <p:cNvSpPr txBox="1"/>
          <p:nvPr/>
        </p:nvSpPr>
        <p:spPr>
          <a:xfrm>
            <a:off x="8897112" y="2658364"/>
            <a:ext cx="237744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400" b="1" spc="-30" kern="0" dirty="0">
                <a:solidFill>
                  <a:srgbClr val="11676A"/>
                </a:solidFill>
                <a:latin typeface="Schibsted Grotesk" pitchFamily="34" charset="0"/>
                <a:ea typeface="Schibsted Grotesk" pitchFamily="34" charset="-122"/>
                <a:cs typeface="Schibsted Grotesk" pitchFamily="34" charset="-120"/>
              </a:rPr>
              <a:t>Hypercare</a:t>
            </a:r>
            <a:endParaRPr lang="en-US" sz="1400" dirty="0"/>
          </a:p>
        </p:txBody>
      </p:sp>
      <p:sp>
        <p:nvSpPr>
          <p:cNvPr id="43" name="Text 41"/>
          <p:cNvSpPr txBox="1"/>
          <p:nvPr/>
        </p:nvSpPr>
        <p:spPr>
          <a:xfrm>
            <a:off x="8897112" y="3024124"/>
            <a:ext cx="2377440" cy="109728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lnSpc>
                <a:spcPts val="1473"/>
              </a:lnSpc>
              <a:buNone/>
            </a:pPr>
            <a:r>
              <a:rPr lang="en-US" sz="950" dirty="0">
                <a:solidFill>
                  <a:srgbClr val="4A5A67"/>
                </a:solidFill>
                <a:latin typeface="Inter" pitchFamily="34" charset="0"/>
                <a:ea typeface="Inter" pitchFamily="34" charset="-122"/>
                <a:cs typeface="Inter" pitchFamily="34" charset="-120"/>
              </a:rPr>
              <a:t>We run the first post-go-live close alongside your team. Tickets are classified, and the recurring ones are fixed at the source rather than reprocessed monthly.</a:t>
            </a:r>
            <a:endParaRPr lang="en-US" sz="950" dirty="0"/>
          </a:p>
        </p:txBody>
      </p:sp>
      <p:sp>
        <p:nvSpPr>
          <p:cNvPr id="44" name="Shape 42"/>
          <p:cNvSpPr/>
          <p:nvPr/>
        </p:nvSpPr>
        <p:spPr>
          <a:xfrm>
            <a:off x="8897112" y="4304284"/>
            <a:ext cx="2377440" cy="786384"/>
          </a:xfrm>
          <a:prstGeom prst="rect">
            <a:avLst/>
          </a:prstGeom>
          <a:solidFill>
            <a:srgbClr val="F7F8F7"/>
          </a:solidFill>
          <a:ln/>
        </p:spPr>
      </p:sp>
      <p:sp>
        <p:nvSpPr>
          <p:cNvPr id="45" name="Text 43"/>
          <p:cNvSpPr txBox="1"/>
          <p:nvPr/>
        </p:nvSpPr>
        <p:spPr>
          <a:xfrm>
            <a:off x="9025128" y="4414012"/>
            <a:ext cx="2121408" cy="1828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700" spc="75" kern="0" dirty="0">
                <a:solidFill>
                  <a:srgbClr val="5F6D77"/>
                </a:solidFill>
                <a:latin typeface="IBM Plex Mono" pitchFamily="34" charset="0"/>
                <a:ea typeface="IBM Plex Mono" pitchFamily="34" charset="-122"/>
                <a:cs typeface="IBM Plex Mono" pitchFamily="34" charset="-120"/>
              </a:rPr>
              <a:t>DELIVERABLE</a:t>
            </a:r>
            <a:endParaRPr lang="en-US" sz="700" dirty="0"/>
          </a:p>
        </p:txBody>
      </p:sp>
      <p:sp>
        <p:nvSpPr>
          <p:cNvPr id="46" name="Text 44"/>
          <p:cNvSpPr txBox="1"/>
          <p:nvPr/>
        </p:nvSpPr>
        <p:spPr>
          <a:xfrm>
            <a:off x="9025128" y="4615180"/>
            <a:ext cx="2121408" cy="420624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lnSpc>
                <a:spcPts val="1150"/>
              </a:lnSpc>
              <a:buNone/>
            </a:pPr>
            <a:r>
              <a:rPr lang="en-US" sz="900" dirty="0">
                <a:solidFill>
                  <a:srgbClr val="0E1620"/>
                </a:solidFill>
                <a:latin typeface="Inter" pitchFamily="34" charset="0"/>
                <a:ea typeface="Inter" pitchFamily="34" charset="-122"/>
                <a:cs typeface="Inter" pitchFamily="34" charset="-120"/>
              </a:rPr>
              <a:t>Hypercare closing report and improvement backlog</a:t>
            </a:r>
            <a:endParaRPr lang="en-US" sz="900" dirty="0"/>
          </a:p>
        </p:txBody>
      </p:sp>
      <p:sp>
        <p:nvSpPr>
          <p:cNvPr id="47" name="Shape 45"/>
          <p:cNvSpPr/>
          <p:nvPr/>
        </p:nvSpPr>
        <p:spPr>
          <a:xfrm>
            <a:off x="8897112" y="5218684"/>
            <a:ext cx="2377440" cy="0"/>
          </a:xfrm>
          <a:prstGeom prst="line">
            <a:avLst/>
          </a:prstGeom>
          <a:noFill/>
          <a:ln w="9525">
            <a:solidFill>
              <a:srgbClr val="E2E9EE"/>
            </a:solidFill>
            <a:prstDash val="solid"/>
          </a:ln>
        </p:spPr>
      </p:sp>
      <p:sp>
        <p:nvSpPr>
          <p:cNvPr id="48" name="Text 46"/>
          <p:cNvSpPr txBox="1"/>
          <p:nvPr/>
        </p:nvSpPr>
        <p:spPr>
          <a:xfrm>
            <a:off x="8897112" y="5291836"/>
            <a:ext cx="2377440" cy="21945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850" spc="60" kern="0" dirty="0">
                <a:solidFill>
                  <a:srgbClr val="11676A"/>
                </a:solidFill>
                <a:latin typeface="IBM Plex Mono" pitchFamily="34" charset="0"/>
                <a:ea typeface="IBM Plex Mono" pitchFamily="34" charset="-122"/>
                <a:cs typeface="IBM Plex Mono" pitchFamily="34" charset="-120"/>
              </a:rPr>
              <a:t>4–12 weeks</a:t>
            </a:r>
            <a:endParaRPr lang="en-US" sz="850" dirty="0"/>
          </a:p>
        </p:txBody>
      </p:sp>
      <p:sp>
        <p:nvSpPr>
          <p:cNvPr id="49" name="Text 47"/>
          <p:cNvSpPr txBox="1"/>
          <p:nvPr/>
        </p:nvSpPr>
        <p:spPr>
          <a:xfrm>
            <a:off x="777240" y="6345936"/>
            <a:ext cx="3657600" cy="21945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750" spc="60" kern="0" dirty="0">
                <a:solidFill>
                  <a:srgbClr val="5F6D77"/>
                </a:solidFill>
                <a:latin typeface="IBM Plex Mono" pitchFamily="34" charset="0"/>
                <a:ea typeface="IBM Plex Mono" pitchFamily="34" charset="-122"/>
                <a:cs typeface="IBM Plex Mono" pitchFamily="34" charset="-120"/>
              </a:rPr>
              <a:t>CPeak Consultancy</a:t>
            </a:r>
            <a:endParaRPr lang="en-US" sz="750" dirty="0"/>
          </a:p>
        </p:txBody>
      </p:sp>
      <p:sp>
        <p:nvSpPr>
          <p:cNvPr id="50" name="Text 48"/>
          <p:cNvSpPr txBox="1"/>
          <p:nvPr/>
        </p:nvSpPr>
        <p:spPr>
          <a:xfrm>
            <a:off x="10500055" y="6345936"/>
            <a:ext cx="914400" cy="21945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750" spc="60" kern="0" dirty="0">
                <a:solidFill>
                  <a:srgbClr val="5F6D77"/>
                </a:solidFill>
                <a:latin typeface="IBM Plex Mono" pitchFamily="34" charset="0"/>
                <a:ea typeface="IBM Plex Mono" pitchFamily="34" charset="-122"/>
                <a:cs typeface="IBM Plex Mono" pitchFamily="34" charset="-120"/>
              </a:rPr>
              <a:t>08</a:t>
            </a:r>
            <a:endParaRPr lang="en-US" sz="750" dirty="0"/>
          </a:p>
        </p:txBody>
      </p:sp>
    </p:spTree>
  </p:cSld>
  <p:clrMapOvr>
    <a:masterClrMapping/>
  </p:clrMapOvr>
</p:sld>
</file>

<file path=ppt/slides/slide9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9">
    <p:bg>
      <p:bgPr>
        <a:solidFill>
          <a:srgbClr val="F7F8F7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777240" y="580644"/>
            <a:ext cx="237744" cy="0"/>
          </a:xfrm>
          <a:prstGeom prst="line">
            <a:avLst/>
          </a:prstGeom>
          <a:noFill/>
          <a:ln w="12700">
            <a:solidFill>
              <a:srgbClr val="11676A"/>
            </a:solidFill>
            <a:prstDash val="solid"/>
          </a:ln>
        </p:spPr>
      </p:sp>
      <p:sp>
        <p:nvSpPr>
          <p:cNvPr id="3" name="Text 1"/>
          <p:cNvSpPr txBox="1"/>
          <p:nvPr/>
        </p:nvSpPr>
        <p:spPr>
          <a:xfrm>
            <a:off x="1106424" y="461772"/>
            <a:ext cx="5486400" cy="23774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850" spc="90" kern="0" dirty="0">
                <a:solidFill>
                  <a:srgbClr val="11676A"/>
                </a:solidFill>
                <a:latin typeface="IBM Plex Mono" pitchFamily="34" charset="0"/>
                <a:ea typeface="IBM Plex Mono" pitchFamily="34" charset="-122"/>
                <a:cs typeface="IBM Plex Mono" pitchFamily="34" charset="-120"/>
              </a:rPr>
              <a:t>TECHNOLOGY AND BUSINESS</a:t>
            </a:r>
            <a:endParaRPr lang="en-US" sz="850" dirty="0"/>
          </a:p>
        </p:txBody>
      </p:sp>
      <p:sp>
        <p:nvSpPr>
          <p:cNvPr id="4" name="Text 2"/>
          <p:cNvSpPr txBox="1"/>
          <p:nvPr/>
        </p:nvSpPr>
        <p:spPr>
          <a:xfrm>
            <a:off x="777240" y="804672"/>
            <a:ext cx="8833866" cy="79248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lnSpc>
                <a:spcPts val="2832"/>
              </a:lnSpc>
              <a:buNone/>
            </a:pPr>
            <a:r>
              <a:rPr lang="en-US" sz="2400" b="1" spc="-50" kern="0" dirty="0">
                <a:solidFill>
                  <a:srgbClr val="11676A"/>
                </a:solidFill>
                <a:latin typeface="Schibsted Grotesk" pitchFamily="34" charset="0"/>
                <a:ea typeface="Schibsted Grotesk" pitchFamily="34" charset="-122"/>
                <a:cs typeface="Schibsted Grotesk" pitchFamily="34" charset="-120"/>
              </a:rPr>
              <a:t>We use AI on both sides: in your processes and in how we work</a:t>
            </a:r>
            <a:endParaRPr lang="en-US" sz="2400" dirty="0"/>
          </a:p>
        </p:txBody>
      </p:sp>
      <p:sp>
        <p:nvSpPr>
          <p:cNvPr id="5" name="Text 3"/>
          <p:cNvSpPr txBox="1"/>
          <p:nvPr/>
        </p:nvSpPr>
        <p:spPr>
          <a:xfrm>
            <a:off x="777240" y="1706880"/>
            <a:ext cx="7932191" cy="49149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lnSpc>
                <a:spcPts val="1628"/>
              </a:lnSpc>
              <a:buNone/>
            </a:pPr>
            <a:r>
              <a:rPr lang="en-US" sz="1050" dirty="0">
                <a:solidFill>
                  <a:srgbClr val="4A5A67"/>
                </a:solidFill>
                <a:latin typeface="Inter" pitchFamily="34" charset="0"/>
                <a:ea typeface="Inter" pitchFamily="34" charset="-122"/>
                <a:cs typeface="Inter" pitchFamily="34" charset="-120"/>
              </a:rPr>
              <a:t>Not a separate service line, but part of both the system we deliver and the method we use to deliver it.</a:t>
            </a:r>
            <a:endParaRPr lang="en-US" sz="1050" dirty="0"/>
          </a:p>
        </p:txBody>
      </p:sp>
      <p:sp>
        <p:nvSpPr>
          <p:cNvPr id="6" name="Text 4"/>
          <p:cNvSpPr txBox="1"/>
          <p:nvPr/>
        </p:nvSpPr>
        <p:spPr>
          <a:xfrm>
            <a:off x="777240" y="2436114"/>
            <a:ext cx="4160520" cy="1828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750" spc="75" kern="0" dirty="0">
                <a:solidFill>
                  <a:srgbClr val="11676A"/>
                </a:solidFill>
                <a:latin typeface="IBM Plex Mono" pitchFamily="34" charset="0"/>
                <a:ea typeface="IBM Plex Mono" pitchFamily="34" charset="-122"/>
                <a:cs typeface="IBM Plex Mono" pitchFamily="34" charset="-120"/>
              </a:rPr>
              <a:t>IN YOUR FINANCE PROCESSES</a:t>
            </a:r>
            <a:endParaRPr lang="en-US" sz="750" dirty="0"/>
          </a:p>
        </p:txBody>
      </p:sp>
      <p:sp>
        <p:nvSpPr>
          <p:cNvPr id="7" name="Text 5"/>
          <p:cNvSpPr txBox="1"/>
          <p:nvPr/>
        </p:nvSpPr>
        <p:spPr>
          <a:xfrm>
            <a:off x="777240" y="2673858"/>
            <a:ext cx="416052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500" b="1" spc="-30" kern="0" dirty="0">
                <a:solidFill>
                  <a:srgbClr val="11676A"/>
                </a:solidFill>
                <a:latin typeface="Schibsted Grotesk" pitchFamily="34" charset="0"/>
                <a:ea typeface="Schibsted Grotesk" pitchFamily="34" charset="-122"/>
                <a:cs typeface="Schibsted Grotesk" pitchFamily="34" charset="-120"/>
              </a:rPr>
              <a:t>Automation your team keeps</a:t>
            </a:r>
            <a:endParaRPr lang="en-US" sz="1500" dirty="0"/>
          </a:p>
        </p:txBody>
      </p:sp>
      <p:sp>
        <p:nvSpPr>
          <p:cNvPr id="8" name="Shape 6"/>
          <p:cNvSpPr/>
          <p:nvPr/>
        </p:nvSpPr>
        <p:spPr>
          <a:xfrm>
            <a:off x="777240" y="3057906"/>
            <a:ext cx="4160520" cy="0"/>
          </a:xfrm>
          <a:prstGeom prst="line">
            <a:avLst/>
          </a:prstGeom>
          <a:noFill/>
          <a:ln w="9525">
            <a:solidFill>
              <a:srgbClr val="C9D6DE"/>
            </a:solidFill>
            <a:prstDash val="solid"/>
          </a:ln>
        </p:spPr>
      </p:sp>
      <p:sp>
        <p:nvSpPr>
          <p:cNvPr id="9" name="Shape 7"/>
          <p:cNvSpPr/>
          <p:nvPr/>
        </p:nvSpPr>
        <p:spPr>
          <a:xfrm>
            <a:off x="4832604" y="3281934"/>
            <a:ext cx="100584" cy="100584"/>
          </a:xfrm>
          <a:prstGeom prst="ellipse">
            <a:avLst/>
          </a:prstGeom>
          <a:solidFill>
            <a:srgbClr val="11676A"/>
          </a:solidFill>
          <a:ln w="3175">
            <a:solidFill>
              <a:srgbClr val="11676A"/>
            </a:solidFill>
            <a:prstDash val="solid"/>
          </a:ln>
        </p:spPr>
      </p:sp>
      <p:sp>
        <p:nvSpPr>
          <p:cNvPr id="10" name="Shape 8"/>
          <p:cNvSpPr/>
          <p:nvPr/>
        </p:nvSpPr>
        <p:spPr>
          <a:xfrm>
            <a:off x="4882896" y="3332226"/>
            <a:ext cx="1779880" cy="0"/>
          </a:xfrm>
          <a:prstGeom prst="line">
            <a:avLst/>
          </a:prstGeom>
          <a:noFill/>
          <a:ln w="9525">
            <a:solidFill>
              <a:srgbClr val="C9D6DE"/>
            </a:solidFill>
            <a:prstDash val="solid"/>
          </a:ln>
        </p:spPr>
      </p:sp>
      <p:sp>
        <p:nvSpPr>
          <p:cNvPr id="11" name="Text 9"/>
          <p:cNvSpPr txBox="1"/>
          <p:nvPr/>
        </p:nvSpPr>
        <p:spPr>
          <a:xfrm>
            <a:off x="777240" y="3204210"/>
            <a:ext cx="3886200" cy="32918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lnSpc>
                <a:spcPts val="1250"/>
              </a:lnSpc>
              <a:buNone/>
            </a:pPr>
            <a:r>
              <a:rPr lang="en-US" sz="1000" dirty="0">
                <a:solidFill>
                  <a:srgbClr val="0E1620"/>
                </a:solidFill>
                <a:latin typeface="Inter" pitchFamily="34" charset="0"/>
                <a:ea typeface="Inter" pitchFamily="34" charset="-122"/>
                <a:cs typeface="Inter" pitchFamily="34" charset="-120"/>
              </a:rPr>
              <a:t>Intelligent matching of bank and open items</a:t>
            </a:r>
            <a:endParaRPr lang="en-US" sz="1000" dirty="0"/>
          </a:p>
        </p:txBody>
      </p:sp>
      <p:sp>
        <p:nvSpPr>
          <p:cNvPr id="12" name="Shape 10"/>
          <p:cNvSpPr/>
          <p:nvPr/>
        </p:nvSpPr>
        <p:spPr>
          <a:xfrm>
            <a:off x="4832604" y="3757422"/>
            <a:ext cx="100584" cy="100584"/>
          </a:xfrm>
          <a:prstGeom prst="ellipse">
            <a:avLst/>
          </a:prstGeom>
          <a:solidFill>
            <a:srgbClr val="11676A"/>
          </a:solidFill>
          <a:ln w="3175">
            <a:solidFill>
              <a:srgbClr val="11676A"/>
            </a:solidFill>
            <a:prstDash val="solid"/>
          </a:ln>
        </p:spPr>
      </p:sp>
      <p:sp>
        <p:nvSpPr>
          <p:cNvPr id="13" name="Shape 11"/>
          <p:cNvSpPr/>
          <p:nvPr/>
        </p:nvSpPr>
        <p:spPr>
          <a:xfrm>
            <a:off x="4882896" y="3807714"/>
            <a:ext cx="1779880" cy="0"/>
          </a:xfrm>
          <a:prstGeom prst="line">
            <a:avLst/>
          </a:prstGeom>
          <a:noFill/>
          <a:ln w="9525">
            <a:solidFill>
              <a:srgbClr val="C9D6DE"/>
            </a:solidFill>
            <a:prstDash val="solid"/>
          </a:ln>
        </p:spPr>
      </p:sp>
      <p:sp>
        <p:nvSpPr>
          <p:cNvPr id="14" name="Text 12"/>
          <p:cNvSpPr txBox="1"/>
          <p:nvPr/>
        </p:nvSpPr>
        <p:spPr>
          <a:xfrm>
            <a:off x="777240" y="3679698"/>
            <a:ext cx="3886200" cy="32918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lnSpc>
                <a:spcPts val="1250"/>
              </a:lnSpc>
              <a:buNone/>
            </a:pPr>
            <a:r>
              <a:rPr lang="en-US" sz="1000" dirty="0">
                <a:solidFill>
                  <a:srgbClr val="0E1620"/>
                </a:solidFill>
                <a:latin typeface="Inter" pitchFamily="34" charset="0"/>
                <a:ea typeface="Inter" pitchFamily="34" charset="-122"/>
                <a:cs typeface="Inter" pitchFamily="34" charset="-120"/>
              </a:rPr>
              <a:t>Anomaly detection before the close, not after</a:t>
            </a:r>
            <a:endParaRPr lang="en-US" sz="1000" dirty="0"/>
          </a:p>
        </p:txBody>
      </p:sp>
      <p:sp>
        <p:nvSpPr>
          <p:cNvPr id="15" name="Shape 13"/>
          <p:cNvSpPr/>
          <p:nvPr/>
        </p:nvSpPr>
        <p:spPr>
          <a:xfrm>
            <a:off x="4832604" y="4232910"/>
            <a:ext cx="100584" cy="100584"/>
          </a:xfrm>
          <a:prstGeom prst="ellipse">
            <a:avLst/>
          </a:prstGeom>
          <a:solidFill>
            <a:srgbClr val="11676A"/>
          </a:solidFill>
          <a:ln w="3175">
            <a:solidFill>
              <a:srgbClr val="11676A"/>
            </a:solidFill>
            <a:prstDash val="solid"/>
          </a:ln>
        </p:spPr>
      </p:sp>
      <p:sp>
        <p:nvSpPr>
          <p:cNvPr id="16" name="Shape 14"/>
          <p:cNvSpPr/>
          <p:nvPr/>
        </p:nvSpPr>
        <p:spPr>
          <a:xfrm>
            <a:off x="4882896" y="4283202"/>
            <a:ext cx="1779880" cy="0"/>
          </a:xfrm>
          <a:prstGeom prst="line">
            <a:avLst/>
          </a:prstGeom>
          <a:noFill/>
          <a:ln w="9525">
            <a:solidFill>
              <a:srgbClr val="C9D6DE"/>
            </a:solidFill>
            <a:prstDash val="solid"/>
          </a:ln>
        </p:spPr>
      </p:sp>
      <p:sp>
        <p:nvSpPr>
          <p:cNvPr id="17" name="Text 15"/>
          <p:cNvSpPr txBox="1"/>
          <p:nvPr/>
        </p:nvSpPr>
        <p:spPr>
          <a:xfrm>
            <a:off x="777240" y="4155186"/>
            <a:ext cx="3886200" cy="32918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lnSpc>
                <a:spcPts val="1250"/>
              </a:lnSpc>
              <a:buNone/>
            </a:pPr>
            <a:r>
              <a:rPr lang="en-US" sz="1000" dirty="0">
                <a:solidFill>
                  <a:srgbClr val="0E1620"/>
                </a:solidFill>
                <a:latin typeface="Inter" pitchFamily="34" charset="0"/>
                <a:ea typeface="Inter" pitchFamily="34" charset="-122"/>
                <a:cs typeface="Inter" pitchFamily="34" charset="-120"/>
              </a:rPr>
              <a:t>Predictive accounting during the period</a:t>
            </a:r>
            <a:endParaRPr lang="en-US" sz="1000" dirty="0"/>
          </a:p>
        </p:txBody>
      </p:sp>
      <p:sp>
        <p:nvSpPr>
          <p:cNvPr id="18" name="Shape 16"/>
          <p:cNvSpPr/>
          <p:nvPr/>
        </p:nvSpPr>
        <p:spPr>
          <a:xfrm>
            <a:off x="4832604" y="4708398"/>
            <a:ext cx="100584" cy="100584"/>
          </a:xfrm>
          <a:prstGeom prst="ellipse">
            <a:avLst/>
          </a:prstGeom>
          <a:solidFill>
            <a:srgbClr val="11676A"/>
          </a:solidFill>
          <a:ln w="3175">
            <a:solidFill>
              <a:srgbClr val="11676A"/>
            </a:solidFill>
            <a:prstDash val="solid"/>
          </a:ln>
        </p:spPr>
      </p:sp>
      <p:sp>
        <p:nvSpPr>
          <p:cNvPr id="19" name="Shape 17"/>
          <p:cNvSpPr/>
          <p:nvPr/>
        </p:nvSpPr>
        <p:spPr>
          <a:xfrm>
            <a:off x="4882896" y="4758690"/>
            <a:ext cx="1779880" cy="0"/>
          </a:xfrm>
          <a:prstGeom prst="line">
            <a:avLst/>
          </a:prstGeom>
          <a:noFill/>
          <a:ln w="9525">
            <a:solidFill>
              <a:srgbClr val="C9D6DE"/>
            </a:solidFill>
            <a:prstDash val="solid"/>
          </a:ln>
        </p:spPr>
      </p:sp>
      <p:sp>
        <p:nvSpPr>
          <p:cNvPr id="20" name="Text 18"/>
          <p:cNvSpPr txBox="1"/>
          <p:nvPr/>
        </p:nvSpPr>
        <p:spPr>
          <a:xfrm>
            <a:off x="777240" y="4630674"/>
            <a:ext cx="3886200" cy="32918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lnSpc>
                <a:spcPts val="1250"/>
              </a:lnSpc>
              <a:buNone/>
            </a:pPr>
            <a:r>
              <a:rPr lang="en-US" sz="1000" dirty="0">
                <a:solidFill>
                  <a:srgbClr val="0E1620"/>
                </a:solidFill>
                <a:latin typeface="Inter" pitchFamily="34" charset="0"/>
                <a:ea typeface="Inter" pitchFamily="34" charset="-122"/>
                <a:cs typeface="Inter" pitchFamily="34" charset="-120"/>
              </a:rPr>
              <a:t>Joule for natural-language querying</a:t>
            </a:r>
            <a:endParaRPr lang="en-US" sz="1000" dirty="0"/>
          </a:p>
        </p:txBody>
      </p:sp>
      <p:sp>
        <p:nvSpPr>
          <p:cNvPr id="21" name="Text 19"/>
          <p:cNvSpPr txBox="1"/>
          <p:nvPr/>
        </p:nvSpPr>
        <p:spPr>
          <a:xfrm>
            <a:off x="7253935" y="2436114"/>
            <a:ext cx="4160520" cy="1828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750" spc="75" kern="0" dirty="0">
                <a:solidFill>
                  <a:srgbClr val="11676A"/>
                </a:solidFill>
                <a:latin typeface="IBM Plex Mono" pitchFamily="34" charset="0"/>
                <a:ea typeface="IBM Plex Mono" pitchFamily="34" charset="-122"/>
                <a:cs typeface="IBM Plex Mono" pitchFamily="34" charset="-120"/>
              </a:rPr>
              <a:t>IN OUR OWN DELIVERY</a:t>
            </a:r>
            <a:endParaRPr lang="en-US" sz="750" dirty="0"/>
          </a:p>
        </p:txBody>
      </p:sp>
      <p:sp>
        <p:nvSpPr>
          <p:cNvPr id="22" name="Text 20"/>
          <p:cNvSpPr txBox="1"/>
          <p:nvPr/>
        </p:nvSpPr>
        <p:spPr>
          <a:xfrm>
            <a:off x="7253935" y="2673858"/>
            <a:ext cx="416052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500" b="1" spc="-30" kern="0" dirty="0">
                <a:solidFill>
                  <a:srgbClr val="11676A"/>
                </a:solidFill>
                <a:latin typeface="Schibsted Grotesk" pitchFamily="34" charset="0"/>
                <a:ea typeface="Schibsted Grotesk" pitchFamily="34" charset="-122"/>
                <a:cs typeface="Schibsted Grotesk" pitchFamily="34" charset="-120"/>
              </a:rPr>
              <a:t>Preparation work, compressed</a:t>
            </a:r>
            <a:endParaRPr lang="en-US" sz="1500" dirty="0"/>
          </a:p>
        </p:txBody>
      </p:sp>
      <p:sp>
        <p:nvSpPr>
          <p:cNvPr id="23" name="Shape 21"/>
          <p:cNvSpPr/>
          <p:nvPr/>
        </p:nvSpPr>
        <p:spPr>
          <a:xfrm>
            <a:off x="7253935" y="3057906"/>
            <a:ext cx="4160520" cy="0"/>
          </a:xfrm>
          <a:prstGeom prst="line">
            <a:avLst/>
          </a:prstGeom>
          <a:noFill/>
          <a:ln w="9525">
            <a:solidFill>
              <a:srgbClr val="C9D6DE"/>
            </a:solidFill>
            <a:prstDash val="solid"/>
          </a:ln>
        </p:spPr>
      </p:sp>
      <p:sp>
        <p:nvSpPr>
          <p:cNvPr id="24" name="Shape 22"/>
          <p:cNvSpPr/>
          <p:nvPr/>
        </p:nvSpPr>
        <p:spPr>
          <a:xfrm>
            <a:off x="7258507" y="3281934"/>
            <a:ext cx="100584" cy="100584"/>
          </a:xfrm>
          <a:prstGeom prst="ellipse">
            <a:avLst/>
          </a:prstGeom>
          <a:solidFill>
            <a:srgbClr val="11676A"/>
          </a:solidFill>
          <a:ln w="3175">
            <a:solidFill>
              <a:srgbClr val="11676A"/>
            </a:solidFill>
            <a:prstDash val="solid"/>
          </a:ln>
        </p:spPr>
      </p:sp>
      <p:sp>
        <p:nvSpPr>
          <p:cNvPr id="25" name="Shape 23"/>
          <p:cNvSpPr/>
          <p:nvPr/>
        </p:nvSpPr>
        <p:spPr>
          <a:xfrm>
            <a:off x="5528920" y="3332226"/>
            <a:ext cx="1779880" cy="0"/>
          </a:xfrm>
          <a:prstGeom prst="line">
            <a:avLst/>
          </a:prstGeom>
          <a:noFill/>
          <a:ln w="9525">
            <a:solidFill>
              <a:srgbClr val="C9D6DE"/>
            </a:solidFill>
            <a:prstDash val="solid"/>
          </a:ln>
        </p:spPr>
      </p:sp>
      <p:sp>
        <p:nvSpPr>
          <p:cNvPr id="26" name="Text 24"/>
          <p:cNvSpPr txBox="1"/>
          <p:nvPr/>
        </p:nvSpPr>
        <p:spPr>
          <a:xfrm>
            <a:off x="7455103" y="3204210"/>
            <a:ext cx="3886200" cy="32918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lnSpc>
                <a:spcPts val="1250"/>
              </a:lnSpc>
              <a:buNone/>
            </a:pPr>
            <a:r>
              <a:rPr lang="en-US" sz="1000" dirty="0">
                <a:solidFill>
                  <a:srgbClr val="0E1620"/>
                </a:solidFill>
                <a:latin typeface="Inter" pitchFamily="34" charset="0"/>
                <a:ea typeface="Inter" pitchFamily="34" charset="-122"/>
                <a:cs typeface="Inter" pitchFamily="34" charset="-120"/>
              </a:rPr>
              <a:t>Custom code inventory and impact analysis</a:t>
            </a:r>
            <a:endParaRPr lang="en-US" sz="1000" dirty="0"/>
          </a:p>
        </p:txBody>
      </p:sp>
      <p:sp>
        <p:nvSpPr>
          <p:cNvPr id="27" name="Shape 25"/>
          <p:cNvSpPr/>
          <p:nvPr/>
        </p:nvSpPr>
        <p:spPr>
          <a:xfrm>
            <a:off x="7258507" y="3757422"/>
            <a:ext cx="100584" cy="100584"/>
          </a:xfrm>
          <a:prstGeom prst="ellipse">
            <a:avLst/>
          </a:prstGeom>
          <a:solidFill>
            <a:srgbClr val="11676A"/>
          </a:solidFill>
          <a:ln w="3175">
            <a:solidFill>
              <a:srgbClr val="11676A"/>
            </a:solidFill>
            <a:prstDash val="solid"/>
          </a:ln>
        </p:spPr>
      </p:sp>
      <p:sp>
        <p:nvSpPr>
          <p:cNvPr id="28" name="Shape 26"/>
          <p:cNvSpPr/>
          <p:nvPr/>
        </p:nvSpPr>
        <p:spPr>
          <a:xfrm>
            <a:off x="5528920" y="3807714"/>
            <a:ext cx="1779880" cy="0"/>
          </a:xfrm>
          <a:prstGeom prst="line">
            <a:avLst/>
          </a:prstGeom>
          <a:noFill/>
          <a:ln w="9525">
            <a:solidFill>
              <a:srgbClr val="C9D6DE"/>
            </a:solidFill>
            <a:prstDash val="solid"/>
          </a:ln>
        </p:spPr>
      </p:sp>
      <p:sp>
        <p:nvSpPr>
          <p:cNvPr id="29" name="Text 27"/>
          <p:cNvSpPr txBox="1"/>
          <p:nvPr/>
        </p:nvSpPr>
        <p:spPr>
          <a:xfrm>
            <a:off x="7455103" y="3679698"/>
            <a:ext cx="3886200" cy="32918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lnSpc>
                <a:spcPts val="1250"/>
              </a:lnSpc>
              <a:buNone/>
            </a:pPr>
            <a:r>
              <a:rPr lang="en-US" sz="1000" dirty="0">
                <a:solidFill>
                  <a:srgbClr val="0E1620"/>
                </a:solidFill>
                <a:latin typeface="Inter" pitchFamily="34" charset="0"/>
                <a:ea typeface="Inter" pitchFamily="34" charset="-122"/>
                <a:cs typeface="Inter" pitchFamily="34" charset="-120"/>
              </a:rPr>
              <a:t>First drafts of test scenarios</a:t>
            </a:r>
            <a:endParaRPr lang="en-US" sz="1000" dirty="0"/>
          </a:p>
        </p:txBody>
      </p:sp>
      <p:sp>
        <p:nvSpPr>
          <p:cNvPr id="30" name="Shape 28"/>
          <p:cNvSpPr/>
          <p:nvPr/>
        </p:nvSpPr>
        <p:spPr>
          <a:xfrm>
            <a:off x="7258507" y="4232910"/>
            <a:ext cx="100584" cy="100584"/>
          </a:xfrm>
          <a:prstGeom prst="ellipse">
            <a:avLst/>
          </a:prstGeom>
          <a:solidFill>
            <a:srgbClr val="11676A"/>
          </a:solidFill>
          <a:ln w="3175">
            <a:solidFill>
              <a:srgbClr val="11676A"/>
            </a:solidFill>
            <a:prstDash val="solid"/>
          </a:ln>
        </p:spPr>
      </p:sp>
      <p:sp>
        <p:nvSpPr>
          <p:cNvPr id="31" name="Shape 29"/>
          <p:cNvSpPr/>
          <p:nvPr/>
        </p:nvSpPr>
        <p:spPr>
          <a:xfrm>
            <a:off x="5528920" y="4283202"/>
            <a:ext cx="1779880" cy="0"/>
          </a:xfrm>
          <a:prstGeom prst="line">
            <a:avLst/>
          </a:prstGeom>
          <a:noFill/>
          <a:ln w="9525">
            <a:solidFill>
              <a:srgbClr val="C9D6DE"/>
            </a:solidFill>
            <a:prstDash val="solid"/>
          </a:ln>
        </p:spPr>
      </p:sp>
      <p:sp>
        <p:nvSpPr>
          <p:cNvPr id="32" name="Text 30"/>
          <p:cNvSpPr txBox="1"/>
          <p:nvPr/>
        </p:nvSpPr>
        <p:spPr>
          <a:xfrm>
            <a:off x="7455103" y="4155186"/>
            <a:ext cx="3886200" cy="32918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lnSpc>
                <a:spcPts val="1250"/>
              </a:lnSpc>
              <a:buNone/>
            </a:pPr>
            <a:r>
              <a:rPr lang="en-US" sz="1000" dirty="0">
                <a:solidFill>
                  <a:srgbClr val="0E1620"/>
                </a:solidFill>
                <a:latin typeface="Inter" pitchFamily="34" charset="0"/>
                <a:ea typeface="Inter" pitchFamily="34" charset="-122"/>
                <a:cs typeface="Inter" pitchFamily="34" charset="-120"/>
              </a:rPr>
              <a:t>Migration reconciliation checks</a:t>
            </a:r>
            <a:endParaRPr lang="en-US" sz="1000" dirty="0"/>
          </a:p>
        </p:txBody>
      </p:sp>
      <p:sp>
        <p:nvSpPr>
          <p:cNvPr id="33" name="Shape 31"/>
          <p:cNvSpPr/>
          <p:nvPr/>
        </p:nvSpPr>
        <p:spPr>
          <a:xfrm>
            <a:off x="7258507" y="4708398"/>
            <a:ext cx="100584" cy="100584"/>
          </a:xfrm>
          <a:prstGeom prst="ellipse">
            <a:avLst/>
          </a:prstGeom>
          <a:solidFill>
            <a:srgbClr val="11676A"/>
          </a:solidFill>
          <a:ln w="3175">
            <a:solidFill>
              <a:srgbClr val="11676A"/>
            </a:solidFill>
            <a:prstDash val="solid"/>
          </a:ln>
        </p:spPr>
      </p:sp>
      <p:sp>
        <p:nvSpPr>
          <p:cNvPr id="34" name="Shape 32"/>
          <p:cNvSpPr/>
          <p:nvPr/>
        </p:nvSpPr>
        <p:spPr>
          <a:xfrm>
            <a:off x="5528920" y="4758690"/>
            <a:ext cx="1779880" cy="0"/>
          </a:xfrm>
          <a:prstGeom prst="line">
            <a:avLst/>
          </a:prstGeom>
          <a:noFill/>
          <a:ln w="9525">
            <a:solidFill>
              <a:srgbClr val="C9D6DE"/>
            </a:solidFill>
            <a:prstDash val="solid"/>
          </a:ln>
        </p:spPr>
      </p:sp>
      <p:sp>
        <p:nvSpPr>
          <p:cNvPr id="35" name="Text 33"/>
          <p:cNvSpPr txBox="1"/>
          <p:nvPr/>
        </p:nvSpPr>
        <p:spPr>
          <a:xfrm>
            <a:off x="7455103" y="4630674"/>
            <a:ext cx="3886200" cy="32918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lnSpc>
                <a:spcPts val="1250"/>
              </a:lnSpc>
              <a:buNone/>
            </a:pPr>
            <a:r>
              <a:rPr lang="en-US" sz="1000" dirty="0">
                <a:solidFill>
                  <a:srgbClr val="0E1620"/>
                </a:solidFill>
                <a:latin typeface="Inter" pitchFamily="34" charset="0"/>
                <a:ea typeface="Inter" pitchFamily="34" charset="-122"/>
                <a:cs typeface="Inter" pitchFamily="34" charset="-120"/>
              </a:rPr>
              <a:t>Initial configuration documentation</a:t>
            </a:r>
            <a:endParaRPr lang="en-US" sz="1000" dirty="0"/>
          </a:p>
        </p:txBody>
      </p:sp>
      <p:sp>
        <p:nvSpPr>
          <p:cNvPr id="36" name="Shape 34"/>
          <p:cNvSpPr/>
          <p:nvPr/>
        </p:nvSpPr>
        <p:spPr>
          <a:xfrm>
            <a:off x="6095848" y="2948178"/>
            <a:ext cx="0" cy="2084832"/>
          </a:xfrm>
          <a:prstGeom prst="line">
            <a:avLst/>
          </a:prstGeom>
          <a:noFill/>
          <a:ln w="12700">
            <a:solidFill>
              <a:srgbClr val="11676A"/>
            </a:solidFill>
            <a:prstDash val="solid"/>
          </a:ln>
        </p:spPr>
      </p:sp>
      <p:sp>
        <p:nvSpPr>
          <p:cNvPr id="37" name="Shape 35"/>
          <p:cNvSpPr/>
          <p:nvPr/>
        </p:nvSpPr>
        <p:spPr>
          <a:xfrm>
            <a:off x="5528920" y="5033010"/>
            <a:ext cx="1133856" cy="310896"/>
          </a:xfrm>
          <a:prstGeom prst="rect">
            <a:avLst/>
          </a:prstGeom>
          <a:solidFill>
            <a:srgbClr val="11676A"/>
          </a:solidFill>
          <a:ln/>
        </p:spPr>
      </p:sp>
      <p:sp>
        <p:nvSpPr>
          <p:cNvPr id="38" name="Text 36"/>
          <p:cNvSpPr txBox="1"/>
          <p:nvPr/>
        </p:nvSpPr>
        <p:spPr>
          <a:xfrm>
            <a:off x="5528920" y="5033010"/>
            <a:ext cx="1133856" cy="31089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900" spc="100" kern="0" dirty="0">
                <a:solidFill>
                  <a:srgbClr val="FFFFFF"/>
                </a:solidFill>
                <a:latin typeface="IBM Plex Mono" pitchFamily="34" charset="0"/>
                <a:ea typeface="IBM Plex Mono" pitchFamily="34" charset="-122"/>
                <a:cs typeface="IBM Plex Mono" pitchFamily="34" charset="-120"/>
              </a:rPr>
              <a:t>SAP</a:t>
            </a:r>
            <a:endParaRPr lang="en-US" sz="900" dirty="0"/>
          </a:p>
        </p:txBody>
      </p:sp>
      <p:sp>
        <p:nvSpPr>
          <p:cNvPr id="39" name="Shape 37"/>
          <p:cNvSpPr/>
          <p:nvPr/>
        </p:nvSpPr>
        <p:spPr>
          <a:xfrm>
            <a:off x="777240" y="5358384"/>
            <a:ext cx="10637215" cy="0"/>
          </a:xfrm>
          <a:prstGeom prst="line">
            <a:avLst/>
          </a:prstGeom>
          <a:noFill/>
          <a:ln w="9525">
            <a:solidFill>
              <a:srgbClr val="C9D6DE"/>
            </a:solidFill>
            <a:prstDash val="solid"/>
          </a:ln>
        </p:spPr>
      </p:sp>
      <p:sp>
        <p:nvSpPr>
          <p:cNvPr id="40" name="Shape 38"/>
          <p:cNvSpPr/>
          <p:nvPr/>
        </p:nvSpPr>
        <p:spPr>
          <a:xfrm>
            <a:off x="777240" y="5737860"/>
            <a:ext cx="118872" cy="118872"/>
          </a:xfrm>
          <a:prstGeom prst="rect">
            <a:avLst/>
          </a:prstGeom>
          <a:solidFill>
            <a:srgbClr val="E8B33A"/>
          </a:solidFill>
          <a:ln w="3175">
            <a:solidFill>
              <a:srgbClr val="E8B33A"/>
            </a:solidFill>
            <a:prstDash val="solid"/>
          </a:ln>
        </p:spPr>
      </p:sp>
      <p:sp>
        <p:nvSpPr>
          <p:cNvPr id="41" name="Text 39"/>
          <p:cNvSpPr txBox="1"/>
          <p:nvPr/>
        </p:nvSpPr>
        <p:spPr>
          <a:xfrm>
            <a:off x="1069848" y="5596128"/>
            <a:ext cx="7932191" cy="65836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lnSpc>
                <a:spcPts val="1400"/>
              </a:lnSpc>
              <a:buNone/>
            </a:pPr>
            <a:r>
              <a:rPr lang="en-US" sz="1100" b="1" dirty="0">
                <a:solidFill>
                  <a:srgbClr val="0E1620"/>
                </a:solidFill>
                <a:latin typeface="Schibsted Grotesk" pitchFamily="34" charset="0"/>
                <a:ea typeface="Schibsted Grotesk" pitchFamily="34" charset="-122"/>
                <a:cs typeface="Schibsted Grotesk" pitchFamily="34" charset="-120"/>
              </a:rPr>
              <a:t>Our position.  </a:t>
            </a:r>
            <a:pPr indent="0" marL="0">
              <a:lnSpc>
                <a:spcPts val="1400"/>
              </a:lnSpc>
              <a:buNone/>
            </a:pPr>
            <a:r>
              <a:rPr lang="en-US" sz="1000" dirty="0">
                <a:solidFill>
                  <a:srgbClr val="4A5A67"/>
                </a:solidFill>
                <a:latin typeface="Inter" pitchFamily="34" charset="0"/>
                <a:ea typeface="Inter" pitchFamily="34" charset="-122"/>
                <a:cs typeface="Inter" pitchFamily="34" charset="-120"/>
              </a:rPr>
              <a:t>Every step touching client data runs inside boundaries agreed in advance, and no decision producing a financial posting is finalised without human review.</a:t>
            </a:r>
            <a:endParaRPr lang="en-US" sz="1100" dirty="0"/>
          </a:p>
        </p:txBody>
      </p:sp>
      <p:sp>
        <p:nvSpPr>
          <p:cNvPr id="42" name="Text 40"/>
          <p:cNvSpPr txBox="1"/>
          <p:nvPr/>
        </p:nvSpPr>
        <p:spPr>
          <a:xfrm>
            <a:off x="777240" y="6345936"/>
            <a:ext cx="3657600" cy="21945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750" spc="60" kern="0" dirty="0">
                <a:solidFill>
                  <a:srgbClr val="5F6D77"/>
                </a:solidFill>
                <a:latin typeface="IBM Plex Mono" pitchFamily="34" charset="0"/>
                <a:ea typeface="IBM Plex Mono" pitchFamily="34" charset="-122"/>
                <a:cs typeface="IBM Plex Mono" pitchFamily="34" charset="-120"/>
              </a:rPr>
              <a:t>CPeak Consultancy</a:t>
            </a:r>
            <a:endParaRPr lang="en-US" sz="750" dirty="0"/>
          </a:p>
        </p:txBody>
      </p:sp>
      <p:sp>
        <p:nvSpPr>
          <p:cNvPr id="43" name="Text 41"/>
          <p:cNvSpPr txBox="1"/>
          <p:nvPr/>
        </p:nvSpPr>
        <p:spPr>
          <a:xfrm>
            <a:off x="10500055" y="6345936"/>
            <a:ext cx="914400" cy="21945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750" spc="60" kern="0" dirty="0">
                <a:solidFill>
                  <a:srgbClr val="5F6D77"/>
                </a:solidFill>
                <a:latin typeface="IBM Plex Mono" pitchFamily="34" charset="0"/>
                <a:ea typeface="IBM Plex Mono" pitchFamily="34" charset="-122"/>
                <a:cs typeface="IBM Plex Mono" pitchFamily="34" charset="-120"/>
              </a:rPr>
              <a:t>09</a:t>
            </a:r>
            <a:endParaRPr lang="en-US" sz="750" dirty="0"/>
          </a:p>
        </p:txBody>
      </p:sp>
    </p:spTree>
  </p:cSld>
  <p:clrMapOvr>
    <a:masterClrMapping/>
  </p:clrMapOvr>
</p:sld>
</file>

<file path=ppt/slides/slide10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0">
    <p:bg>
      <p:bgPr>
        <a:solidFill>
          <a:srgbClr val="FFFFFF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777240" y="580644"/>
            <a:ext cx="237744" cy="0"/>
          </a:xfrm>
          <a:prstGeom prst="line">
            <a:avLst/>
          </a:prstGeom>
          <a:noFill/>
          <a:ln w="12700">
            <a:solidFill>
              <a:srgbClr val="11676A"/>
            </a:solidFill>
            <a:prstDash val="solid"/>
          </a:ln>
        </p:spPr>
      </p:sp>
      <p:sp>
        <p:nvSpPr>
          <p:cNvPr id="3" name="Text 1"/>
          <p:cNvSpPr txBox="1"/>
          <p:nvPr/>
        </p:nvSpPr>
        <p:spPr>
          <a:xfrm>
            <a:off x="1106424" y="461772"/>
            <a:ext cx="5486400" cy="23774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850" spc="90" kern="0" dirty="0">
                <a:solidFill>
                  <a:srgbClr val="11676A"/>
                </a:solidFill>
                <a:latin typeface="IBM Plex Mono" pitchFamily="34" charset="0"/>
                <a:ea typeface="IBM Plex Mono" pitchFamily="34" charset="-122"/>
                <a:cs typeface="IBM Plex Mono" pitchFamily="34" charset="-120"/>
              </a:rPr>
              <a:t>ENGAGEMENTS IN PRACTICE</a:t>
            </a:r>
            <a:endParaRPr lang="en-US" sz="850" dirty="0"/>
          </a:p>
        </p:txBody>
      </p:sp>
      <p:sp>
        <p:nvSpPr>
          <p:cNvPr id="4" name="Text 2"/>
          <p:cNvSpPr txBox="1"/>
          <p:nvPr/>
        </p:nvSpPr>
        <p:spPr>
          <a:xfrm>
            <a:off x="777240" y="804672"/>
            <a:ext cx="8833866" cy="462788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lnSpc>
                <a:spcPts val="3068"/>
              </a:lnSpc>
              <a:buNone/>
            </a:pPr>
            <a:r>
              <a:rPr lang="en-US" sz="2600" b="1" spc="-50" kern="0" dirty="0">
                <a:solidFill>
                  <a:srgbClr val="11676A"/>
                </a:solidFill>
                <a:latin typeface="Schibsted Grotesk" pitchFamily="34" charset="0"/>
                <a:ea typeface="Schibsted Grotesk" pitchFamily="34" charset="-122"/>
                <a:cs typeface="Schibsted Grotesk" pitchFamily="34" charset="-120"/>
              </a:rPr>
              <a:t>What the work looks like in practice</a:t>
            </a:r>
            <a:endParaRPr lang="en-US" sz="2600" dirty="0"/>
          </a:p>
        </p:txBody>
      </p:sp>
      <p:sp>
        <p:nvSpPr>
          <p:cNvPr id="5" name="Text 3"/>
          <p:cNvSpPr txBox="1"/>
          <p:nvPr/>
        </p:nvSpPr>
        <p:spPr>
          <a:xfrm>
            <a:off x="777240" y="1377188"/>
            <a:ext cx="7030517" cy="291465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lnSpc>
                <a:spcPts val="1628"/>
              </a:lnSpc>
              <a:buNone/>
            </a:pPr>
            <a:r>
              <a:rPr lang="en-US" sz="1050" dirty="0">
                <a:solidFill>
                  <a:srgbClr val="4A5A67"/>
                </a:solidFill>
                <a:latin typeface="Inter" pitchFamily="34" charset="0"/>
                <a:ea typeface="Inter" pitchFamily="34" charset="-122"/>
                <a:cs typeface="Inter" pitchFamily="34" charset="-120"/>
              </a:rPr>
              <a:t>Three situations we meet regularly, and the approach we take to each.</a:t>
            </a:r>
            <a:endParaRPr lang="en-US" sz="1050" dirty="0"/>
          </a:p>
        </p:txBody>
      </p:sp>
      <p:sp>
        <p:nvSpPr>
          <p:cNvPr id="6" name="Text 4"/>
          <p:cNvSpPr txBox="1"/>
          <p:nvPr/>
        </p:nvSpPr>
        <p:spPr>
          <a:xfrm>
            <a:off x="8122615" y="1412621"/>
            <a:ext cx="3291840" cy="21945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750" spc="75" kern="0" dirty="0">
                <a:solidFill>
                  <a:srgbClr val="5F6D77"/>
                </a:solidFill>
                <a:latin typeface="IBM Plex Mono" pitchFamily="34" charset="0"/>
                <a:ea typeface="IBM Plex Mono" pitchFamily="34" charset="-122"/>
                <a:cs typeface="IBM Plex Mono" pitchFamily="34" charset="-120"/>
              </a:rPr>
              <a:t>ILLUSTRATIVE — NOT CLIENT CASES</a:t>
            </a:r>
            <a:endParaRPr lang="en-US" sz="750" dirty="0"/>
          </a:p>
        </p:txBody>
      </p:sp>
      <p:sp>
        <p:nvSpPr>
          <p:cNvPr id="7" name="Shape 5"/>
          <p:cNvSpPr/>
          <p:nvPr/>
        </p:nvSpPr>
        <p:spPr>
          <a:xfrm>
            <a:off x="777240" y="1997837"/>
            <a:ext cx="10637215" cy="0"/>
          </a:xfrm>
          <a:prstGeom prst="line">
            <a:avLst/>
          </a:prstGeom>
          <a:noFill/>
          <a:ln w="15875">
            <a:solidFill>
              <a:srgbClr val="11676A"/>
            </a:solidFill>
            <a:prstDash val="solid"/>
          </a:ln>
        </p:spPr>
      </p:sp>
      <p:sp>
        <p:nvSpPr>
          <p:cNvPr id="8" name="Text 6"/>
          <p:cNvSpPr txBox="1"/>
          <p:nvPr/>
        </p:nvSpPr>
        <p:spPr>
          <a:xfrm>
            <a:off x="777240" y="2144141"/>
            <a:ext cx="3310128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500" b="1" spc="-30" kern="0" dirty="0">
                <a:solidFill>
                  <a:srgbClr val="11676A"/>
                </a:solidFill>
                <a:latin typeface="Schibsted Grotesk" pitchFamily="34" charset="0"/>
                <a:ea typeface="Schibsted Grotesk" pitchFamily="34" charset="-122"/>
                <a:cs typeface="Schibsted Grotesk" pitchFamily="34" charset="-120"/>
              </a:rPr>
              <a:t>Manufacturing</a:t>
            </a:r>
            <a:endParaRPr lang="en-US" sz="1500" dirty="0"/>
          </a:p>
        </p:txBody>
      </p:sp>
      <p:sp>
        <p:nvSpPr>
          <p:cNvPr id="9" name="Text 7"/>
          <p:cNvSpPr txBox="1"/>
          <p:nvPr/>
        </p:nvSpPr>
        <p:spPr>
          <a:xfrm>
            <a:off x="777240" y="2455037"/>
            <a:ext cx="3310128" cy="1828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700" spc="75" kern="0" dirty="0">
                <a:solidFill>
                  <a:srgbClr val="5F6D77"/>
                </a:solidFill>
                <a:latin typeface="IBM Plex Mono" pitchFamily="34" charset="0"/>
                <a:ea typeface="IBM Plex Mono" pitchFamily="34" charset="-122"/>
                <a:cs typeface="IBM Plex Mono" pitchFamily="34" charset="-120"/>
              </a:rPr>
              <a:t>MULTI-ENTITY GROUP, SEVERAL COUNTRIES</a:t>
            </a:r>
            <a:endParaRPr lang="en-US" sz="700" dirty="0"/>
          </a:p>
        </p:txBody>
      </p:sp>
      <p:sp>
        <p:nvSpPr>
          <p:cNvPr id="10" name="Text 8"/>
          <p:cNvSpPr txBox="1"/>
          <p:nvPr/>
        </p:nvSpPr>
        <p:spPr>
          <a:xfrm>
            <a:off x="777240" y="2784221"/>
            <a:ext cx="3310128" cy="1828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700" spc="75" kern="0" dirty="0">
                <a:solidFill>
                  <a:srgbClr val="11676A"/>
                </a:solidFill>
                <a:latin typeface="IBM Plex Mono" pitchFamily="34" charset="0"/>
                <a:ea typeface="IBM Plex Mono" pitchFamily="34" charset="-122"/>
                <a:cs typeface="IBM Plex Mono" pitchFamily="34" charset="-120"/>
              </a:rPr>
              <a:t>SITUATION</a:t>
            </a:r>
            <a:endParaRPr lang="en-US" sz="700" dirty="0"/>
          </a:p>
        </p:txBody>
      </p:sp>
      <p:sp>
        <p:nvSpPr>
          <p:cNvPr id="11" name="Text 9"/>
          <p:cNvSpPr txBox="1"/>
          <p:nvPr/>
        </p:nvSpPr>
        <p:spPr>
          <a:xfrm>
            <a:off x="777240" y="2985389"/>
            <a:ext cx="3310128" cy="82296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lnSpc>
                <a:spcPts val="1473"/>
              </a:lnSpc>
              <a:buNone/>
            </a:pPr>
            <a:r>
              <a:rPr lang="en-US" sz="950" dirty="0">
                <a:solidFill>
                  <a:srgbClr val="4A5A67"/>
                </a:solidFill>
                <a:latin typeface="Inter" pitchFamily="34" charset="0"/>
                <a:ea typeface="Inter" pitchFamily="34" charset="-122"/>
                <a:cs typeface="Inter" pitchFamily="34" charset="-120"/>
              </a:rPr>
              <a:t>A group running ECC needs an S/4HANA plan before maintenance deadlines force one. Nobody knows how much accumulated custom code is still executed.</a:t>
            </a:r>
            <a:endParaRPr lang="en-US" sz="950" dirty="0"/>
          </a:p>
        </p:txBody>
      </p:sp>
      <p:sp>
        <p:nvSpPr>
          <p:cNvPr id="12" name="Shape 10"/>
          <p:cNvSpPr/>
          <p:nvPr/>
        </p:nvSpPr>
        <p:spPr>
          <a:xfrm>
            <a:off x="777240" y="3680333"/>
            <a:ext cx="3310128" cy="0"/>
          </a:xfrm>
          <a:prstGeom prst="line">
            <a:avLst/>
          </a:prstGeom>
          <a:noFill/>
          <a:ln w="9525">
            <a:solidFill>
              <a:srgbClr val="E2E9EE"/>
            </a:solidFill>
            <a:prstDash val="solid"/>
          </a:ln>
        </p:spPr>
      </p:sp>
      <p:sp>
        <p:nvSpPr>
          <p:cNvPr id="13" name="Text 11"/>
          <p:cNvSpPr txBox="1"/>
          <p:nvPr/>
        </p:nvSpPr>
        <p:spPr>
          <a:xfrm>
            <a:off x="777240" y="3808349"/>
            <a:ext cx="3310128" cy="1828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700" spc="75" kern="0" dirty="0">
                <a:solidFill>
                  <a:srgbClr val="11676A"/>
                </a:solidFill>
                <a:latin typeface="IBM Plex Mono" pitchFamily="34" charset="0"/>
                <a:ea typeface="IBM Plex Mono" pitchFamily="34" charset="-122"/>
                <a:cs typeface="IBM Plex Mono" pitchFamily="34" charset="-120"/>
              </a:rPr>
              <a:t>APPROACH</a:t>
            </a:r>
            <a:endParaRPr lang="en-US" sz="700" dirty="0"/>
          </a:p>
        </p:txBody>
      </p:sp>
      <p:sp>
        <p:nvSpPr>
          <p:cNvPr id="14" name="Text 12"/>
          <p:cNvSpPr txBox="1"/>
          <p:nvPr/>
        </p:nvSpPr>
        <p:spPr>
          <a:xfrm>
            <a:off x="777240" y="4009517"/>
            <a:ext cx="3310128" cy="82296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lnSpc>
                <a:spcPts val="1473"/>
              </a:lnSpc>
              <a:buNone/>
            </a:pPr>
            <a:r>
              <a:rPr lang="en-US" sz="950" dirty="0">
                <a:solidFill>
                  <a:srgbClr val="4A5A67"/>
                </a:solidFill>
                <a:latin typeface="Inter" pitchFamily="34" charset="0"/>
                <a:ea typeface="Inter" pitchFamily="34" charset="-122"/>
                <a:cs typeface="Inter" pitchFamily="34" charset="-120"/>
              </a:rPr>
              <a:t>A usage-based custom code inventory first. All three conversion routes compared on cost, duration and risk. Company codes planned in waves.</a:t>
            </a:r>
            <a:endParaRPr lang="en-US" sz="950" dirty="0"/>
          </a:p>
        </p:txBody>
      </p:sp>
      <p:sp>
        <p:nvSpPr>
          <p:cNvPr id="15" name="Shape 13"/>
          <p:cNvSpPr/>
          <p:nvPr/>
        </p:nvSpPr>
        <p:spPr>
          <a:xfrm>
            <a:off x="777240" y="4704461"/>
            <a:ext cx="3310128" cy="0"/>
          </a:xfrm>
          <a:prstGeom prst="line">
            <a:avLst/>
          </a:prstGeom>
          <a:noFill/>
          <a:ln w="9525">
            <a:solidFill>
              <a:srgbClr val="E2E9EE"/>
            </a:solidFill>
            <a:prstDash val="solid"/>
          </a:ln>
        </p:spPr>
      </p:sp>
      <p:sp>
        <p:nvSpPr>
          <p:cNvPr id="16" name="Text 14"/>
          <p:cNvSpPr txBox="1"/>
          <p:nvPr/>
        </p:nvSpPr>
        <p:spPr>
          <a:xfrm>
            <a:off x="777240" y="4832477"/>
            <a:ext cx="3310128" cy="1828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700" spc="75" kern="0" dirty="0">
                <a:solidFill>
                  <a:srgbClr val="11676A"/>
                </a:solidFill>
                <a:latin typeface="IBM Plex Mono" pitchFamily="34" charset="0"/>
                <a:ea typeface="IBM Plex Mono" pitchFamily="34" charset="-122"/>
                <a:cs typeface="IBM Plex Mono" pitchFamily="34" charset="-120"/>
              </a:rPr>
              <a:t>OUTCOME</a:t>
            </a:r>
            <a:endParaRPr lang="en-US" sz="700" dirty="0"/>
          </a:p>
        </p:txBody>
      </p:sp>
      <p:sp>
        <p:nvSpPr>
          <p:cNvPr id="17" name="Text 15"/>
          <p:cNvSpPr txBox="1"/>
          <p:nvPr/>
        </p:nvSpPr>
        <p:spPr>
          <a:xfrm>
            <a:off x="777240" y="5033645"/>
            <a:ext cx="3310128" cy="82296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lnSpc>
                <a:spcPts val="1473"/>
              </a:lnSpc>
              <a:buNone/>
            </a:pPr>
            <a:r>
              <a:rPr lang="en-US" sz="950" dirty="0">
                <a:solidFill>
                  <a:srgbClr val="4A5A67"/>
                </a:solidFill>
                <a:latin typeface="Inter" pitchFamily="34" charset="0"/>
                <a:ea typeface="Inter" pitchFamily="34" charset="-122"/>
                <a:cs typeface="Inter" pitchFamily="34" charset="-120"/>
              </a:rPr>
              <a:t>A reasoned approach decision that survives board scrutiny, and a smaller conversion scope once dead development is retired.</a:t>
            </a:r>
            <a:endParaRPr lang="en-US" sz="950" dirty="0"/>
          </a:p>
        </p:txBody>
      </p:sp>
      <p:sp>
        <p:nvSpPr>
          <p:cNvPr id="18" name="Shape 16"/>
          <p:cNvSpPr/>
          <p:nvPr/>
        </p:nvSpPr>
        <p:spPr>
          <a:xfrm>
            <a:off x="4279392" y="1997837"/>
            <a:ext cx="0" cy="3840480"/>
          </a:xfrm>
          <a:prstGeom prst="line">
            <a:avLst/>
          </a:prstGeom>
          <a:noFill/>
          <a:ln w="9525">
            <a:solidFill>
              <a:srgbClr val="E2E9EE"/>
            </a:solidFill>
            <a:prstDash val="solid"/>
          </a:ln>
        </p:spPr>
      </p:sp>
      <p:sp>
        <p:nvSpPr>
          <p:cNvPr id="19" name="Text 17"/>
          <p:cNvSpPr txBox="1"/>
          <p:nvPr/>
        </p:nvSpPr>
        <p:spPr>
          <a:xfrm>
            <a:off x="4471416" y="2144141"/>
            <a:ext cx="3310128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500" b="1" spc="-30" kern="0" dirty="0">
                <a:solidFill>
                  <a:srgbClr val="11676A"/>
                </a:solidFill>
                <a:latin typeface="Schibsted Grotesk" pitchFamily="34" charset="0"/>
                <a:ea typeface="Schibsted Grotesk" pitchFamily="34" charset="-122"/>
                <a:cs typeface="Schibsted Grotesk" pitchFamily="34" charset="-120"/>
              </a:rPr>
              <a:t>Technology and services</a:t>
            </a:r>
            <a:endParaRPr lang="en-US" sz="1500" dirty="0"/>
          </a:p>
        </p:txBody>
      </p:sp>
      <p:sp>
        <p:nvSpPr>
          <p:cNvPr id="20" name="Text 18"/>
          <p:cNvSpPr txBox="1"/>
          <p:nvPr/>
        </p:nvSpPr>
        <p:spPr>
          <a:xfrm>
            <a:off x="4471416" y="2455037"/>
            <a:ext cx="3310128" cy="1828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700" spc="75" kern="0" dirty="0">
                <a:solidFill>
                  <a:srgbClr val="5F6D77"/>
                </a:solidFill>
                <a:latin typeface="IBM Plex Mono" pitchFamily="34" charset="0"/>
                <a:ea typeface="IBM Plex Mono" pitchFamily="34" charset="-122"/>
                <a:cs typeface="IBM Plex Mono" pitchFamily="34" charset="-120"/>
              </a:rPr>
              <a:t>FAST-GROWING MID-MARKET COMPANY</a:t>
            </a:r>
            <a:endParaRPr lang="en-US" sz="700" dirty="0"/>
          </a:p>
        </p:txBody>
      </p:sp>
      <p:sp>
        <p:nvSpPr>
          <p:cNvPr id="21" name="Text 19"/>
          <p:cNvSpPr txBox="1"/>
          <p:nvPr/>
        </p:nvSpPr>
        <p:spPr>
          <a:xfrm>
            <a:off x="4471416" y="2784221"/>
            <a:ext cx="3310128" cy="1828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700" spc="75" kern="0" dirty="0">
                <a:solidFill>
                  <a:srgbClr val="11676A"/>
                </a:solidFill>
                <a:latin typeface="IBM Plex Mono" pitchFamily="34" charset="0"/>
                <a:ea typeface="IBM Plex Mono" pitchFamily="34" charset="-122"/>
                <a:cs typeface="IBM Plex Mono" pitchFamily="34" charset="-120"/>
              </a:rPr>
              <a:t>SITUATION</a:t>
            </a:r>
            <a:endParaRPr lang="en-US" sz="700" dirty="0"/>
          </a:p>
        </p:txBody>
      </p:sp>
      <p:sp>
        <p:nvSpPr>
          <p:cNvPr id="22" name="Text 20"/>
          <p:cNvSpPr txBox="1"/>
          <p:nvPr/>
        </p:nvSpPr>
        <p:spPr>
          <a:xfrm>
            <a:off x="4471416" y="2985389"/>
            <a:ext cx="3310128" cy="82296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lnSpc>
                <a:spcPts val="1473"/>
              </a:lnSpc>
              <a:buNone/>
            </a:pPr>
            <a:r>
              <a:rPr lang="en-US" sz="950" dirty="0">
                <a:solidFill>
                  <a:srgbClr val="4A5A67"/>
                </a:solidFill>
                <a:latin typeface="Inter" pitchFamily="34" charset="0"/>
                <a:ea typeface="Inter" pitchFamily="34" charset="-122"/>
                <a:cs typeface="Inter" pitchFamily="34" charset="-120"/>
              </a:rPr>
              <a:t>The company is scaling quickly while finance still runs on spreadsheets. A standard ERP deployment is wanted, but whether Public Cloud suffices is unknown.</a:t>
            </a:r>
            <a:endParaRPr lang="en-US" sz="950" dirty="0"/>
          </a:p>
        </p:txBody>
      </p:sp>
      <p:sp>
        <p:nvSpPr>
          <p:cNvPr id="23" name="Shape 21"/>
          <p:cNvSpPr/>
          <p:nvPr/>
        </p:nvSpPr>
        <p:spPr>
          <a:xfrm>
            <a:off x="4471416" y="3680333"/>
            <a:ext cx="3310128" cy="0"/>
          </a:xfrm>
          <a:prstGeom prst="line">
            <a:avLst/>
          </a:prstGeom>
          <a:noFill/>
          <a:ln w="9525">
            <a:solidFill>
              <a:srgbClr val="E2E9EE"/>
            </a:solidFill>
            <a:prstDash val="solid"/>
          </a:ln>
        </p:spPr>
      </p:sp>
      <p:sp>
        <p:nvSpPr>
          <p:cNvPr id="24" name="Text 22"/>
          <p:cNvSpPr txBox="1"/>
          <p:nvPr/>
        </p:nvSpPr>
        <p:spPr>
          <a:xfrm>
            <a:off x="4471416" y="3808349"/>
            <a:ext cx="3310128" cy="1828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700" spc="75" kern="0" dirty="0">
                <a:solidFill>
                  <a:srgbClr val="11676A"/>
                </a:solidFill>
                <a:latin typeface="IBM Plex Mono" pitchFamily="34" charset="0"/>
                <a:ea typeface="IBM Plex Mono" pitchFamily="34" charset="-122"/>
                <a:cs typeface="IBM Plex Mono" pitchFamily="34" charset="-120"/>
              </a:rPr>
              <a:t>APPROACH</a:t>
            </a:r>
            <a:endParaRPr lang="en-US" sz="700" dirty="0"/>
          </a:p>
        </p:txBody>
      </p:sp>
      <p:sp>
        <p:nvSpPr>
          <p:cNvPr id="25" name="Text 23"/>
          <p:cNvSpPr txBox="1"/>
          <p:nvPr/>
        </p:nvSpPr>
        <p:spPr>
          <a:xfrm>
            <a:off x="4471416" y="4009517"/>
            <a:ext cx="3310128" cy="82296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lnSpc>
                <a:spcPts val="1473"/>
              </a:lnSpc>
              <a:buNone/>
            </a:pPr>
            <a:r>
              <a:rPr lang="en-US" sz="950" dirty="0">
                <a:solidFill>
                  <a:srgbClr val="4A5A67"/>
                </a:solidFill>
                <a:latin typeface="Inter" pitchFamily="34" charset="0"/>
                <a:ea typeface="Inter" pitchFamily="34" charset="-122"/>
                <a:cs typeface="Inter" pitchFamily="34" charset="-120"/>
              </a:rPr>
              <a:t>Processes compared against standard scope item by item. Fit-to-standard workshops retire differences that exist only through habit.</a:t>
            </a:r>
            <a:endParaRPr lang="en-US" sz="950" dirty="0"/>
          </a:p>
        </p:txBody>
      </p:sp>
      <p:sp>
        <p:nvSpPr>
          <p:cNvPr id="26" name="Shape 24"/>
          <p:cNvSpPr/>
          <p:nvPr/>
        </p:nvSpPr>
        <p:spPr>
          <a:xfrm>
            <a:off x="4471416" y="4704461"/>
            <a:ext cx="3310128" cy="0"/>
          </a:xfrm>
          <a:prstGeom prst="line">
            <a:avLst/>
          </a:prstGeom>
          <a:noFill/>
          <a:ln w="9525">
            <a:solidFill>
              <a:srgbClr val="E2E9EE"/>
            </a:solidFill>
            <a:prstDash val="solid"/>
          </a:ln>
        </p:spPr>
      </p:sp>
      <p:sp>
        <p:nvSpPr>
          <p:cNvPr id="27" name="Text 25"/>
          <p:cNvSpPr txBox="1"/>
          <p:nvPr/>
        </p:nvSpPr>
        <p:spPr>
          <a:xfrm>
            <a:off x="4471416" y="4832477"/>
            <a:ext cx="3310128" cy="1828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700" spc="75" kern="0" dirty="0">
                <a:solidFill>
                  <a:srgbClr val="11676A"/>
                </a:solidFill>
                <a:latin typeface="IBM Plex Mono" pitchFamily="34" charset="0"/>
                <a:ea typeface="IBM Plex Mono" pitchFamily="34" charset="-122"/>
                <a:cs typeface="IBM Plex Mono" pitchFamily="34" charset="-120"/>
              </a:rPr>
              <a:t>OUTCOME</a:t>
            </a:r>
            <a:endParaRPr lang="en-US" sz="700" dirty="0"/>
          </a:p>
        </p:txBody>
      </p:sp>
      <p:sp>
        <p:nvSpPr>
          <p:cNvPr id="28" name="Text 26"/>
          <p:cNvSpPr txBox="1"/>
          <p:nvPr/>
        </p:nvSpPr>
        <p:spPr>
          <a:xfrm>
            <a:off x="4471416" y="5033645"/>
            <a:ext cx="3310128" cy="82296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lnSpc>
                <a:spcPts val="1473"/>
              </a:lnSpc>
              <a:buNone/>
            </a:pPr>
            <a:r>
              <a:rPr lang="en-US" sz="950" dirty="0">
                <a:solidFill>
                  <a:srgbClr val="4A5A67"/>
                </a:solidFill>
                <a:latin typeface="Inter" pitchFamily="34" charset="0"/>
                <a:ea typeface="Inter" pitchFamily="34" charset="-122"/>
                <a:cs typeface="Inter" pitchFamily="34" charset="-120"/>
              </a:rPr>
              <a:t>A finance setup built on standard and ready for the release cycle, plus a deployment template that repeats in new markets.</a:t>
            </a:r>
            <a:endParaRPr lang="en-US" sz="950" dirty="0"/>
          </a:p>
        </p:txBody>
      </p:sp>
      <p:sp>
        <p:nvSpPr>
          <p:cNvPr id="29" name="Shape 27"/>
          <p:cNvSpPr/>
          <p:nvPr/>
        </p:nvSpPr>
        <p:spPr>
          <a:xfrm>
            <a:off x="7973568" y="1997837"/>
            <a:ext cx="0" cy="3840480"/>
          </a:xfrm>
          <a:prstGeom prst="line">
            <a:avLst/>
          </a:prstGeom>
          <a:noFill/>
          <a:ln w="9525">
            <a:solidFill>
              <a:srgbClr val="E2E9EE"/>
            </a:solidFill>
            <a:prstDash val="solid"/>
          </a:ln>
        </p:spPr>
      </p:sp>
      <p:sp>
        <p:nvSpPr>
          <p:cNvPr id="30" name="Text 28"/>
          <p:cNvSpPr txBox="1"/>
          <p:nvPr/>
        </p:nvSpPr>
        <p:spPr>
          <a:xfrm>
            <a:off x="8165592" y="2144141"/>
            <a:ext cx="3310128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500" b="1" spc="-30" kern="0" dirty="0">
                <a:solidFill>
                  <a:srgbClr val="11676A"/>
                </a:solidFill>
                <a:latin typeface="Schibsted Grotesk" pitchFamily="34" charset="0"/>
                <a:ea typeface="Schibsted Grotesk" pitchFamily="34" charset="-122"/>
                <a:cs typeface="Schibsted Grotesk" pitchFamily="34" charset="-120"/>
              </a:rPr>
              <a:t>Retail</a:t>
            </a:r>
            <a:endParaRPr lang="en-US" sz="1500" dirty="0"/>
          </a:p>
        </p:txBody>
      </p:sp>
      <p:sp>
        <p:nvSpPr>
          <p:cNvPr id="31" name="Text 29"/>
          <p:cNvSpPr txBox="1"/>
          <p:nvPr/>
        </p:nvSpPr>
        <p:spPr>
          <a:xfrm>
            <a:off x="8165592" y="2455037"/>
            <a:ext cx="3310128" cy="1828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700" spc="75" kern="0" dirty="0">
                <a:solidFill>
                  <a:srgbClr val="5F6D77"/>
                </a:solidFill>
                <a:latin typeface="IBM Plex Mono" pitchFamily="34" charset="0"/>
                <a:ea typeface="IBM Plex Mono" pitchFamily="34" charset="-122"/>
                <a:cs typeface="IBM Plex Mono" pitchFamily="34" charset="-120"/>
              </a:rPr>
              <a:t>MULTI-SITE, HIGH TRANSACTION VOLUME</a:t>
            </a:r>
            <a:endParaRPr lang="en-US" sz="700" dirty="0"/>
          </a:p>
        </p:txBody>
      </p:sp>
      <p:sp>
        <p:nvSpPr>
          <p:cNvPr id="32" name="Text 30"/>
          <p:cNvSpPr txBox="1"/>
          <p:nvPr/>
        </p:nvSpPr>
        <p:spPr>
          <a:xfrm>
            <a:off x="8165592" y="2784221"/>
            <a:ext cx="3310128" cy="1828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700" spc="75" kern="0" dirty="0">
                <a:solidFill>
                  <a:srgbClr val="11676A"/>
                </a:solidFill>
                <a:latin typeface="IBM Plex Mono" pitchFamily="34" charset="0"/>
                <a:ea typeface="IBM Plex Mono" pitchFamily="34" charset="-122"/>
                <a:cs typeface="IBM Plex Mono" pitchFamily="34" charset="-120"/>
              </a:rPr>
              <a:t>SITUATION</a:t>
            </a:r>
            <a:endParaRPr lang="en-US" sz="700" dirty="0"/>
          </a:p>
        </p:txBody>
      </p:sp>
      <p:sp>
        <p:nvSpPr>
          <p:cNvPr id="33" name="Text 31"/>
          <p:cNvSpPr txBox="1"/>
          <p:nvPr/>
        </p:nvSpPr>
        <p:spPr>
          <a:xfrm>
            <a:off x="8165592" y="2985389"/>
            <a:ext cx="3310128" cy="82296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lnSpc>
                <a:spcPts val="1473"/>
              </a:lnSpc>
              <a:buNone/>
            </a:pPr>
            <a:r>
              <a:rPr lang="en-US" sz="950" dirty="0">
                <a:solidFill>
                  <a:srgbClr val="4A5A67"/>
                </a:solidFill>
                <a:latin typeface="Inter" pitchFamily="34" charset="0"/>
                <a:ea typeface="Inter" pitchFamily="34" charset="-122"/>
                <a:cs typeface="Inter" pitchFamily="34" charset="-120"/>
              </a:rPr>
              <a:t>The month-end close runs long and unpredictably. Reconciliation is largely manual, and unmatched items depend on two or three people.</a:t>
            </a:r>
            <a:endParaRPr lang="en-US" sz="950" dirty="0"/>
          </a:p>
        </p:txBody>
      </p:sp>
      <p:sp>
        <p:nvSpPr>
          <p:cNvPr id="34" name="Shape 32"/>
          <p:cNvSpPr/>
          <p:nvPr/>
        </p:nvSpPr>
        <p:spPr>
          <a:xfrm>
            <a:off x="8165592" y="3680333"/>
            <a:ext cx="3310128" cy="0"/>
          </a:xfrm>
          <a:prstGeom prst="line">
            <a:avLst/>
          </a:prstGeom>
          <a:noFill/>
          <a:ln w="9525">
            <a:solidFill>
              <a:srgbClr val="E2E9EE"/>
            </a:solidFill>
            <a:prstDash val="solid"/>
          </a:ln>
        </p:spPr>
      </p:sp>
      <p:sp>
        <p:nvSpPr>
          <p:cNvPr id="35" name="Text 33"/>
          <p:cNvSpPr txBox="1"/>
          <p:nvPr/>
        </p:nvSpPr>
        <p:spPr>
          <a:xfrm>
            <a:off x="8165592" y="3808349"/>
            <a:ext cx="3310128" cy="1828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700" spc="75" kern="0" dirty="0">
                <a:solidFill>
                  <a:srgbClr val="11676A"/>
                </a:solidFill>
                <a:latin typeface="IBM Plex Mono" pitchFamily="34" charset="0"/>
                <a:ea typeface="IBM Plex Mono" pitchFamily="34" charset="-122"/>
                <a:cs typeface="IBM Plex Mono" pitchFamily="34" charset="-120"/>
              </a:rPr>
              <a:t>APPROACH</a:t>
            </a:r>
            <a:endParaRPr lang="en-US" sz="700" dirty="0"/>
          </a:p>
        </p:txBody>
      </p:sp>
      <p:sp>
        <p:nvSpPr>
          <p:cNvPr id="36" name="Text 34"/>
          <p:cNvSpPr txBox="1"/>
          <p:nvPr/>
        </p:nvSpPr>
        <p:spPr>
          <a:xfrm>
            <a:off x="8165592" y="4009517"/>
            <a:ext cx="3310128" cy="82296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lnSpc>
                <a:spcPts val="1473"/>
              </a:lnSpc>
              <a:buNone/>
            </a:pPr>
            <a:r>
              <a:rPr lang="en-US" sz="950" dirty="0">
                <a:solidFill>
                  <a:srgbClr val="4A5A67"/>
                </a:solidFill>
                <a:latin typeface="Inter" pitchFamily="34" charset="0"/>
                <a:ea typeface="Inter" pitchFamily="34" charset="-122"/>
                <a:cs typeface="Inter" pitchFamily="34" charset="-120"/>
              </a:rPr>
              <a:t>The close measured step by step to find the dependencies creating wait time. Matching thresholds calibrated against real data.</a:t>
            </a:r>
            <a:endParaRPr lang="en-US" sz="950" dirty="0"/>
          </a:p>
        </p:txBody>
      </p:sp>
      <p:sp>
        <p:nvSpPr>
          <p:cNvPr id="37" name="Shape 35"/>
          <p:cNvSpPr/>
          <p:nvPr/>
        </p:nvSpPr>
        <p:spPr>
          <a:xfrm>
            <a:off x="8165592" y="4704461"/>
            <a:ext cx="3310128" cy="0"/>
          </a:xfrm>
          <a:prstGeom prst="line">
            <a:avLst/>
          </a:prstGeom>
          <a:noFill/>
          <a:ln w="9525">
            <a:solidFill>
              <a:srgbClr val="E2E9EE"/>
            </a:solidFill>
            <a:prstDash val="solid"/>
          </a:ln>
        </p:spPr>
      </p:sp>
      <p:sp>
        <p:nvSpPr>
          <p:cNvPr id="38" name="Text 36"/>
          <p:cNvSpPr txBox="1"/>
          <p:nvPr/>
        </p:nvSpPr>
        <p:spPr>
          <a:xfrm>
            <a:off x="8165592" y="4832477"/>
            <a:ext cx="3310128" cy="1828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700" spc="75" kern="0" dirty="0">
                <a:solidFill>
                  <a:srgbClr val="11676A"/>
                </a:solidFill>
                <a:latin typeface="IBM Plex Mono" pitchFamily="34" charset="0"/>
                <a:ea typeface="IBM Plex Mono" pitchFamily="34" charset="-122"/>
                <a:cs typeface="IBM Plex Mono" pitchFamily="34" charset="-120"/>
              </a:rPr>
              <a:t>OUTCOME</a:t>
            </a:r>
            <a:endParaRPr lang="en-US" sz="700" dirty="0"/>
          </a:p>
        </p:txBody>
      </p:sp>
      <p:sp>
        <p:nvSpPr>
          <p:cNvPr id="39" name="Text 37"/>
          <p:cNvSpPr txBox="1"/>
          <p:nvPr/>
        </p:nvSpPr>
        <p:spPr>
          <a:xfrm>
            <a:off x="8165592" y="5033645"/>
            <a:ext cx="3310128" cy="82296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lnSpc>
                <a:spcPts val="1473"/>
              </a:lnSpc>
              <a:buNone/>
            </a:pPr>
            <a:r>
              <a:rPr lang="en-US" sz="950" dirty="0">
                <a:solidFill>
                  <a:srgbClr val="4A5A67"/>
                </a:solidFill>
                <a:latin typeface="Inter" pitchFamily="34" charset="0"/>
                <a:ea typeface="Inter" pitchFamily="34" charset="-122"/>
                <a:cs typeface="Inter" pitchFamily="34" charset="-120"/>
              </a:rPr>
              <a:t>A close calendar that is predictable step by step, with the team moving from matching items to reviewing exceptions.</a:t>
            </a:r>
            <a:endParaRPr lang="en-US" sz="950" dirty="0"/>
          </a:p>
        </p:txBody>
      </p:sp>
      <p:sp>
        <p:nvSpPr>
          <p:cNvPr id="40" name="Text 38"/>
          <p:cNvSpPr txBox="1"/>
          <p:nvPr/>
        </p:nvSpPr>
        <p:spPr>
          <a:xfrm>
            <a:off x="777240" y="6039485"/>
            <a:ext cx="8833866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lnSpc>
                <a:spcPts val="1318"/>
              </a:lnSpc>
              <a:buNone/>
            </a:pPr>
            <a:r>
              <a:rPr lang="en-US" sz="850" dirty="0">
                <a:solidFill>
                  <a:srgbClr val="4A5A67"/>
                </a:solidFill>
                <a:latin typeface="Inter" pitchFamily="34" charset="0"/>
                <a:ea typeface="Inter" pitchFamily="34" charset="-122"/>
                <a:cs typeface="Inter" pitchFamily="34" charset="-120"/>
              </a:rPr>
              <a:t>These contain no client names, figures or outcome claims. They are written to show how an engagement works.</a:t>
            </a:r>
            <a:endParaRPr lang="en-US" sz="850" dirty="0"/>
          </a:p>
        </p:txBody>
      </p:sp>
      <p:sp>
        <p:nvSpPr>
          <p:cNvPr id="41" name="Text 39"/>
          <p:cNvSpPr txBox="1"/>
          <p:nvPr/>
        </p:nvSpPr>
        <p:spPr>
          <a:xfrm>
            <a:off x="777240" y="6345936"/>
            <a:ext cx="3657600" cy="21945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750" spc="60" kern="0" dirty="0">
                <a:solidFill>
                  <a:srgbClr val="5F6D77"/>
                </a:solidFill>
                <a:latin typeface="IBM Plex Mono" pitchFamily="34" charset="0"/>
                <a:ea typeface="IBM Plex Mono" pitchFamily="34" charset="-122"/>
                <a:cs typeface="IBM Plex Mono" pitchFamily="34" charset="-120"/>
              </a:rPr>
              <a:t>CPeak Consultancy</a:t>
            </a:r>
            <a:endParaRPr lang="en-US" sz="750" dirty="0"/>
          </a:p>
        </p:txBody>
      </p:sp>
      <p:sp>
        <p:nvSpPr>
          <p:cNvPr id="42" name="Text 40"/>
          <p:cNvSpPr txBox="1"/>
          <p:nvPr/>
        </p:nvSpPr>
        <p:spPr>
          <a:xfrm>
            <a:off x="10500055" y="6345936"/>
            <a:ext cx="914400" cy="21945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750" spc="60" kern="0" dirty="0">
                <a:solidFill>
                  <a:srgbClr val="5F6D77"/>
                </a:solidFill>
                <a:latin typeface="IBM Plex Mono" pitchFamily="34" charset="0"/>
                <a:ea typeface="IBM Plex Mono" pitchFamily="34" charset="-122"/>
                <a:cs typeface="IBM Plex Mono" pitchFamily="34" charset="-120"/>
              </a:rPr>
              <a:t>10</a:t>
            </a:r>
            <a:endParaRPr lang="en-US" sz="750" dirty="0"/>
          </a:p>
        </p:txBody>
      </p:sp>
    </p:spTree>
  </p:cSld>
  <p:clrMapOvr>
    <a:masterClrMapping/>
  </p:clrMapOvr>
</p:sld>
</file>

<file path=ppt/slides/slide11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1">
    <p:bg>
      <p:bgPr>
        <a:solidFill>
          <a:srgbClr val="F7F8F7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777240" y="580644"/>
            <a:ext cx="237744" cy="0"/>
          </a:xfrm>
          <a:prstGeom prst="line">
            <a:avLst/>
          </a:prstGeom>
          <a:noFill/>
          <a:ln w="12700">
            <a:solidFill>
              <a:srgbClr val="11676A"/>
            </a:solidFill>
            <a:prstDash val="solid"/>
          </a:ln>
        </p:spPr>
      </p:sp>
      <p:sp>
        <p:nvSpPr>
          <p:cNvPr id="3" name="Text 1"/>
          <p:cNvSpPr txBox="1"/>
          <p:nvPr/>
        </p:nvSpPr>
        <p:spPr>
          <a:xfrm>
            <a:off x="1106424" y="461772"/>
            <a:ext cx="5486400" cy="23774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850" spc="90" kern="0" dirty="0">
                <a:solidFill>
                  <a:srgbClr val="11676A"/>
                </a:solidFill>
                <a:latin typeface="IBM Plex Mono" pitchFamily="34" charset="0"/>
                <a:ea typeface="IBM Plex Mono" pitchFamily="34" charset="-122"/>
                <a:cs typeface="IBM Plex Mono" pitchFamily="34" charset="-120"/>
              </a:rPr>
              <a:t>WHY CPEAK</a:t>
            </a:r>
            <a:endParaRPr lang="en-US" sz="850" dirty="0"/>
          </a:p>
        </p:txBody>
      </p:sp>
      <p:sp>
        <p:nvSpPr>
          <p:cNvPr id="4" name="Text 2"/>
          <p:cNvSpPr txBox="1"/>
          <p:nvPr/>
        </p:nvSpPr>
        <p:spPr>
          <a:xfrm>
            <a:off x="777240" y="804672"/>
            <a:ext cx="8833866" cy="462788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lnSpc>
                <a:spcPts val="3068"/>
              </a:lnSpc>
              <a:buNone/>
            </a:pPr>
            <a:r>
              <a:rPr lang="en-US" sz="2600" b="1" spc="-50" kern="0" dirty="0">
                <a:solidFill>
                  <a:srgbClr val="11676A"/>
                </a:solidFill>
                <a:latin typeface="Schibsted Grotesk" pitchFamily="34" charset="0"/>
                <a:ea typeface="Schibsted Grotesk" pitchFamily="34" charset="-122"/>
                <a:cs typeface="Schibsted Grotesk" pitchFamily="34" charset="-120"/>
              </a:rPr>
              <a:t>The difference is who actually does the work</a:t>
            </a:r>
            <a:endParaRPr lang="en-US" sz="2600" dirty="0"/>
          </a:p>
        </p:txBody>
      </p:sp>
      <p:sp>
        <p:nvSpPr>
          <p:cNvPr id="5" name="Text 3"/>
          <p:cNvSpPr txBox="1"/>
          <p:nvPr/>
        </p:nvSpPr>
        <p:spPr>
          <a:xfrm>
            <a:off x="777240" y="1377188"/>
            <a:ext cx="7932191" cy="49149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lnSpc>
                <a:spcPts val="1628"/>
              </a:lnSpc>
              <a:buNone/>
            </a:pPr>
            <a:r>
              <a:rPr lang="en-US" sz="1050" dirty="0">
                <a:solidFill>
                  <a:srgbClr val="4A5A67"/>
                </a:solidFill>
                <a:latin typeface="Inter" pitchFamily="34" charset="0"/>
                <a:ea typeface="Inter" pitchFamily="34" charset="-122"/>
                <a:cs typeface="Inter" pitchFamily="34" charset="-120"/>
              </a:rPr>
              <a:t>In SAP consulting the outcome is decided less by methodology than by who actually works on the project.</a:t>
            </a:r>
            <a:endParaRPr lang="en-US" sz="1050" dirty="0"/>
          </a:p>
        </p:txBody>
      </p:sp>
      <p:sp>
        <p:nvSpPr>
          <p:cNvPr id="6" name="Shape 4"/>
          <p:cNvSpPr/>
          <p:nvPr/>
        </p:nvSpPr>
        <p:spPr>
          <a:xfrm>
            <a:off x="777240" y="2234438"/>
            <a:ext cx="10637215" cy="0"/>
          </a:xfrm>
          <a:prstGeom prst="line">
            <a:avLst/>
          </a:prstGeom>
          <a:noFill/>
          <a:ln w="12700">
            <a:solidFill>
              <a:srgbClr val="11676A"/>
            </a:solidFill>
            <a:prstDash val="solid"/>
          </a:ln>
        </p:spPr>
      </p:sp>
      <p:sp>
        <p:nvSpPr>
          <p:cNvPr id="7" name="Text 5"/>
          <p:cNvSpPr txBox="1"/>
          <p:nvPr/>
        </p:nvSpPr>
        <p:spPr>
          <a:xfrm>
            <a:off x="777240" y="2417318"/>
            <a:ext cx="2487168" cy="1828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100" spc="75" kern="0" dirty="0">
                <a:solidFill>
                  <a:srgbClr val="11676A"/>
                </a:solidFill>
                <a:latin typeface="IBM Plex Mono" pitchFamily="34" charset="0"/>
                <a:ea typeface="IBM Plex Mono" pitchFamily="34" charset="-122"/>
                <a:cs typeface="IBM Plex Mono" pitchFamily="34" charset="-120"/>
              </a:rPr>
              <a:t>01</a:t>
            </a:r>
            <a:endParaRPr lang="en-US" sz="1100" dirty="0"/>
          </a:p>
        </p:txBody>
      </p:sp>
      <p:sp>
        <p:nvSpPr>
          <p:cNvPr id="8" name="Text 6"/>
          <p:cNvSpPr txBox="1"/>
          <p:nvPr/>
        </p:nvSpPr>
        <p:spPr>
          <a:xfrm>
            <a:off x="777240" y="2709926"/>
            <a:ext cx="2395728" cy="566928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lnSpc>
                <a:spcPts val="1700"/>
              </a:lnSpc>
              <a:buNone/>
            </a:pPr>
            <a:r>
              <a:rPr lang="en-US" sz="1350" b="1" spc="-30" kern="0" dirty="0">
                <a:solidFill>
                  <a:srgbClr val="11676A"/>
                </a:solidFill>
                <a:latin typeface="Schibsted Grotesk" pitchFamily="34" charset="0"/>
                <a:ea typeface="Schibsted Grotesk" pitchFamily="34" charset="-122"/>
                <a:cs typeface="Schibsted Grotesk" pitchFamily="34" charset="-120"/>
              </a:rPr>
              <a:t>Real depth in the finance modules</a:t>
            </a:r>
            <a:endParaRPr lang="en-US" sz="1350" dirty="0"/>
          </a:p>
        </p:txBody>
      </p:sp>
      <p:sp>
        <p:nvSpPr>
          <p:cNvPr id="9" name="Text 7"/>
          <p:cNvSpPr txBox="1"/>
          <p:nvPr/>
        </p:nvSpPr>
        <p:spPr>
          <a:xfrm>
            <a:off x="777240" y="3331718"/>
            <a:ext cx="2395728" cy="146304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lnSpc>
                <a:spcPts val="1473"/>
              </a:lnSpc>
              <a:buNone/>
            </a:pPr>
            <a:r>
              <a:rPr lang="en-US" sz="950" dirty="0">
                <a:solidFill>
                  <a:srgbClr val="4A5A67"/>
                </a:solidFill>
                <a:latin typeface="Inter" pitchFamily="34" charset="0"/>
                <a:ea typeface="Inter" pitchFamily="34" charset="-122"/>
                <a:cs typeface="Inter" pitchFamily="34" charset="-120"/>
              </a:rPr>
              <a:t>FI and CO are our core discipline, not a capability brought along beside something else. On decisions that are expensive to reverse — enterprise structure, costing design, the close calendar — you get the view of someone who has lived the consequences several times.</a:t>
            </a:r>
            <a:endParaRPr lang="en-US" sz="950" dirty="0"/>
          </a:p>
        </p:txBody>
      </p:sp>
      <p:sp>
        <p:nvSpPr>
          <p:cNvPr id="10" name="Shape 8"/>
          <p:cNvSpPr/>
          <p:nvPr/>
        </p:nvSpPr>
        <p:spPr>
          <a:xfrm>
            <a:off x="3374136" y="2380742"/>
            <a:ext cx="0" cy="2880360"/>
          </a:xfrm>
          <a:prstGeom prst="line">
            <a:avLst/>
          </a:prstGeom>
          <a:noFill/>
          <a:ln w="9525">
            <a:solidFill>
              <a:srgbClr val="E2E9EE"/>
            </a:solidFill>
            <a:prstDash val="solid"/>
          </a:ln>
        </p:spPr>
      </p:sp>
      <p:sp>
        <p:nvSpPr>
          <p:cNvPr id="11" name="Text 9"/>
          <p:cNvSpPr txBox="1"/>
          <p:nvPr/>
        </p:nvSpPr>
        <p:spPr>
          <a:xfrm>
            <a:off x="3483864" y="2417318"/>
            <a:ext cx="2487168" cy="1828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100" spc="75" kern="0" dirty="0">
                <a:solidFill>
                  <a:srgbClr val="11676A"/>
                </a:solidFill>
                <a:latin typeface="IBM Plex Mono" pitchFamily="34" charset="0"/>
                <a:ea typeface="IBM Plex Mono" pitchFamily="34" charset="-122"/>
                <a:cs typeface="IBM Plex Mono" pitchFamily="34" charset="-120"/>
              </a:rPr>
              <a:t>02</a:t>
            </a:r>
            <a:endParaRPr lang="en-US" sz="1100" dirty="0"/>
          </a:p>
        </p:txBody>
      </p:sp>
      <p:sp>
        <p:nvSpPr>
          <p:cNvPr id="12" name="Text 10"/>
          <p:cNvSpPr txBox="1"/>
          <p:nvPr/>
        </p:nvSpPr>
        <p:spPr>
          <a:xfrm>
            <a:off x="3483864" y="2709926"/>
            <a:ext cx="2395728" cy="566928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lnSpc>
                <a:spcPts val="1700"/>
              </a:lnSpc>
              <a:buNone/>
            </a:pPr>
            <a:r>
              <a:rPr lang="en-US" sz="1350" b="1" spc="-30" kern="0" dirty="0">
                <a:solidFill>
                  <a:srgbClr val="11676A"/>
                </a:solidFill>
                <a:latin typeface="Schibsted Grotesk" pitchFamily="34" charset="0"/>
                <a:ea typeface="Schibsted Grotesk" pitchFamily="34" charset="-122"/>
                <a:cs typeface="Schibsted Grotesk" pitchFamily="34" charset="-120"/>
              </a:rPr>
              <a:t>Neutral on the cloud model</a:t>
            </a:r>
            <a:endParaRPr lang="en-US" sz="1350" dirty="0"/>
          </a:p>
        </p:txBody>
      </p:sp>
      <p:sp>
        <p:nvSpPr>
          <p:cNvPr id="13" name="Text 11"/>
          <p:cNvSpPr txBox="1"/>
          <p:nvPr/>
        </p:nvSpPr>
        <p:spPr>
          <a:xfrm>
            <a:off x="3483864" y="3331718"/>
            <a:ext cx="2395728" cy="146304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lnSpc>
                <a:spcPts val="1473"/>
              </a:lnSpc>
              <a:buNone/>
            </a:pPr>
            <a:r>
              <a:rPr lang="en-US" sz="950" dirty="0">
                <a:solidFill>
                  <a:srgbClr val="4A5A67"/>
                </a:solidFill>
                <a:latin typeface="Inter" pitchFamily="34" charset="0"/>
                <a:ea typeface="Inter" pitchFamily="34" charset="-122"/>
                <a:cs typeface="Inter" pitchFamily="34" charset="-120"/>
              </a:rPr>
              <a:t>We do not advocate for Public or Private Cloud. We compare your processes against standard scope and put the cost and constraint of both models side by side for your specific situation.</a:t>
            </a:r>
            <a:endParaRPr lang="en-US" sz="950" dirty="0"/>
          </a:p>
        </p:txBody>
      </p:sp>
      <p:sp>
        <p:nvSpPr>
          <p:cNvPr id="14" name="Shape 12"/>
          <p:cNvSpPr/>
          <p:nvPr/>
        </p:nvSpPr>
        <p:spPr>
          <a:xfrm>
            <a:off x="6080760" y="2380742"/>
            <a:ext cx="0" cy="2880360"/>
          </a:xfrm>
          <a:prstGeom prst="line">
            <a:avLst/>
          </a:prstGeom>
          <a:noFill/>
          <a:ln w="9525">
            <a:solidFill>
              <a:srgbClr val="E2E9EE"/>
            </a:solidFill>
            <a:prstDash val="solid"/>
          </a:ln>
        </p:spPr>
      </p:sp>
      <p:sp>
        <p:nvSpPr>
          <p:cNvPr id="15" name="Text 13"/>
          <p:cNvSpPr txBox="1"/>
          <p:nvPr/>
        </p:nvSpPr>
        <p:spPr>
          <a:xfrm>
            <a:off x="6190488" y="2417318"/>
            <a:ext cx="2487168" cy="1828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100" spc="75" kern="0" dirty="0">
                <a:solidFill>
                  <a:srgbClr val="11676A"/>
                </a:solidFill>
                <a:latin typeface="IBM Plex Mono" pitchFamily="34" charset="0"/>
                <a:ea typeface="IBM Plex Mono" pitchFamily="34" charset="-122"/>
                <a:cs typeface="IBM Plex Mono" pitchFamily="34" charset="-120"/>
              </a:rPr>
              <a:t>03</a:t>
            </a:r>
            <a:endParaRPr lang="en-US" sz="1100" dirty="0"/>
          </a:p>
        </p:txBody>
      </p:sp>
      <p:sp>
        <p:nvSpPr>
          <p:cNvPr id="16" name="Text 14"/>
          <p:cNvSpPr txBox="1"/>
          <p:nvPr/>
        </p:nvSpPr>
        <p:spPr>
          <a:xfrm>
            <a:off x="6190488" y="2709926"/>
            <a:ext cx="2395728" cy="566928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lnSpc>
                <a:spcPts val="1700"/>
              </a:lnSpc>
              <a:buNone/>
            </a:pPr>
            <a:r>
              <a:rPr lang="en-US" sz="1350" b="1" spc="-30" kern="0" dirty="0">
                <a:solidFill>
                  <a:srgbClr val="11676A"/>
                </a:solidFill>
                <a:latin typeface="Schibsted Grotesk" pitchFamily="34" charset="0"/>
                <a:ea typeface="Schibsted Grotesk" pitchFamily="34" charset="-122"/>
                <a:cs typeface="Schibsted Grotesk" pitchFamily="34" charset="-120"/>
              </a:rPr>
              <a:t>Delivery accelerated by AI</a:t>
            </a:r>
            <a:endParaRPr lang="en-US" sz="1350" dirty="0"/>
          </a:p>
        </p:txBody>
      </p:sp>
      <p:sp>
        <p:nvSpPr>
          <p:cNvPr id="17" name="Text 15"/>
          <p:cNvSpPr txBox="1"/>
          <p:nvPr/>
        </p:nvSpPr>
        <p:spPr>
          <a:xfrm>
            <a:off x="6190488" y="3331718"/>
            <a:ext cx="2395728" cy="146304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lnSpc>
                <a:spcPts val="1473"/>
              </a:lnSpc>
              <a:buNone/>
            </a:pPr>
            <a:r>
              <a:rPr lang="en-US" sz="950" dirty="0">
                <a:solidFill>
                  <a:srgbClr val="4A5A67"/>
                </a:solidFill>
                <a:latin typeface="Inter" pitchFamily="34" charset="0"/>
                <a:ea typeface="Inter" pitchFamily="34" charset="-122"/>
                <a:cs typeface="Inter" pitchFamily="34" charset="-120"/>
              </a:rPr>
              <a:t>We use AI for the volume work: analysis, documentation, test scenario generation and migration reconciliation. It shortens the preparation phases and leaves senior time for the parts that require judgement.</a:t>
            </a:r>
            <a:endParaRPr lang="en-US" sz="950" dirty="0"/>
          </a:p>
        </p:txBody>
      </p:sp>
      <p:sp>
        <p:nvSpPr>
          <p:cNvPr id="18" name="Shape 16"/>
          <p:cNvSpPr/>
          <p:nvPr/>
        </p:nvSpPr>
        <p:spPr>
          <a:xfrm>
            <a:off x="8787384" y="2380742"/>
            <a:ext cx="0" cy="2880360"/>
          </a:xfrm>
          <a:prstGeom prst="line">
            <a:avLst/>
          </a:prstGeom>
          <a:noFill/>
          <a:ln w="9525">
            <a:solidFill>
              <a:srgbClr val="E2E9EE"/>
            </a:solidFill>
            <a:prstDash val="solid"/>
          </a:ln>
        </p:spPr>
      </p:sp>
      <p:sp>
        <p:nvSpPr>
          <p:cNvPr id="19" name="Text 17"/>
          <p:cNvSpPr txBox="1"/>
          <p:nvPr/>
        </p:nvSpPr>
        <p:spPr>
          <a:xfrm>
            <a:off x="8897112" y="2417318"/>
            <a:ext cx="2487168" cy="1828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100" spc="75" kern="0" dirty="0">
                <a:solidFill>
                  <a:srgbClr val="11676A"/>
                </a:solidFill>
                <a:latin typeface="IBM Plex Mono" pitchFamily="34" charset="0"/>
                <a:ea typeface="IBM Plex Mono" pitchFamily="34" charset="-122"/>
                <a:cs typeface="IBM Plex Mono" pitchFamily="34" charset="-120"/>
              </a:rPr>
              <a:t>04</a:t>
            </a:r>
            <a:endParaRPr lang="en-US" sz="1100" dirty="0"/>
          </a:p>
        </p:txBody>
      </p:sp>
      <p:sp>
        <p:nvSpPr>
          <p:cNvPr id="20" name="Text 18"/>
          <p:cNvSpPr txBox="1"/>
          <p:nvPr/>
        </p:nvSpPr>
        <p:spPr>
          <a:xfrm>
            <a:off x="8897112" y="2709926"/>
            <a:ext cx="2395728" cy="566928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lnSpc>
                <a:spcPts val="1700"/>
              </a:lnSpc>
              <a:buNone/>
            </a:pPr>
            <a:r>
              <a:rPr lang="en-US" sz="1350" b="1" spc="-30" kern="0" dirty="0">
                <a:solidFill>
                  <a:srgbClr val="11676A"/>
                </a:solidFill>
                <a:latin typeface="Schibsted Grotesk" pitchFamily="34" charset="0"/>
                <a:ea typeface="Schibsted Grotesk" pitchFamily="34" charset="-122"/>
                <a:cs typeface="Schibsted Grotesk" pitchFamily="34" charset="-120"/>
              </a:rPr>
              <a:t>Senior consultants on every engagement</a:t>
            </a:r>
            <a:endParaRPr lang="en-US" sz="1350" dirty="0"/>
          </a:p>
        </p:txBody>
      </p:sp>
      <p:sp>
        <p:nvSpPr>
          <p:cNvPr id="21" name="Text 19"/>
          <p:cNvSpPr txBox="1"/>
          <p:nvPr/>
        </p:nvSpPr>
        <p:spPr>
          <a:xfrm>
            <a:off x="8897112" y="3331718"/>
            <a:ext cx="2395728" cy="146304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lnSpc>
                <a:spcPts val="1473"/>
              </a:lnSpc>
              <a:buNone/>
            </a:pPr>
            <a:r>
              <a:rPr lang="en-US" sz="950" dirty="0">
                <a:solidFill>
                  <a:srgbClr val="4A5A67"/>
                </a:solidFill>
                <a:latin typeface="Inter" pitchFamily="34" charset="0"/>
                <a:ea typeface="Inter" pitchFamily="34" charset="-122"/>
                <a:cs typeface="Inter" pitchFamily="34" charset="-120"/>
              </a:rPr>
              <a:t>The people named in the proposal are the people who turn up. You are not charged for a consultant’s learning curve. When scope grows we phase the work rather than inflate the team.</a:t>
            </a:r>
            <a:endParaRPr lang="en-US" sz="950" dirty="0"/>
          </a:p>
        </p:txBody>
      </p:sp>
      <p:sp>
        <p:nvSpPr>
          <p:cNvPr id="22" name="Shape 20"/>
          <p:cNvSpPr/>
          <p:nvPr/>
        </p:nvSpPr>
        <p:spPr>
          <a:xfrm>
            <a:off x="0" y="5074920"/>
            <a:ext cx="12191695" cy="969264"/>
          </a:xfrm>
          <a:prstGeom prst="rect">
            <a:avLst/>
          </a:prstGeom>
          <a:solidFill>
            <a:srgbClr val="FFFFFF"/>
          </a:solidFill>
          <a:ln/>
        </p:spPr>
      </p:sp>
      <p:sp>
        <p:nvSpPr>
          <p:cNvPr id="23" name="Shape 21"/>
          <p:cNvSpPr/>
          <p:nvPr/>
        </p:nvSpPr>
        <p:spPr>
          <a:xfrm>
            <a:off x="0" y="5074920"/>
            <a:ext cx="12191695" cy="0"/>
          </a:xfrm>
          <a:prstGeom prst="line">
            <a:avLst/>
          </a:prstGeom>
          <a:noFill/>
          <a:ln w="9525">
            <a:solidFill>
              <a:srgbClr val="E2E9EE"/>
            </a:solidFill>
            <a:prstDash val="solid"/>
          </a:ln>
        </p:spPr>
      </p:sp>
      <p:sp>
        <p:nvSpPr>
          <p:cNvPr id="24" name="Shape 22"/>
          <p:cNvSpPr/>
          <p:nvPr/>
        </p:nvSpPr>
        <p:spPr>
          <a:xfrm>
            <a:off x="0" y="6044184"/>
            <a:ext cx="12191695" cy="0"/>
          </a:xfrm>
          <a:prstGeom prst="line">
            <a:avLst/>
          </a:prstGeom>
          <a:noFill/>
          <a:ln w="9525">
            <a:solidFill>
              <a:srgbClr val="E2E9EE"/>
            </a:solidFill>
            <a:prstDash val="solid"/>
          </a:ln>
        </p:spPr>
      </p:sp>
      <p:sp>
        <p:nvSpPr>
          <p:cNvPr id="25" name="Text 23"/>
          <p:cNvSpPr txBox="1"/>
          <p:nvPr/>
        </p:nvSpPr>
        <p:spPr>
          <a:xfrm>
            <a:off x="777240" y="5468112"/>
            <a:ext cx="1280160" cy="1828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750" spc="75" kern="0" dirty="0">
                <a:solidFill>
                  <a:srgbClr val="5F6D77"/>
                </a:solidFill>
                <a:latin typeface="IBM Plex Mono" pitchFamily="34" charset="0"/>
                <a:ea typeface="IBM Plex Mono" pitchFamily="34" charset="-122"/>
                <a:cs typeface="IBM Plex Mono" pitchFamily="34" charset="-120"/>
              </a:rPr>
              <a:t>REFERENCES</a:t>
            </a:r>
            <a:endParaRPr lang="en-US" sz="750" dirty="0"/>
          </a:p>
        </p:txBody>
      </p:sp>
      <p:pic>
        <p:nvPicPr>
          <p:cNvPr id="26" name="Image 0" descr="./assets/ref-mercedes-benz.png">    </p:cNvPr>
          <p:cNvPicPr>
            <a:picLocks noChangeAspect="1"/>
          </p:cNvPicPr>
          <p:nvPr/>
        </p:nvPicPr>
        <p:blipFill>
          <a:blip r:embed="rId1"/>
          <a:stretch>
            <a:fillRect/>
          </a:stretch>
        </p:blipFill>
        <p:spPr>
          <a:xfrm>
            <a:off x="2388034" y="5434697"/>
            <a:ext cx="987552" cy="249710"/>
          </a:xfrm>
          <a:prstGeom prst="rect">
            <a:avLst/>
          </a:prstGeom>
        </p:spPr>
      </p:pic>
      <p:pic>
        <p:nvPicPr>
          <p:cNvPr id="27" name="Image 1" descr="./assets/ref-pwc.png">    </p:cNvPr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3686482" y="5422392"/>
            <a:ext cx="564776" cy="274320"/>
          </a:xfrm>
          <a:prstGeom prst="rect">
            <a:avLst/>
          </a:prstGeom>
        </p:spPr>
      </p:pic>
      <p:pic>
        <p:nvPicPr>
          <p:cNvPr id="28" name="Image 2" descr="./assets/ref-fusion-consulting.png">    </p:cNvPr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4562155" y="5422392"/>
            <a:ext cx="624314" cy="274320"/>
          </a:xfrm>
          <a:prstGeom prst="rect">
            <a:avLst/>
          </a:prstGeom>
        </p:spPr>
      </p:pic>
      <p:pic>
        <p:nvPicPr>
          <p:cNvPr id="29" name="Image 3" descr="./assets/ref-boehringer-ingelheim.png">    </p:cNvPr>
          <p:cNvPicPr>
            <a:picLocks noChangeAspect="1"/>
          </p:cNvPicPr>
          <p:nvPr/>
        </p:nvPicPr>
        <p:blipFill>
          <a:blip r:embed="rId4"/>
          <a:stretch>
            <a:fillRect/>
          </a:stretch>
        </p:blipFill>
        <p:spPr>
          <a:xfrm>
            <a:off x="5497365" y="5422392"/>
            <a:ext cx="888492" cy="274320"/>
          </a:xfrm>
          <a:prstGeom prst="rect">
            <a:avLst/>
          </a:prstGeom>
        </p:spPr>
      </p:pic>
      <p:pic>
        <p:nvPicPr>
          <p:cNvPr id="30" name="Image 4" descr="./assets/ref-wavin.png">    </p:cNvPr>
          <p:cNvPicPr>
            <a:picLocks noChangeAspect="1"/>
          </p:cNvPicPr>
          <p:nvPr/>
        </p:nvPicPr>
        <p:blipFill>
          <a:blip r:embed="rId5"/>
          <a:stretch>
            <a:fillRect/>
          </a:stretch>
        </p:blipFill>
        <p:spPr>
          <a:xfrm>
            <a:off x="6696753" y="5441600"/>
            <a:ext cx="974385" cy="235904"/>
          </a:xfrm>
          <a:prstGeom prst="rect">
            <a:avLst/>
          </a:prstGeom>
        </p:spPr>
      </p:pic>
      <p:pic>
        <p:nvPicPr>
          <p:cNvPr id="31" name="Image 5" descr="./assets/ref-imerys.png">    </p:cNvPr>
          <p:cNvPicPr>
            <a:picLocks noChangeAspect="1"/>
          </p:cNvPicPr>
          <p:nvPr/>
        </p:nvPicPr>
        <p:blipFill>
          <a:blip r:embed="rId6"/>
          <a:stretch>
            <a:fillRect/>
          </a:stretch>
        </p:blipFill>
        <p:spPr>
          <a:xfrm>
            <a:off x="7982034" y="5422392"/>
            <a:ext cx="426720" cy="274320"/>
          </a:xfrm>
          <a:prstGeom prst="rect">
            <a:avLst/>
          </a:prstGeom>
        </p:spPr>
      </p:pic>
      <p:pic>
        <p:nvPicPr>
          <p:cNvPr id="32" name="Image 6" descr="./assets/ref-gsk.png">    </p:cNvPr>
          <p:cNvPicPr>
            <a:picLocks noChangeAspect="1"/>
          </p:cNvPicPr>
          <p:nvPr/>
        </p:nvPicPr>
        <p:blipFill>
          <a:blip r:embed="rId7"/>
          <a:stretch>
            <a:fillRect/>
          </a:stretch>
        </p:blipFill>
        <p:spPr>
          <a:xfrm>
            <a:off x="8719650" y="5422392"/>
            <a:ext cx="868887" cy="274320"/>
          </a:xfrm>
          <a:prstGeom prst="rect">
            <a:avLst/>
          </a:prstGeom>
        </p:spPr>
      </p:pic>
      <p:pic>
        <p:nvPicPr>
          <p:cNvPr id="33" name="Image 7" descr="./assets/ref-beko.png">    </p:cNvPr>
          <p:cNvPicPr>
            <a:picLocks noChangeAspect="1"/>
          </p:cNvPicPr>
          <p:nvPr/>
        </p:nvPicPr>
        <p:blipFill>
          <a:blip r:embed="rId8"/>
          <a:stretch>
            <a:fillRect/>
          </a:stretch>
        </p:blipFill>
        <p:spPr>
          <a:xfrm>
            <a:off x="9899433" y="5422392"/>
            <a:ext cx="481263" cy="274320"/>
          </a:xfrm>
          <a:prstGeom prst="rect">
            <a:avLst/>
          </a:prstGeom>
        </p:spPr>
      </p:pic>
      <p:pic>
        <p:nvPicPr>
          <p:cNvPr id="34" name="Image 8" descr="./assets/ref-peri.png">    </p:cNvPr>
          <p:cNvPicPr>
            <a:picLocks noChangeAspect="1"/>
          </p:cNvPicPr>
          <p:nvPr/>
        </p:nvPicPr>
        <p:blipFill>
          <a:blip r:embed="rId9"/>
          <a:stretch>
            <a:fillRect/>
          </a:stretch>
        </p:blipFill>
        <p:spPr>
          <a:xfrm>
            <a:off x="10691592" y="5422392"/>
            <a:ext cx="529389" cy="274320"/>
          </a:xfrm>
          <a:prstGeom prst="rect">
            <a:avLst/>
          </a:prstGeom>
        </p:spPr>
      </p:pic>
      <p:sp>
        <p:nvSpPr>
          <p:cNvPr id="35" name="Text 24"/>
          <p:cNvSpPr txBox="1"/>
          <p:nvPr/>
        </p:nvSpPr>
        <p:spPr>
          <a:xfrm>
            <a:off x="777240" y="6345936"/>
            <a:ext cx="3657600" cy="21945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750" spc="60" kern="0" dirty="0">
                <a:solidFill>
                  <a:srgbClr val="5F6D77"/>
                </a:solidFill>
                <a:latin typeface="IBM Plex Mono" pitchFamily="34" charset="0"/>
                <a:ea typeface="IBM Plex Mono" pitchFamily="34" charset="-122"/>
                <a:cs typeface="IBM Plex Mono" pitchFamily="34" charset="-120"/>
              </a:rPr>
              <a:t>CPeak Consultancy</a:t>
            </a:r>
            <a:endParaRPr lang="en-US" sz="750" dirty="0"/>
          </a:p>
        </p:txBody>
      </p:sp>
      <p:sp>
        <p:nvSpPr>
          <p:cNvPr id="36" name="Text 25"/>
          <p:cNvSpPr txBox="1"/>
          <p:nvPr/>
        </p:nvSpPr>
        <p:spPr>
          <a:xfrm>
            <a:off x="10500055" y="6345936"/>
            <a:ext cx="914400" cy="21945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750" spc="60" kern="0" dirty="0">
                <a:solidFill>
                  <a:srgbClr val="5F6D77"/>
                </a:solidFill>
                <a:latin typeface="IBM Plex Mono" pitchFamily="34" charset="0"/>
                <a:ea typeface="IBM Plex Mono" pitchFamily="34" charset="-122"/>
                <a:cs typeface="IBM Plex Mono" pitchFamily="34" charset="-120"/>
              </a:rPr>
              <a:t>11</a:t>
            </a:r>
            <a:endParaRPr lang="en-US" sz="750" dirty="0"/>
          </a:p>
        </p:txBody>
      </p:sp>
    </p:spTree>
  </p:cSld>
  <p:clrMapOvr>
    <a:masterClrMapping/>
  </p:clrMapOvr>
</p:sld>
</file>

<file path=ppt/slides/slide12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2">
    <p:bg>
      <p:bgPr>
        <a:solidFill>
          <a:srgbClr val="003F82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6949440" y="457200"/>
            <a:ext cx="5486400" cy="0"/>
          </a:xfrm>
          <a:prstGeom prst="line">
            <a:avLst/>
          </a:prstGeom>
          <a:noFill/>
          <a:ln w="9525">
            <a:solidFill>
              <a:srgbClr val="1D5590"/>
            </a:solidFill>
            <a:prstDash val="solid"/>
          </a:ln>
        </p:spPr>
      </p:sp>
      <p:sp>
        <p:nvSpPr>
          <p:cNvPr id="3" name="Shape 1"/>
          <p:cNvSpPr/>
          <p:nvPr/>
        </p:nvSpPr>
        <p:spPr>
          <a:xfrm>
            <a:off x="6949440" y="914400"/>
            <a:ext cx="5486400" cy="0"/>
          </a:xfrm>
          <a:prstGeom prst="line">
            <a:avLst/>
          </a:prstGeom>
          <a:noFill/>
          <a:ln w="9525">
            <a:solidFill>
              <a:srgbClr val="1D5590"/>
            </a:solidFill>
            <a:prstDash val="solid"/>
          </a:ln>
        </p:spPr>
      </p:sp>
      <p:sp>
        <p:nvSpPr>
          <p:cNvPr id="4" name="Shape 2"/>
          <p:cNvSpPr/>
          <p:nvPr/>
        </p:nvSpPr>
        <p:spPr>
          <a:xfrm>
            <a:off x="6949440" y="1371600"/>
            <a:ext cx="5486400" cy="0"/>
          </a:xfrm>
          <a:prstGeom prst="line">
            <a:avLst/>
          </a:prstGeom>
          <a:noFill/>
          <a:ln w="9525">
            <a:solidFill>
              <a:srgbClr val="1D5590"/>
            </a:solidFill>
            <a:prstDash val="solid"/>
          </a:ln>
        </p:spPr>
      </p:sp>
      <p:sp>
        <p:nvSpPr>
          <p:cNvPr id="5" name="Shape 3"/>
          <p:cNvSpPr/>
          <p:nvPr/>
        </p:nvSpPr>
        <p:spPr>
          <a:xfrm>
            <a:off x="6949440" y="1828800"/>
            <a:ext cx="5486400" cy="0"/>
          </a:xfrm>
          <a:prstGeom prst="line">
            <a:avLst/>
          </a:prstGeom>
          <a:noFill/>
          <a:ln w="9525">
            <a:solidFill>
              <a:srgbClr val="1D5590"/>
            </a:solidFill>
            <a:prstDash val="solid"/>
          </a:ln>
        </p:spPr>
      </p:sp>
      <p:sp>
        <p:nvSpPr>
          <p:cNvPr id="6" name="Shape 4"/>
          <p:cNvSpPr/>
          <p:nvPr/>
        </p:nvSpPr>
        <p:spPr>
          <a:xfrm>
            <a:off x="6949440" y="2286000"/>
            <a:ext cx="5486400" cy="0"/>
          </a:xfrm>
          <a:prstGeom prst="line">
            <a:avLst/>
          </a:prstGeom>
          <a:noFill/>
          <a:ln w="9525">
            <a:solidFill>
              <a:srgbClr val="1D5590"/>
            </a:solidFill>
            <a:prstDash val="solid"/>
          </a:ln>
        </p:spPr>
      </p:sp>
      <p:sp>
        <p:nvSpPr>
          <p:cNvPr id="7" name="Shape 5"/>
          <p:cNvSpPr/>
          <p:nvPr/>
        </p:nvSpPr>
        <p:spPr>
          <a:xfrm>
            <a:off x="6949440" y="2743200"/>
            <a:ext cx="5486400" cy="0"/>
          </a:xfrm>
          <a:prstGeom prst="line">
            <a:avLst/>
          </a:prstGeom>
          <a:noFill/>
          <a:ln w="9525">
            <a:solidFill>
              <a:srgbClr val="1D5590"/>
            </a:solidFill>
            <a:prstDash val="solid"/>
          </a:ln>
        </p:spPr>
      </p:sp>
      <p:sp>
        <p:nvSpPr>
          <p:cNvPr id="8" name="Shape 6"/>
          <p:cNvSpPr/>
          <p:nvPr/>
        </p:nvSpPr>
        <p:spPr>
          <a:xfrm>
            <a:off x="6949440" y="3200400"/>
            <a:ext cx="5486400" cy="0"/>
          </a:xfrm>
          <a:prstGeom prst="line">
            <a:avLst/>
          </a:prstGeom>
          <a:noFill/>
          <a:ln w="9525">
            <a:solidFill>
              <a:srgbClr val="1D5590"/>
            </a:solidFill>
            <a:prstDash val="solid"/>
          </a:ln>
        </p:spPr>
      </p:sp>
      <p:sp>
        <p:nvSpPr>
          <p:cNvPr id="9" name="Shape 7"/>
          <p:cNvSpPr/>
          <p:nvPr/>
        </p:nvSpPr>
        <p:spPr>
          <a:xfrm>
            <a:off x="6949440" y="3657600"/>
            <a:ext cx="5486400" cy="0"/>
          </a:xfrm>
          <a:prstGeom prst="line">
            <a:avLst/>
          </a:prstGeom>
          <a:noFill/>
          <a:ln w="9525">
            <a:solidFill>
              <a:srgbClr val="1D5590"/>
            </a:solidFill>
            <a:prstDash val="solid"/>
          </a:ln>
        </p:spPr>
      </p:sp>
      <p:sp>
        <p:nvSpPr>
          <p:cNvPr id="10" name="Shape 8"/>
          <p:cNvSpPr/>
          <p:nvPr/>
        </p:nvSpPr>
        <p:spPr>
          <a:xfrm>
            <a:off x="6949440" y="4114800"/>
            <a:ext cx="5486400" cy="0"/>
          </a:xfrm>
          <a:prstGeom prst="line">
            <a:avLst/>
          </a:prstGeom>
          <a:noFill/>
          <a:ln w="9525">
            <a:solidFill>
              <a:srgbClr val="1D5590"/>
            </a:solidFill>
            <a:prstDash val="solid"/>
          </a:ln>
        </p:spPr>
      </p:sp>
      <p:sp>
        <p:nvSpPr>
          <p:cNvPr id="11" name="Shape 9"/>
          <p:cNvSpPr/>
          <p:nvPr/>
        </p:nvSpPr>
        <p:spPr>
          <a:xfrm>
            <a:off x="6949440" y="4572000"/>
            <a:ext cx="5486400" cy="0"/>
          </a:xfrm>
          <a:prstGeom prst="line">
            <a:avLst/>
          </a:prstGeom>
          <a:noFill/>
          <a:ln w="9525">
            <a:solidFill>
              <a:srgbClr val="1D5590"/>
            </a:solidFill>
            <a:prstDash val="solid"/>
          </a:ln>
        </p:spPr>
      </p:sp>
      <p:sp>
        <p:nvSpPr>
          <p:cNvPr id="12" name="Shape 10"/>
          <p:cNvSpPr/>
          <p:nvPr/>
        </p:nvSpPr>
        <p:spPr>
          <a:xfrm>
            <a:off x="7452360" y="0"/>
            <a:ext cx="0" cy="4800600"/>
          </a:xfrm>
          <a:prstGeom prst="line">
            <a:avLst/>
          </a:prstGeom>
          <a:noFill/>
          <a:ln w="9525">
            <a:solidFill>
              <a:srgbClr val="1D5590"/>
            </a:solidFill>
            <a:prstDash val="solid"/>
          </a:ln>
        </p:spPr>
      </p:sp>
      <p:sp>
        <p:nvSpPr>
          <p:cNvPr id="13" name="Shape 11"/>
          <p:cNvSpPr/>
          <p:nvPr/>
        </p:nvSpPr>
        <p:spPr>
          <a:xfrm flipV="1">
            <a:off x="8046720" y="914400"/>
            <a:ext cx="1371600" cy="457200"/>
          </a:xfrm>
          <a:prstGeom prst="line">
            <a:avLst/>
          </a:prstGeom>
          <a:noFill/>
          <a:ln w="9525">
            <a:solidFill>
              <a:srgbClr val="4D79A8"/>
            </a:solidFill>
            <a:prstDash val="solid"/>
          </a:ln>
        </p:spPr>
      </p:sp>
      <p:sp>
        <p:nvSpPr>
          <p:cNvPr id="14" name="Shape 12"/>
          <p:cNvSpPr/>
          <p:nvPr/>
        </p:nvSpPr>
        <p:spPr>
          <a:xfrm>
            <a:off x="9418320" y="914400"/>
            <a:ext cx="1303020" cy="914400"/>
          </a:xfrm>
          <a:prstGeom prst="line">
            <a:avLst/>
          </a:prstGeom>
          <a:noFill/>
          <a:ln w="9525">
            <a:solidFill>
              <a:srgbClr val="4D79A8"/>
            </a:solidFill>
            <a:prstDash val="solid"/>
          </a:ln>
        </p:spPr>
      </p:sp>
      <p:sp>
        <p:nvSpPr>
          <p:cNvPr id="15" name="Shape 13"/>
          <p:cNvSpPr/>
          <p:nvPr/>
        </p:nvSpPr>
        <p:spPr>
          <a:xfrm>
            <a:off x="8046720" y="1371600"/>
            <a:ext cx="1371600" cy="914400"/>
          </a:xfrm>
          <a:prstGeom prst="line">
            <a:avLst/>
          </a:prstGeom>
          <a:noFill/>
          <a:ln w="9525">
            <a:solidFill>
              <a:srgbClr val="4D79A8"/>
            </a:solidFill>
            <a:prstDash val="solid"/>
          </a:ln>
        </p:spPr>
      </p:sp>
      <p:sp>
        <p:nvSpPr>
          <p:cNvPr id="16" name="Shape 14"/>
          <p:cNvSpPr/>
          <p:nvPr/>
        </p:nvSpPr>
        <p:spPr>
          <a:xfrm flipV="1">
            <a:off x="9418320" y="1828800"/>
            <a:ext cx="1303020" cy="457200"/>
          </a:xfrm>
          <a:prstGeom prst="line">
            <a:avLst/>
          </a:prstGeom>
          <a:noFill/>
          <a:ln w="9525">
            <a:solidFill>
              <a:srgbClr val="4D79A8"/>
            </a:solidFill>
            <a:prstDash val="solid"/>
          </a:ln>
        </p:spPr>
      </p:sp>
      <p:sp>
        <p:nvSpPr>
          <p:cNvPr id="17" name="Shape 15"/>
          <p:cNvSpPr/>
          <p:nvPr/>
        </p:nvSpPr>
        <p:spPr>
          <a:xfrm flipV="1">
            <a:off x="8663940" y="2286000"/>
            <a:ext cx="754380" cy="457200"/>
          </a:xfrm>
          <a:prstGeom prst="line">
            <a:avLst/>
          </a:prstGeom>
          <a:noFill/>
          <a:ln w="9525">
            <a:solidFill>
              <a:srgbClr val="4D79A8"/>
            </a:solidFill>
            <a:prstDash val="solid"/>
          </a:ln>
        </p:spPr>
      </p:sp>
      <p:sp>
        <p:nvSpPr>
          <p:cNvPr id="18" name="Shape 16"/>
          <p:cNvSpPr/>
          <p:nvPr/>
        </p:nvSpPr>
        <p:spPr>
          <a:xfrm>
            <a:off x="8663940" y="2743200"/>
            <a:ext cx="1577340" cy="457200"/>
          </a:xfrm>
          <a:prstGeom prst="line">
            <a:avLst/>
          </a:prstGeom>
          <a:noFill/>
          <a:ln w="9525">
            <a:solidFill>
              <a:srgbClr val="4D79A8"/>
            </a:solidFill>
            <a:prstDash val="solid"/>
          </a:ln>
        </p:spPr>
      </p:sp>
      <p:sp>
        <p:nvSpPr>
          <p:cNvPr id="19" name="Shape 17"/>
          <p:cNvSpPr/>
          <p:nvPr/>
        </p:nvSpPr>
        <p:spPr>
          <a:xfrm flipV="1">
            <a:off x="10241280" y="1828800"/>
            <a:ext cx="480060" cy="1371600"/>
          </a:xfrm>
          <a:prstGeom prst="line">
            <a:avLst/>
          </a:prstGeom>
          <a:noFill/>
          <a:ln w="9525">
            <a:solidFill>
              <a:srgbClr val="4D79A8"/>
            </a:solidFill>
            <a:prstDash val="solid"/>
          </a:ln>
        </p:spPr>
      </p:sp>
      <p:sp>
        <p:nvSpPr>
          <p:cNvPr id="20" name="Shape 18"/>
          <p:cNvSpPr/>
          <p:nvPr/>
        </p:nvSpPr>
        <p:spPr>
          <a:xfrm>
            <a:off x="10241280" y="3200400"/>
            <a:ext cx="1303020" cy="457200"/>
          </a:xfrm>
          <a:prstGeom prst="line">
            <a:avLst/>
          </a:prstGeom>
          <a:noFill/>
          <a:ln w="9525">
            <a:solidFill>
              <a:srgbClr val="4D79A8"/>
            </a:solidFill>
            <a:prstDash val="solid"/>
          </a:ln>
        </p:spPr>
      </p:sp>
      <p:sp>
        <p:nvSpPr>
          <p:cNvPr id="21" name="Shape 19"/>
          <p:cNvSpPr/>
          <p:nvPr/>
        </p:nvSpPr>
        <p:spPr>
          <a:xfrm flipV="1">
            <a:off x="7772400" y="2743200"/>
            <a:ext cx="891540" cy="1097280"/>
          </a:xfrm>
          <a:prstGeom prst="line">
            <a:avLst/>
          </a:prstGeom>
          <a:noFill/>
          <a:ln w="9525">
            <a:solidFill>
              <a:srgbClr val="4D79A8"/>
            </a:solidFill>
            <a:prstDash val="solid"/>
          </a:ln>
        </p:spPr>
      </p:sp>
      <p:sp>
        <p:nvSpPr>
          <p:cNvPr id="22" name="Shape 20"/>
          <p:cNvSpPr/>
          <p:nvPr/>
        </p:nvSpPr>
        <p:spPr>
          <a:xfrm flipV="1">
            <a:off x="7772400" y="3200400"/>
            <a:ext cx="2468880" cy="640080"/>
          </a:xfrm>
          <a:prstGeom prst="line">
            <a:avLst/>
          </a:prstGeom>
          <a:noFill/>
          <a:ln w="9525">
            <a:solidFill>
              <a:srgbClr val="4D79A8"/>
            </a:solidFill>
            <a:prstDash val="solid"/>
          </a:ln>
        </p:spPr>
      </p:sp>
      <p:sp>
        <p:nvSpPr>
          <p:cNvPr id="23" name="Shape 21"/>
          <p:cNvSpPr/>
          <p:nvPr/>
        </p:nvSpPr>
        <p:spPr>
          <a:xfrm>
            <a:off x="7959852" y="1284732"/>
            <a:ext cx="173736" cy="173736"/>
          </a:xfrm>
          <a:prstGeom prst="ellipse">
            <a:avLst/>
          </a:prstGeom>
          <a:solidFill>
            <a:srgbClr val="99B2CD"/>
          </a:solidFill>
          <a:ln w="3175">
            <a:solidFill>
              <a:srgbClr val="99B2CD"/>
            </a:solidFill>
            <a:prstDash val="solid"/>
          </a:ln>
        </p:spPr>
      </p:sp>
      <p:sp>
        <p:nvSpPr>
          <p:cNvPr id="24" name="Shape 22"/>
          <p:cNvSpPr/>
          <p:nvPr/>
        </p:nvSpPr>
        <p:spPr>
          <a:xfrm>
            <a:off x="9353169" y="849249"/>
            <a:ext cx="130302" cy="130302"/>
          </a:xfrm>
          <a:prstGeom prst="ellipse">
            <a:avLst/>
          </a:prstGeom>
          <a:solidFill>
            <a:srgbClr val="99B2CD"/>
          </a:solidFill>
          <a:ln w="3175">
            <a:solidFill>
              <a:srgbClr val="99B2CD"/>
            </a:solidFill>
            <a:prstDash val="solid"/>
          </a:ln>
        </p:spPr>
      </p:sp>
      <p:sp>
        <p:nvSpPr>
          <p:cNvPr id="25" name="Shape 23"/>
          <p:cNvSpPr/>
          <p:nvPr/>
        </p:nvSpPr>
        <p:spPr>
          <a:xfrm>
            <a:off x="10612755" y="1720215"/>
            <a:ext cx="217170" cy="217170"/>
          </a:xfrm>
          <a:prstGeom prst="ellipse">
            <a:avLst/>
          </a:prstGeom>
          <a:solidFill>
            <a:srgbClr val="99B2CD"/>
          </a:solidFill>
          <a:ln w="3175">
            <a:solidFill>
              <a:srgbClr val="99B2CD"/>
            </a:solidFill>
            <a:prstDash val="solid"/>
          </a:ln>
        </p:spPr>
      </p:sp>
      <p:sp>
        <p:nvSpPr>
          <p:cNvPr id="26" name="Shape 24"/>
          <p:cNvSpPr/>
          <p:nvPr/>
        </p:nvSpPr>
        <p:spPr>
          <a:xfrm>
            <a:off x="8598789" y="2678049"/>
            <a:ext cx="130302" cy="130302"/>
          </a:xfrm>
          <a:prstGeom prst="ellipse">
            <a:avLst/>
          </a:prstGeom>
          <a:solidFill>
            <a:srgbClr val="99B2CD"/>
          </a:solidFill>
          <a:ln w="3175">
            <a:solidFill>
              <a:srgbClr val="99B2CD"/>
            </a:solidFill>
            <a:prstDash val="solid"/>
          </a:ln>
        </p:spPr>
      </p:sp>
      <p:sp>
        <p:nvSpPr>
          <p:cNvPr id="27" name="Shape 25"/>
          <p:cNvSpPr/>
          <p:nvPr/>
        </p:nvSpPr>
        <p:spPr>
          <a:xfrm>
            <a:off x="10154412" y="3113532"/>
            <a:ext cx="173736" cy="173736"/>
          </a:xfrm>
          <a:prstGeom prst="ellipse">
            <a:avLst/>
          </a:prstGeom>
          <a:solidFill>
            <a:srgbClr val="99B2CD"/>
          </a:solidFill>
          <a:ln w="3175">
            <a:solidFill>
              <a:srgbClr val="99B2CD"/>
            </a:solidFill>
            <a:prstDash val="solid"/>
          </a:ln>
        </p:spPr>
      </p:sp>
      <p:sp>
        <p:nvSpPr>
          <p:cNvPr id="28" name="Shape 26"/>
          <p:cNvSpPr/>
          <p:nvPr/>
        </p:nvSpPr>
        <p:spPr>
          <a:xfrm>
            <a:off x="11479149" y="3592449"/>
            <a:ext cx="130302" cy="130302"/>
          </a:xfrm>
          <a:prstGeom prst="ellipse">
            <a:avLst/>
          </a:prstGeom>
          <a:solidFill>
            <a:srgbClr val="99B2CD"/>
          </a:solidFill>
          <a:ln w="3175">
            <a:solidFill>
              <a:srgbClr val="99B2CD"/>
            </a:solidFill>
            <a:prstDash val="solid"/>
          </a:ln>
        </p:spPr>
      </p:sp>
      <p:sp>
        <p:nvSpPr>
          <p:cNvPr id="29" name="Shape 27"/>
          <p:cNvSpPr/>
          <p:nvPr/>
        </p:nvSpPr>
        <p:spPr>
          <a:xfrm>
            <a:off x="7707249" y="3775329"/>
            <a:ext cx="130302" cy="130302"/>
          </a:xfrm>
          <a:prstGeom prst="ellipse">
            <a:avLst/>
          </a:prstGeom>
          <a:solidFill>
            <a:srgbClr val="99B2CD"/>
          </a:solidFill>
          <a:ln w="3175">
            <a:solidFill>
              <a:srgbClr val="99B2CD"/>
            </a:solidFill>
            <a:prstDash val="solid"/>
          </a:ln>
        </p:spPr>
      </p:sp>
      <p:sp>
        <p:nvSpPr>
          <p:cNvPr id="30" name="Shape 28"/>
          <p:cNvSpPr/>
          <p:nvPr/>
        </p:nvSpPr>
        <p:spPr>
          <a:xfrm>
            <a:off x="9288018" y="2155698"/>
            <a:ext cx="260604" cy="260604"/>
          </a:xfrm>
          <a:prstGeom prst="ellipse">
            <a:avLst/>
          </a:prstGeom>
          <a:solidFill>
            <a:srgbClr val="E8B33A"/>
          </a:solidFill>
          <a:ln w="3175">
            <a:solidFill>
              <a:srgbClr val="E8B33A"/>
            </a:solidFill>
            <a:prstDash val="solid"/>
          </a:ln>
        </p:spPr>
      </p:sp>
      <p:pic>
        <p:nvPicPr>
          <p:cNvPr id="31" name="Image 0" descr="./assets/logo-dark.png">    </p:cNvPr>
          <p:cNvPicPr>
            <a:picLocks noChangeAspect="1"/>
          </p:cNvPicPr>
          <p:nvPr/>
        </p:nvPicPr>
        <p:blipFill>
          <a:blip r:embed="rId1"/>
          <a:stretch>
            <a:fillRect/>
          </a:stretch>
        </p:blipFill>
        <p:spPr>
          <a:xfrm>
            <a:off x="777240" y="685800"/>
            <a:ext cx="1737360" cy="598059"/>
          </a:xfrm>
          <a:prstGeom prst="rect">
            <a:avLst/>
          </a:prstGeom>
        </p:spPr>
      </p:pic>
      <p:sp>
        <p:nvSpPr>
          <p:cNvPr id="32" name="Shape 29"/>
          <p:cNvSpPr/>
          <p:nvPr/>
        </p:nvSpPr>
        <p:spPr>
          <a:xfrm>
            <a:off x="777240" y="2171700"/>
            <a:ext cx="237744" cy="0"/>
          </a:xfrm>
          <a:prstGeom prst="line">
            <a:avLst/>
          </a:prstGeom>
          <a:noFill/>
          <a:ln w="12700">
            <a:solidFill>
              <a:srgbClr val="F5DCA4"/>
            </a:solidFill>
            <a:prstDash val="solid"/>
          </a:ln>
        </p:spPr>
      </p:sp>
      <p:sp>
        <p:nvSpPr>
          <p:cNvPr id="33" name="Text 30"/>
          <p:cNvSpPr txBox="1"/>
          <p:nvPr/>
        </p:nvSpPr>
        <p:spPr>
          <a:xfrm>
            <a:off x="1106424" y="2052828"/>
            <a:ext cx="5486400" cy="23774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850" spc="90" kern="0" dirty="0">
                <a:solidFill>
                  <a:srgbClr val="F5DCA4"/>
                </a:solidFill>
                <a:latin typeface="IBM Plex Mono" pitchFamily="34" charset="0"/>
                <a:ea typeface="IBM Plex Mono" pitchFamily="34" charset="-122"/>
                <a:cs typeface="IBM Plex Mono" pitchFamily="34" charset="-120"/>
              </a:rPr>
              <a:t>NEXT STEP</a:t>
            </a:r>
            <a:endParaRPr lang="en-US" sz="850" dirty="0"/>
          </a:p>
        </p:txBody>
      </p:sp>
      <p:sp>
        <p:nvSpPr>
          <p:cNvPr id="34" name="Text 31"/>
          <p:cNvSpPr txBox="1"/>
          <p:nvPr/>
        </p:nvSpPr>
        <p:spPr>
          <a:xfrm>
            <a:off x="777240" y="2450592"/>
            <a:ext cx="6128842" cy="173736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lnSpc>
                <a:spcPts val="3600"/>
              </a:lnSpc>
              <a:buNone/>
            </a:pPr>
            <a:r>
              <a:rPr lang="en-US" sz="2800" b="1" spc="-80" kern="0" dirty="0">
                <a:solidFill>
                  <a:srgbClr val="FFFFFF"/>
                </a:solidFill>
                <a:latin typeface="Schibsted Grotesk" pitchFamily="34" charset="0"/>
                <a:ea typeface="Schibsted Grotesk" pitchFamily="34" charset="-122"/>
                <a:cs typeface="Schibsted Grotesk" pitchFamily="34" charset="-120"/>
              </a:rPr>
              <a:t>Tell us about your project</a:t>
            </a:r>
            <a:endParaRPr lang="en-US" sz="2800" dirty="0"/>
          </a:p>
          <a:p>
            <a:pPr indent="0" marL="0">
              <a:lnSpc>
                <a:spcPts val="3600"/>
              </a:lnSpc>
              <a:buNone/>
            </a:pPr>
            <a:r>
              <a:rPr lang="en-US" sz="2800" b="1" spc="-80" kern="0" dirty="0">
                <a:solidFill>
                  <a:srgbClr val="FFFFFF"/>
                </a:solidFill>
                <a:latin typeface="Schibsted Grotesk" pitchFamily="34" charset="0"/>
                <a:ea typeface="Schibsted Grotesk" pitchFamily="34" charset="-122"/>
                <a:cs typeface="Schibsted Grotesk" pitchFamily="34" charset="-120"/>
              </a:rPr>
              <a:t>and we will come back</a:t>
            </a:r>
            <a:endParaRPr lang="en-US" sz="2800" dirty="0"/>
          </a:p>
          <a:p>
            <a:pPr indent="0" marL="0">
              <a:lnSpc>
                <a:spcPts val="3600"/>
              </a:lnSpc>
              <a:buNone/>
            </a:pPr>
            <a:r>
              <a:rPr lang="en-US" sz="2800" b="1" spc="-80" kern="0" dirty="0">
                <a:solidFill>
                  <a:srgbClr val="FFFFFF"/>
                </a:solidFill>
                <a:latin typeface="Schibsted Grotesk" pitchFamily="34" charset="0"/>
                <a:ea typeface="Schibsted Grotesk" pitchFamily="34" charset="-122"/>
                <a:cs typeface="Schibsted Grotesk" pitchFamily="34" charset="-120"/>
              </a:rPr>
              <a:t>within one business day</a:t>
            </a:r>
            <a:endParaRPr lang="en-US" sz="2800" dirty="0"/>
          </a:p>
        </p:txBody>
      </p:sp>
      <p:sp>
        <p:nvSpPr>
          <p:cNvPr id="35" name="Text 32"/>
          <p:cNvSpPr txBox="1"/>
          <p:nvPr/>
        </p:nvSpPr>
        <p:spPr>
          <a:xfrm>
            <a:off x="777240" y="4224528"/>
            <a:ext cx="5227168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lnSpc>
                <a:spcPts val="1550"/>
              </a:lnSpc>
              <a:buNone/>
            </a:pPr>
            <a:r>
              <a:rPr lang="en-US" sz="1000" dirty="0">
                <a:solidFill>
                  <a:srgbClr val="D2DDE6"/>
                </a:solidFill>
                <a:latin typeface="Inter" pitchFamily="34" charset="0"/>
                <a:ea typeface="Inter" pitchFamily="34" charset="-122"/>
                <a:cs typeface="Inter" pitchFamily="34" charset="-120"/>
              </a:rPr>
              <a:t>A few sentences on where you are today and what you are trying to solve is enough to start. The first call runs 30–45 minutes at no cost.</a:t>
            </a:r>
            <a:endParaRPr lang="en-US" sz="1000" dirty="0"/>
          </a:p>
        </p:txBody>
      </p:sp>
      <p:sp>
        <p:nvSpPr>
          <p:cNvPr id="36" name="Shape 33"/>
          <p:cNvSpPr/>
          <p:nvPr/>
        </p:nvSpPr>
        <p:spPr>
          <a:xfrm>
            <a:off x="777240" y="4828032"/>
            <a:ext cx="10637215" cy="0"/>
          </a:xfrm>
          <a:prstGeom prst="line">
            <a:avLst/>
          </a:prstGeom>
          <a:noFill/>
          <a:ln w="9525">
            <a:solidFill>
              <a:srgbClr val="4271A3"/>
            </a:solidFill>
            <a:prstDash val="solid"/>
          </a:ln>
        </p:spPr>
      </p:sp>
      <p:sp>
        <p:nvSpPr>
          <p:cNvPr id="37" name="Text 34"/>
          <p:cNvSpPr txBox="1"/>
          <p:nvPr/>
        </p:nvSpPr>
        <p:spPr>
          <a:xfrm>
            <a:off x="777240" y="5029200"/>
            <a:ext cx="3362858" cy="1828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700" spc="75" kern="0" dirty="0">
                <a:solidFill>
                  <a:srgbClr val="F5DCA4"/>
                </a:solidFill>
                <a:latin typeface="IBM Plex Mono" pitchFamily="34" charset="0"/>
                <a:ea typeface="IBM Plex Mono" pitchFamily="34" charset="-122"/>
                <a:cs typeface="IBM Plex Mono" pitchFamily="34" charset="-120"/>
              </a:rPr>
              <a:t>GENERAL</a:t>
            </a:r>
            <a:endParaRPr lang="en-US" sz="700" dirty="0"/>
          </a:p>
        </p:txBody>
      </p:sp>
      <p:sp>
        <p:nvSpPr>
          <p:cNvPr id="38" name="Text 35"/>
          <p:cNvSpPr txBox="1"/>
          <p:nvPr/>
        </p:nvSpPr>
        <p:spPr>
          <a:xfrm>
            <a:off x="777240" y="5202936"/>
            <a:ext cx="3362858" cy="347472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lnSpc>
                <a:spcPts val="1200"/>
              </a:lnSpc>
              <a:buNone/>
            </a:pPr>
            <a:r>
              <a:rPr lang="en-US" sz="950" dirty="0">
                <a:solidFill>
                  <a:srgbClr val="FFFFFF"/>
                </a:solidFill>
                <a:latin typeface="Inter" pitchFamily="34" charset="0"/>
                <a:ea typeface="Inter" pitchFamily="34" charset="-122"/>
                <a:cs typeface="Inter" pitchFamily="34" charset="-120"/>
              </a:rPr>
              <a:t>info@cpeakconsultancy.com</a:t>
            </a:r>
            <a:endParaRPr lang="en-US" sz="950" dirty="0"/>
          </a:p>
        </p:txBody>
      </p:sp>
      <p:sp>
        <p:nvSpPr>
          <p:cNvPr id="39" name="Text 36"/>
          <p:cNvSpPr txBox="1"/>
          <p:nvPr/>
        </p:nvSpPr>
        <p:spPr>
          <a:xfrm>
            <a:off x="4414418" y="5029200"/>
            <a:ext cx="3362858" cy="1828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700" spc="75" kern="0" dirty="0">
                <a:solidFill>
                  <a:srgbClr val="F5DCA4"/>
                </a:solidFill>
                <a:latin typeface="IBM Plex Mono" pitchFamily="34" charset="0"/>
                <a:ea typeface="IBM Plex Mono" pitchFamily="34" charset="-122"/>
                <a:cs typeface="IBM Plex Mono" pitchFamily="34" charset="-120"/>
              </a:rPr>
              <a:t>DIRECT — KEREM YİĞİT</a:t>
            </a:r>
            <a:endParaRPr lang="en-US" sz="700" dirty="0"/>
          </a:p>
        </p:txBody>
      </p:sp>
      <p:sp>
        <p:nvSpPr>
          <p:cNvPr id="40" name="Text 37"/>
          <p:cNvSpPr txBox="1"/>
          <p:nvPr/>
        </p:nvSpPr>
        <p:spPr>
          <a:xfrm>
            <a:off x="4414418" y="5202936"/>
            <a:ext cx="3362858" cy="347472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lnSpc>
                <a:spcPts val="1200"/>
              </a:lnSpc>
              <a:buNone/>
            </a:pPr>
            <a:r>
              <a:rPr lang="en-US" sz="950" dirty="0">
                <a:solidFill>
                  <a:srgbClr val="FFFFFF"/>
                </a:solidFill>
                <a:latin typeface="Inter" pitchFamily="34" charset="0"/>
                <a:ea typeface="Inter" pitchFamily="34" charset="-122"/>
                <a:cs typeface="Inter" pitchFamily="34" charset="-120"/>
              </a:rPr>
              <a:t>kerem.yigit@cpeakconsultancy.com</a:t>
            </a:r>
            <a:endParaRPr lang="en-US" sz="950" dirty="0"/>
          </a:p>
        </p:txBody>
      </p:sp>
      <p:sp>
        <p:nvSpPr>
          <p:cNvPr id="41" name="Text 38"/>
          <p:cNvSpPr txBox="1"/>
          <p:nvPr/>
        </p:nvSpPr>
        <p:spPr>
          <a:xfrm>
            <a:off x="8051597" y="5029200"/>
            <a:ext cx="3362858" cy="1828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700" spc="75" kern="0" dirty="0">
                <a:solidFill>
                  <a:srgbClr val="F5DCA4"/>
                </a:solidFill>
                <a:latin typeface="IBM Plex Mono" pitchFamily="34" charset="0"/>
                <a:ea typeface="IBM Plex Mono" pitchFamily="34" charset="-122"/>
                <a:cs typeface="IBM Plex Mono" pitchFamily="34" charset="-120"/>
              </a:rPr>
              <a:t>TELEPHONE</a:t>
            </a:r>
            <a:endParaRPr lang="en-US" sz="700" dirty="0"/>
          </a:p>
        </p:txBody>
      </p:sp>
      <p:sp>
        <p:nvSpPr>
          <p:cNvPr id="42" name="Text 39"/>
          <p:cNvSpPr txBox="1"/>
          <p:nvPr/>
        </p:nvSpPr>
        <p:spPr>
          <a:xfrm>
            <a:off x="8051597" y="5202936"/>
            <a:ext cx="3362858" cy="347472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lnSpc>
                <a:spcPts val="1200"/>
              </a:lnSpc>
              <a:buNone/>
            </a:pPr>
            <a:r>
              <a:rPr lang="en-US" sz="950" dirty="0">
                <a:solidFill>
                  <a:srgbClr val="FFFFFF"/>
                </a:solidFill>
                <a:latin typeface="Inter" pitchFamily="34" charset="0"/>
                <a:ea typeface="Inter" pitchFamily="34" charset="-122"/>
                <a:cs typeface="Inter" pitchFamily="34" charset="-120"/>
              </a:rPr>
              <a:t>+90 (507) 032 81 70</a:t>
            </a:r>
            <a:endParaRPr lang="en-US" sz="950" dirty="0"/>
          </a:p>
        </p:txBody>
      </p:sp>
      <p:sp>
        <p:nvSpPr>
          <p:cNvPr id="43" name="Text 40"/>
          <p:cNvSpPr txBox="1"/>
          <p:nvPr/>
        </p:nvSpPr>
        <p:spPr>
          <a:xfrm>
            <a:off x="777240" y="5632704"/>
            <a:ext cx="3362858" cy="1828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700" spc="75" kern="0" dirty="0">
                <a:solidFill>
                  <a:srgbClr val="F5DCA4"/>
                </a:solidFill>
                <a:latin typeface="IBM Plex Mono" pitchFamily="34" charset="0"/>
                <a:ea typeface="IBM Plex Mono" pitchFamily="34" charset="-122"/>
                <a:cs typeface="IBM Plex Mono" pitchFamily="34" charset="-120"/>
              </a:rPr>
              <a:t>OFFICE</a:t>
            </a:r>
            <a:endParaRPr lang="en-US" sz="700" dirty="0"/>
          </a:p>
        </p:txBody>
      </p:sp>
      <p:sp>
        <p:nvSpPr>
          <p:cNvPr id="44" name="Text 41"/>
          <p:cNvSpPr txBox="1"/>
          <p:nvPr/>
        </p:nvSpPr>
        <p:spPr>
          <a:xfrm>
            <a:off x="777240" y="5806440"/>
            <a:ext cx="3362858" cy="347472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lnSpc>
                <a:spcPts val="1200"/>
              </a:lnSpc>
              <a:buNone/>
            </a:pPr>
            <a:r>
              <a:rPr lang="en-US" sz="950" dirty="0">
                <a:solidFill>
                  <a:srgbClr val="FFFFFF"/>
                </a:solidFill>
                <a:latin typeface="Inter" pitchFamily="34" charset="0"/>
                <a:ea typeface="Inter" pitchFamily="34" charset="-122"/>
                <a:cs typeface="Inter" pitchFamily="34" charset="-120"/>
              </a:rPr>
              <a:t>Bostancı Mah. Şemsettin Günaltay Cad. No: 31/8</a:t>
            </a:r>
            <a:endParaRPr lang="en-US" sz="950" dirty="0"/>
          </a:p>
          <a:p>
            <a:pPr indent="0" marL="0">
              <a:lnSpc>
                <a:spcPts val="1200"/>
              </a:lnSpc>
              <a:buNone/>
            </a:pPr>
            <a:r>
              <a:rPr lang="en-US" sz="950" dirty="0">
                <a:solidFill>
                  <a:srgbClr val="FFFFFF"/>
                </a:solidFill>
                <a:latin typeface="Inter" pitchFamily="34" charset="0"/>
                <a:ea typeface="Inter" pitchFamily="34" charset="-122"/>
                <a:cs typeface="Inter" pitchFamily="34" charset="-120"/>
              </a:rPr>
              <a:t>34744 Kadıköy, İstanbul</a:t>
            </a:r>
            <a:endParaRPr lang="en-US" sz="950" dirty="0"/>
          </a:p>
        </p:txBody>
      </p:sp>
      <p:sp>
        <p:nvSpPr>
          <p:cNvPr id="45" name="Text 42"/>
          <p:cNvSpPr txBox="1"/>
          <p:nvPr/>
        </p:nvSpPr>
        <p:spPr>
          <a:xfrm>
            <a:off x="4414418" y="5632704"/>
            <a:ext cx="3362858" cy="1828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700" spc="75" kern="0" dirty="0">
                <a:solidFill>
                  <a:srgbClr val="F5DCA4"/>
                </a:solidFill>
                <a:latin typeface="IBM Plex Mono" pitchFamily="34" charset="0"/>
                <a:ea typeface="IBM Plex Mono" pitchFamily="34" charset="-122"/>
                <a:cs typeface="IBM Plex Mono" pitchFamily="34" charset="-120"/>
              </a:rPr>
              <a:t>WEB</a:t>
            </a:r>
            <a:endParaRPr lang="en-US" sz="700" dirty="0"/>
          </a:p>
        </p:txBody>
      </p:sp>
      <p:sp>
        <p:nvSpPr>
          <p:cNvPr id="46" name="Text 43"/>
          <p:cNvSpPr txBox="1"/>
          <p:nvPr/>
        </p:nvSpPr>
        <p:spPr>
          <a:xfrm>
            <a:off x="4414418" y="5806440"/>
            <a:ext cx="3362858" cy="347472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lnSpc>
                <a:spcPts val="1200"/>
              </a:lnSpc>
              <a:buNone/>
            </a:pPr>
            <a:r>
              <a:rPr lang="en-US" sz="950" dirty="0">
                <a:solidFill>
                  <a:srgbClr val="FFFFFF"/>
                </a:solidFill>
                <a:latin typeface="Inter" pitchFamily="34" charset="0"/>
                <a:ea typeface="Inter" pitchFamily="34" charset="-122"/>
                <a:cs typeface="Inter" pitchFamily="34" charset="-120"/>
              </a:rPr>
              <a:t>cpeakconsultancy.com</a:t>
            </a:r>
            <a:endParaRPr lang="en-US" sz="950" dirty="0"/>
          </a:p>
        </p:txBody>
      </p:sp>
      <p:sp>
        <p:nvSpPr>
          <p:cNvPr id="47" name="Text 44"/>
          <p:cNvSpPr txBox="1"/>
          <p:nvPr/>
        </p:nvSpPr>
        <p:spPr>
          <a:xfrm>
            <a:off x="8051597" y="5632704"/>
            <a:ext cx="3362858" cy="1828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700" spc="75" kern="0" dirty="0">
                <a:solidFill>
                  <a:srgbClr val="F5DCA4"/>
                </a:solidFill>
                <a:latin typeface="IBM Plex Mono" pitchFamily="34" charset="0"/>
                <a:ea typeface="IBM Plex Mono" pitchFamily="34" charset="-122"/>
                <a:cs typeface="IBM Plex Mono" pitchFamily="34" charset="-120"/>
              </a:rPr>
              <a:t>LINKEDIN</a:t>
            </a:r>
            <a:endParaRPr lang="en-US" sz="700" dirty="0"/>
          </a:p>
        </p:txBody>
      </p:sp>
      <p:sp>
        <p:nvSpPr>
          <p:cNvPr id="48" name="Text 45"/>
          <p:cNvSpPr txBox="1"/>
          <p:nvPr/>
        </p:nvSpPr>
        <p:spPr>
          <a:xfrm>
            <a:off x="8051597" y="5806440"/>
            <a:ext cx="3362858" cy="347472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lnSpc>
                <a:spcPts val="1200"/>
              </a:lnSpc>
              <a:buNone/>
            </a:pPr>
            <a:r>
              <a:rPr lang="en-US" sz="950" dirty="0">
                <a:solidFill>
                  <a:srgbClr val="FFFFFF"/>
                </a:solidFill>
                <a:latin typeface="Inter" pitchFamily="34" charset="0"/>
                <a:ea typeface="Inter" pitchFamily="34" charset="-122"/>
                <a:cs typeface="Inter" pitchFamily="34" charset="-120"/>
              </a:rPr>
              <a:t>linkedin.com/company/cpeak-consultancy</a:t>
            </a:r>
            <a:endParaRPr lang="en-US" sz="950" dirty="0"/>
          </a:p>
        </p:txBody>
      </p:sp>
      <p:sp>
        <p:nvSpPr>
          <p:cNvPr id="49" name="Text 46"/>
          <p:cNvSpPr txBox="1"/>
          <p:nvPr/>
        </p:nvSpPr>
        <p:spPr>
          <a:xfrm>
            <a:off x="10500055" y="6345936"/>
            <a:ext cx="914400" cy="21945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750" spc="60" kern="0" dirty="0">
                <a:solidFill>
                  <a:srgbClr val="8CA9C7"/>
                </a:solidFill>
                <a:latin typeface="IBM Plex Mono" pitchFamily="34" charset="0"/>
                <a:ea typeface="IBM Plex Mono" pitchFamily="34" charset="-122"/>
                <a:cs typeface="IBM Plex Mono" pitchFamily="34" charset="-120"/>
              </a:rPr>
              <a:t>12</a:t>
            </a:r>
            <a:endParaRPr lang="en-US" sz="750" dirty="0"/>
          </a:p>
        </p:txBody>
      </p:sp>
    </p:spTree>
  </p:cSld>
  <p:clrMapOvr>
    <a:masterClrMapping/>
  </p:clrMapOvr>
</p:sld>
</file>

<file path=ppt/theme/theme1.xml><?xml version="1.0" encoding="utf-8"?>
<a:theme xmlns:a="http://schemas.openxmlformats.org/drawingml/2006/main" name="Office Theme">
  <a:themeElements>
    <a:clrScheme name="Office">
      <a:dk1>
        <a:sysClr val="windowText" lastClr="000000"/>
      </a:dk1>
      <a:lt1>
        <a:sysClr val="window" lastClr="FFFFFF"/>
      </a:lt1>
      <a:dk2>
        <a:srgbClr val="44546A"/>
      </a:dk2>
      <a:lt2>
        <a:srgbClr val="E7E6E6"/>
      </a:lt2>
      <a:accent1>
        <a:srgbClr val="4472C4"/>
      </a:accent1>
      <a:accent2>
        <a:srgbClr val="ED7D31"/>
      </a:accent2>
      <a:accent3>
        <a:srgbClr val="A5A5A5"/>
      </a:accent3>
      <a:accent4>
        <a:srgbClr val="FFC000"/>
      </a:accent4>
      <a:accent5>
        <a:srgbClr val="5B9BD5"/>
      </a:accent5>
      <a:accent6>
        <a:srgbClr val="70AD47"/>
      </a:accent6>
      <a:hlink>
        <a:srgbClr val="0563C1"/>
      </a:hlink>
      <a:folHlink>
        <a:srgbClr val="954F72"/>
      </a:folHlink>
    </a:clrScheme>
    <a:fontScheme name="Office">
      <a:majorFont>
        <a:latin typeface="Calibri Light" panose="020F0302020204030204"/>
        <a:ea typeface=""/>
        <a:cs typeface=""/>
        <a:font script="Jpan" typeface="游ゴシック Light"/>
        <a:font script="Hang" typeface="맑은 고딕"/>
        <a:font script="Hans" typeface="等线 Light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  <a:font script="Armn" typeface="Arial"/>
        <a:font script="Bugi" typeface="Leelawadee UI"/>
        <a:font script="Bopo" typeface="Microsoft JhengHei"/>
        <a:font script="Java" typeface="Javanese Text"/>
        <a:font script="Lisu" typeface="Segoe UI"/>
        <a:font script="Mymr" typeface="Myanmar Text"/>
        <a:font script="Nkoo" typeface="Ebrima"/>
        <a:font script="Olck" typeface="Nirmala UI"/>
        <a:font script="Osma" typeface="Ebrima"/>
        <a:font script="Phag" typeface="Phagspa"/>
        <a:font script="Syrn" typeface="Estrangelo Edessa"/>
        <a:font script="Syrj" typeface="Estrangelo Edessa"/>
        <a:font script="Syre" typeface="Estrangelo Edessa"/>
        <a:font script="Sora" typeface="Nirmala UI"/>
        <a:font script="Tale" typeface="Microsoft Tai Le"/>
        <a:font script="Talu" typeface="Microsoft New Tai Lue"/>
        <a:font script="Tfng" typeface="Ebrima"/>
      </a:majorFont>
      <a:minorFont>
        <a:latin typeface="Calibri" panose="020F0502020204030204"/>
        <a:ea typeface=""/>
        <a:cs typeface=""/>
        <a:font script="Jpan" typeface="游ゴシック"/>
        <a:font script="Hang" typeface="맑은 고딕"/>
        <a:font script="Hans" typeface="等线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  <a:font script="Armn" typeface="Arial"/>
        <a:font script="Bugi" typeface="Leelawadee UI"/>
        <a:font script="Bopo" typeface="Microsoft JhengHei"/>
        <a:font script="Java" typeface="Javanese Text"/>
        <a:font script="Lisu" typeface="Segoe UI"/>
        <a:font script="Mymr" typeface="Myanmar Text"/>
        <a:font script="Nkoo" typeface="Ebrima"/>
        <a:font script="Olck" typeface="Nirmala UI"/>
        <a:font script="Osma" typeface="Ebrima"/>
        <a:font script="Phag" typeface="Phagspa"/>
        <a:font script="Syrn" typeface="Estrangelo Edessa"/>
        <a:font script="Syrj" typeface="Estrangelo Edessa"/>
        <a:font script="Syre" typeface="Estrangelo Edessa"/>
        <a:font script="Sora" typeface="Nirmala UI"/>
        <a:font script="Tale" typeface="Microsoft Tai Le"/>
        <a:font script="Talu" typeface="Microsoft New Tai Lue"/>
        <a:font script="Tfng" typeface="Ebrima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lumMod val="110000"/>
                <a:satMod val="105000"/>
                <a:tint val="67000"/>
              </a:schemeClr>
            </a:gs>
            <a:gs pos="50000">
              <a:schemeClr val="phClr">
                <a:lumMod val="105000"/>
                <a:satMod val="103000"/>
                <a:tint val="73000"/>
              </a:schemeClr>
            </a:gs>
            <a:gs pos="100000">
              <a:schemeClr val="phClr">
                <a:lumMod val="105000"/>
                <a:satMod val="109000"/>
                <a:tint val="81000"/>
              </a:schemeClr>
            </a:gs>
          </a:gsLst>
          <a:lin ang="5400000" scaled="0"/>
        </a:gradFill>
        <a:gradFill rotWithShape="1">
          <a:gsLst>
            <a:gs pos="0">
              <a:schemeClr val="phClr">
                <a:satMod val="103000"/>
                <a:lumMod val="102000"/>
                <a:tint val="94000"/>
              </a:schemeClr>
            </a:gs>
            <a:gs pos="50000">
              <a:schemeClr val="phClr">
                <a:satMod val="110000"/>
                <a:lumMod val="100000"/>
                <a:shade val="100000"/>
              </a:schemeClr>
            </a:gs>
            <a:gs pos="100000">
              <a:schemeClr val="phClr">
                <a:lumMod val="99000"/>
                <a:satMod val="120000"/>
                <a:shade val="78000"/>
              </a:schemeClr>
            </a:gs>
          </a:gsLst>
          <a:lin ang="5400000" scaled="0"/>
        </a:gradFill>
      </a:fillStyleLst>
      <a:lnStyleLst>
        <a:ln w="6350" cap="flat" cmpd="sng" algn="ctr">
          <a:solidFill>
            <a:schemeClr val="phClr"/>
          </a:solidFill>
          <a:prstDash val="solid"/>
          <a:miter lim="800000"/>
        </a:ln>
        <a:ln w="12700" cap="flat" cmpd="sng" algn="ctr">
          <a:solidFill>
            <a:schemeClr val="phClr"/>
          </a:solidFill>
          <a:prstDash val="solid"/>
          <a:miter lim="800000"/>
        </a:ln>
        <a:ln w="19050" cap="flat" cmpd="sng" algn="ctr">
          <a:solidFill>
            <a:schemeClr val="phClr"/>
          </a:solidFill>
          <a:prstDash val="solid"/>
          <a:miter lim="800000"/>
        </a:ln>
      </a:lnStyleLst>
      <a:effectStyleLst>
        <a:effectStyle>
          <a:effectLst/>
        </a:effectStyle>
        <a:effectStyle>
          <a:effectLst/>
        </a:effectStyle>
        <a:effectStyle>
          <a:effectLst>
            <a:outerShdw blurRad="57150" dist="19050" dir="5400000" algn="ctr" rotWithShape="0">
              <a:srgbClr val="000000">
                <a:alpha val="63000"/>
              </a:srgbClr>
            </a:outerShdw>
          </a:effectLst>
        </a:effectStyle>
      </a:effectStyleLst>
      <a:bgFillStyleLst>
        <a:solidFill>
          <a:schemeClr val="phClr"/>
        </a:solidFill>
        <a:solidFill>
          <a:schemeClr val="phClr">
            <a:tint val="95000"/>
            <a:satMod val="170000"/>
          </a:schemeClr>
        </a:solidFill>
        <a:gradFill rotWithShape="1">
          <a:gsLst>
            <a:gs pos="0">
              <a:schemeClr val="phClr">
                <a:tint val="93000"/>
                <a:satMod val="150000"/>
                <a:shade val="98000"/>
                <a:lumMod val="102000"/>
              </a:schemeClr>
            </a:gs>
            <a:gs pos="50000">
              <a:schemeClr val="phClr">
                <a:tint val="98000"/>
                <a:satMod val="130000"/>
                <a:shade val="90000"/>
                <a:lumMod val="103000"/>
              </a:schemeClr>
            </a:gs>
            <a:gs pos="100000">
              <a:schemeClr val="phClr">
                <a:shade val="63000"/>
                <a:satMod val="120000"/>
              </a:schemeClr>
            </a:gs>
          </a:gsLst>
          <a:lin ang="5400000" scaled="0"/>
        </a:gradFill>
      </a:bgFillStyleLst>
    </a:fmtScheme>
  </a:themeElements>
  <a:objectDefaults/>
  <a:extraClrSchemeLst/>
  <a:extLst>
    <a:ext uri="{05A4C25C-085E-4340-85A3-A5531E510DB2}">
      <thm15:themeFamily xmlns:thm15="http://schemas.microsoft.com/office/thememl/2012/main" name="Office Theme" id="{62F939B6-93AF-4DB8-9C6B-D6C7DFDC589F}" vid="{4A3C46E8-61CC-4603-A589-7422A47A8E4A}"/>
    </a:ext>
  </a:extLst>
</a:theme>
</file>

<file path=docProps/app.xml><?xml version="1.0" encoding="utf-8"?>
<Properties xmlns="http://schemas.openxmlformats.org/officeDocument/2006/extended-properties" xmlns:vt="http://schemas.openxmlformats.org/officeDocument/2006/docPropsVTypes">
  <TotalTime>0</TotalTime>
  <Words>0</Words>
  <Application>Microsoft Office PowerPoint</Application>
  <PresentationFormat>On-screen Show (16:9)</PresentationFormat>
  <Paragraphs>0</Paragraphs>
  <Slides>12</Slides>
  <Notes>12</Notes>
  <HiddenSlides>0</HiddenSlides>
  <MMClips>0</MMClips>
  <ScaleCrop>false</ScaleCrop>
  <HeadingPairs>
    <vt:vector size="6" baseType="variant">
      <vt:variant>
        <vt:lpstr>Fonts Used</vt:lpstr>
      </vt:variant>
      <vt:variant>
        <vt:i4>2</vt:i4>
      </vt:variant>
      <vt:variant>
        <vt:lpstr>Theme</vt:lpstr>
      </vt:variant>
      <vt:variant>
        <vt:i4>1</vt:i4>
      </vt:variant>
      <vt:variant>
        <vt:lpstr>Slide Titles</vt:lpstr>
      </vt:variant>
      <vt:variant>
        <vt:i4>12</vt:i4>
      </vt:variant>
    </vt:vector>
  </HeadingPairs>
  <TitlesOfParts>
    <vt:vector size="15" baseType="lpstr">
      <vt:lpstr>Arial</vt:lpstr>
      <vt:lpstr>Calibri</vt:lpstr>
      <vt:lpstr>Office Theme</vt:lpstr>
      <vt:lpstr>Slide 1</vt:lpstr>
      <vt:lpstr>Slide 2</vt:lpstr>
      <vt:lpstr>Slide 3</vt:lpstr>
      <vt:lpstr>Slide 4</vt:lpstr>
      <vt:lpstr>Slide 5</vt:lpstr>
      <vt:lpstr>Slide 6</vt:lpstr>
      <vt:lpstr>Slide 7</vt:lpstr>
      <vt:lpstr>Slide 8</vt:lpstr>
      <vt:lpstr>Slide 9</vt:lpstr>
      <vt:lpstr>Slide 10</vt:lpstr>
      <vt:lpstr>Slide 11</vt:lpstr>
      <vt:lpstr>Slide 12</vt:lpstr>
    </vt:vector>
  </TitlesOfParts>
  <Company>CPeak Consultancy</Company>
  <LinksUpToDate>false</LinksUpToDate>
  <SharedDoc>false</SharedDoc>
  <HyperlinksChanged>false</HyperlinksChanged>
  <AppVersion>16.0000</AppVersion>
</Properties>
</file>

<file path=docProps/core.xml><?xml version="1.0" encoding="utf-8"?>
<cp:coreProperties xmlns:cp="http://schemas.openxmlformats.org/package/2006/metadata/core-properties" xmlns:dc="http://purl.org/dc/elements/1.1/" xmlns:dcterms="http://purl.org/dc/terms/" xmlns:dcmitype="http://purl.org/dc/dcmitype/" xmlns:xsi="http://www.w3.org/2001/XMLSchema-instance">
  <dc:title>CPeak Consultancy — Company Overview</dc:title>
  <dc:subject>SAP finance modules, S/4HANA transformation and SAP cloud architecture</dc:subject>
  <dc:creator>CPeak Consultancy</dc:creator>
  <cp:lastModifiedBy>CPeak Consultancy</cp:lastModifiedBy>
  <cp:revision>1</cp:revision>
  <dcterms:created xsi:type="dcterms:W3CDTF">2026-09-05T14:02:26Z</dcterms:created>
  <dcterms:modified xsi:type="dcterms:W3CDTF">2026-09-05T14:02:26Z</dcterms:modified>
</cp:coreProperties>
</file>
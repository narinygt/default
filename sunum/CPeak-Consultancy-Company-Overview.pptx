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Modül kırılımı; SAP finans modüllerinin standart kapsamı.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Üç geçiş yöntemi; SAP’ın standart geçiş seçenekleri.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 Edition kırılımı.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Private Edition kırılımı.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sürümün karşılaştırması, tablo olarak.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SAP’ın finans tarafındaki yerleşik yapay zeka yetenekleri.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Teslim kalemleri çözüm sayfalarından, raporlama düzeni yaklaşım sayfasından.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Dört aşamalı teslim modeli; aşama çıktıları görselin içinde yazılı.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Sitenin referans bandındaki logoların tamamı.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Yaklaşım sayfasındaki ilkeler ve çalışma modelleri, tek satıra indirilerek.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Hakkımızda sayfasının odak bölümü ve üstlenilmeyen işler.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Kurumsal iletişim sayfası; bilgiler site yapılandırmasından.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34702" y="960120"/>
            <a:ext cx="1695298" cy="340157"/>
          </a:xfrm>
          <a:prstGeom prst="rect">
            <a:avLst/>
          </a:prstGeom>
          <a:solidFill>
            <a:srgbClr val="17508D"/>
          </a:solidFill>
          <a:ln/>
        </p:spPr>
      </p:sp>
      <p:sp>
        <p:nvSpPr>
          <p:cNvPr id="3" name="Shape 1"/>
          <p:cNvSpPr/>
          <p:nvPr/>
        </p:nvSpPr>
        <p:spPr>
          <a:xfrm>
            <a:off x="8581347" y="1508760"/>
            <a:ext cx="2848653" cy="340157"/>
          </a:xfrm>
          <a:prstGeom prst="rect">
            <a:avLst/>
          </a:prstGeom>
          <a:solidFill>
            <a:srgbClr val="265B94"/>
          </a:solidFill>
          <a:ln/>
        </p:spPr>
      </p:sp>
      <p:sp>
        <p:nvSpPr>
          <p:cNvPr id="4" name="Shape 2"/>
          <p:cNvSpPr/>
          <p:nvPr/>
        </p:nvSpPr>
        <p:spPr>
          <a:xfrm>
            <a:off x="7603580" y="2057400"/>
            <a:ext cx="3826420" cy="340157"/>
          </a:xfrm>
          <a:prstGeom prst="rect">
            <a:avLst/>
          </a:prstGeom>
          <a:solidFill>
            <a:srgbClr val="32659B"/>
          </a:solidFill>
          <a:ln/>
        </p:spPr>
      </p:sp>
      <p:sp>
        <p:nvSpPr>
          <p:cNvPr id="5" name="Shape 3"/>
          <p:cNvSpPr/>
          <p:nvPr/>
        </p:nvSpPr>
        <p:spPr>
          <a:xfrm>
            <a:off x="6950257" y="2606040"/>
            <a:ext cx="4479743" cy="340157"/>
          </a:xfrm>
          <a:prstGeom prst="rect">
            <a:avLst/>
          </a:prstGeom>
          <a:solidFill>
            <a:srgbClr val="3A6B9F"/>
          </a:solidFill>
          <a:ln/>
        </p:spPr>
      </p:sp>
      <p:sp>
        <p:nvSpPr>
          <p:cNvPr id="6" name="Shape 4"/>
          <p:cNvSpPr/>
          <p:nvPr/>
        </p:nvSpPr>
        <p:spPr>
          <a:xfrm>
            <a:off x="6720840" y="3154680"/>
            <a:ext cx="4709160" cy="340157"/>
          </a:xfrm>
          <a:prstGeom prst="rect">
            <a:avLst/>
          </a:prstGeom>
          <a:solidFill>
            <a:srgbClr val="3D6DA0"/>
          </a:solidFill>
          <a:ln/>
        </p:spPr>
      </p:sp>
      <p:sp>
        <p:nvSpPr>
          <p:cNvPr id="7" name="Shape 5"/>
          <p:cNvSpPr/>
          <p:nvPr/>
        </p:nvSpPr>
        <p:spPr>
          <a:xfrm>
            <a:off x="6950257" y="3703320"/>
            <a:ext cx="4479743" cy="340157"/>
          </a:xfrm>
          <a:prstGeom prst="rect">
            <a:avLst/>
          </a:prstGeom>
          <a:solidFill>
            <a:srgbClr val="E8B33A"/>
          </a:solidFill>
          <a:ln/>
        </p:spPr>
      </p:sp>
      <p:sp>
        <p:nvSpPr>
          <p:cNvPr id="8" name="Shape 6"/>
          <p:cNvSpPr/>
          <p:nvPr/>
        </p:nvSpPr>
        <p:spPr>
          <a:xfrm>
            <a:off x="7603580" y="4251960"/>
            <a:ext cx="3826420" cy="340157"/>
          </a:xfrm>
          <a:prstGeom prst="rect">
            <a:avLst/>
          </a:prstGeom>
          <a:solidFill>
            <a:srgbClr val="32659B"/>
          </a:solidFill>
          <a:ln/>
        </p:spPr>
      </p:sp>
      <p:sp>
        <p:nvSpPr>
          <p:cNvPr id="9" name="Shape 7"/>
          <p:cNvSpPr/>
          <p:nvPr/>
        </p:nvSpPr>
        <p:spPr>
          <a:xfrm>
            <a:off x="8581347" y="4800600"/>
            <a:ext cx="2848653" cy="340157"/>
          </a:xfrm>
          <a:prstGeom prst="rect">
            <a:avLst/>
          </a:prstGeom>
          <a:solidFill>
            <a:srgbClr val="265B94"/>
          </a:solidFill>
          <a:ln/>
        </p:spPr>
      </p:sp>
      <p:sp>
        <p:nvSpPr>
          <p:cNvPr id="10" name="Shape 8"/>
          <p:cNvSpPr/>
          <p:nvPr/>
        </p:nvSpPr>
        <p:spPr>
          <a:xfrm>
            <a:off x="9734702" y="5349240"/>
            <a:ext cx="1695298" cy="340157"/>
          </a:xfrm>
          <a:prstGeom prst="rect">
            <a:avLst/>
          </a:prstGeom>
          <a:solidFill>
            <a:srgbClr val="17508D"/>
          </a:solidFill>
          <a:ln/>
        </p:spPr>
      </p:sp>
      <p:pic>
        <p:nvPicPr>
          <p:cNvPr id="11" name="Image 0" descr="./assets/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49808"/>
            <a:ext cx="1874520" cy="64527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7240" y="24734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COMPANY OVERVIEW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71216"/>
            <a:ext cx="4983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82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10+ years of SAP finance</a:t>
            </a:r>
            <a:endParaRPr lang="en-US" sz="3100" dirty="0"/>
          </a:p>
          <a:p>
            <a:pPr indent="0" marL="0">
              <a:lnSpc>
                <a:spcPts val="3782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experience and SAP</a:t>
            </a:r>
            <a:endParaRPr lang="en-US" sz="3100" dirty="0"/>
          </a:p>
          <a:p>
            <a:pPr indent="0" marL="0">
              <a:lnSpc>
                <a:spcPts val="3782"/>
              </a:lnSpc>
              <a:buNone/>
            </a:pPr>
            <a:r>
              <a:rPr lang="en-US" sz="3100" b="1" spc="-9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architecture</a:t>
            </a:r>
            <a:endParaRPr lang="en-US" sz="31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773168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 modules, S/4HANA transformation and SAP cloud architecture.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61996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CPEAKCONSULTANCY.COM  ·  ISTANBUL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 01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Finance Modules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design, configuration and go-live across the finance modules.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77240" y="1918081"/>
            <a:ext cx="5120640" cy="111556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14984" y="2064385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064385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Financial Accounting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965960" y="2375281"/>
            <a:ext cx="3694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 ledger, payables, receivables, asset and bank accounting. Chart of accounts and enterprise structure design.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291072" y="1918081"/>
            <a:ext cx="5120640" cy="111556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28816" y="2064385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479792" y="2064385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Controlling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79792" y="2375281"/>
            <a:ext cx="3694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centres, internal orders, product costing and allocation logic.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77240" y="3198241"/>
            <a:ext cx="5120640" cy="111556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14984" y="3344545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PA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1965960" y="3344545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Profitability Analysis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965960" y="3655441"/>
            <a:ext cx="3694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Margin analysis by product, customer and channel; the data basis for management reporting.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291072" y="3198241"/>
            <a:ext cx="5120640" cy="111556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28816" y="3344545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PS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7479792" y="3344545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Project System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479792" y="3655441"/>
            <a:ext cx="3694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Project-level cost and budget tracking for investment and customer projects.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716145"/>
            <a:ext cx="34238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PROJECT FLOW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777240" y="4953889"/>
            <a:ext cx="2010400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41832" y="5081905"/>
            <a:ext cx="168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941832" y="5264785"/>
            <a:ext cx="168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Diagnosis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941832" y="5484241"/>
            <a:ext cx="168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Analysis of the current setup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2933944" y="4953889"/>
            <a:ext cx="2010400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3098536" y="5081905"/>
            <a:ext cx="168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3098536" y="5264785"/>
            <a:ext cx="168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Design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3098536" y="5484241"/>
            <a:ext cx="168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Chart of accounts and structure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090648" y="4953889"/>
            <a:ext cx="2010400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255240" y="5081905"/>
            <a:ext cx="168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5255240" y="5264785"/>
            <a:ext cx="168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Build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5255240" y="5484241"/>
            <a:ext cx="168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Costing and profitability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7247352" y="4953889"/>
            <a:ext cx="2010400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411944" y="5081905"/>
            <a:ext cx="168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7411944" y="5264785"/>
            <a:ext cx="168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Close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411944" y="5484241"/>
            <a:ext cx="168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 redesign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9404055" y="4953889"/>
            <a:ext cx="2010400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568647" y="5081905"/>
            <a:ext cx="168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9568647" y="5264785"/>
            <a:ext cx="168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Handover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9568647" y="5484241"/>
            <a:ext cx="168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Go-live and training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 02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S/4HANA Transformation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transition route sets the duration, the cost and the technical debt carried forward.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918081"/>
            <a:ext cx="34238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TRANSITION ROUTES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777240" y="2174113"/>
            <a:ext cx="3401568" cy="1847088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14984" y="2411857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BROWNFIELD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1014984" y="2667889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System conversion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1014984" y="3234817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existing system is converted in place. History and processes are preserved; the fastest route with least disruption.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26280" y="2174113"/>
            <a:ext cx="3401568" cy="1847088"/>
          </a:xfrm>
          <a:prstGeom prst="rect">
            <a:avLst/>
          </a:prstGeom>
          <a:solidFill>
            <a:srgbClr val="F7F8F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764024" y="2411857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GREENFIELD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4764024" y="2667889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New implementation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4764024" y="3234817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is built from scratch. Processes are redesigned on SAP standard; historical data moves in limited form.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275320" y="2174113"/>
            <a:ext cx="3401568" cy="184708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513064" y="2411857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SELECTIVE DATA TRANSITION</a:t>
            </a:r>
            <a:endParaRPr lang="en-US" sz="700" dirty="0"/>
          </a:p>
        </p:txBody>
      </p:sp>
      <p:sp>
        <p:nvSpPr>
          <p:cNvPr id="17" name="Text 14"/>
          <p:cNvSpPr txBox="1"/>
          <p:nvPr/>
        </p:nvSpPr>
        <p:spPr>
          <a:xfrm>
            <a:off x="8513064" y="2667889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Selective data transition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8513064" y="3234817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Chosen company codes, processes and data objects are carried over. Keeps data while allowing process redesign.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295521"/>
            <a:ext cx="34238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PROJECT FLOW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777240" y="4533265"/>
            <a:ext cx="2010400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41832" y="4661281"/>
            <a:ext cx="168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941832" y="4844161"/>
            <a:ext cx="168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Readiness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941832" y="5063617"/>
            <a:ext cx="168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 and compatibility scan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2933944" y="4533265"/>
            <a:ext cx="2010400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098536" y="4661281"/>
            <a:ext cx="168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3098536" y="4844161"/>
            <a:ext cx="168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Simplification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3098536" y="5063617"/>
            <a:ext cx="168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Clearing custom code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090648" y="4533265"/>
            <a:ext cx="2010400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255240" y="4661281"/>
            <a:ext cx="168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5255240" y="4844161"/>
            <a:ext cx="168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Conversion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255240" y="5063617"/>
            <a:ext cx="168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Finance-side build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7247352" y="4533265"/>
            <a:ext cx="2010400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411944" y="4661281"/>
            <a:ext cx="168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  <p:sp>
        <p:nvSpPr>
          <p:cNvPr id="34" name="Text 31"/>
          <p:cNvSpPr txBox="1"/>
          <p:nvPr/>
        </p:nvSpPr>
        <p:spPr>
          <a:xfrm>
            <a:off x="7411944" y="4844161"/>
            <a:ext cx="168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Migration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7411944" y="5063617"/>
            <a:ext cx="168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transfer and testing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9404055" y="4533265"/>
            <a:ext cx="2010400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9568647" y="4661281"/>
            <a:ext cx="1681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568647" y="4844161"/>
            <a:ext cx="168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Cutover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9568647" y="5063617"/>
            <a:ext cx="168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Go-live and hypercare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 03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Public Cloud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Cloud ERP Public Edition — cloud ERP built on standard scope and deployed quickly.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945513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918081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Standard scope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164969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 best-practice processes come preconfigured; deployment follows a standard template.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77033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649601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Fit-to-standard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896489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Processes are compared to standard scope item by item and gaps closed in workshops.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408553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3381121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Extensibility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628009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core stays fixed. Additional needs are met through SAP BTP and supported extension methods.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140073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4112641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Release cycle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4359529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major releases a year plus monthly feature updates. A regression test set is required for critical processes.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871593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4844161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5091049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Banking, e-document and surrounding system connections use standard interfaces.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583680" y="1918081"/>
            <a:ext cx="4828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CHANGE IS ALLOWED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583680" y="2210689"/>
            <a:ext cx="4828032" cy="132588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39712" y="2338705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STANDARD CORE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6839712" y="2594737"/>
            <a:ext cx="43159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modifiable; releases apply automatically.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583680" y="3682873"/>
            <a:ext cx="4828032" cy="13258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839712" y="3810889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EXTENSION LAYER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839712" y="4066921"/>
            <a:ext cx="43159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Additional needs met only through supported methods.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 04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SAP Private Cloud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7932191" cy="491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RISE with SAP · Cloud ERP Private Edition — cloud operations without giving up your own process logic.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4553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211810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Dedicated environment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236499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runs in its own tenant; more control over data residency and network architecture.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87705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84962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ABAP and customisation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309651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Broad flexibility including core modification; existing ABAP developments can be carried across.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60857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358114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Release control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82803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releases; you decide when to upgrade.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34009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431266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Migration management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455955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Mock migrations, reconciliation reporting and an hour-by-hour cutover plan.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507161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504418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Handover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529107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Hypercare, key user training and documentation transfer.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583680" y="2118106"/>
            <a:ext cx="4828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WHERE RESPONSIBILITY SITS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6583680" y="2410714"/>
            <a:ext cx="4828032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39712" y="2538730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6839712" y="2794762"/>
            <a:ext cx="4315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Infrastructure, base operations, platform availability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583680" y="3398266"/>
            <a:ext cx="4828032" cy="841248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839712" y="3526282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CPEAK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839712" y="3782314"/>
            <a:ext cx="4315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Architecture, finance processes, migration management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583680" y="4385818"/>
            <a:ext cx="4828032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839712" y="4513834"/>
            <a:ext cx="4315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8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YOUR TEAM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839712" y="4769866"/>
            <a:ext cx="4315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 ownership, acceptance testing, daily operation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 05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Public and Private Cloud compared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77240" y="1535176"/>
            <a:ext cx="10637215" cy="384048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78408" y="1535176"/>
            <a:ext cx="1877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CRITERION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3257811" y="1535176"/>
            <a:ext cx="37765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PUBLIC CLOUD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7436717" y="1535176"/>
            <a:ext cx="37765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8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 CLOUD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777240" y="1919224"/>
            <a:ext cx="10637215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78408" y="1919224"/>
            <a:ext cx="18770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Deployment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257811" y="1919224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template, fit-to-standard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7436717" y="1919224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Adapted to existing processes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978408" y="2449576"/>
            <a:ext cx="18770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Extensibility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257811" y="2449576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fixed; extension via SAP BTP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7436717" y="2449576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Broad flexibility including ABAP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777240" y="2979928"/>
            <a:ext cx="10637215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78408" y="2979928"/>
            <a:ext cx="18770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Release cycle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257811" y="2979928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major releases a year, automatic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36717" y="2979928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release, timing is yours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78408" y="3510280"/>
            <a:ext cx="18770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Infrastructure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3257811" y="3510280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tenant, operated by SAP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436717" y="3510280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Dedicated tenant, more control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77240" y="4040632"/>
            <a:ext cx="10637215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78408" y="4040632"/>
            <a:ext cx="18770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Implementation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257811" y="4040632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 months (single-country finance)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436717" y="4040632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7–14 months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978408" y="4570984"/>
            <a:ext cx="18770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Total cost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3257811" y="4570984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Predictable; operations and upgrades included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436717" y="4570984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Variable; maintenance and testing with you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777240" y="5101336"/>
            <a:ext cx="10637215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78408" y="5101336"/>
            <a:ext cx="18770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b="1" spc="-20" kern="0" dirty="0">
                <a:solidFill>
                  <a:srgbClr val="0E16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Typical fit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257811" y="5101336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Mid-market, close to standard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436717" y="5101336"/>
            <a:ext cx="377657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Heavy customisation and integration history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77240" y="5870448"/>
            <a:ext cx="883386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We take no side.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Processes are compared against standard scope and both models are put side by side. The decision stays yours.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0500055" y="64739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8B3B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SOLUTION 06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in Finance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SAP’s AI capabilities are embedded in the system; they are not bought as a separate product.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77240" y="1918081"/>
            <a:ext cx="5120640" cy="10972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33272" y="2064385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Intelligent matching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33272" y="2356993"/>
            <a:ext cx="4608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 statements and open items are cleared automatically from learned matching behaviour.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91072" y="1918081"/>
            <a:ext cx="5120640" cy="10972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47104" y="2064385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Anomaly detection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47104" y="2356993"/>
            <a:ext cx="4608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Unusual postings are flagged before the close, so corrections happen within the period.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77240" y="3179953"/>
            <a:ext cx="5120640" cy="10972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33272" y="3326257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Predictive accounting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33272" y="3618865"/>
            <a:ext cx="4608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effect of not-yet-final transactions becomes visible before the period closes.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91072" y="3179953"/>
            <a:ext cx="5120640" cy="109728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47104" y="3326257"/>
            <a:ext cx="4608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Joule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547104" y="3618865"/>
            <a:ext cx="4608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natural-language layer for querying and navigation; reports are reached by command.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4606417"/>
            <a:ext cx="34238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FLOW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777240" y="4844161"/>
            <a:ext cx="2549576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41832" y="4972177"/>
            <a:ext cx="222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750" dirty="0"/>
          </a:p>
        </p:txBody>
      </p:sp>
      <p:sp>
        <p:nvSpPr>
          <p:cNvPr id="21" name="Text 18"/>
          <p:cNvSpPr txBox="1"/>
          <p:nvPr/>
        </p:nvSpPr>
        <p:spPr>
          <a:xfrm>
            <a:off x="941832" y="5155057"/>
            <a:ext cx="222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Scan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941832" y="5374513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Transactions are scanned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473120" y="4844161"/>
            <a:ext cx="2549576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637712" y="4972177"/>
            <a:ext cx="222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3637712" y="5155057"/>
            <a:ext cx="222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Flag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3637712" y="5374513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isolates candidates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6169000" y="4844161"/>
            <a:ext cx="2549576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333592" y="4972177"/>
            <a:ext cx="222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6333592" y="5155057"/>
            <a:ext cx="222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Review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6333592" y="5374513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Consultant and team check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8864879" y="4844161"/>
            <a:ext cx="2549576" cy="841248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9029471" y="4972177"/>
            <a:ext cx="2220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750" dirty="0"/>
          </a:p>
        </p:txBody>
      </p:sp>
      <p:sp>
        <p:nvSpPr>
          <p:cNvPr id="33" name="Text 30"/>
          <p:cNvSpPr txBox="1"/>
          <p:nvPr/>
        </p:nvSpPr>
        <p:spPr>
          <a:xfrm>
            <a:off x="9029471" y="5155057"/>
            <a:ext cx="222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-2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Approve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9029471" y="5374513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Finalised with human approval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777240" y="5850001"/>
            <a:ext cx="118872" cy="118872"/>
          </a:xfrm>
          <a:prstGeom prst="rect">
            <a:avLst/>
          </a:prstGeom>
          <a:solidFill>
            <a:srgbClr val="E8B33A"/>
          </a:solidFill>
          <a:ln w="3175">
            <a:solidFill>
              <a:srgbClr val="E8B33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51560" y="5795137"/>
            <a:ext cx="79321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decision producing a financial posting is finalised without human review.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DELIVERY 07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is delivered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77240" y="1535176"/>
            <a:ext cx="5120640" cy="3822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51560" y="182778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DELIVERABLES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069848" y="231698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07592" y="2211832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Diagnostic report with prioritised findings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069848" y="271932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307592" y="2614168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architecture and chart of accounts design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069848" y="312166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07592" y="3016504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documentation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069848" y="352399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07592" y="3418840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migration plan and reconciliation reports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1069848" y="392633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07592" y="3821176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scenarios and recorded results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1069848" y="432866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307592" y="4223512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Hour-by-hour cutover plan with rollback criteria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1069848" y="473100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07592" y="4625848"/>
            <a:ext cx="43159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user training and operating handbook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245352" y="1535176"/>
            <a:ext cx="5169103" cy="3822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519672" y="1827784"/>
            <a:ext cx="462046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REPORTING, FIXED AT THE OUTSET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6537960" y="2316988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75704" y="2211832"/>
            <a:ext cx="43644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status: done, in progress, risks, decisions pending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537960" y="2719324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775704" y="2614168"/>
            <a:ext cx="43644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 list with owners and dates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537960" y="3121660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75704" y="3016504"/>
            <a:ext cx="43644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register: owner, impact, mitigation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537960" y="3523996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75704" y="3418840"/>
            <a:ext cx="43644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Phase-end pack: documents, test records, acceptance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6537960" y="3926332"/>
            <a:ext cx="68580" cy="68580"/>
          </a:xfrm>
          <a:prstGeom prst="ellipse">
            <a:avLst/>
          </a:prstGeom>
          <a:solidFill>
            <a:srgbClr val="11676A"/>
          </a:solidFill>
          <a:ln w="3175">
            <a:solidFill>
              <a:srgbClr val="11676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775704" y="3821176"/>
            <a:ext cx="43644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0E16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log with time and cost impact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DELIVERY 08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How we work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407160"/>
            <a:ext cx="7932191" cy="29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28"/>
              </a:lnSpc>
              <a:buNone/>
            </a:pPr>
            <a:r>
              <a:rPr lang="en-US" sz="10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stage ends in a defined deliverable. No stage starts before the previous one closes.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77240" y="1918081"/>
            <a:ext cx="2487168" cy="228600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14984" y="2137537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-4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14984" y="2613025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14984" y="3216529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1014984" y="3472561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Diagnostic report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83864" y="1918081"/>
            <a:ext cx="2487168" cy="228600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721608" y="2137537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-4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721608" y="2613025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Architecture and roadmap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16529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3–6 weeks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3721608" y="3472561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architecture, phased plan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190488" y="1918081"/>
            <a:ext cx="2487168" cy="2286000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28232" y="2137537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-4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428232" y="2613025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spc="-25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428232" y="3216529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6428232" y="3472561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system, test records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897112" y="1918081"/>
            <a:ext cx="2487168" cy="2286000"/>
          </a:xfrm>
          <a:prstGeom prst="rect">
            <a:avLst/>
          </a:prstGeom>
          <a:solidFill>
            <a:srgbClr val="11676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134856" y="2137537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-40" kern="0" dirty="0">
                <a:solidFill>
                  <a:srgbClr val="E8B33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9134856" y="2613025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spc="-25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Hypercare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9134856" y="3216529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4–12 weeks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9134856" y="3472561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Closeout and improvement report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0" y="4791456"/>
            <a:ext cx="12191695" cy="2066544"/>
          </a:xfrm>
          <a:prstGeom prst="rect">
            <a:avLst/>
          </a:prstGeom>
          <a:solidFill>
            <a:srgbClr val="003F8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7240" y="5248656"/>
            <a:ext cx="522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ENGAGEMENT MODELS</a:t>
            </a:r>
            <a:endParaRPr lang="en-US" sz="75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5632704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980176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D2DD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2–6 weeks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526280" y="5632704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Delivery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526280" y="5980176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D2DD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3–14 months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8275320" y="5632704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Expert support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5980176"/>
            <a:ext cx="3401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D2DDE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Days to weeks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10500055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09FC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REFERENCES 09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Organisations our consultants have worked with</a:t>
            </a:r>
            <a:endParaRPr lang="en-US" sz="2800" dirty="0"/>
          </a:p>
        </p:txBody>
      </p:sp>
      <p:pic>
        <p:nvPicPr>
          <p:cNvPr id="5" name="Image 1" descr="./assets/ref-mercedes-ben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90" y="2466548"/>
            <a:ext cx="1810512" cy="457801"/>
          </a:xfrm>
          <a:prstGeom prst="rect">
            <a:avLst/>
          </a:prstGeom>
        </p:spPr>
      </p:pic>
      <p:pic>
        <p:nvPicPr>
          <p:cNvPr id="6" name="Image 2" descr="./assets/ref-pw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130" y="2457704"/>
            <a:ext cx="978946" cy="475488"/>
          </a:xfrm>
          <a:prstGeom prst="rect">
            <a:avLst/>
          </a:prstGeom>
        </p:spPr>
      </p:pic>
      <p:pic>
        <p:nvPicPr>
          <p:cNvPr id="7" name="Image 3" descr="./assets/ref-fusion-consult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004" y="2457704"/>
            <a:ext cx="1082145" cy="475488"/>
          </a:xfrm>
          <a:prstGeom prst="rect">
            <a:avLst/>
          </a:prstGeom>
        </p:spPr>
      </p:pic>
      <p:pic>
        <p:nvPicPr>
          <p:cNvPr id="8" name="Image 4" descr="./assets/ref-boehringer-ingelhei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2077" y="2457704"/>
            <a:ext cx="1540053" cy="475488"/>
          </a:xfrm>
          <a:prstGeom prst="rect">
            <a:avLst/>
          </a:prstGeom>
        </p:spPr>
      </p:pic>
      <p:pic>
        <p:nvPicPr>
          <p:cNvPr id="9" name="Image 5" descr="./assets/ref-wav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058" y="2479203"/>
            <a:ext cx="1786372" cy="432490"/>
          </a:xfrm>
          <a:prstGeom prst="rect">
            <a:avLst/>
          </a:prstGeom>
        </p:spPr>
      </p:pic>
      <p:pic>
        <p:nvPicPr>
          <p:cNvPr id="10" name="Image 6" descr="./assets/ref-imery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2357" y="2457704"/>
            <a:ext cx="739648" cy="475488"/>
          </a:xfrm>
          <a:prstGeom prst="rect">
            <a:avLst/>
          </a:prstGeom>
        </p:spPr>
      </p:pic>
      <p:pic>
        <p:nvPicPr>
          <p:cNvPr id="11" name="Image 7" descr="./assets/ref-gs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217" y="3683000"/>
            <a:ext cx="1506071" cy="475488"/>
          </a:xfrm>
          <a:prstGeom prst="rect">
            <a:avLst/>
          </a:prstGeom>
        </p:spPr>
      </p:pic>
      <p:pic>
        <p:nvPicPr>
          <p:cNvPr id="12" name="Image 8" descr="./assets/ref-bek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2215" y="3683000"/>
            <a:ext cx="834189" cy="475488"/>
          </a:xfrm>
          <a:prstGeom prst="rect">
            <a:avLst/>
          </a:prstGeom>
        </p:spPr>
      </p:pic>
      <p:pic>
        <p:nvPicPr>
          <p:cNvPr id="13" name="Image 9" descr="./assets/ref-hidrome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3333" y="3739801"/>
            <a:ext cx="2776118" cy="361887"/>
          </a:xfrm>
          <a:prstGeom prst="rect">
            <a:avLst/>
          </a:prstGeom>
        </p:spPr>
      </p:pic>
      <p:pic>
        <p:nvPicPr>
          <p:cNvPr id="14" name="Image 10" descr="./assets/ref-flint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66379" y="3723877"/>
            <a:ext cx="1991563" cy="393734"/>
          </a:xfrm>
          <a:prstGeom prst="rect">
            <a:avLst/>
          </a:prstGeom>
        </p:spPr>
      </p:pic>
      <p:pic>
        <p:nvPicPr>
          <p:cNvPr id="15" name="Image 11" descr="./assets/ref-peri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24870" y="3683000"/>
            <a:ext cx="917608" cy="475488"/>
          </a:xfrm>
          <a:prstGeom prst="rect">
            <a:avLst/>
          </a:prstGeom>
        </p:spPr>
      </p:pic>
      <p:pic>
        <p:nvPicPr>
          <p:cNvPr id="16" name="Image 12" descr="./assets/ref-enerjis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5380" y="4955303"/>
            <a:ext cx="1931213" cy="381474"/>
          </a:xfrm>
          <a:prstGeom prst="rect">
            <a:avLst/>
          </a:prstGeom>
        </p:spPr>
      </p:pic>
      <p:pic>
        <p:nvPicPr>
          <p:cNvPr id="17" name="Image 13" descr="./assets/ref-aydem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3521" y="4908296"/>
            <a:ext cx="777667" cy="475488"/>
          </a:xfrm>
          <a:prstGeom prst="rect">
            <a:avLst/>
          </a:prstGeom>
        </p:spPr>
      </p:pic>
      <p:pic>
        <p:nvPicPr>
          <p:cNvPr id="18" name="Image 14" descr="./assets/ref-nuh-cimento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78116" y="4908296"/>
            <a:ext cx="1041215" cy="475488"/>
          </a:xfrm>
          <a:prstGeom prst="rect">
            <a:avLst/>
          </a:prstGeom>
        </p:spPr>
      </p:pic>
      <p:pic>
        <p:nvPicPr>
          <p:cNvPr id="19" name="Image 15" descr="./assets/ref-belbi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86259" y="4937907"/>
            <a:ext cx="1834652" cy="416266"/>
          </a:xfrm>
          <a:prstGeom prst="rect">
            <a:avLst/>
          </a:prstGeom>
        </p:spPr>
      </p:pic>
      <p:pic>
        <p:nvPicPr>
          <p:cNvPr id="20" name="Image 16" descr="./assets/ref-tcd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287839" y="4908296"/>
            <a:ext cx="516835" cy="475488"/>
          </a:xfrm>
          <a:prstGeom prst="rect">
            <a:avLst/>
          </a:prstGeom>
        </p:spPr>
      </p:pic>
      <p:pic>
        <p:nvPicPr>
          <p:cNvPr id="21" name="Image 17" descr="./assets/ref-iet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371602" y="4908296"/>
            <a:ext cx="384713" cy="475488"/>
          </a:xfrm>
          <a:prstGeom prst="rect">
            <a:avLst/>
          </a:prstGeom>
        </p:spPr>
      </p:pic>
      <p:sp>
        <p:nvSpPr>
          <p:cNvPr id="22" name="Text 2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APPROACH 10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Our approach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77240" y="1535176"/>
            <a:ext cx="3401568" cy="17556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33272" y="1791208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1033272" y="2065528"/>
            <a:ext cx="2889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Measure first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33272" y="259588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recommendation without system data.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26280" y="1535176"/>
            <a:ext cx="3401568" cy="17556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782312" y="1791208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4782312" y="2065528"/>
            <a:ext cx="2889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Written reasoning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782312" y="259588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decision is yours; the rationale stays on paper.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275320" y="1535176"/>
            <a:ext cx="3401568" cy="17556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531352" y="1791208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8531352" y="2065528"/>
            <a:ext cx="2889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Early warning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531352" y="2595880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slipping estimate is reported that week.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77240" y="3510280"/>
            <a:ext cx="3401568" cy="17556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3766312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4040632"/>
            <a:ext cx="2889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Ownership transfer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33272" y="4570984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and the first close are run together.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26280" y="3510280"/>
            <a:ext cx="3401568" cy="17556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782312" y="3766312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4782312" y="4040632"/>
            <a:ext cx="2889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Phases, not headcount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782312" y="4570984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Growing scope is split, not staffed up.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275320" y="3510280"/>
            <a:ext cx="3401568" cy="17556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531352" y="3766312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8531352" y="4040632"/>
            <a:ext cx="2889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in preparation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531352" y="4570984"/>
            <a:ext cx="2889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Volume work automated, judgement reviewed by seniors.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10500055" y="63459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./assets/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2895" y="457200"/>
            <a:ext cx="1051560" cy="361983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77240" y="46177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FOCUS 11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777240" y="804672"/>
            <a:ext cx="7932191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4"/>
              </a:lnSpc>
              <a:buNone/>
            </a:pPr>
            <a:r>
              <a:rPr lang="en-US" sz="2800" b="1" spc="-8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we work on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77240" y="1535176"/>
            <a:ext cx="97355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FOUNDED 2021  ·  ISTANBUL  ·  TÜRKİYE, EMEA, UNITED STATES  ·  SENIOR CONSULTANTS ONLY</a:t>
            </a:r>
            <a:endParaRPr lang="en-US" sz="750" dirty="0"/>
          </a:p>
        </p:txBody>
      </p:sp>
      <p:sp>
        <p:nvSpPr>
          <p:cNvPr id="6" name="Shape 3"/>
          <p:cNvSpPr/>
          <p:nvPr/>
        </p:nvSpPr>
        <p:spPr>
          <a:xfrm>
            <a:off x="777240" y="1992376"/>
            <a:ext cx="3401568" cy="1975104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33272" y="223012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033272" y="250444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Finance modules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033272" y="2815336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 · CO · PA · PS</a:t>
            </a:r>
            <a:endParaRPr lang="en-US" sz="750" dirty="0"/>
          </a:p>
        </p:txBody>
      </p:sp>
      <p:sp>
        <p:nvSpPr>
          <p:cNvPr id="10" name="Text 7"/>
          <p:cNvSpPr txBox="1"/>
          <p:nvPr/>
        </p:nvSpPr>
        <p:spPr>
          <a:xfrm>
            <a:off x="1033272" y="3089656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structure, chart of accounts, controlling, profitability and the close.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26280" y="1992376"/>
            <a:ext cx="3401568" cy="1975104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782312" y="223012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4782312" y="250444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Cloud architecture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4782312" y="2815336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PRIVATE · PUBLIC</a:t>
            </a:r>
            <a:endParaRPr lang="en-US" sz="750" dirty="0"/>
          </a:p>
        </p:txBody>
      </p:sp>
      <p:sp>
        <p:nvSpPr>
          <p:cNvPr id="15" name="Text 12"/>
          <p:cNvSpPr txBox="1"/>
          <p:nvPr/>
        </p:nvSpPr>
        <p:spPr>
          <a:xfrm>
            <a:off x="4782312" y="3089656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 assessment, target architecture and migration management.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275320" y="1992376"/>
            <a:ext cx="3401568" cy="1975104"/>
          </a:xfrm>
          <a:prstGeom prst="rect">
            <a:avLst/>
          </a:prstGeom>
          <a:solidFill>
            <a:srgbClr val="E2E9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31352" y="2230120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11676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8531352" y="250444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1676A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AI and RPA automation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8531352" y="2815336"/>
            <a:ext cx="2889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5F6D7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EMBEDDED IN SAP</a:t>
            </a:r>
            <a:endParaRPr lang="en-US" sz="750" dirty="0"/>
          </a:p>
        </p:txBody>
      </p:sp>
      <p:sp>
        <p:nvSpPr>
          <p:cNvPr id="20" name="Text 17"/>
          <p:cNvSpPr txBox="1"/>
          <p:nvPr/>
        </p:nvSpPr>
        <p:spPr>
          <a:xfrm>
            <a:off x="8531352" y="3089656"/>
            <a:ext cx="28895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A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Matching, anomaly detection and predictive accounting.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0" y="4791456"/>
            <a:ext cx="12191695" cy="2066544"/>
          </a:xfrm>
          <a:prstGeom prst="rect">
            <a:avLst/>
          </a:prstGeom>
          <a:solidFill>
            <a:srgbClr val="003F8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77240" y="5102352"/>
            <a:ext cx="5227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WORK WE DECLINE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795528" y="556412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33272" y="5468112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responsibility for modules outside our specialism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388456" y="5564124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626200" y="5468112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augmentation without delivery responsibility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795528" y="5984748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033272" y="5888736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Fixed-price transformation before an assessment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388456" y="5984748"/>
            <a:ext cx="68580" cy="68580"/>
          </a:xfrm>
          <a:prstGeom prst="ellipse">
            <a:avLst/>
          </a:prstGeom>
          <a:solidFill>
            <a:srgbClr val="F5DCA4"/>
          </a:solidFill>
          <a:ln w="3175">
            <a:solidFill>
              <a:srgbClr val="F5DCA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26200" y="5888736"/>
            <a:ext cx="4788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Software development or infrastructure operations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10500055" y="6547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60" kern="0" dirty="0">
                <a:solidFill>
                  <a:srgbClr val="809FC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3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95560" y="914400"/>
            <a:ext cx="1234440" cy="204724"/>
          </a:xfrm>
          <a:prstGeom prst="rect">
            <a:avLst/>
          </a:prstGeom>
          <a:solidFill>
            <a:srgbClr val="17508D"/>
          </a:solidFill>
          <a:ln/>
        </p:spPr>
      </p:sp>
      <p:sp>
        <p:nvSpPr>
          <p:cNvPr id="3" name="Shape 1"/>
          <p:cNvSpPr/>
          <p:nvPr/>
        </p:nvSpPr>
        <p:spPr>
          <a:xfrm>
            <a:off x="9355738" y="1244600"/>
            <a:ext cx="2074262" cy="204724"/>
          </a:xfrm>
          <a:prstGeom prst="rect">
            <a:avLst/>
          </a:prstGeom>
          <a:solidFill>
            <a:srgbClr val="265B94"/>
          </a:solidFill>
          <a:ln/>
        </p:spPr>
      </p:sp>
      <p:sp>
        <p:nvSpPr>
          <p:cNvPr id="4" name="Shape 2"/>
          <p:cNvSpPr/>
          <p:nvPr/>
        </p:nvSpPr>
        <p:spPr>
          <a:xfrm>
            <a:off x="8643772" y="1574800"/>
            <a:ext cx="2786228" cy="204724"/>
          </a:xfrm>
          <a:prstGeom prst="rect">
            <a:avLst/>
          </a:prstGeom>
          <a:solidFill>
            <a:srgbClr val="32659B"/>
          </a:solidFill>
          <a:ln/>
        </p:spPr>
      </p:sp>
      <p:sp>
        <p:nvSpPr>
          <p:cNvPr id="5" name="Shape 3"/>
          <p:cNvSpPr/>
          <p:nvPr/>
        </p:nvSpPr>
        <p:spPr>
          <a:xfrm>
            <a:off x="8168051" y="1905000"/>
            <a:ext cx="3261949" cy="204724"/>
          </a:xfrm>
          <a:prstGeom prst="rect">
            <a:avLst/>
          </a:prstGeom>
          <a:solidFill>
            <a:srgbClr val="3A6B9F"/>
          </a:solidFill>
          <a:ln/>
        </p:spPr>
      </p:sp>
      <p:sp>
        <p:nvSpPr>
          <p:cNvPr id="6" name="Shape 4"/>
          <p:cNvSpPr/>
          <p:nvPr/>
        </p:nvSpPr>
        <p:spPr>
          <a:xfrm>
            <a:off x="8001000" y="2235200"/>
            <a:ext cx="3429000" cy="204724"/>
          </a:xfrm>
          <a:prstGeom prst="rect">
            <a:avLst/>
          </a:prstGeom>
          <a:solidFill>
            <a:srgbClr val="3D6DA0"/>
          </a:solidFill>
          <a:ln/>
        </p:spPr>
      </p:sp>
      <p:sp>
        <p:nvSpPr>
          <p:cNvPr id="7" name="Shape 5"/>
          <p:cNvSpPr/>
          <p:nvPr/>
        </p:nvSpPr>
        <p:spPr>
          <a:xfrm>
            <a:off x="8168051" y="2565400"/>
            <a:ext cx="3261949" cy="204724"/>
          </a:xfrm>
          <a:prstGeom prst="rect">
            <a:avLst/>
          </a:prstGeom>
          <a:solidFill>
            <a:srgbClr val="E8B33A"/>
          </a:solidFill>
          <a:ln/>
        </p:spPr>
      </p:sp>
      <p:sp>
        <p:nvSpPr>
          <p:cNvPr id="8" name="Shape 6"/>
          <p:cNvSpPr/>
          <p:nvPr/>
        </p:nvSpPr>
        <p:spPr>
          <a:xfrm>
            <a:off x="8643772" y="2895600"/>
            <a:ext cx="2786228" cy="204724"/>
          </a:xfrm>
          <a:prstGeom prst="rect">
            <a:avLst/>
          </a:prstGeom>
          <a:solidFill>
            <a:srgbClr val="32659B"/>
          </a:solidFill>
          <a:ln/>
        </p:spPr>
      </p:sp>
      <p:sp>
        <p:nvSpPr>
          <p:cNvPr id="9" name="Shape 7"/>
          <p:cNvSpPr/>
          <p:nvPr/>
        </p:nvSpPr>
        <p:spPr>
          <a:xfrm>
            <a:off x="9355738" y="3225800"/>
            <a:ext cx="2074262" cy="204724"/>
          </a:xfrm>
          <a:prstGeom prst="rect">
            <a:avLst/>
          </a:prstGeom>
          <a:solidFill>
            <a:srgbClr val="265B94"/>
          </a:solidFill>
          <a:ln/>
        </p:spPr>
      </p:sp>
      <p:sp>
        <p:nvSpPr>
          <p:cNvPr id="10" name="Shape 8"/>
          <p:cNvSpPr/>
          <p:nvPr/>
        </p:nvSpPr>
        <p:spPr>
          <a:xfrm>
            <a:off x="10195560" y="3556000"/>
            <a:ext cx="1234440" cy="204724"/>
          </a:xfrm>
          <a:prstGeom prst="rect">
            <a:avLst/>
          </a:prstGeom>
          <a:solidFill>
            <a:srgbClr val="17508D"/>
          </a:solidFill>
          <a:ln/>
        </p:spPr>
      </p:sp>
      <p:pic>
        <p:nvPicPr>
          <p:cNvPr id="11" name="Image 0" descr="./assets/logo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77240"/>
            <a:ext cx="2057400" cy="70822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7240" y="201625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90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CONTACT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395728"/>
            <a:ext cx="6128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-80" kern="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CPeak Consultancy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072384"/>
            <a:ext cx="703051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SAP finance modules · S/4HANA transformation · SAP cloud architecture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3419856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D2DDE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 us arrange a call to review your programme. We respond within one business day.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3708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GENERAL</a:t>
            </a:r>
            <a:endParaRPr lang="en-US" sz="7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54456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info@cpeakconsultancy.com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43708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DIRECT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454456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Kerem Yiğit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kerem.yigit@cpeakconsultancy.com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43708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TELEPHONE</a:t>
            </a:r>
            <a:endParaRPr lang="en-US" sz="700" dirty="0"/>
          </a:p>
        </p:txBody>
      </p:sp>
      <p:sp>
        <p:nvSpPr>
          <p:cNvPr id="21" name="Text 18"/>
          <p:cNvSpPr txBox="1"/>
          <p:nvPr/>
        </p:nvSpPr>
        <p:spPr>
          <a:xfrm>
            <a:off x="7818120" y="4544568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+90 (507) 032 81 70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508406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OFFICE HOURS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525780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– Friday · 09:00 – 18:00 (GMT+3)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508406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WEB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525780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cpeakconsultancy.com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818120" y="5084064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75" kern="0" dirty="0">
                <a:solidFill>
                  <a:srgbClr val="F5DCA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</a:t>
            </a:r>
            <a:endParaRPr lang="en-US" sz="700" dirty="0"/>
          </a:p>
        </p:txBody>
      </p:sp>
      <p:sp>
        <p:nvSpPr>
          <p:cNvPr id="27" name="Text 24"/>
          <p:cNvSpPr txBox="1"/>
          <p:nvPr/>
        </p:nvSpPr>
        <p:spPr>
          <a:xfrm>
            <a:off x="7818120" y="525780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linkedin.com/company/cpeak-consultancy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003165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77240" y="6364224"/>
            <a:ext cx="973554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5" kern="0" dirty="0">
                <a:solidFill>
                  <a:srgbClr val="B3C5D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Bostancı Mah. Şemsettin Günaltay Cad. No: 31/8  ·  34744 Kadıköy, İstanbul, Türkiye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CPeak Consultancy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CPeak Consultancy — Company Overview</dc:title>
  <dc:subject>SAP finance modules, S/4HANA transformation and SAP cloud architecture</dc:subject>
  <dc:creator>CPeak Consultancy</dc:creator>
  <cp:lastModifiedBy>CPeak Consultancy</cp:lastModifiedBy>
  <cp:revision>1</cp:revision>
  <dcterms:created xsi:type="dcterms:W3CDTF">2026-09-06T11:36:19Z</dcterms:created>
  <dcterms:modified xsi:type="dcterms:W3CDTF">2026-09-06T11:36:19Z</dcterms:modified>
</cp:coreProperties>
</file>
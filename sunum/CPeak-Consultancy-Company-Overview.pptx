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 Konumlandırma cümlesi sitenin H1 ve hero girişinden. Görsel sitenin kendi hero görselidir.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Şirket tanıtımı. Her iddia Hakkımızda sayfasında var. Koyu şerit sitenin yetkinlik bandı — nitel, tek sayı 10+ yıl.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Hakkımızda sayfasındaki üç odak alanı. Görsel sitenin finans mimarisi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 yetkinlik haritası. Dağıtım modelleri ve yapay zeka yetenekleri sitede geçenlerin aynısı. İş ortaklığı ya da sertifika iddiası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Beş çözüm sayfası, sitenin kendi ölçütleriyle: kime uygun, tipik süre, ana kazanım.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Tarafsız karşılaştırma CPeak’in en net farkı. Ölçütler Çözümler sayfasındaki tablodan kısaltıldı.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çalışma ilkeleri, anlattıkları değer zinciri olarak dizildi.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aşamalı teslim modeli. Aşama adları ve çıktılar sitenin süreç görselinde yazılı; slayt yalnızca süreleri 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sayfanın yapay zeka bölümü. Görsel sitenin yapay zeka akış şemasıdır.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üç tipik proje, sitenin kendi uyarısıyla birlikte.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sayfadaki dört fark. Referans şeridi sitenin kendi logo bandıdır.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Kapanış. İletişim bilgileri site yapılandırmasından.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OVERVIEW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871216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10+ years of SAP finance</a:t>
            </a:r>
            <a:endParaRPr lang="en-US" sz="3100" dirty="0"/>
          </a:p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and SAP</a:t>
            </a:r>
            <a:endParaRPr lang="en-US" sz="3100" dirty="0"/>
          </a:p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31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77316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expertise across the SAP finance modules and a genuinely neutral read on the cloud models — so the decision you take is one you can defend with its reasoning.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WE ARE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4572000" cy="1197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 independent consultancy, specialised end to end in SAP finance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804672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 Consultancy works end to end on the finance modules across SAP ECC, S/4HANA on-premise, Private Cloud and Public Cloud. Our focus is a senior team and an AI-supported way of working.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103120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common model in SAP consulting is to offer broad scope and then source a different specialist for each area. We took the opposite position: if we take an engagement, we are not subcontracting the difficult part of it.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34015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 programme extends into logistics modules outside our specialism, we work alongside partners in Türkiye and abroad so that the finance scope stays covered end to end.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505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FOUNDED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33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2021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HEAD OFFICE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467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Istanbul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7705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REGIONS SERVED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59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Türkiye, EMEA and the United States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95604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Rather than running many programmes in parallel, we run the number that allows senior people to be genuinely present on each.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EXPERIENCE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-2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10+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years in SAP finance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436544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EXPERTISE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3436544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across FI and CO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095848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INDEPENDENCE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6095848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vs Private Cloud, vendor-neutral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755151" y="60533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55151" y="6291072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consultants only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EXPERTISE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4846320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Three areas of expertise, and each one informs the others</a:t>
            </a:r>
            <a:endParaRPr lang="en-US" sz="2500" dirty="0"/>
          </a:p>
        </p:txBody>
      </p:sp>
      <p:pic>
        <p:nvPicPr>
          <p:cNvPr id="4" name="Image 0" descr="./assets/fig-fina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298448"/>
            <a:ext cx="5532120" cy="3685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323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1307592" y="23957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modules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07592" y="2724912"/>
            <a:ext cx="4315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FI, CO, PA and PS. Enterprise structure and global chart of accounts design, controlling and profitability, and redesign of the financial close.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3566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cloud architecture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307592" y="3895344"/>
            <a:ext cx="4315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 assessment between Private and Public Cloud, target architecture design and migration management. We do not advocate for a particular model.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7731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47365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and RPA-powered automation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1307592" y="5065776"/>
            <a:ext cx="4315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 and predictive accounting using SAP’s embedded AI capabilities — measured first, then phased.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EXPERTISE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932191" cy="822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One finance core, four deployment models, one embedded AI layer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MODELS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8892311" y="1810512"/>
            <a:ext cx="2522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AI CAPABILITIES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23544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ECC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3544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 most programmes start from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7240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23544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on-premise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23544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infrastructure, full flexibility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3544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Private Edition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— cloud operations, flexibility retained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3544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ERP Public Edition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scope, rapid deployment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892311" y="2103120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038615" y="2185416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Intelligent matching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038615" y="2404872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and open items cleared from learned behaviour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892311" y="2884932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038615" y="2967228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038615" y="3186684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postings flagged before the close, not after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892311" y="3666744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38615" y="3749040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Predictive accounting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038615" y="3968496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Not-yet-final transactions visible during the period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8892311" y="4448556"/>
            <a:ext cx="2522144" cy="6400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38615" y="4530852"/>
            <a:ext cx="2229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038615" y="4750308"/>
            <a:ext cx="2229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layer for querying and navigation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931829" y="2103120"/>
            <a:ext cx="4145158" cy="2985516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206149" y="2414016"/>
            <a:ext cx="3596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CORE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206149" y="2670048"/>
            <a:ext cx="35965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6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 · CO · PA · PS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4224437" y="352958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443893" y="3438144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 and global chart of accounts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224437" y="3913632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443893" y="3822192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Controlling, costing and profitability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224437" y="4297680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43893" y="4206240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financial close, redesigned step by step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224437" y="468172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43893" y="4590288"/>
            <a:ext cx="33587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Statutory and management reporting from one source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77240" y="5504688"/>
            <a:ext cx="79321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AI capabilities are embedded in the system rather than bought separately. Enabling all of them is not a strategy — we assess which ones your data volume and process discipline can support, and sequence them.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50"/>
              </a:lnSpc>
              <a:buNone/>
            </a:pPr>
            <a:r>
              <a:rPr lang="en-US" sz="25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Five service areas, one finance perspective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62202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organisation often sits in more than one category. This table exists to show which piece of work makes more sense to start with.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12648" y="1990852"/>
            <a:ext cx="10966399" cy="365760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7314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73148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WHO IT SUITS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0731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2073148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BENEFIT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8521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412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FI, CO and end-to-end financial process design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261264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with a drifted SAP setup, or implementing fresh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612644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Diagnosis 3–4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Redesign 4–7 months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2612644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 reporting and a predictable close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350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Transformation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5910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Brownfield, greenfield or selective transition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840480" y="336245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Organisations on ECC that need a conversion plan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36245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4–6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Conversion 6–14 months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3362452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defensible approach decision and a predictable cutover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08482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3408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ERP Public Edition architecture and delivery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411226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Companies able to adopt standard, wanting fast deployment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41122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Deployment 3–5 months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4112260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Rapid go-live and low operational overhead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83463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906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and Cloud ERP Private Edition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4862068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that must retain process flexibility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862068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Preparation 5–8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Migration 7–14 months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4862068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operations without giving up flexibility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58444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Finance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8404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F6D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embedded AI capabilities and process automation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611876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spending heavy manual hours on repetitive finance work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5611876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Assessment 2–3 weeks</a:t>
            </a:r>
            <a:endParaRPr lang="en-US" sz="800" dirty="0"/>
          </a:p>
          <a:p>
            <a:pPr indent="0" marL="0">
              <a:lnSpc>
                <a:spcPts val="1250"/>
              </a:lnSpc>
              <a:buNone/>
            </a:pPr>
            <a:r>
              <a:rPr lang="en-US" sz="80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phase 6–12 weeks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8961120" y="5611876"/>
            <a:ext cx="2450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 hours and errors caught earlier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CLOUD ARCHITECTURE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or Private Cloud — the most expensive decision to reverse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8833866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advanced and the cheap version of one another, but different trades.</a:t>
            </a:r>
            <a:endParaRPr lang="en-US" sz="1050" dirty="0"/>
          </a:p>
        </p:txBody>
      </p:sp>
      <p:pic>
        <p:nvPicPr>
          <p:cNvPr id="5" name="Image 0" descr="./assets/fig-clou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2172081"/>
            <a:ext cx="4892040" cy="3264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17801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Cost model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555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8" name="Text 5"/>
          <p:cNvSpPr txBox="1"/>
          <p:nvPr/>
        </p:nvSpPr>
        <p:spPr>
          <a:xfrm>
            <a:off x="1490472" y="24555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 by user and scope; upgrades included.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6585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1490472" y="266585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Varies with sizing; upgrade testing stays with you.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912745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504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1490472" y="31504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cannot be modified; extension in a separate layer.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36080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490472" y="336080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modification allowed; existing ABAP carried across.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07689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Upgrade cadence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8454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1490472" y="38454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Regular, automatic and not deferrable.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055745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1490472" y="4055745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control the timing; each upgrade its own project.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302633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Implementation time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540377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1490472" y="4540377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months for a single-country finance deployment.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750689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1490472" y="4750689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Typically 7–14 months, by scope and inherited landscape.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997577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Typical fit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5235321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1490472" y="5235321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 organisations close to standard.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445633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</a:t>
            </a:r>
            <a:endParaRPr lang="en-US" sz="700" dirty="0"/>
          </a:p>
        </p:txBody>
      </p:sp>
      <p:sp>
        <p:nvSpPr>
          <p:cNvPr id="30" name="Text 27"/>
          <p:cNvSpPr txBox="1"/>
          <p:nvPr/>
        </p:nvSpPr>
        <p:spPr>
          <a:xfrm>
            <a:off x="1490472" y="5445633"/>
            <a:ext cx="4773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Larger organisations with customisation history.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do not advocate for a model.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compare your processes against standard scope and put the cost and the constraint of both models side by side for your situation. The decision stays yours.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WE CREATE VALUE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7030517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Measurement first, then a decision you can defend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66824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outcome is decided by the weekly working discipline, not by the name of the methodology.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recommendation is made without reading the actual system data. Advice given without measurement is a guess, and its cost falls to you.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COMPARE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placed side by side with cost, duration and risk — together with our own view and the reasoning behind it.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DECIDE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yours and the reasoning stays on paper. That is what answers “why did we do it this way?” two years later.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661793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-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3155569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OWN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521329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written together, the first close run together, documentation left in a form people actually use.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Bad news travels immediately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becomes clear an estimate will not hold, you hear it that week rather than in the month-end report.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4911217"/>
            <a:ext cx="506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Phase the work, don’t grow the team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23864" y="5194681"/>
            <a:ext cx="506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phase ends in something that works, and the decision to continue gets taken again.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CA9C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OUR APPROACH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3977640" cy="762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14"/>
              </a:lnSpc>
              <a:buNone/>
            </a:pPr>
            <a:r>
              <a:rPr lang="en-US" sz="23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Four stages, each ending in something tangible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76908"/>
            <a:ext cx="3977640" cy="691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delivered at the end of each stage is defined before it starts, and no stage begins before the previous one has closed.</a:t>
            </a:r>
            <a:endParaRPr lang="en-US" sz="1050" dirty="0"/>
          </a:p>
        </p:txBody>
      </p:sp>
      <p:pic>
        <p:nvPicPr>
          <p:cNvPr id="5" name="Image 0" descr="./assets/fig-proc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115568"/>
            <a:ext cx="667512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85292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TYPICAL DURATION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8211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16382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31638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68503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6667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 and roadmap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3666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8795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41696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416966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690872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7258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46725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50" kern="0" dirty="0">
                <a:solidFill>
                  <a:srgbClr val="4A5A6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TECHNOLOGY AND BUSINESS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32"/>
              </a:lnSpc>
              <a:buNone/>
            </a:pPr>
            <a:r>
              <a:rPr lang="en-US" sz="24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use AI on both sides: in your processes and in how we work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06880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separate service line, but part of both the system we deliver and the method we use to deliver it.</a:t>
            </a:r>
            <a:endParaRPr lang="en-US" sz="1050" dirty="0"/>
          </a:p>
        </p:txBody>
      </p:sp>
      <p:pic>
        <p:nvPicPr>
          <p:cNvPr id="5" name="Image 0" descr="./assets/fig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344674"/>
            <a:ext cx="5943600" cy="3959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95160" y="2472690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YOUR FINANCE PROCESSES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2692146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Automation your team keeps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022592" y="309448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251192" y="300304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Intelligent matching of bank and open items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022592" y="335051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51192" y="325907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 before the close, not after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022592" y="360654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51192" y="351510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accounting during the period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022592" y="386257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51192" y="377113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Joule for natural-language querying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4264914"/>
            <a:ext cx="4416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 OUR OWN DELIVERY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6995160" y="4484370"/>
            <a:ext cx="4416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Preparation work, compressed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7022592" y="488670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251192" y="479526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code inventory and impact analysis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022592" y="514273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251192" y="505129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 of test scenarios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022592" y="539877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251192" y="530733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reconciliation checks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022592" y="565480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51192" y="556336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 configuration documentation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995160" y="6112002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51192" y="605713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Our position.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producing a financial posting is finalised without human review.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ENGAGEMENTS IN PRACTICE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the work looks like in practice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030517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situations we meet regularly, and the approach we take to each.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573975" y="1412621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ILLUSTRATIVE — NOT CLIENT CASES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7607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Manufacturing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MULTI-ENTITY GROUP, SEVERAL COUNTRIES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group running ECC needs an S/4HANA plan before maintenance deadlines force one. Nobody knows how much accumulated custom code is still executed.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usage-based custom code inventory first. All three conversion routes compared on cost, duration and risk. Company codes planned in waves.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reasoned approach decision that survives board scrutiny, and a smaller conversion scope once dead development is retired.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2511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2628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Technology and services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FAST-GROWING MID-MARKET COMPANY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company is scaling quickly while finance still runs on spreadsheets. A standard ERP deployment is wanted, but whether Public Cloud suffices is unknown.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2628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Processes compared against standard scope item by item. Fit-to-standard workshops retire differences that exist only through habit.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finance setup built on standard and ready for the release cycle, plus a deployment template that repeats in new markets.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74152" y="1933829"/>
            <a:ext cx="3803904" cy="38953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75320" y="2153285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Retail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464181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MULTI-SITE, HIGH TRANSACTION VOLUME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79336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SITUATION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8275320" y="299453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month-end close runs long and unpredictably. Reconciliation is largely manual, and unmatched items depend on two or three people.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79920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00037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close measured step by step to find the dependencies creating wait time. Matching thresholds calibrated against real data.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805045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OUTCOME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275320" y="5006213"/>
            <a:ext cx="3401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close calendar that is predictable step by step, with the team moving from matching items to reviewing exceptions.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993765"/>
            <a:ext cx="88338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contain no client names, figures or outcome claims. They are written to show how an engagement works.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WHY CPEAK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04672"/>
            <a:ext cx="8833866" cy="46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8"/>
              </a:lnSpc>
              <a:buNone/>
            </a:pPr>
            <a:r>
              <a:rPr lang="en-US" sz="2600" b="1" spc="-5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difference is who actually does the work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377188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SAP consulting the outcome is decided less by methodology than by who actually works on the project.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Real depth in the finance modules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76854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 and CO are our core discipline, not a capability brought along beside something else. On decisions that are expensive to reverse — enterprise structure, costing design, the close calendar — you get the view of someone who has lived the consequences several times.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483864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83864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Neutral on the cloud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483864" y="3276854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do not advocate for Public or Private Cloud. We compare your processes against standard scope and put the cost and constraint of both models side by side for your specific situation.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190488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 accelerated by AI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190488" y="3276854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use AI for the volume work: analysis, documentation, test scenario generation and migration reconciliation. It shortens the preparation phases and leaves senior time for the parts that require judgement.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2362454"/>
            <a:ext cx="248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65506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Senior consultants on every engagement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897112" y="3276854"/>
            <a:ext cx="2395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named in the proposal are the people who turn up. You are not charged for a consultant’s learning curve. When scope grows we phase the work rather than inflate the team.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0" y="5138928"/>
            <a:ext cx="12191695" cy="9692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5321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</a:t>
            </a:r>
            <a:endParaRPr lang="en-US" sz="750" dirty="0"/>
          </a:p>
        </p:txBody>
      </p:sp>
      <p:pic>
        <p:nvPicPr>
          <p:cNvPr id="19" name="Image 0" descr="./assets/ref-mercedes-b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0038" y="5498705"/>
            <a:ext cx="987552" cy="249710"/>
          </a:xfrm>
          <a:prstGeom prst="rect">
            <a:avLst/>
          </a:prstGeom>
        </p:spPr>
      </p:pic>
      <p:pic>
        <p:nvPicPr>
          <p:cNvPr id="20" name="Image 1" descr="./assets/ref-pw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86" y="5486400"/>
            <a:ext cx="564776" cy="274320"/>
          </a:xfrm>
          <a:prstGeom prst="rect">
            <a:avLst/>
          </a:prstGeom>
        </p:spPr>
      </p:pic>
      <p:pic>
        <p:nvPicPr>
          <p:cNvPr id="21" name="Image 2" descr="./assets/ref-fusion-consult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159" y="5486400"/>
            <a:ext cx="624314" cy="274320"/>
          </a:xfrm>
          <a:prstGeom prst="rect">
            <a:avLst/>
          </a:prstGeom>
        </p:spPr>
      </p:pic>
      <p:pic>
        <p:nvPicPr>
          <p:cNvPr id="22" name="Image 3" descr="./assets/ref-boehringer-ingelhei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369" y="5486400"/>
            <a:ext cx="888492" cy="274320"/>
          </a:xfrm>
          <a:prstGeom prst="rect">
            <a:avLst/>
          </a:prstGeom>
        </p:spPr>
      </p:pic>
      <p:pic>
        <p:nvPicPr>
          <p:cNvPr id="23" name="Image 4" descr="./assets/ref-wav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757" y="5505608"/>
            <a:ext cx="974385" cy="235904"/>
          </a:xfrm>
          <a:prstGeom prst="rect">
            <a:avLst/>
          </a:prstGeom>
        </p:spPr>
      </p:pic>
      <p:pic>
        <p:nvPicPr>
          <p:cNvPr id="24" name="Image 5" descr="./assets/ref-imery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038" y="5486400"/>
            <a:ext cx="426720" cy="274320"/>
          </a:xfrm>
          <a:prstGeom prst="rect">
            <a:avLst/>
          </a:prstGeom>
        </p:spPr>
      </p:pic>
      <p:pic>
        <p:nvPicPr>
          <p:cNvPr id="25" name="Image 6" descr="./assets/ref-g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1654" y="5486400"/>
            <a:ext cx="868887" cy="274320"/>
          </a:xfrm>
          <a:prstGeom prst="rect">
            <a:avLst/>
          </a:prstGeom>
        </p:spPr>
      </p:pic>
      <p:pic>
        <p:nvPicPr>
          <p:cNvPr id="26" name="Image 7" descr="./assets/ref-bek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1437" y="5486400"/>
            <a:ext cx="481263" cy="274320"/>
          </a:xfrm>
          <a:prstGeom prst="rect">
            <a:avLst/>
          </a:prstGeom>
        </p:spPr>
      </p:pic>
      <p:pic>
        <p:nvPicPr>
          <p:cNvPr id="27" name="Image 8" descr="./assets/ref-per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23596" y="5486400"/>
            <a:ext cx="529389" cy="27432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77240" y="63459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 Consultancy</a:t>
            </a:r>
            <a:endParaRPr lang="en-US" sz="750" dirty="0"/>
          </a:p>
        </p:txBody>
      </p:sp>
      <p:sp>
        <p:nvSpPr>
          <p:cNvPr id="29" name="Text 1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quant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51560"/>
            <a:ext cx="3291840" cy="3877314"/>
          </a:xfrm>
          <a:prstGeom prst="rect">
            <a:avLst/>
          </a:prstGeom>
        </p:spPr>
      </p:pic>
      <p:pic>
        <p:nvPicPr>
          <p:cNvPr id="3" name="Image 1" descr="./assets/logo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13232"/>
            <a:ext cx="1737360" cy="59805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77240" y="20894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NEXT STEP</a:t>
            </a:r>
            <a:endParaRPr lang="en-US" sz="850" dirty="0"/>
          </a:p>
        </p:txBody>
      </p:sp>
      <p:sp>
        <p:nvSpPr>
          <p:cNvPr id="5" name="Text 1"/>
          <p:cNvSpPr txBox="1"/>
          <p:nvPr/>
        </p:nvSpPr>
        <p:spPr>
          <a:xfrm>
            <a:off x="777240" y="2487168"/>
            <a:ext cx="612884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Tell us about your project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and we will come back</a:t>
            </a:r>
            <a:endParaRPr lang="en-US" sz="2800" dirty="0"/>
          </a:p>
          <a:p>
            <a:pPr indent="0" marL="0">
              <a:lnSpc>
                <a:spcPts val="3612"/>
              </a:lnSpc>
              <a:buNone/>
            </a:pPr>
            <a:r>
              <a:rPr lang="en-US" sz="28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within one business day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42611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few sentences on where you are today and what you are trying to solve is enough to start. The first call runs 30–45 minutes at no cost.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GENERAL</a:t>
            </a:r>
            <a:endParaRPr lang="en-US" sz="7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 — KEREM YİĞİT</a:t>
            </a:r>
            <a:endParaRPr lang="en-US" sz="7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510235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TELEPHONE</a:t>
            </a:r>
            <a:endParaRPr lang="en-US" sz="7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52760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OFFICE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Bostancı Mah. Şemsettin Günaltay Cad.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No: 31/8, 34744 Kadıköy, İstanbul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29768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16" name="Text 12"/>
          <p:cNvSpPr txBox="1"/>
          <p:nvPr/>
        </p:nvSpPr>
        <p:spPr>
          <a:xfrm>
            <a:off x="429768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570585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18" name="Text 14"/>
          <p:cNvSpPr txBox="1"/>
          <p:nvPr/>
        </p:nvSpPr>
        <p:spPr>
          <a:xfrm>
            <a:off x="7818120" y="587959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Company Overview</dc:title>
  <dc:subject>SAP finance modules, S/4HANA transformation and SAP cloud architecture</dc:subject>
  <dc:creator>CPeak Consultancy</dc:creator>
  <cp:lastModifiedBy>CPeak Consultancy</cp:lastModifiedBy>
  <cp:revision>1</cp:revision>
  <dcterms:created xsi:type="dcterms:W3CDTF">2026-09-05T14:31:26Z</dcterms:created>
  <dcterms:modified xsi:type="dcterms:W3CDTF">2026-09-05T14:31:26Z</dcterms:modified>
</cp:coreProperties>
</file>
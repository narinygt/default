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Finans modülleri sayfası, kısaltılarak yeniden yazıldı.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geçiş yöntemi tablosu; sitedeki yöntem anlatımından kısaltılarak türetildi.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Cloud sayfası, kısaltılarak yeniden yazıldı.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Cloud sayfası; sorumluluk şeması sitedeki sorumluluk matrisi anlatımından türetildi.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Çözümler sayfasındaki karşılaştırma tablosu, kısaltılarak yeniden yazıldı.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Yapay zeka sayfası, kısaltılarak yeniden yazıldı.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Teslim kalemleri çözüm sayfalarından, raporlama düzeni yaklaşım sayfasından.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aşamalı teslim modeli; aşama çıktıları görselin içinde yazılı.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Sitenin referans bandındaki logoların tamamı.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Yaklaşım sayfasındaki ilkeler ve çalışma modelleri, tek satıra indirilerek.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Hakkımızda sayfasının odak bölümü ve üstlenilmeyen işler.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İletişim bilgileri site yapılandırmasından.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cover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pic>
        <p:nvPicPr>
          <p:cNvPr id="3" name="Image 1" descr="./assets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49808"/>
            <a:ext cx="1874520" cy="6452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4734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COMPANY OVERVIEW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871216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2"/>
              </a:lnSpc>
              <a:buNone/>
            </a:pPr>
            <a:r>
              <a:rPr lang="en-US" sz="31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10+ years of SAP finance</a:t>
            </a:r>
            <a:endParaRPr lang="en-US" sz="3100" dirty="0"/>
          </a:p>
          <a:p>
            <a:pPr indent="0" marL="0">
              <a:lnSpc>
                <a:spcPts val="3782"/>
              </a:lnSpc>
              <a:buNone/>
            </a:pPr>
            <a:r>
              <a:rPr lang="en-US" sz="31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experience and SAP</a:t>
            </a:r>
            <a:endParaRPr lang="en-US" sz="3100" dirty="0"/>
          </a:p>
          <a:p>
            <a:pPr indent="0" marL="0">
              <a:lnSpc>
                <a:spcPts val="3782"/>
              </a:lnSpc>
              <a:buNone/>
            </a:pPr>
            <a:r>
              <a:rPr lang="en-US" sz="31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cloud architecture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773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modules, S/4HANA transformation and SAP cloud architecture.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61996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CPEAKCONSULTANCY.COM  ·  ISTANBUL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01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Finance Modules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030517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design and implementation across FI, CO, PA and PS.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18081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WORK RUNS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2897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210689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of the current setup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21585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503297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 of accounts and enterprise structure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1419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795905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Costing and profitability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0680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088513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Redesign of the financial close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39940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381121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 and handover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911473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 SUITS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95528" y="4277233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4185793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consolidating several company codes into one reporting logic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5528" y="4697857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4606417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teams whose close runs long without a measurable cause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228209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29377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Diagnosis 3–4 weeks · Redesign 4–7 months</a:t>
            </a:r>
            <a:endParaRPr lang="en-US" sz="1200" dirty="0"/>
          </a:p>
        </p:txBody>
      </p:sp>
      <p:pic>
        <p:nvPicPr>
          <p:cNvPr id="24" name="Image 1" descr="./assets/fig-fin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98041"/>
            <a:ext cx="5330952" cy="355701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02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S/4HANA Transformation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030517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route is chosen on evidence: a system scan turns the debate from opinion into fact.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18081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WORK RUNS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2897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210689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scan and route decision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21585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503297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Clearing customisation debt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1419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795905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transformation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0680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088513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migration and testing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39940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381121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Cutover and hypercare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911473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 SUITS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95528" y="4277233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4185793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ECC users needing a conversion plan before maintenance deadlines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5528" y="4697857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4606417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organisations carrying custom code of unknown value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228209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29377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 4–6 weeks · Conversion 6–14 months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1918081"/>
            <a:ext cx="5330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CONVERSION ROUTES, COMPARED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80760" y="2210689"/>
            <a:ext cx="5330952" cy="1060704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36792" y="2338705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System conversion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040112" y="2338705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Brownfield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6336792" y="2649601"/>
            <a:ext cx="4818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existing system is converted in place. History is preserved; processes stay largely as they are.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80760" y="3417697"/>
            <a:ext cx="5330952" cy="1060704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36792" y="3545713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New implementation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040112" y="3545713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Greenfield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6336792" y="3856609"/>
            <a:ext cx="4818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built from scratch. Processes are renewed; historical data moves in limited form.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080760" y="4624705"/>
            <a:ext cx="5330952" cy="1060704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336792" y="4752721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Selective transition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0040112" y="4752721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6336792" y="5063617"/>
            <a:ext cx="4818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data and processes are carried over. Often the shorter and cheaper total for multi-entity groups.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03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Public Cloud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030517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ERP Public Edition: standard scope, fast deployment, low operational load.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18081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WORK RUNS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2897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210689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assessment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21585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503297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Fit-to-standard and finance setup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1419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795905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Extensibility strategy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0680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088513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Release-cycle readiness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39940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381121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Cutover and user training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911473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 SUITS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95528" y="4277233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4185793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companies willing to build on standard processes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5528" y="4697857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4606417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Organisations with a small internal IT function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228209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29377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 2–3 weeks · Deployment 3–5 months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1918081"/>
            <a:ext cx="5330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CHANGE IS ALLOWED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80760" y="2210689"/>
            <a:ext cx="5330952" cy="1325880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36792" y="2338705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 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336792" y="2594737"/>
            <a:ext cx="48188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modifiable. Quarterly releases apply automatically.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0760" y="3682873"/>
            <a:ext cx="5330952" cy="13258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36792" y="3810889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EXTENSION LAYER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336792" y="4066921"/>
            <a:ext cx="48188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met only through supported extension methods.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080760" y="5209921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your processes fall outside standard scope is measured before the contract, not after.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04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Private Cloud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030517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 with SAP and Cloud ERP Private Edition: cloud operations without giving up process flexibility.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1810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WORK RUNS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900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41071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responsibility boundaries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2161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70332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architecture and sizing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421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99593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transformation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0682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28853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and cutover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59943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58114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Hypercare and handover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11149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 SUITS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95528" y="447725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438581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whose industry processes fall outside standard scope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5528" y="489788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480644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Regulated sectors needing control over data residency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42823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2940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Preparation 5–8 weeks · Migration 7–14 months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2118106"/>
            <a:ext cx="5330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RESPONSIBILITY SITS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80760" y="2410714"/>
            <a:ext cx="5330952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36792" y="2538730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336792" y="2794762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Infrastructure, base operations, platform availability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0760" y="3398266"/>
            <a:ext cx="5330952" cy="841248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36792" y="3526282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336792" y="3782314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Architecture, finance processes, migration management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4385818"/>
            <a:ext cx="5330952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336792" y="4513834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TEAM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6336792" y="4769866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ownership, acceptance testing, daily operation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5428234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boundary is written down before the project starts — that is where most RISE programmes lose time.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05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Public and Private Cloud compared</a:t>
            </a:r>
            <a:endParaRPr lang="en-US" sz="2800" dirty="0"/>
          </a:p>
        </p:txBody>
      </p:sp>
      <p:pic>
        <p:nvPicPr>
          <p:cNvPr id="5" name="Image 1" descr="./assets/fig-clou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26616"/>
            <a:ext cx="4892040" cy="32644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167233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Cost model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910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1490472" y="1910080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by user and scope; upgrades included.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203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</a:t>
            </a:r>
            <a:endParaRPr lang="en-US" sz="700" dirty="0"/>
          </a:p>
        </p:txBody>
      </p:sp>
      <p:sp>
        <p:nvSpPr>
          <p:cNvPr id="10" name="Text 6"/>
          <p:cNvSpPr txBox="1"/>
          <p:nvPr/>
        </p:nvSpPr>
        <p:spPr>
          <a:xfrm>
            <a:off x="1490472" y="2120392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Varies with sizing; upgrade testing stays with you.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672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Extensibility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6050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1490472" y="2605024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fixed; separate extension layer.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153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</a:t>
            </a:r>
            <a:endParaRPr lang="en-US" sz="700" dirty="0"/>
          </a:p>
        </p:txBody>
      </p:sp>
      <p:sp>
        <p:nvSpPr>
          <p:cNvPr id="15" name="Text 11"/>
          <p:cNvSpPr txBox="1"/>
          <p:nvPr/>
        </p:nvSpPr>
        <p:spPr>
          <a:xfrm>
            <a:off x="1490472" y="2815336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modification allowed; existing ABAP carried across.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06222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Upgrade cadence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2999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1490472" y="3299968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Regular, automatic, not deferrable.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510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</a:t>
            </a:r>
            <a:endParaRPr lang="en-US" sz="700" dirty="0"/>
          </a:p>
        </p:txBody>
      </p:sp>
      <p:sp>
        <p:nvSpPr>
          <p:cNvPr id="20" name="Text 16"/>
          <p:cNvSpPr txBox="1"/>
          <p:nvPr/>
        </p:nvSpPr>
        <p:spPr>
          <a:xfrm>
            <a:off x="1490472" y="3510280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set the timing; each upgrade is its own project.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3757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39949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700" dirty="0"/>
          </a:p>
        </p:txBody>
      </p:sp>
      <p:sp>
        <p:nvSpPr>
          <p:cNvPr id="23" name="Text 19"/>
          <p:cNvSpPr txBox="1"/>
          <p:nvPr/>
        </p:nvSpPr>
        <p:spPr>
          <a:xfrm>
            <a:off x="1490472" y="3994912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months, single-country finance scope.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42052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1490472" y="4205224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7–14 months.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77240" y="44521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Typical fit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468985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700" dirty="0"/>
          </a:p>
        </p:txBody>
      </p:sp>
      <p:sp>
        <p:nvSpPr>
          <p:cNvPr id="28" name="Text 24"/>
          <p:cNvSpPr txBox="1"/>
          <p:nvPr/>
        </p:nvSpPr>
        <p:spPr>
          <a:xfrm>
            <a:off x="1490472" y="4689856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Mid-market, close to standard.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777240" y="4900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</a:t>
            </a:r>
            <a:endParaRPr lang="en-US" sz="700" dirty="0"/>
          </a:p>
        </p:txBody>
      </p:sp>
      <p:sp>
        <p:nvSpPr>
          <p:cNvPr id="30" name="Text 26"/>
          <p:cNvSpPr txBox="1"/>
          <p:nvPr/>
        </p:nvSpPr>
        <p:spPr>
          <a:xfrm>
            <a:off x="1490472" y="4900168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customisation and integration history.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77240" y="5870448"/>
            <a:ext cx="883386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take no side.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are compared against standard scope and both models are put side by side. The decision stays yours.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0500055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8B3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06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in Finance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030517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SAP’s AI capabilities are embedded, not bought separately. We measure which ones fit, then phase them in.</a:t>
            </a:r>
            <a:endParaRPr lang="en-US" sz="1050" dirty="0"/>
          </a:p>
        </p:txBody>
      </p:sp>
      <p:pic>
        <p:nvPicPr>
          <p:cNvPr id="6" name="Image 1" descr="./assets/fig-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44954"/>
            <a:ext cx="5943600" cy="39593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95160" y="2172970"/>
            <a:ext cx="4416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YOUR PROCESSES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6995160" y="239242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Delivered to your team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022592" y="279476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51192" y="270332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matching of bank and open items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022592" y="305079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51192" y="295935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before the close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022592" y="330682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51192" y="321538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accounting within the period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022592" y="356285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51192" y="347141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Joule for natural-language querying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6995160" y="3965194"/>
            <a:ext cx="4416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OUR DELIVERY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6995160" y="418465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Preparation work, compressed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022592" y="458698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51192" y="449554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code inventory and impact analysis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022592" y="484301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51192" y="475157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drafts of test scenarios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022592" y="5099050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251192" y="500761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reconciliation checks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022592" y="535508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251192" y="526364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configuration documentation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995160" y="5812282"/>
            <a:ext cx="118872" cy="118872"/>
          </a:xfrm>
          <a:prstGeom prst="rect">
            <a:avLst/>
          </a:prstGeom>
          <a:solidFill>
            <a:srgbClr val="E8B33A"/>
          </a:solidFill>
          <a:ln w="3175">
            <a:solidFill>
              <a:srgbClr val="E8B33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251192" y="575741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Rule.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decision producing a financial posting is finalised without human review.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 07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is delivered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77240" y="1535176"/>
            <a:ext cx="5120640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1827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069848" y="231698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07592" y="221183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report with prioritised findings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69848" y="271932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07592" y="26141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architecture and chart of accounts design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69848" y="3121660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07592" y="301650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documentation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69848" y="352399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07592" y="341884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migration plan and reconciliation reports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69848" y="392633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07592" y="3821176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scenarios and recorded results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69848" y="432866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07592" y="422351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Hour-by-hour cutover plan with rollback criteria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69848" y="473100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07592" y="462584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user training and operating handbook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45352" y="1535176"/>
            <a:ext cx="516910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19672" y="1827784"/>
            <a:ext cx="46204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REPORTING, FIXED AT THE OUTSET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537960" y="231698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2211832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status: done, in progress, risks, decisions pending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37960" y="271932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75704" y="2614168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decision list with owners and dates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37960" y="3121660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75704" y="3016504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register: owner, impact, mitigation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37960" y="352399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75704" y="3418840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Phase-end pack: documents, test records, acceptance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37960" y="392633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75704" y="3821176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with time and cost impact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 08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39776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How we work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39776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ends in a defined deliverable. No stage starts before the previous one closes.</a:t>
            </a:r>
            <a:endParaRPr lang="en-US" sz="1050" dirty="0"/>
          </a:p>
        </p:txBody>
      </p:sp>
      <p:pic>
        <p:nvPicPr>
          <p:cNvPr id="6" name="Image 1" descr="./assets/fig-proces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98448"/>
            <a:ext cx="6675120" cy="44531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8529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182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3163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566160" y="3163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850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666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Architecture and roadmap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66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3–6 weeks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187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4169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41696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6908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280160" y="4672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Hypercare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3566160" y="46725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4–12 weeks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REFERENCES 09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Organisations our consultants have worked with</a:t>
            </a:r>
            <a:endParaRPr lang="en-US" sz="2800" dirty="0"/>
          </a:p>
        </p:txBody>
      </p:sp>
      <p:pic>
        <p:nvPicPr>
          <p:cNvPr id="5" name="Image 1" descr="./assets/ref-mercedes-ben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90" y="2466548"/>
            <a:ext cx="1810512" cy="457801"/>
          </a:xfrm>
          <a:prstGeom prst="rect">
            <a:avLst/>
          </a:prstGeom>
        </p:spPr>
      </p:pic>
      <p:pic>
        <p:nvPicPr>
          <p:cNvPr id="6" name="Image 2" descr="./assets/ref-pw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130" y="2457704"/>
            <a:ext cx="978946" cy="475488"/>
          </a:xfrm>
          <a:prstGeom prst="rect">
            <a:avLst/>
          </a:prstGeom>
        </p:spPr>
      </p:pic>
      <p:pic>
        <p:nvPicPr>
          <p:cNvPr id="7" name="Image 3" descr="./assets/ref-fusion-consul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004" y="2457704"/>
            <a:ext cx="1082145" cy="475488"/>
          </a:xfrm>
          <a:prstGeom prst="rect">
            <a:avLst/>
          </a:prstGeom>
        </p:spPr>
      </p:pic>
      <p:pic>
        <p:nvPicPr>
          <p:cNvPr id="8" name="Image 4" descr="./assets/ref-boehringer-ingelhe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077" y="2457704"/>
            <a:ext cx="1540053" cy="475488"/>
          </a:xfrm>
          <a:prstGeom prst="rect">
            <a:avLst/>
          </a:prstGeom>
        </p:spPr>
      </p:pic>
      <p:pic>
        <p:nvPicPr>
          <p:cNvPr id="9" name="Image 5" descr="./assets/ref-wav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058" y="2479203"/>
            <a:ext cx="1786372" cy="432490"/>
          </a:xfrm>
          <a:prstGeom prst="rect">
            <a:avLst/>
          </a:prstGeom>
        </p:spPr>
      </p:pic>
      <p:pic>
        <p:nvPicPr>
          <p:cNvPr id="10" name="Image 6" descr="./assets/ref-imery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357" y="2457704"/>
            <a:ext cx="739648" cy="475488"/>
          </a:xfrm>
          <a:prstGeom prst="rect">
            <a:avLst/>
          </a:prstGeom>
        </p:spPr>
      </p:pic>
      <p:pic>
        <p:nvPicPr>
          <p:cNvPr id="11" name="Image 7" descr="./assets/ref-gs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17" y="3683000"/>
            <a:ext cx="1506071" cy="475488"/>
          </a:xfrm>
          <a:prstGeom prst="rect">
            <a:avLst/>
          </a:prstGeom>
        </p:spPr>
      </p:pic>
      <p:pic>
        <p:nvPicPr>
          <p:cNvPr id="12" name="Image 8" descr="./assets/ref-bek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2215" y="3683000"/>
            <a:ext cx="834189" cy="475488"/>
          </a:xfrm>
          <a:prstGeom prst="rect">
            <a:avLst/>
          </a:prstGeom>
        </p:spPr>
      </p:pic>
      <p:pic>
        <p:nvPicPr>
          <p:cNvPr id="13" name="Image 9" descr="./assets/ref-hidrome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3333" y="3739801"/>
            <a:ext cx="2776118" cy="361887"/>
          </a:xfrm>
          <a:prstGeom prst="rect">
            <a:avLst/>
          </a:prstGeom>
        </p:spPr>
      </p:pic>
      <p:pic>
        <p:nvPicPr>
          <p:cNvPr id="14" name="Image 10" descr="./assets/ref-fli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6379" y="3723877"/>
            <a:ext cx="1991563" cy="393734"/>
          </a:xfrm>
          <a:prstGeom prst="rect">
            <a:avLst/>
          </a:prstGeom>
        </p:spPr>
      </p:pic>
      <p:pic>
        <p:nvPicPr>
          <p:cNvPr id="15" name="Image 11" descr="./assets/ref-per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24870" y="3683000"/>
            <a:ext cx="917608" cy="475488"/>
          </a:xfrm>
          <a:prstGeom prst="rect">
            <a:avLst/>
          </a:prstGeom>
        </p:spPr>
      </p:pic>
      <p:pic>
        <p:nvPicPr>
          <p:cNvPr id="16" name="Image 12" descr="./assets/ref-enerjis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5380" y="4955303"/>
            <a:ext cx="1931213" cy="381474"/>
          </a:xfrm>
          <a:prstGeom prst="rect">
            <a:avLst/>
          </a:prstGeom>
        </p:spPr>
      </p:pic>
      <p:pic>
        <p:nvPicPr>
          <p:cNvPr id="17" name="Image 13" descr="./assets/ref-ayde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3521" y="4908296"/>
            <a:ext cx="777667" cy="475488"/>
          </a:xfrm>
          <a:prstGeom prst="rect">
            <a:avLst/>
          </a:prstGeom>
        </p:spPr>
      </p:pic>
      <p:pic>
        <p:nvPicPr>
          <p:cNvPr id="18" name="Image 14" descr="./assets/ref-nuh-cimento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8116" y="4908296"/>
            <a:ext cx="1041215" cy="475488"/>
          </a:xfrm>
          <a:prstGeom prst="rect">
            <a:avLst/>
          </a:prstGeom>
        </p:spPr>
      </p:pic>
      <p:pic>
        <p:nvPicPr>
          <p:cNvPr id="19" name="Image 15" descr="./assets/ref-belbim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6259" y="4937907"/>
            <a:ext cx="1834652" cy="416266"/>
          </a:xfrm>
          <a:prstGeom prst="rect">
            <a:avLst/>
          </a:prstGeom>
        </p:spPr>
      </p:pic>
      <p:pic>
        <p:nvPicPr>
          <p:cNvPr id="20" name="Image 16" descr="./assets/ref-tcd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7839" y="4908296"/>
            <a:ext cx="516835" cy="475488"/>
          </a:xfrm>
          <a:prstGeom prst="rect">
            <a:avLst/>
          </a:prstGeom>
        </p:spPr>
      </p:pic>
      <p:pic>
        <p:nvPicPr>
          <p:cNvPr id="21" name="Image 17" descr="./assets/ref-iet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71602" y="4908296"/>
            <a:ext cx="384713" cy="475488"/>
          </a:xfrm>
          <a:prstGeom prst="rect">
            <a:avLst/>
          </a:prstGeom>
        </p:spPr>
      </p:pic>
      <p:sp>
        <p:nvSpPr>
          <p:cNvPr id="22" name="Text 2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APPROACH 10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351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Measure first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0949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recommendation without system data.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15351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Written reasoning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180949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is yours; the rationale stays on paper.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15351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Early warning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80949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slipping estimate is reported that week.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14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Ownership transfer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88848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and the first close are run together.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614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Phases, not headcount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88848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scope is split, not staffed up.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614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in preparation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88848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work automated, judgement reviewed by seniors.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4791456"/>
            <a:ext cx="12191695" cy="2066544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102352"/>
            <a:ext cx="522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ENGAGEMENT MODELS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541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944368" y="5541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87044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is needed and the evidence is missing.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5541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93408" y="5541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587044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is taken and needs building.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5541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Expert support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442448" y="5541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Days to weeks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587044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needed in one area of a running programme.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50005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8B3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 11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03051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we work 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35176"/>
            <a:ext cx="9735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FOUNDED 2021  ·  ISTANBUL  ·  TÜRKİYE, EMEA, UNITED STATES  ·  SENIOR CONSULTANTS ONLY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76072" y="1992376"/>
            <a:ext cx="3803904" cy="1847088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23012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0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Finance modules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1533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 · CO · PA · PS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89656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structure, chart of accounts, controlling, profitability and the close.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5112" y="1992376"/>
            <a:ext cx="3803904" cy="1847088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223012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50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Cloud architecture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81533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· PUBLIC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089656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assessment, target architecture and migration management.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74152" y="1992376"/>
            <a:ext cx="3803904" cy="1847088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223012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50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and RPA automation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81533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EMBEDDED IN SAP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3089656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Matching, anomaly detection and predictive accounting.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626864"/>
            <a:ext cx="12191695" cy="2231136"/>
          </a:xfrm>
          <a:prstGeom prst="rect">
            <a:avLst/>
          </a:prstGeom>
          <a:solidFill>
            <a:srgbClr val="003F8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937760"/>
            <a:ext cx="522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 WE DECLINE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95528" y="5381244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3272" y="5285232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responsibility for modules outside our specialism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88456" y="5381244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6200" y="5285232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augmentation without delivery responsibility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95528" y="5801868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3272" y="5705856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Fixed-price transformation before an assessment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88456" y="5801868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6200" y="5705856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development or infrastructure operations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0500055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09FC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quant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51560"/>
            <a:ext cx="3291840" cy="3877314"/>
          </a:xfrm>
          <a:prstGeom prst="rect">
            <a:avLst/>
          </a:prstGeom>
        </p:spPr>
      </p:pic>
      <p:pic>
        <p:nvPicPr>
          <p:cNvPr id="3" name="Image 1" descr="./assets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13232"/>
            <a:ext cx="1737360" cy="59805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0894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487168"/>
            <a:ext cx="6128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70"/>
              </a:lnSpc>
              <a:buNone/>
            </a:pPr>
            <a:r>
              <a:rPr lang="en-US" sz="3000" b="1" spc="-8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Tell us about your project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3310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respond within one business day. The first call runs 30–45 minutes at no cost.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718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GENERAL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info@cpeakconsultancy.com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4718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 — KEREM YİĞİT</a:t>
            </a:r>
            <a:endParaRPr lang="en-US" sz="7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kerem.yigit@cpeakconsultancy.com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4718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TELEPHONE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+90 (507) 032 81 70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376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OFFICE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Bostancı Mah. Şemsettin Günaltay Cad.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No: 31/8, 34744 Kadıköy, İstanbul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5376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cpeakconsultancy.com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5376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linkedin.com/company/cpeak-consultancy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CPeak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CPeak Consultancy — Company Overview</dc:title>
  <dc:subject>SAP finance modules, S/4HANA transformation and SAP cloud architecture</dc:subject>
  <dc:creator>CPeak Consultancy</dc:creator>
  <cp:lastModifiedBy>CPeak Consultancy</cp:lastModifiedBy>
  <cp:revision>1</cp:revision>
  <dcterms:created xsi:type="dcterms:W3CDTF">2026-09-05T22:10:35Z</dcterms:created>
  <dcterms:modified xsi:type="dcterms:W3CDTF">2026-09-05T22:10:35Z</dcterms:modified>
</cp:coreProperties>
</file>
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 Konumlandırma cümlesi sitenin H1 ve hero girişinden. Görsel sitenin kendi hero görselidir.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Deste müşterinin dünyasından açılıyor. Beş cümle sitedeki çözüm sayfalarının challenges dizilerinden birebir alındı.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Argümanın motoru: kararların bedeli. Dört cümle de sitedeki çözüm özetlerinden ve yaklaşım sayfasından.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Odak, kurumsal bilgi ve dört fark tek slaytta: bu bir "hakkımızda" değil, argümanın cevabı. Referans şeridi sitenin kendi logo bandı.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 yetkinlik haritası. Dağıtım modelleri ve yapay zeka yetenekleri sitede geçenlerin aynısı. İş ortaklığı ya da sertifika iddiası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Tarafsız karşılaştırma CPeak’in en net farkı. Ölçütler Çözümler sayfasındaki tablodan kısaltıldı.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sayfanın yapay zeka bölümü. Görsel sitenin yapay zeka akış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çalışma ilkeleri, anlattıkları değer zinciri olarak dizildi.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aşamalı teslim modeli. Aşama adları ve çıktılar sitenin süreç görselinde yazılı; slayt yalnızca süreleri 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Sitede duran ama desteye hiç girmemiş malzeme: teslim kalemleri ve raporlama düzeni. Bir sunumu web sitesi özetinden ayıran şey tam olarak bu somutluk.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Ticari teklif ve üstlenmediğimiz işler. İkincisi gerçek bir danışmanlık sunumunun güven kuran slaytıdır ve sitede yazılı olduğu hâlde destede yoktu.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İletişim bilgileri site yapılandırmasından.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OVERVIEW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871216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10+ years of SAP finance</a:t>
            </a:r>
            <a:endParaRPr lang="en-US" sz="3100" dirty="0"/>
          </a:p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and SAP</a:t>
            </a:r>
            <a:endParaRPr lang="en-US" sz="3100" dirty="0"/>
          </a:p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31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expertise across the SAP finance modules and a genuinely neutral read on the cloud models — so the decision you take is one you can defend with its reasoning.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WE START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5303520" cy="110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problem is rarely the system; it is the decisions that accumulated inside it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21586"/>
            <a:ext cx="530352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sentences below are the ones we hear most often in a first conversation. None of them describe a broken system — they describe a structure that drifted.</a:t>
            </a:r>
            <a:endParaRPr lang="en-US" sz="1000" dirty="0"/>
          </a:p>
        </p:txBody>
      </p:sp>
      <p:pic>
        <p:nvPicPr>
          <p:cNvPr id="5" name="Image 0" descr="./assets/fig-fin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98448"/>
            <a:ext cx="5532120" cy="36850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" y="300456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2903982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 takes a different number of days every month and nobody can point to where the time goes.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95528" y="362635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3525774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and CO disagree, and the reconciliation happens manually outside the system.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424815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47566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 gives a different answer to brownfield versus greenfield, and none of them show their reasoning.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5528" y="486994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51560" y="4769358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Public Cloud is “enough” gets debated at length while the actual processes are never compared to the standard scope.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95528" y="549173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51560" y="5391150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Errors are found after the close, when correction costs more than prevention would have.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IS AT STAKE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932191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6"/>
              </a:lnSpc>
              <a:buNone/>
            </a:pPr>
            <a:r>
              <a:rPr lang="en-US" sz="27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these decisions share is that reversing them is expensive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CLOSE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is the least forgiving area of an ERP: a decision made in the chart of accounts constrains group reporting three years later.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83864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CONVERSION ROUTE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483864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single decision sets the duration, the cost and the technical debt you carry for the next decade.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90488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MODEL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190488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trade works very well for the right organisation and becomes obvious halfway through the project for the wrong one.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897112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FINDING OUT LATE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7112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slipping project the expensive part is rarely the slippage itself — it is finding out late.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10812"/>
            <a:ext cx="79321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spc="-30" kern="0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Each of these is decided once, early, and paid for over years. That is the whole argument for measuring before recommending.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ANSWER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So we kept the scope narrow: finance modules and cloud architecture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36852"/>
            <a:ext cx="8833866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independent consultancy working end to end on the finance modules across SAP ECC, S/4HANA, Private Cloud and Public Cloud. Taking an engagement means not subcontracting the difficult part of it.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92934"/>
            <a:ext cx="883386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FOUNDED 2021  ·  ISTANBUL  ·  TÜRKİYE, EMEA AND THE UNITED STATES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Real depth in the finance modules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and CO are our core discipline, not a capability brought along beside something else. On decisions that are expensive to reverse you get the view of someone who has lived the consequences several times.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Neutral on the cloud model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 not advocate for Public or Private Cloud. We compare your processes against standard scope and put the cost and constraint of both models side by side for your situation.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 accelerated by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use AI for the volume work: analysis, documentation, test generation and migration reconciliation. It shortens the preparation phases and leaves senior time for judgement.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Senior consultants on every engagement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named in the proposal are the people who turn up. You are not charged for a consultant’s learning curve, and when scope grows we phase the work rather than inflate the team.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0" y="5138928"/>
            <a:ext cx="12191695" cy="969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55321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750" dirty="0"/>
          </a:p>
        </p:txBody>
      </p:sp>
      <p:pic>
        <p:nvPicPr>
          <p:cNvPr id="20" name="Image 0" descr="./assets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038" y="5498705"/>
            <a:ext cx="987552" cy="249710"/>
          </a:xfrm>
          <a:prstGeom prst="rect">
            <a:avLst/>
          </a:prstGeom>
        </p:spPr>
      </p:pic>
      <p:pic>
        <p:nvPicPr>
          <p:cNvPr id="21" name="Image 1" descr="./assets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86" y="5486400"/>
            <a:ext cx="564776" cy="274320"/>
          </a:xfrm>
          <a:prstGeom prst="rect">
            <a:avLst/>
          </a:prstGeom>
        </p:spPr>
      </p:pic>
      <p:pic>
        <p:nvPicPr>
          <p:cNvPr id="22" name="Image 2" descr="./assets/ref-fusion-consult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159" y="5486400"/>
            <a:ext cx="624314" cy="274320"/>
          </a:xfrm>
          <a:prstGeom prst="rect">
            <a:avLst/>
          </a:prstGeom>
        </p:spPr>
      </p:pic>
      <p:pic>
        <p:nvPicPr>
          <p:cNvPr id="23" name="Image 3" descr="./assets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369" y="5486400"/>
            <a:ext cx="888492" cy="274320"/>
          </a:xfrm>
          <a:prstGeom prst="rect">
            <a:avLst/>
          </a:prstGeom>
        </p:spPr>
      </p:pic>
      <p:pic>
        <p:nvPicPr>
          <p:cNvPr id="24" name="Image 4" descr="./assets/ref-wav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757" y="5505608"/>
            <a:ext cx="974385" cy="235904"/>
          </a:xfrm>
          <a:prstGeom prst="rect">
            <a:avLst/>
          </a:prstGeom>
        </p:spPr>
      </p:pic>
      <p:pic>
        <p:nvPicPr>
          <p:cNvPr id="25" name="Image 5" descr="./assets/ref-imery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038" y="5486400"/>
            <a:ext cx="426720" cy="274320"/>
          </a:xfrm>
          <a:prstGeom prst="rect">
            <a:avLst/>
          </a:prstGeom>
        </p:spPr>
      </p:pic>
      <p:pic>
        <p:nvPicPr>
          <p:cNvPr id="26" name="Image 6" descr="./assets/ref-g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1654" y="5486400"/>
            <a:ext cx="868887" cy="274320"/>
          </a:xfrm>
          <a:prstGeom prst="rect">
            <a:avLst/>
          </a:prstGeom>
        </p:spPr>
      </p:pic>
      <p:pic>
        <p:nvPicPr>
          <p:cNvPr id="27" name="Image 7" descr="./assets/ref-bek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1437" y="5486400"/>
            <a:ext cx="481263" cy="274320"/>
          </a:xfrm>
          <a:prstGeom prst="rect">
            <a:avLst/>
          </a:prstGeom>
        </p:spPr>
      </p:pic>
      <p:pic>
        <p:nvPicPr>
          <p:cNvPr id="28" name="Image 8" descr="./assets/ref-per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23596" y="5486400"/>
            <a:ext cx="529389" cy="2743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0" name="Text 19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EXPERTISE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932191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All four deployment models resolve to the same finance core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MODELS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892311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EMBEDDED AI CAPABILITIES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23544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ECC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3544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 most programmes start from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23544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on-premise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infrastructure, full flexibility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3544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Private Edition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— cloud operations, flexibility retained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3544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Public Edition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scope, rapid deployment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892311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38615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Intelligent matching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038615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and open items cleared from learned behaviour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892311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38615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038615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Unusual postings flagged before the close, not after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92311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38615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Predictive accounting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038615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Not-yet-final transactions visible during the period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892311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38615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38615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natural-language layer for querying and navigation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931829" y="2103120"/>
            <a:ext cx="4145158" cy="298551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06149" y="2414016"/>
            <a:ext cx="3596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CORE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206149" y="2670048"/>
            <a:ext cx="3596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 · CO · PA · PS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4224437" y="35295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43893" y="3438144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global chart of accounts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24437" y="3913632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43893" y="3822192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costing and profitability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24437" y="429768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43893" y="4206240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financial close, redesigned step by step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24437" y="468172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43893" y="4590288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Statutory and management reporting from one source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5504688"/>
            <a:ext cx="34238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SERVICE AREAS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724144"/>
            <a:ext cx="9735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Finance Modules · S/4HANA Transformation · SAP Public Cloud · SAP Private Cloud · AI in Finance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ARCHITECTURE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take no side on the cloud model; we measure and place them side by side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8833866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advanced and the cheap version of one another, but different trades.</a:t>
            </a:r>
            <a:endParaRPr lang="en-US" sz="1050" dirty="0"/>
          </a:p>
        </p:txBody>
      </p:sp>
      <p:pic>
        <p:nvPicPr>
          <p:cNvPr id="5" name="Image 0" descr="./assets/fig-clou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172081"/>
            <a:ext cx="4892040" cy="3264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17801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Cost model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555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8" name="Text 5"/>
          <p:cNvSpPr txBox="1"/>
          <p:nvPr/>
        </p:nvSpPr>
        <p:spPr>
          <a:xfrm>
            <a:off x="1490472" y="24555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by user and scope; upgrades included.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6585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1490472" y="266585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Varies with sizing; upgrade testing stays with you.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912745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Extensibility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1504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1490472" y="31504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cannot be modified; extension in a separate layer.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36080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490472" y="336080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modification allowed; existing ABAP carried across.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07689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Upgrade cadence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8454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1490472" y="38454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Regular, automatic and not deferrable.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0557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1490472" y="40557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control the timing; each upgrade its own project.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302633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Implementation time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54037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1490472" y="454037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months for a single-country finance deployment.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7506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1490472" y="47506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7–14 months, by scope and inherited landscape.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997577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Typical fit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523532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1490472" y="523532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Mid-market organisations close to standard.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4456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54456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with customisation history.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do not advocate for a model.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 your processes against standard scope and put the cost and the constraint of both models side by side for your situation. The decision stays yours.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TECHNOLOGY AND BUSINESS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use AI on both sides: in your processes and in how we work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7932191" cy="691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AI capabilities are embedded in the system rather than bought separately. Enabling all of them is not a strategy — we assess which ones your data volume and process discipline can support, and sequence them.</a:t>
            </a:r>
            <a:endParaRPr lang="en-US" sz="1050" dirty="0"/>
          </a:p>
        </p:txBody>
      </p:sp>
      <p:pic>
        <p:nvPicPr>
          <p:cNvPr id="5" name="Image 0" descr="./assets/fig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44699"/>
            <a:ext cx="5943600" cy="3959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95160" y="2672715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892171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Automation your team keeps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022592" y="329450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251192" y="3203067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of bank and open items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022592" y="3550539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51192" y="3459099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before the close, not after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022592" y="3806571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51192" y="3715131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during the period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022592" y="406260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51192" y="3971163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for natural-language querying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464939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OUR OWN DELIVERY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6995160" y="4684395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Preparation work, compressed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022592" y="5086731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51192" y="4995291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022592" y="534276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51192" y="5251323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022592" y="5598795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51192" y="5507355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reconciliation checks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022592" y="585482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5763387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configuration documentation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6312027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51192" y="6257163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Our position.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decision producing a financial posting is finalised without human review.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WE CREATE VALUE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030517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Measurement first, then a decision you can defend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66824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outcome is decided by the weekly working discipline, not by the name of the methodology.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recommendation is made without reading the actual system data. Advice given without measurement is a guess, and its cost falls to you.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COMPARE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placed side by side with cost, duration and risk — together with our own view and the reasoning behind it.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DECIDE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yours and the reasoning stays on paper. That is what answers “why did we do it this way?” two years later.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OWN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scenarios written together, the first close run together, documentation left in a form people actually use.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Bad news travels immediately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becomes clear an estimate will not hold, you hear it that week rather than in the month-end report.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23864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Phase the work, don’t grow the team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23864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phase ends in something that works, and the decision to continue gets taken again.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APPROACH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3977640" cy="76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Four stages, each ending in something tangible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76908"/>
            <a:ext cx="3977640" cy="691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delivered at the end of each stage is defined before it starts, and no stage begins before the previous one has closed.</a:t>
            </a:r>
            <a:endParaRPr lang="en-US" sz="1050" dirty="0"/>
          </a:p>
        </p:txBody>
      </p:sp>
      <p:pic>
        <p:nvPicPr>
          <p:cNvPr id="5" name="Image 0" descr="./assets/fig-proc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15568"/>
            <a:ext cx="6675120" cy="44531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5292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82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1638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31638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850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6667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 and roadmap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3666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87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41696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1696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69087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7258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46725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YOU GET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each phase leaves you is a document people use, not a slide pack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36852"/>
            <a:ext cx="8833866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delivered is agreed before a phase starts, and how you see progress is fixed at the outset and not changed mid-project.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77240" y="2447798"/>
            <a:ext cx="5120640" cy="30540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72211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DELIVERABLES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069848" y="31381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07592" y="303301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report with prioritised findings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69848" y="345821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07592" y="335305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architecture, chart of accounts and enterprise structure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069848" y="377825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07592" y="367309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documentation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069848" y="409829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399313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migration plan with reconciliation reporting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69848" y="441833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07592" y="431317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scenarios and recorded test results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69848" y="47383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07592" y="463321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Hour-by-hour cutover plan with rollback criteria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05841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07592" y="495325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user training and an operating handbook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45352" y="2447798"/>
            <a:ext cx="5169103" cy="30540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2722118"/>
            <a:ext cx="462046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VISIBILITY DURING THE ENGAGEMENT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37960" y="31381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75704" y="303301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status: completed, in progress, risks, awaiting your decision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45821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75704" y="335305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 list: who decides what, and by when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37960" y="377825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75704" y="367309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register with a named owner, impact and mitigation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409829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75704" y="399313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Phase-end pack: documentation, test records, acceptance criteria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537960" y="441833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75704" y="431317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log: every scope change with its effect on time and cost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757926"/>
            <a:ext cx="8833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process stalls when the consultant leaves, the work was not finished. We treat that as an acceptance criterion rather than a courtesy.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TO ENGAGE US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Not every need calls for a full programme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work in three shapes, and we establish which one fits during the first conversation.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76072" y="1888109"/>
            <a:ext cx="3803904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25853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944368" y="2125853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09901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to take a decision and lack the evidence for it: conversion approach, cloud model selection, or a health check on an existing landscape.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69437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analysis, interviews, prioritised findings and a reasoned recommendation. You end it in a position to decide.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1888109"/>
            <a:ext cx="3803904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125853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2125853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509901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taken and it needs building: a transformation, an implementation or a substantial redesign.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369437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Phased plan, weekly status reporting, defined deliverables and cutover. Hypercare included.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74152" y="1888109"/>
            <a:ext cx="3803904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2125853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Expert support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442448" y="2125853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Days to weeks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509901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team or another partner is running the programme and depth is needed in one area: a design review or a second opinion.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369437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Narrow, clearly defined scope with an agreed output. Not extended past its usefulness.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285232"/>
            <a:ext cx="522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 WE DECLINE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486400"/>
            <a:ext cx="8833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Saying what we do not do matters as much as saying what we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5528" y="596646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3272" y="5870448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responsibility for SAP modules outside our specialism — logistics, production planning, HR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388456" y="596646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26200" y="5870448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augmentation without architectural or delivery responsibility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5528" y="63870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3272" y="629107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Fixed-price transformation commitments made before an assessment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388456" y="63870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6200" y="629107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development or infrastructure operations as a service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500055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quant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51560"/>
            <a:ext cx="3291840" cy="3877314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737360" cy="5980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94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STEP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487168"/>
            <a:ext cx="61288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project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we will come back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within one business day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2611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few sentences on where you are today and what you are trying to solve is enough to start. The first call runs 30–45 minutes at no cost.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GENERAL</a:t>
            </a:r>
            <a:endParaRPr lang="en-US" sz="7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 — KEREM YİĞİT</a:t>
            </a:r>
            <a:endParaRPr lang="en-US" sz="7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TELEPHONE</a:t>
            </a:r>
            <a:endParaRPr lang="en-US" sz="7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OFFICE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No: 31/8, 34744 Kadıköy, İstanbul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29768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781812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09FC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Company Overview</dc:title>
  <dc:subject>SAP finance modules, S/4HANA transformation and SAP cloud architecture</dc:subject>
  <dc:creator>CPeak Consultancy</dc:creator>
  <cp:lastModifiedBy>CPeak Consultancy</cp:lastModifiedBy>
  <cp:revision>1</cp:revision>
  <dcterms:created xsi:type="dcterms:W3CDTF">2026-09-05T16:54:06Z</dcterms:created>
  <dcterms:modified xsi:type="dcterms:W3CDTF">2026-09-05T16:54:06Z</dcterms:modified>
</cp:coreProperties>
</file>
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Kapak. Konumlandırma cümlesi sitenin H1 ve hero girişinden birebir. Görsel, sitenin kendi hero görselidir (public/media/hero-team.webp).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Şirket tanıtımı. Buradaki her iddia Hakkımızda sayfasında var: bağımsızlık, finans odağı, lojistik kapsam için iş ortağı düzeni ve üç kurumsal bilgi. Koyu şerit sitenin kendi yetkinlik bandı — nitel, tek sayı 10+ yıl.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Hakkımızda sayfasındaki üç odak alanı, sitedeki sırayla. Görsel sitenin finans mimarisi şemasıdır.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SAP yetkinlik haritası. Dağıtım modelleri ve yapay zeka yetenekleri sitede geçenlerin aynısı; çekirdekteki maddeler Finans Modülleri sayfasındaki işi anlatır. Hiçbir yerde iş ortaklığı ya da sertifika iddiası yok.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Beş çözüm sayfası, sitenin kendi ölçütleriyle karşılaştırıldı: kime uygun, tipik süre ve ana kazanım. Süreler her sayfanın comparison satırından alındı.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Tarafsız karşılaştırma CPeak’in en net farkı. Ölçütler ve ifadeler Çözümler sayfasındaki karşılaştırma tablosundan kısaltıldı; görsel sitenin kendi bulut modelleri şeması.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Yaklaşım sayfasındaki çalışma ilkeleri, anlattıkları değer zinciri olarak dizildi: ölç, karşılaştır, karar ver, sahiplen. Alttaki iki ilke zinciri ayakta tutan teslim disiplinidir.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sayfadaki dört aşamalı teslim modeli. Aşama adları ve çıktılar sitenin kendi süreç görselinde yazılı; slayt bunlara yalnızca süreleri ekler.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sayfanın yapay zeka bölümü. Slaytın söylediği şu: her iki taraf da aynı SAP sisteminden ve aynı inceleme disiplininden geçiyor. Görsel sitenin kendi yapay zeka akış şeması.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sayfadaki üç tipik proje, sitenin kendi uyarısıyla birlikte. Uydurma ölçüm, müşteri ya da sonuç yok.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sayfadaki dört fark, özü değişmeden. Referans şeridi sitenin kendi logo bandıdır — destede hiçbir yerde iş ortaklığı, sertifika ya da ödül iddiası yok, çünkü sitede de yok.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Kapanış. Tüm iletişim bilgileri site yapılandırmasından: genel ve doğrudan adresler, telefon, kayıtlı ofis, web ve LinkedIn.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cover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pic>
        <p:nvPicPr>
          <p:cNvPr id="3" name="Image 1" descr="./assets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49808"/>
            <a:ext cx="1874520" cy="64527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4734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COMPANY OVERVIEW</a:t>
            </a:r>
            <a:endParaRPr lang="en-US" sz="85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871216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10+ years of SAP finance</a:t>
            </a:r>
            <a:endParaRPr lang="en-US" sz="31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experience and SAP</a:t>
            </a:r>
            <a:endParaRPr lang="en-US" sz="31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architecture</a:t>
            </a:r>
            <a:endParaRPr lang="en-US" sz="31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77316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expertise across the SAP finance modules and a genuinely neutral read on the cloud models — so the decision you take is one you can defend with its reasoning.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61996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CPEAKCONSULTANCY.COM  ·  ISTANBUL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WHO WE ARE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4572000" cy="1197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 independent consultancy, specialised end to end in SAP finance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804672"/>
            <a:ext cx="5010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CPeak Consultancy works end to end on the finance modules across SAP ECC, S/4HANA on-premise, Private Cloud and Public Cloud. Our focus is a senior team and an AI-supported way of working.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2103120"/>
            <a:ext cx="5010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common model in SAP consulting is to offer broad scope and then source a different specialist for each area. We took the opposite position: if we take an engagement, we are not subcontracting the difficult part of it.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3401568"/>
            <a:ext cx="5010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a programme extends into logistics modules outside our specialism, we work alongside partners in Türkiye and abroad so that the finance scope stays covered end to end.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5059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FOUNDED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334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2021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6382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HEAD OFFICE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467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Istanbul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7705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REGIONS SERVED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599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Türkiye, EMEA and the United States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95604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Rather than running many programmes in parallel, we run the number that allows senior people to be genuinely present on each.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EXPERIENCE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-2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10+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years in SAP finance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436544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EXPERTISE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3436544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Depth across FI and CO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095848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INDEPENDENCE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6095848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vs Private Cloud, vendor-neutral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755151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TEAM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755151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consultants only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500055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OUR EXPERTISE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4846320" cy="82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Three areas of expertise, and each one informs the others</a:t>
            </a:r>
            <a:endParaRPr lang="en-US" sz="2500" dirty="0"/>
          </a:p>
        </p:txBody>
      </p:sp>
      <p:pic>
        <p:nvPicPr>
          <p:cNvPr id="4" name="Image 0" descr="./assets/fig-finan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298448"/>
            <a:ext cx="5532120" cy="36850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323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1307592" y="23957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Finance modules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307592" y="2724912"/>
            <a:ext cx="4315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FI, CO, PA and PS. Enterprise structure and global chart of accounts design, controlling and profitability, and redesign of the financial close.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602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307592" y="35661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cloud architecture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1307592" y="3895344"/>
            <a:ext cx="4315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 assessment between Private and Public Cloud, target architecture design and migration management. We do not advocate for a particular model.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7731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307592" y="47365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and RPA-powered automation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1307592" y="5065776"/>
            <a:ext cx="4315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Matching, anomaly detection and predictive accounting using SAP’s embedded AI capabilities — measured first, then phased.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EXPERTISE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7932191" cy="82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One finance core, four deployment models, one embedded AI layer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10512"/>
            <a:ext cx="252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DEPLOYMENT MODELS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8892311" y="1810512"/>
            <a:ext cx="252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EMBEDDED AI CAPABILITIES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23544" y="2185416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ECC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23544" y="2404872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landscape most programmes start from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7240" y="2884932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23544" y="2967228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on-premise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23544" y="3186684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infrastructure, full flexibility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666744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3544" y="3749040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ERP Private Edition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" y="3968496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 with SAP — cloud operations, flexibility retained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77240" y="4448556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3544" y="4530852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ERP Public Edition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" y="475030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scope, rapid deployment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892311" y="2103120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38615" y="2185416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Intelligent matching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038615" y="2404872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 and open items cleared from learned behaviour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892311" y="2884932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038615" y="2967228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Anomaly detection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038615" y="3186684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Unusual postings flagged before the close, not after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892311" y="3666744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38615" y="3749040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Predictive accounting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038615" y="3968496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Not-yet-final transactions visible during the period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892311" y="4448556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038615" y="4530852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Joule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038615" y="475030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natural-language layer for querying and navigation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931829" y="2103120"/>
            <a:ext cx="4145158" cy="2985516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206149" y="2414016"/>
            <a:ext cx="3596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FINANCE CORE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206149" y="2670048"/>
            <a:ext cx="3596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 · CO · PA · PS</a:t>
            </a:r>
            <a:endParaRPr lang="en-US" sz="2700" dirty="0"/>
          </a:p>
        </p:txBody>
      </p:sp>
      <p:sp>
        <p:nvSpPr>
          <p:cNvPr id="33" name="Shape 31"/>
          <p:cNvSpPr/>
          <p:nvPr/>
        </p:nvSpPr>
        <p:spPr>
          <a:xfrm>
            <a:off x="4224437" y="3529584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43893" y="3438144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structure and global chart of accounts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224437" y="3913632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443893" y="3822192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Controlling, costing and profitability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224437" y="4297680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443893" y="4206240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financial close, redesigned step by step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24437" y="4681728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43893" y="4590288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Statutory and management reporting from one source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77240" y="5504688"/>
            <a:ext cx="79321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SAP’s AI capabilities are embedded in the system rather than bought separately. Enabling all of them is not a strategy — we assess which ones your data volume and process discipline can support, and sequence them.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SOLUTIONS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4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Five service areas, one finance perspective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362202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organisation often sits in more than one category. This table exists to show which piece of work makes more sense to start with.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12648" y="1990852"/>
            <a:ext cx="10966399" cy="365760"/>
          </a:xfrm>
          <a:prstGeom prst="rect">
            <a:avLst/>
          </a:prstGeom>
          <a:solidFill>
            <a:srgbClr val="F7F8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7314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SOLUTION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073148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WHO IT SUITS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07314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TYPICAL DURATION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2073148"/>
            <a:ext cx="2450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PRIMARY BENEFIT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8521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Finance Modules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4124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 and end-to-end financial process design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2612644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Organisations with a drifted SAP setup, or implementing fresh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612644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Diagnosis 3–4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Redesign 4–7 months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0" y="2612644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 reporting and a predictable close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33502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Transformation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5910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Brownfield, greenfield or selective transition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3840480" y="336245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Organisations on ECC that need a conversion plan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36245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Assessment 4–6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Conversion 6–14 months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336245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defensible approach decision and a predictable cutover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0848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Public Cloud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3408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ERP Public Edition architecture and delivery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840480" y="41122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Companies able to adopt standard, wanting fast deployment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41122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Assessment 2–3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Deployment 3–5 months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0" y="411226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Rapid go-live and low operational overhead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83463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Private Cloud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0906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 with SAP and Cloud ERP Private Edition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486206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Larger organisations that must retain process flexibility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48620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Preparation 5–8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Migration 7–14 months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0" y="4862068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operations without giving up flexibility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558444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in Finance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8404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SAP’s embedded AI capabilities and process automation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3840480" y="5611876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spending heavy manual hours on repetitive finance work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5611876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Assessment 2–3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First phase 6–12 weeks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8961120" y="561187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Recovered hours and errors caught earlier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ARCHITECTURE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32"/>
              </a:lnSpc>
              <a:buNone/>
            </a:pPr>
            <a:r>
              <a:rPr lang="en-US" sz="24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Public or Private Cloud — the most expensive decision to reverse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06880"/>
            <a:ext cx="8833866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advanced and the cheap version of one another, but different trades.</a:t>
            </a:r>
            <a:endParaRPr lang="en-US" sz="1050" dirty="0"/>
          </a:p>
        </p:txBody>
      </p:sp>
      <p:pic>
        <p:nvPicPr>
          <p:cNvPr id="5" name="Image 0" descr="./assets/fig-clou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2172081"/>
            <a:ext cx="4892040" cy="3264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217801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Cost model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55545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8" name="Text 5"/>
          <p:cNvSpPr txBox="1"/>
          <p:nvPr/>
        </p:nvSpPr>
        <p:spPr>
          <a:xfrm>
            <a:off x="1490472" y="2455545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 by user and scope; upgrades included.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65857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10" name="Text 7"/>
          <p:cNvSpPr txBox="1"/>
          <p:nvPr/>
        </p:nvSpPr>
        <p:spPr>
          <a:xfrm>
            <a:off x="1490472" y="2665857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Varies with sizing; upgrade testing stays with you.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912745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Extensibility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150489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1490472" y="3150489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cannot be modified; extension in a separate layer.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36080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1490472" y="3360801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modification allowed; existing ABAP carried across.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607689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Upgrade cadence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84543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18" name="Text 15"/>
          <p:cNvSpPr txBox="1"/>
          <p:nvPr/>
        </p:nvSpPr>
        <p:spPr>
          <a:xfrm>
            <a:off x="1490472" y="3845433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Regular, automatic and not deferrable.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055745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1490472" y="4055745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control the timing; each upgrade its own project.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302633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Implementation time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540377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1490472" y="4540377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 months for a single-country finance deployment.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4750689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1490472" y="4750689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Typically 7–14 months, by scope and inherited landscape.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4997577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Typical fit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523532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1490472" y="5235321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Mid-market organisations close to standard.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544563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30" name="Text 27"/>
          <p:cNvSpPr txBox="1"/>
          <p:nvPr/>
        </p:nvSpPr>
        <p:spPr>
          <a:xfrm>
            <a:off x="1490472" y="5445633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Larger organisations with customisation history.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77240" y="5870448"/>
            <a:ext cx="883386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do not advocate for a model.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compare your processes against standard scope and put the cost and the constraint of both models side by side for your situation. The decision stays yours.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10500055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WE CREATE VALUE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7030517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Measurement first, then a decision you can defend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66824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outcome is decided by the weekly working discipline, not by the name of the methodology.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MEASURE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521329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recommendation is made without reading the actual system data. Advice given without measurement is a guess, and its cost falls to you.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483864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83864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COMPARE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83864" y="3521329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 placed side by side with cost, duration and risk — together with our own view and the reasoning behind it.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90488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190488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DECIDE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90488" y="3521329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is yours and the reasoning stays on paper. That is what answers “why did we do it this way?” two years later.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897112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OWN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897112" y="3521329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scenarios written together, the first close run together, documentation left in a form people actually use.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911217"/>
            <a:ext cx="506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Bad news travels immediately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194681"/>
            <a:ext cx="506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becomes clear an estimate will not hold, you hear it that week rather than in the month-end report.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223864" y="4911217"/>
            <a:ext cx="506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Phase the work, don’t grow the team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23864" y="5194681"/>
            <a:ext cx="506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phase ends in something that works, and the decision to continue gets taken again.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OUR APPROACH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3977640" cy="762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14"/>
              </a:lnSpc>
              <a:buNone/>
            </a:pPr>
            <a:r>
              <a:rPr lang="en-US" sz="23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Four stages, each ending in something tangible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76908"/>
            <a:ext cx="3977640" cy="691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delivered at the end of each stage is defined before it starts, and no stage begins before the previous one has closed.</a:t>
            </a:r>
            <a:endParaRPr lang="en-US" sz="1050" dirty="0"/>
          </a:p>
        </p:txBody>
      </p:sp>
      <p:pic>
        <p:nvPicPr>
          <p:cNvPr id="5" name="Image 0" descr="./assets/fig-proce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115568"/>
            <a:ext cx="6675120" cy="44531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852928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TYPICAL DURATION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18211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316382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Assessment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474720" y="316382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weeks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68503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366674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Architecture and roadmap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474720" y="366674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weeks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87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41696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474720" y="416966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months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69087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467258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467258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weeks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TECHNOLOGY AND BUSINESS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32"/>
              </a:lnSpc>
              <a:buNone/>
            </a:pPr>
            <a:r>
              <a:rPr lang="en-US" sz="24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use AI on both sides: in your processes and in how we work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06880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separate service line, but part of both the system we deliver and the method we use to deliver it.</a:t>
            </a:r>
            <a:endParaRPr lang="en-US" sz="1050" dirty="0"/>
          </a:p>
        </p:txBody>
      </p:sp>
      <p:pic>
        <p:nvPicPr>
          <p:cNvPr id="5" name="Image 0" descr="./assets/fig-a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344674"/>
            <a:ext cx="5943600" cy="3959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95160" y="2472690"/>
            <a:ext cx="4416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YOUR FINANCE PROCESSES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2692146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Automation your team keeps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022592" y="309448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251192" y="300304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Intelligent matching of bank and open items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022592" y="3350514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251192" y="325907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 before the close, not after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022592" y="360654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51192" y="351510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Predictive accounting during the period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022592" y="386257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51192" y="377113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Joule for natural-language querying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4264914"/>
            <a:ext cx="4416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OUR OWN DELIVERY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6995160" y="4484370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Preparation work, compressed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022592" y="488670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51192" y="479526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code inventory and impact analysis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022592" y="514273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51192" y="505129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 of test scenarios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022592" y="539877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51192" y="530733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 reconciliation checks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022592" y="565480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51192" y="556336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 configuration documentation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995160" y="6112002"/>
            <a:ext cx="118872" cy="118872"/>
          </a:xfrm>
          <a:prstGeom prst="rect">
            <a:avLst/>
          </a:prstGeom>
          <a:solidFill>
            <a:srgbClr val="E8B33A"/>
          </a:solidFill>
          <a:ln w="3175">
            <a:solidFill>
              <a:srgbClr val="E8B33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51192" y="605713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Our position.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decision producing a financial posting is finalised without human review.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ENGAGEMENTS IN PRACTICE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46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the work looks like in practice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377188"/>
            <a:ext cx="7030517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situations we meet regularly, and the approach we take to each.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8122615" y="1412621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ILLUSTRATIVE — NOT CLIENT CASES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76072" y="1933829"/>
            <a:ext cx="3803904" cy="38953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53285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Manufacturing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4181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MULTI-ENTITY GROUP, SEVERAL COUNTRIES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9336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SITUATION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99453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group running ECC needs an S/4HANA plan before maintenance deadlines force one. Nobody knows how much accumulated custom code is still executed.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9920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APPROACH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0037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usage-based custom code inventory first. All three conversion routes compared on cost, duration and risk. Company codes planned in waves.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80504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OUTCOME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00621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reasoned approach decision that survives board scrutiny, and a smaller conversion scope once dead development is retired.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25112" y="1933829"/>
            <a:ext cx="3803904" cy="38953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26280" y="2153285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Technology and services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2464181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FAST-GROWING MID-MARKET COMPANY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279336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SITUATION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299453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company is scaling quickly while finance still runs on spreadsheets. A standard ERP deployment is wanted, but whether Public Cloud suffices is unknown.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379920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APPROACH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400037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Processes compared against standard scope item by item. Fit-to-standard workshops retire differences that exist only through habit.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80504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OUTCOME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00621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finance setup built on standard and ready for the release cycle, plus a deployment template that repeats in new markets.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74152" y="1933829"/>
            <a:ext cx="3803904" cy="38953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75320" y="2153285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Retail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2464181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MULTI-SITE, HIGH TRANSACTION VOLUME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79336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SITUATION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8275320" y="299453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month-end close runs long and unpredictably. Reconciliation is largely manual, and unmatched items depend on two or three people.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379920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APPROACH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400037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close measured step by step to find the dependencies creating wait time. Matching thresholds calibrated against real data.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80504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OUTCOME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500621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close calendar that is predictable step by step, with the team moving from matching items to reviewing exceptions.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993765"/>
            <a:ext cx="88338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contain no client names, figures or outcome claims. They are written to show how an engagement works.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WHY CPEAK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46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difference is who actually does the work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377188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SAP consulting the outcome is decided less by methodology than by who actually works on the project.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6245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506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Real depth in the finance modules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76854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 and CO are our core discipline, not a capability brought along beside something else. On decisions that are expensive to reverse — enterprise structure, costing design, the close calendar — you get the view of someone who has lived the consequences several times.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483864" y="236245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83864" y="265506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Neutral on the cloud model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483864" y="3276854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 not advocate for Public or Private Cloud. We compare your processes against standard scope and put the cost and constraint of both models side by side for your specific situation.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190488" y="236245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190488" y="265506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 accelerated by AI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190488" y="3276854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use AI for the volume work: analysis, documentation, test scenario generation and migration reconciliation. It shortens the preparation phases and leaves senior time for the parts that require judgement.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897112" y="236245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265506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Senior consultants on every engagement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897112" y="3276854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people named in the proposal are the people who turn up. You are not charged for a consultant’s learning curve. When scope grows we phase the work rather than inflate the team.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0" y="5138928"/>
            <a:ext cx="12191695" cy="9692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5532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REFERENCES</a:t>
            </a:r>
            <a:endParaRPr lang="en-US" sz="750" dirty="0"/>
          </a:p>
        </p:txBody>
      </p:sp>
      <p:pic>
        <p:nvPicPr>
          <p:cNvPr id="19" name="Image 0" descr="./assets/ref-mercedes-b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8034" y="5498705"/>
            <a:ext cx="987552" cy="249710"/>
          </a:xfrm>
          <a:prstGeom prst="rect">
            <a:avLst/>
          </a:prstGeom>
        </p:spPr>
      </p:pic>
      <p:pic>
        <p:nvPicPr>
          <p:cNvPr id="20" name="Image 1" descr="./assets/ref-pw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482" y="5486400"/>
            <a:ext cx="564776" cy="274320"/>
          </a:xfrm>
          <a:prstGeom prst="rect">
            <a:avLst/>
          </a:prstGeom>
        </p:spPr>
      </p:pic>
      <p:pic>
        <p:nvPicPr>
          <p:cNvPr id="21" name="Image 2" descr="./assets/ref-fusion-consult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155" y="5486400"/>
            <a:ext cx="624314" cy="274320"/>
          </a:xfrm>
          <a:prstGeom prst="rect">
            <a:avLst/>
          </a:prstGeom>
        </p:spPr>
      </p:pic>
      <p:pic>
        <p:nvPicPr>
          <p:cNvPr id="22" name="Image 3" descr="./assets/ref-boehringer-ingelhei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365" y="5486400"/>
            <a:ext cx="888492" cy="274320"/>
          </a:xfrm>
          <a:prstGeom prst="rect">
            <a:avLst/>
          </a:prstGeom>
        </p:spPr>
      </p:pic>
      <p:pic>
        <p:nvPicPr>
          <p:cNvPr id="23" name="Image 4" descr="./assets/ref-wav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753" y="5505608"/>
            <a:ext cx="974385" cy="235904"/>
          </a:xfrm>
          <a:prstGeom prst="rect">
            <a:avLst/>
          </a:prstGeom>
        </p:spPr>
      </p:pic>
      <p:pic>
        <p:nvPicPr>
          <p:cNvPr id="24" name="Image 5" descr="./assets/ref-imery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2034" y="5486400"/>
            <a:ext cx="426720" cy="274320"/>
          </a:xfrm>
          <a:prstGeom prst="rect">
            <a:avLst/>
          </a:prstGeom>
        </p:spPr>
      </p:pic>
      <p:pic>
        <p:nvPicPr>
          <p:cNvPr id="25" name="Image 6" descr="./assets/ref-gs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9650" y="5486400"/>
            <a:ext cx="868887" cy="274320"/>
          </a:xfrm>
          <a:prstGeom prst="rect">
            <a:avLst/>
          </a:prstGeom>
        </p:spPr>
      </p:pic>
      <p:pic>
        <p:nvPicPr>
          <p:cNvPr id="26" name="Image 7" descr="./assets/ref-bek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9433" y="5486400"/>
            <a:ext cx="481263" cy="274320"/>
          </a:xfrm>
          <a:prstGeom prst="rect">
            <a:avLst/>
          </a:prstGeom>
        </p:spPr>
      </p:pic>
      <p:pic>
        <p:nvPicPr>
          <p:cNvPr id="27" name="Image 8" descr="./assets/ref-per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1592" y="5486400"/>
            <a:ext cx="529389" cy="27432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9" name="Text 18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quant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51560"/>
            <a:ext cx="3291840" cy="3877314"/>
          </a:xfrm>
          <a:prstGeom prst="rect">
            <a:avLst/>
          </a:prstGeom>
        </p:spPr>
      </p:pic>
      <p:pic>
        <p:nvPicPr>
          <p:cNvPr id="3" name="Image 1" descr="./assets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13232"/>
            <a:ext cx="1737360" cy="59805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0894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STEP</a:t>
            </a:r>
            <a:endParaRPr lang="en-US" sz="85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487168"/>
            <a:ext cx="61288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Tell us about your project</a:t>
            </a:r>
            <a:endParaRPr lang="en-US" sz="28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and we will come back</a:t>
            </a:r>
            <a:endParaRPr lang="en-US" sz="28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within one business day</a:t>
            </a:r>
            <a:endParaRPr lang="en-US" sz="28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26110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few sentences on where you are today and what you are trying to solve is enough to start. The first call runs 30–45 minutes at no cost.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GENERAL</a:t>
            </a:r>
            <a:endParaRPr lang="en-US" sz="7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info@cpeakconsultancy.com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DIRECT — KEREM YİĞİT</a:t>
            </a:r>
            <a:endParaRPr lang="en-US" sz="7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kerem.yigit@cpeakconsultancy.com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TELEPHONE</a:t>
            </a:r>
            <a:endParaRPr lang="en-US" sz="7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+90 (507) 032 81 70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OFFICE</a:t>
            </a:r>
            <a:endParaRPr lang="en-US" sz="7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Bostancı Mah. Şemsettin Günaltay Cad.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No: 31/8, 34744 Kadıköy, İstanbul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429768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WEB</a:t>
            </a:r>
            <a:endParaRPr lang="en-US" sz="700" dirty="0"/>
          </a:p>
        </p:txBody>
      </p:sp>
      <p:sp>
        <p:nvSpPr>
          <p:cNvPr id="16" name="Text 12"/>
          <p:cNvSpPr txBox="1"/>
          <p:nvPr/>
        </p:nvSpPr>
        <p:spPr>
          <a:xfrm>
            <a:off x="429768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cpeakconsultancy.com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</a:t>
            </a:r>
            <a:endParaRPr lang="en-US" sz="700" dirty="0"/>
          </a:p>
        </p:txBody>
      </p:sp>
      <p:sp>
        <p:nvSpPr>
          <p:cNvPr id="18" name="Text 14"/>
          <p:cNvSpPr txBox="1"/>
          <p:nvPr/>
        </p:nvSpPr>
        <p:spPr>
          <a:xfrm>
            <a:off x="781812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linkedin.com/company/cpeak-consultancy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 — Company Overview</dc:title>
  <dc:subject>SAP finance modules, S/4HANA transformation and SAP cloud architecture</dc:subject>
  <dc:creator>CPeak Consultancy</dc:creator>
  <cp:lastModifiedBy>CPeak Consultancy</cp:lastModifiedBy>
  <cp:revision>1</cp:revision>
  <dcterms:created xsi:type="dcterms:W3CDTF">2026-09-05T14:22:33Z</dcterms:created>
  <dcterms:modified xsi:type="dcterms:W3CDTF">2026-09-05T14:22:33Z</dcterms:modified>
</cp:coreProperties>
</file>
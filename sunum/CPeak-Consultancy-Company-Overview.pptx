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Kapak. Konumlandırma cümlesi sitenin H1 ve hero girişinden birebir. Görsel, sitenin kendi hero görselidir (public/media/hero-team.webp).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Şirket tanıtımı. Buradaki her iddia Hakkımızda sayfasında var: bağımsızlık, finans odağı, lojistik kapsam için iş ortağı düzeni ve üç kurumsal bilgi. Koyu şerit sitenin kendi yetkinlik bandı — nitel, tek sayı 10+ yıl.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Hakkımızda sayfasındaki üç odak alanı, sitedeki sırayla. Görsel sitenin finans mimarisi şemasıdır.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SAP yetkinlik haritası. Dağıtım modelleri ve yapay zeka yetenekleri sitede geçenlerin aynısı; çekirdekteki maddeler Finans Modülleri sayfasındaki işi anlatır. Hiçbir yerde iş ortaklığı ya da sertifika iddiası yok.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Beş çözüm sayfası, sitenin kendi ölçütleriyle karşılaştırıldı: kime uygun, tipik süre ve ana kazanım. Süreler her sayfanın comparison satırından alındı.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Tarafsız karşılaştırma CPeak’in en net farkı. Ölçütler ve ifadeler Çözümler sayfasındaki karşılaştırma tablosundan kısaltıldı; görsel sitenin kendi bulut modelleri şeması.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Yaklaşım sayfasındaki çalışma ilkeleri, anlattıkları değer zinciri olarak dizildi: ölç, karşılaştır, karar ver, sahiplen. Alttaki iki ilke zinciri ayakta tutan teslim disiplinidir.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sayfadaki dört aşamalı teslim modeli. Aşama adları ve çıktılar sitenin kendi süreç görselinde yazılı; slayt bunlara yalnızca süreleri ekler.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sayfanın yapay zeka bölümü. Slaytın söylediği şu: her iki taraf da aynı SAP sisteminden ve aynı inceleme disiplininden geçiyor. Görsel sitenin kendi yapay zeka akış şeması.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sayfadaki üç tipik proje, sitenin kendi uyarısıyla birlikte. Uydurma ölçüm, müşteri ya da sonuç yok.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sayfadaki dört fark, özü değişmeden. Referans şeridi sitenin kendi logo bandıdır — destede hiçbir yerde iş ortaklığı, sertifika ya da ödül iddiası yok, çünkü sitede de yok.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Kapanış. Tüm iletişim bilgileri site yapılandırmasından: genel ve doğrudan adresler, telefon, kayıtlı ofis, web ve LinkedIn.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cover-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pic>
        <p:nvPicPr>
          <p:cNvPr id="3" name="Image 1" descr="./assets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49808"/>
            <a:ext cx="1874520" cy="645274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77240" y="2592324"/>
            <a:ext cx="237744" cy="0"/>
          </a:xfrm>
          <a:prstGeom prst="line">
            <a:avLst/>
          </a:prstGeom>
          <a:noFill/>
          <a:ln w="12700">
            <a:solidFill>
              <a:srgbClr val="F5DCA4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1106424" y="24734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COMPANY OVERVIEW</a:t>
            </a:r>
            <a:endParaRPr lang="en-US" sz="85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2871216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1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10+ years of SAP finance</a:t>
            </a:r>
            <a:endParaRPr lang="en-US" sz="31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1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experience and SAP</a:t>
            </a:r>
            <a:endParaRPr lang="en-US" sz="31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1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cloud architecture</a:t>
            </a:r>
            <a:endParaRPr lang="en-US" sz="31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477316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expertise across the SAP finance modules and a genuinely neutral read on the cloud models — so the decision you take is one you can defend with its reasoning.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61996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CPEAKCONSULTANCY.COM  ·  ISTANBUL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80644"/>
            <a:ext cx="237744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06424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WHO WE ARE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04672"/>
            <a:ext cx="4572000" cy="1197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An independent consultancy, specialised end to end in SAP finance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804672"/>
            <a:ext cx="5010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CPeak Consultancy works end to end on the finance modules across SAP ECC, S/4HANA on-premise, Private Cloud and Public Cloud. Our focus is a senior team and an AI-supported way of working.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2103120"/>
            <a:ext cx="5010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common model in SAP consulting is to offer broad scope and then source a different specialist for each area. We took the opposite position: if we take an engagement, we are not subcontracting the difficult part of it.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3401568"/>
            <a:ext cx="5010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a programme extends into logistics modules outside our specialism, we work alongside partners in Türkiye and abroad so that the finance scope stays covered end to end.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5059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FOUNDED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334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2021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16382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HEAD OFFICE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3467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Istanbul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87705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REGIONS SERVED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0599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Türkiye, EMEA and the United States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95604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Rather than running many programmes in parallel, we run the number that allows senior people to be genuinely present on each.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60533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EXPERIENCE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291072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-20" kern="0" dirty="0">
                <a:solidFill>
                  <a:srgbClr val="E8B3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10+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years in SAP finance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436544" y="60533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EXPERTISE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3436544" y="6291072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Depth across FI and CO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95848" y="60533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INDEPENDENCE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6095848" y="6291072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vs Private Cloud, vendor-neutral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755151" y="60533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TEAM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755151" y="6291072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Senior consultants only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0500055" y="64739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8B3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80644"/>
            <a:ext cx="237744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06424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OUR EXPERTISE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04672"/>
            <a:ext cx="4846320" cy="822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Three areas of expertise, and each one informs the others</a:t>
            </a:r>
            <a:endParaRPr lang="en-US" sz="2500" dirty="0"/>
          </a:p>
        </p:txBody>
      </p:sp>
      <p:pic>
        <p:nvPicPr>
          <p:cNvPr id="5" name="Image 0" descr="./assets/fig-finan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298448"/>
            <a:ext cx="5532120" cy="3685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4323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1307592" y="239572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Finance modules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1307592" y="2724912"/>
            <a:ext cx="4315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 FI, CO, PA and PS. Enterprise structure and global chart of accounts design, controlling and profitability, and redesign of the financial close.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6027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307592" y="35661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cloud architecture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1307592" y="3895344"/>
            <a:ext cx="4315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 assessment between Private and Public Cloud, target architecture design and migration management. We do not advocate for a particular model.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7731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307592" y="473659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AI and RPA-powered automation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1307592" y="5065776"/>
            <a:ext cx="4315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Matching, anomaly detection and predictive accounting using SAP’s embedded AI capabilities — measured first, then phased.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80644"/>
            <a:ext cx="237744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06424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EXPERTISE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04672"/>
            <a:ext cx="7932191" cy="822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One finance core, four deployment models, one embedded AI layer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10512"/>
            <a:ext cx="2522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DEPLOYMENT MODELS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8892311" y="1810512"/>
            <a:ext cx="2522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EMBEDDED AI CAPABILITIES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777240" y="2103120"/>
            <a:ext cx="2522144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2185416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ECC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3544" y="2404872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landscape most programmes start from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2884932"/>
            <a:ext cx="2522144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3544" y="2967228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S/4HANA on-premise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23544" y="3186684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infrastructure, full flexibility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77240" y="3666744"/>
            <a:ext cx="2522144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44" y="3749040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Cloud ERP Private Edition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23544" y="3968496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 with SAP — cloud operations, flexibility retained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77240" y="4448556"/>
            <a:ext cx="2522144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3544" y="4530852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Cloud ERP Public Edition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23544" y="4750308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scope, rapid deployment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892311" y="2103120"/>
            <a:ext cx="2522144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38615" y="2185416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Intelligent matching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038615" y="2404872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Bank and open items cleared from learned behaviour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892311" y="2884932"/>
            <a:ext cx="2522144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038615" y="2967228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Anomaly detection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038615" y="3186684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Unusual postings flagged before the close, not after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8892311" y="3666744"/>
            <a:ext cx="2522144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038615" y="3749040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Predictive accounting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038615" y="3968496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Not-yet-final transactions visible during the period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892311" y="4448556"/>
            <a:ext cx="2522144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E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038615" y="4530852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Joule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038615" y="4750308"/>
            <a:ext cx="222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natural-language layer for querying and navigation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931829" y="2103120"/>
            <a:ext cx="4145158" cy="2985516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206149" y="2414016"/>
            <a:ext cx="3596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FINANCE CORE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4206149" y="2670048"/>
            <a:ext cx="35965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 · CO · PA · PS</a:t>
            </a:r>
            <a:endParaRPr lang="en-US" sz="2700" dirty="0"/>
          </a:p>
        </p:txBody>
      </p:sp>
      <p:sp>
        <p:nvSpPr>
          <p:cNvPr id="34" name="Shape 32"/>
          <p:cNvSpPr/>
          <p:nvPr/>
        </p:nvSpPr>
        <p:spPr>
          <a:xfrm>
            <a:off x="4224437" y="3529584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443893" y="3438144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 structure and global chart of accounts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224437" y="3913632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43893" y="3822192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Controlling, costing and profitability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224437" y="4297680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443893" y="4206240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financial close, redesigned step by step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224437" y="4681728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443893" y="4590288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Statutory and management reporting from one source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77240" y="5504688"/>
            <a:ext cx="79321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SAP’s AI capabilities are embedded in the system rather than bought separately. Enabling all of them is not a strategy — we assess which ones your data volume and process discipline can support, and sequence them.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80644"/>
            <a:ext cx="237744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06424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SOLUTIONS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04672"/>
            <a:ext cx="8833866" cy="4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Five service areas, one finance perspective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362202"/>
            <a:ext cx="7932191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organisation often sits in more than one category. This table exists to show which piece of work makes more sense to start with.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7314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SOLUTION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2073148"/>
            <a:ext cx="2788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WHO IT SUITS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207314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TYPICAL DURATION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8961120" y="2073148"/>
            <a:ext cx="2450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PRIMARY BENEFIT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777240" y="2292604"/>
            <a:ext cx="10637215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47548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Finance Modules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73151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FI, CO and end-to-end financial process design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3840480" y="2502916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Organisations with a drifted SAP setup, or implementing fresh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502916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Diagnosis 3–4 weeks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Redesign 4–7 months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0" y="250291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Consistent reporting and a predictable close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25272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S/4HANA Transformation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350875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Brownfield, greenfield or selective transition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3280156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Organisations on ECC that need a conversion plan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3280156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Assessment 4–6 weeks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Conversion 6–14 months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0" y="328015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defensible approach decision and a predictable cutover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02996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Public Cloud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2859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ERP Public Edition architecture and delivery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3840480" y="4057396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Companies able to adopt standard, wanting fast deployment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4057396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Assessment 2–3 weeks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Deployment 3–5 months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8961120" y="405739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Rapid go-live and low operational overhead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80720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Private Cloud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506323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 with SAP and Cloud ERP Private Edition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3840480" y="4834636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Larger organisations that must retain process flexibility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4834636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Preparation 5–8 weeks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Migration 7–14 months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8961120" y="483463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operations without giving up flexibility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558444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AI in Finance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584047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SAP’s embedded AI capabilities and process automation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3840480" y="5611876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spending heavy manual hours on repetitive finance work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766560" y="5611876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Assessment 2–3 weeks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First phase 6–12 weeks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8961120" y="561187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Recovered hours and errors caught earlier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80644"/>
            <a:ext cx="237744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06424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ARCHITECTURE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04672"/>
            <a:ext cx="883386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32"/>
              </a:lnSpc>
              <a:buNone/>
            </a:pPr>
            <a:r>
              <a:rPr lang="en-US" sz="24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Public or Private Cloud — the most expensive decision to reverse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06880"/>
            <a:ext cx="8833866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the advanced and the cheap version of one another, but different trades.</a:t>
            </a:r>
            <a:endParaRPr lang="en-US" sz="1050" dirty="0"/>
          </a:p>
        </p:txBody>
      </p:sp>
      <p:pic>
        <p:nvPicPr>
          <p:cNvPr id="6" name="Image 0" descr="./assets/fig-clou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2172081"/>
            <a:ext cx="4892040" cy="32644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217801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Cost model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455545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1490472" y="2455545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Subscription by user and scope; upgrades included.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665857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11" name="Text 8"/>
          <p:cNvSpPr txBox="1"/>
          <p:nvPr/>
        </p:nvSpPr>
        <p:spPr>
          <a:xfrm>
            <a:off x="1490472" y="2665857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Varies with sizing; upgrade testing stays with you.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912745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Extensibility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150489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14" name="Text 11"/>
          <p:cNvSpPr txBox="1"/>
          <p:nvPr/>
        </p:nvSpPr>
        <p:spPr>
          <a:xfrm>
            <a:off x="1490472" y="3150489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cannot be modified; extension in a separate layer.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336080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16" name="Text 13"/>
          <p:cNvSpPr txBox="1"/>
          <p:nvPr/>
        </p:nvSpPr>
        <p:spPr>
          <a:xfrm>
            <a:off x="1490472" y="3360801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modification allowed; existing ABAP carried across.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607689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Upgrade cadence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845433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1490472" y="3845433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Regular, automatic and not deferrable.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4055745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21" name="Text 18"/>
          <p:cNvSpPr txBox="1"/>
          <p:nvPr/>
        </p:nvSpPr>
        <p:spPr>
          <a:xfrm>
            <a:off x="1490472" y="4055745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control the timing; each upgrade its own project.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302633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Implementation time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4540377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24" name="Text 21"/>
          <p:cNvSpPr txBox="1"/>
          <p:nvPr/>
        </p:nvSpPr>
        <p:spPr>
          <a:xfrm>
            <a:off x="1490472" y="4540377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3–5 months for a single-country finance deployment.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77240" y="4750689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490472" y="4750689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Typically 7–14 months, by scope and inherited landscape.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77240" y="4997577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Typical fit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777240" y="523532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1490472" y="5235321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Mid-market organisations close to standard.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777240" y="5445633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31" name="Text 28"/>
          <p:cNvSpPr txBox="1"/>
          <p:nvPr/>
        </p:nvSpPr>
        <p:spPr>
          <a:xfrm>
            <a:off x="1490472" y="5445633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Larger organisations with customisation history.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7240" y="5870448"/>
            <a:ext cx="883386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do not advocate for a model.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compare your processes against standard scope and put the cost and the constraint of both models side by side for your situation. The decision stays yours.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0500055" y="64739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8B3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80644"/>
            <a:ext cx="237744" cy="0"/>
          </a:xfrm>
          <a:prstGeom prst="line">
            <a:avLst/>
          </a:prstGeom>
          <a:noFill/>
          <a:ln w="12700">
            <a:solidFill>
              <a:srgbClr val="F5DCA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06424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HOW WE CREATE VALUE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04672"/>
            <a:ext cx="7030517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8"/>
              </a:lnSpc>
              <a:buNone/>
            </a:pPr>
            <a:r>
              <a:rPr lang="en-US" sz="2600" b="1" spc="-5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Measurement first, then a decision you can defend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66824"/>
            <a:ext cx="7932191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outcome is decided by the weekly working discipline, not by the name of the methodology.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77240" y="2734945"/>
            <a:ext cx="10637215" cy="0"/>
          </a:xfrm>
          <a:prstGeom prst="line">
            <a:avLst/>
          </a:prstGeom>
          <a:noFill/>
          <a:ln w="9525">
            <a:solidFill>
              <a:srgbClr val="33659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6948" y="2684653"/>
            <a:ext cx="100584" cy="100584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405761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MEASURE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954401"/>
            <a:ext cx="23957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recommendation is made without reading the actual system data. Advice given without measurement is a guess, and its cost falls to you.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05556" y="2666365"/>
            <a:ext cx="86868" cy="68580"/>
          </a:xfrm>
          <a:prstGeom prst="line">
            <a:avLst/>
          </a:prstGeom>
          <a:noFill/>
          <a:ln w="11430">
            <a:solidFill>
              <a:srgbClr val="8CA9C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305556" y="2734945"/>
            <a:ext cx="86868" cy="68580"/>
          </a:xfrm>
          <a:prstGeom prst="line">
            <a:avLst/>
          </a:prstGeom>
          <a:noFill/>
          <a:ln w="11430">
            <a:solidFill>
              <a:srgbClr val="8CA9C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33572" y="2684653"/>
            <a:ext cx="100584" cy="100584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3864" y="2405761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COMPARE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3483864" y="2954401"/>
            <a:ext cx="23957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Options placed side by side with cost, duration and risk — together with our own view and the reasoning behind it.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12180" y="2666365"/>
            <a:ext cx="86868" cy="68580"/>
          </a:xfrm>
          <a:prstGeom prst="line">
            <a:avLst/>
          </a:prstGeom>
          <a:noFill/>
          <a:ln w="11430">
            <a:solidFill>
              <a:srgbClr val="8CA9C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6012180" y="2734945"/>
            <a:ext cx="86868" cy="68580"/>
          </a:xfrm>
          <a:prstGeom prst="line">
            <a:avLst/>
          </a:prstGeom>
          <a:noFill/>
          <a:ln w="11430">
            <a:solidFill>
              <a:srgbClr val="8CA9C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40196" y="2684653"/>
            <a:ext cx="100584" cy="100584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90488" y="2405761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 DECIDE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6190488" y="2954401"/>
            <a:ext cx="23957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decision is yours and the reasoning stays on paper. That is what answers “why did we do it this way?” two years later.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718804" y="2666365"/>
            <a:ext cx="86868" cy="68580"/>
          </a:xfrm>
          <a:prstGeom prst="line">
            <a:avLst/>
          </a:prstGeom>
          <a:noFill/>
          <a:ln w="11430">
            <a:solidFill>
              <a:srgbClr val="8CA9C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8718804" y="2734945"/>
            <a:ext cx="86868" cy="68580"/>
          </a:xfrm>
          <a:prstGeom prst="line">
            <a:avLst/>
          </a:prstGeom>
          <a:noFill/>
          <a:ln w="11430">
            <a:solidFill>
              <a:srgbClr val="8CA9C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846820" y="2684653"/>
            <a:ext cx="100584" cy="100584"/>
          </a:xfrm>
          <a:prstGeom prst="ellipse">
            <a:avLst/>
          </a:prstGeom>
          <a:solidFill>
            <a:srgbClr val="E8B33A"/>
          </a:solidFill>
          <a:ln w="3175">
            <a:solidFill>
              <a:srgbClr val="E8B3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897112" y="2405761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E8B3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 OWN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897112" y="2954401"/>
            <a:ext cx="23957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scenarios written together, the first close run together, documentation left in a form people actually use.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673473"/>
            <a:ext cx="506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5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Bad news travels immediately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956937"/>
            <a:ext cx="506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becomes clear an estimate will not hold, you hear it that week rather than in the month-end report.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223864" y="4673473"/>
            <a:ext cx="506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5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Phase the work, don’t grow the team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223864" y="4956937"/>
            <a:ext cx="506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phase ends in something that works, and the decision to continue gets taken again.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8CA9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CA9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80644"/>
            <a:ext cx="237744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06424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OUR APPROACH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04672"/>
            <a:ext cx="3977640" cy="762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14"/>
              </a:lnSpc>
              <a:buNone/>
            </a:pPr>
            <a:r>
              <a:rPr lang="en-US" sz="23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Four stages, each ending in something tangible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676908"/>
            <a:ext cx="3977640" cy="691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delivered at the end of each stage is defined before it starts, and no stage begins before the previous one has closed.</a:t>
            </a:r>
            <a:endParaRPr lang="en-US" sz="1050" dirty="0"/>
          </a:p>
        </p:txBody>
      </p:sp>
      <p:pic>
        <p:nvPicPr>
          <p:cNvPr id="6" name="Image 0" descr="./assets/fig-proce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1115568"/>
            <a:ext cx="6675120" cy="445312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852928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TYPICAL DURATION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8211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316382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Assessment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3474720" y="316382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weeks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68503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366674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Architecture and roadmap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366674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3–6 weeks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18795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416966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Delivery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474720" y="416966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months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469087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1280160" y="467258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Hypercare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474720" y="467258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4–12 weeks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80644"/>
            <a:ext cx="237744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06424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TECHNOLOGY AND BUSINESS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04672"/>
            <a:ext cx="883386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32"/>
              </a:lnSpc>
              <a:buNone/>
            </a:pPr>
            <a:r>
              <a:rPr lang="en-US" sz="24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use AI on both sides: in your processes and in how we work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06880"/>
            <a:ext cx="7932191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separate service line, but part of both the system we deliver and the method we use to deliver it.</a:t>
            </a:r>
            <a:endParaRPr lang="en-US" sz="1050" dirty="0"/>
          </a:p>
        </p:txBody>
      </p:sp>
      <p:pic>
        <p:nvPicPr>
          <p:cNvPr id="6" name="Image 0" descr="./assets/fig-a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344674"/>
            <a:ext cx="5943600" cy="395935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995160" y="2472690"/>
            <a:ext cx="4416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 YOUR FINANCE PROCESSES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6995160" y="2692146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Automation your team keeps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022592" y="3094482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251192" y="300304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Intelligent matching of bank and open items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022592" y="3350514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251192" y="325907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 before the close, not after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022592" y="3606546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251192" y="351510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Predictive accounting during the period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7022592" y="3862578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251192" y="377113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Joule for natural-language querying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995160" y="4264914"/>
            <a:ext cx="4416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 OUR OWN DELIVERY</a:t>
            </a:r>
            <a:endParaRPr lang="en-US" sz="750" dirty="0"/>
          </a:p>
        </p:txBody>
      </p:sp>
      <p:sp>
        <p:nvSpPr>
          <p:cNvPr id="18" name="Text 15"/>
          <p:cNvSpPr txBox="1"/>
          <p:nvPr/>
        </p:nvSpPr>
        <p:spPr>
          <a:xfrm>
            <a:off x="6995160" y="4484370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Preparation work, compressed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7022592" y="4886706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51192" y="479526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code inventory and impact analysis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022592" y="5142738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51192" y="505129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drafts of test scenarios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7022592" y="539877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251192" y="530733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 reconciliation checks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7022592" y="5654802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251192" y="556336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Initial configuration documentation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995160" y="6112002"/>
            <a:ext cx="118872" cy="118872"/>
          </a:xfrm>
          <a:prstGeom prst="rect">
            <a:avLst/>
          </a:prstGeom>
          <a:solidFill>
            <a:srgbClr val="E8B33A"/>
          </a:solidFill>
          <a:ln w="3175">
            <a:solidFill>
              <a:srgbClr val="E8B33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51192" y="605713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Our position.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decision producing a financial posting is finalised without human review.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30" name="Text 27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80644"/>
            <a:ext cx="237744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06424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ENGAGEMENTS IN PRACTICE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04672"/>
            <a:ext cx="8833866" cy="46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8"/>
              </a:lnSpc>
              <a:buNone/>
            </a:pPr>
            <a:r>
              <a:rPr lang="en-US" sz="26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What the work looks like in practice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377188"/>
            <a:ext cx="7030517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situations we meet regularly, and the approach we take to each.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8122615" y="1412621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ILLUSTRATIVE — NOT CLIENT CASES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76072" y="1933829"/>
            <a:ext cx="3803904" cy="38953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153285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Manufacturing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464181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MULTI-ENTITY GROUP, SEVERAL COUNTRIES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79336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SITUATION</a:t>
            </a:r>
            <a:endParaRPr lang="en-US" sz="7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99453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group running ECC needs an S/4HANA plan before maintenance deadlines force one. Nobody knows how much accumulated custom code is still executed.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79920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APPROACH</a:t>
            </a:r>
            <a:endParaRPr lang="en-US" sz="7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00037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usage-based custom code inventory first. All three conversion routes compared on cost, duration and risk. Company codes planned in waves.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80504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OUTCOME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00621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reasoned approach decision that survives board scrutiny, and a smaller conversion scope once dead development is retired.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325112" y="1933829"/>
            <a:ext cx="3803904" cy="38953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26280" y="2153285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Technology and services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2464181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FAST-GROWING MID-MARKET COMPANY</a:t>
            </a:r>
            <a:endParaRPr lang="en-US" sz="7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279336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SITUATION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4526280" y="299453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company is scaling quickly while finance still runs on spreadsheets. A standard ERP deployment is wanted, but whether Public Cloud suffices is unknown.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26280" y="379920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APPROACH</a:t>
            </a:r>
            <a:endParaRPr lang="en-US" sz="7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00037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Processes compared against standard scope item by item. Fit-to-standard workshops retire differences that exist only through habit.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480504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OUTCOME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4526280" y="500621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finance setup built on standard and ready for the release cycle, plus a deployment template that repeats in new markets.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074152" y="1933829"/>
            <a:ext cx="3803904" cy="38953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75320" y="2153285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Retail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2464181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MULTI-SITE, HIGH TRANSACTION VOLUME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8275320" y="279336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SITUATION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8275320" y="299453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month-end close runs long and unpredictably. Reconciliation is largely manual, and unmatched items depend on two or three people.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379920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APPROACH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8275320" y="400037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close measured step by step to find the dependencies creating wait time. Matching thresholds calibrated against real data.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480504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OUTCOME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500621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close calendar that is predictable step by step, with the team moving from matching items to reviewing exceptions.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5993765"/>
            <a:ext cx="88338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contain no client names, figures or outcome claims. They are written to show how an engagement works.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80644"/>
            <a:ext cx="237744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06424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WHY CPEAK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04672"/>
            <a:ext cx="8833866" cy="46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8"/>
              </a:lnSpc>
              <a:buNone/>
            </a:pPr>
            <a:r>
              <a:rPr lang="en-US" sz="26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difference is who actually does the work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377188"/>
            <a:ext cx="7932191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SAP consulting the outcome is decided less by methodology than by who actually works on the project.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77240" y="2234438"/>
            <a:ext cx="10637215" cy="0"/>
          </a:xfrm>
          <a:prstGeom prst="line">
            <a:avLst/>
          </a:prstGeom>
          <a:noFill/>
          <a:ln w="12700">
            <a:solidFill>
              <a:srgbClr val="11676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417318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09926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Real depth in the finance modules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331718"/>
            <a:ext cx="239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 and CO are our core discipline, not a capability brought along beside something else. On decisions that are expensive to reverse — enterprise structure, costing design, the close calendar — you get the view of someone who has lived the consequences several times.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483864" y="2417318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483864" y="2709926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Neutral on the cloud model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3331718"/>
            <a:ext cx="239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do not advocate for Public or Private Cloud. We compare your processes against standard scope and put the cost and constraint of both models side by side for your specific situation.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190488" y="2417318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190488" y="2709926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Delivery accelerated by AI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190488" y="3331718"/>
            <a:ext cx="239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use AI for the volume work: analysis, documentation, test scenario generation and migration reconciliation. It shortens the preparation phases and leaves senior time for the parts that require judgement.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897112" y="2417318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897112" y="2709926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Senior consultants on every engagement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3331718"/>
            <a:ext cx="239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people named in the proposal are the people who turn up. You are not charged for a consultant’s learning curve. When scope grows we phase the work rather than inflate the team.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0" y="5138928"/>
            <a:ext cx="12191695" cy="9692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55321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REFERENCES</a:t>
            </a:r>
            <a:endParaRPr lang="en-US" sz="750" dirty="0"/>
          </a:p>
        </p:txBody>
      </p:sp>
      <p:pic>
        <p:nvPicPr>
          <p:cNvPr id="21" name="Image 0" descr="./assets/ref-mercedes-b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8034" y="5498705"/>
            <a:ext cx="987552" cy="249710"/>
          </a:xfrm>
          <a:prstGeom prst="rect">
            <a:avLst/>
          </a:prstGeom>
        </p:spPr>
      </p:pic>
      <p:pic>
        <p:nvPicPr>
          <p:cNvPr id="22" name="Image 1" descr="./assets/ref-pw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6482" y="5486400"/>
            <a:ext cx="564776" cy="274320"/>
          </a:xfrm>
          <a:prstGeom prst="rect">
            <a:avLst/>
          </a:prstGeom>
        </p:spPr>
      </p:pic>
      <p:pic>
        <p:nvPicPr>
          <p:cNvPr id="23" name="Image 2" descr="./assets/ref-fusion-consult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155" y="5486400"/>
            <a:ext cx="624314" cy="274320"/>
          </a:xfrm>
          <a:prstGeom prst="rect">
            <a:avLst/>
          </a:prstGeom>
        </p:spPr>
      </p:pic>
      <p:pic>
        <p:nvPicPr>
          <p:cNvPr id="24" name="Image 3" descr="./assets/ref-boehringer-ingelhei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365" y="5486400"/>
            <a:ext cx="888492" cy="274320"/>
          </a:xfrm>
          <a:prstGeom prst="rect">
            <a:avLst/>
          </a:prstGeom>
        </p:spPr>
      </p:pic>
      <p:pic>
        <p:nvPicPr>
          <p:cNvPr id="25" name="Image 4" descr="./assets/ref-wav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753" y="5505608"/>
            <a:ext cx="974385" cy="235904"/>
          </a:xfrm>
          <a:prstGeom prst="rect">
            <a:avLst/>
          </a:prstGeom>
        </p:spPr>
      </p:pic>
      <p:pic>
        <p:nvPicPr>
          <p:cNvPr id="26" name="Image 5" descr="./assets/ref-imery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2034" y="5486400"/>
            <a:ext cx="426720" cy="274320"/>
          </a:xfrm>
          <a:prstGeom prst="rect">
            <a:avLst/>
          </a:prstGeom>
        </p:spPr>
      </p:pic>
      <p:pic>
        <p:nvPicPr>
          <p:cNvPr id="27" name="Image 6" descr="./assets/ref-gs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9650" y="5486400"/>
            <a:ext cx="868887" cy="274320"/>
          </a:xfrm>
          <a:prstGeom prst="rect">
            <a:avLst/>
          </a:prstGeom>
        </p:spPr>
      </p:pic>
      <p:pic>
        <p:nvPicPr>
          <p:cNvPr id="28" name="Image 7" descr="./assets/ref-bek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9433" y="5486400"/>
            <a:ext cx="481263" cy="274320"/>
          </a:xfrm>
          <a:prstGeom prst="rect">
            <a:avLst/>
          </a:prstGeom>
        </p:spPr>
      </p:pic>
      <p:pic>
        <p:nvPicPr>
          <p:cNvPr id="29" name="Image 8" descr="./assets/ref-per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1592" y="5486400"/>
            <a:ext cx="529389" cy="27432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31" name="Text 20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quant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51560"/>
            <a:ext cx="3291840" cy="3877314"/>
          </a:xfrm>
          <a:prstGeom prst="rect">
            <a:avLst/>
          </a:prstGeom>
        </p:spPr>
      </p:pic>
      <p:pic>
        <p:nvPicPr>
          <p:cNvPr id="3" name="Image 1" descr="./assets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13232"/>
            <a:ext cx="1737360" cy="598059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77240" y="2208276"/>
            <a:ext cx="237744" cy="0"/>
          </a:xfrm>
          <a:prstGeom prst="line">
            <a:avLst/>
          </a:prstGeom>
          <a:noFill/>
          <a:ln w="12700">
            <a:solidFill>
              <a:srgbClr val="F5DCA4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1106424" y="20894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NEXT STEP</a:t>
            </a:r>
            <a:endParaRPr lang="en-US" sz="85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2487168"/>
            <a:ext cx="612884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28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Tell us about your project</a:t>
            </a:r>
            <a:endParaRPr lang="en-US" sz="28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8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and we will come back</a:t>
            </a:r>
            <a:endParaRPr lang="en-US" sz="28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8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within one business day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426110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few sentences on where you are today and what you are trying to solve is enough to start. The first call runs 30–45 minutes at no cost.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51023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GENERAL</a:t>
            </a:r>
            <a:endParaRPr lang="en-US" sz="7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52760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info@cpeakconsultancy.com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4297680" y="51023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DIRECT — KEREM YİĞİT</a:t>
            </a:r>
            <a:endParaRPr lang="en-US" sz="700" dirty="0"/>
          </a:p>
        </p:txBody>
      </p:sp>
      <p:sp>
        <p:nvSpPr>
          <p:cNvPr id="11" name="Text 7"/>
          <p:cNvSpPr txBox="1"/>
          <p:nvPr/>
        </p:nvSpPr>
        <p:spPr>
          <a:xfrm>
            <a:off x="4297680" y="52760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kerem.yigit@cpeakconsultancy.com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51023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TELEPHONE</a:t>
            </a:r>
            <a:endParaRPr lang="en-US" sz="700" dirty="0"/>
          </a:p>
        </p:txBody>
      </p:sp>
      <p:sp>
        <p:nvSpPr>
          <p:cNvPr id="13" name="Text 9"/>
          <p:cNvSpPr txBox="1"/>
          <p:nvPr/>
        </p:nvSpPr>
        <p:spPr>
          <a:xfrm>
            <a:off x="7818120" y="52760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+90 (507) 032 81 70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570585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OFFICE</a:t>
            </a:r>
            <a:endParaRPr lang="en-US" sz="70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58795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Bostancı Mah. Şemsettin Günaltay Cad.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No: 31/8, 34744 Kadıköy, İstanbul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4297680" y="570585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WEB</a:t>
            </a:r>
            <a:endParaRPr lang="en-US" sz="700" dirty="0"/>
          </a:p>
        </p:txBody>
      </p:sp>
      <p:sp>
        <p:nvSpPr>
          <p:cNvPr id="17" name="Text 13"/>
          <p:cNvSpPr txBox="1"/>
          <p:nvPr/>
        </p:nvSpPr>
        <p:spPr>
          <a:xfrm>
            <a:off x="4297680" y="58795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cpeakconsultancy.com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7818120" y="570585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LINKEDIN</a:t>
            </a:r>
            <a:endParaRPr lang="en-US" sz="700" dirty="0"/>
          </a:p>
        </p:txBody>
      </p:sp>
      <p:sp>
        <p:nvSpPr>
          <p:cNvPr id="19" name="Text 15"/>
          <p:cNvSpPr txBox="1"/>
          <p:nvPr/>
        </p:nvSpPr>
        <p:spPr>
          <a:xfrm>
            <a:off x="7818120" y="58795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linkedin.com/company/cpeak-consultancy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CA9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CPeak Consultancy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CPeak Consultancy — Company Overview</dc:title>
  <dc:subject>SAP finance modules, S/4HANA transformation and SAP cloud architecture</dc:subject>
  <dc:creator>CPeak Consultancy</dc:creator>
  <cp:lastModifiedBy>CPeak Consultancy</cp:lastModifiedBy>
  <cp:revision>1</cp:revision>
  <dcterms:created xsi:type="dcterms:W3CDTF">2026-09-05T14:18:16Z</dcterms:created>
  <dcterms:modified xsi:type="dcterms:W3CDTF">2026-09-05T14:18:16Z</dcterms:modified>
</cp:coreProperties>
</file>
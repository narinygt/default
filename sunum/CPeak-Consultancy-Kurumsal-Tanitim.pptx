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girişinden. Görsel sitenin kendi hero görselidir.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 tanıtımı. Her iddia Hakkımızda sayfasında var. Koyu şerit sitenin yetkinlik bandı — nitel, tek sayı 10+ yıl.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sayfasındaki üç odak alanı. Görsel sitenin finans mimarisi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aynısı. İş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çözüm sayfası, sitenin kendi ölçütleriyle: kime uygun, tipik süre, ana kazanım.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Çözümler sayfasındaki tablodan kısaltıldı.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modeli. Aşama adları ve çıktılar sitenin süreç görselinde yazılı; slayt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Görsel sitenin yapay zeka akış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üç tipik proje, sitenin kendi uyarısıyla birlikte.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fark. Referans şeridi sitenin kendi logo bandıdır.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İletişim bilgileri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KURUMSAL TANITIM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Finansallarda 10+ Yıl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 ve SAP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Mimarisi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finans modüllerinde derinlemesine uzmanlık, bulut modeli seçiminde tarafsız değerlendirme — aldığınız kararı gerekçesiyle birlikte savunabilmeniz için.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İSTANBUL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BİZ KİMİZ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572000" cy="1197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modüllerinde uçtan uca uzmanlaşmayı seçmiş bağımsız bir danışmanlık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804672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 Consultancy; SAP ECC, S/4HANA on-premise, Private Cloud ve Public Cloud ortamlarında uçtan uca finans modülleri üzerine çalışan bağımsız bir danışmanlık şirketidir. Odak alanımız, uzman kadromuzla yürüttüğümüz yapay zeka destekli çalışma biçimimizdir.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103120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danışmanlığında yaygın model geniş kapsam sunmak, sonra her alan için farklı bir uzman bulmaktır. Biz bunun tersini seçtik: bir işi almamız, o işin en zor kısmını dışarıya devretmeyeceğimiz anlamına gelir.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34015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lojistik modüllerde yurt içi ve yurt dışı iş ortaklarımızla birlikte çalışarak projenize uçtan uca destek veririz.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505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KURULUŞ YILI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2021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MERKEZ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İstanbul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7705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HİZMET VERİLEN BÖLGELER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59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Türkiye, EMEA ve ABD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5604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Aynı anda çok sayıda proje yürütmek yerine, kıdemli kadronun fiilen çalışmasını mümkün kılacak sayıda iş alıyoruz.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DENEYİM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-2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10+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yıl SAP finans deneyimi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436544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UZMANLIK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436544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 derinliği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TARAFSIZLIK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ve Private Cloud değerlendirmesi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755151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EKİP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55151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Kıdemli danışman kadrosu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UZMANLIK ALANLARIMIZ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846320" cy="1197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Uzmanlığımız üç alanda birleşiyor ve bu üçü birbirini besliyor</a:t>
            </a:r>
            <a:endParaRPr lang="en-US" sz="2500" dirty="0"/>
          </a:p>
        </p:txBody>
      </p:sp>
      <p:pic>
        <p:nvPicPr>
          <p:cNvPr id="4" name="Image 0" descr="./assets/fig-finance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323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307592" y="23957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modülleri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07592" y="2724912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FI, CO, PA ve PS. Global hesap planı ve üst düzey organizasyon yapısı tasarımı, maliyet ve kârlılık muhasebesi, kapanış sürecinin yeniden kurgulanması.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bulut mimarisi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895344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Cloud ve Private Cloud arasında uygunluk değerlendirmesi, hedef mimari tasarımı ve canlı geçiş yönetimi. Belirli bir modelin savunuculuğunu yapmıyoruz.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ve RPA destekli otomasyon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5065776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SAP’nin yerleşik yapay zeka yetenekleriyle mutabakat, anomali tespiti ve tahmine dayalı muhasebe — ölçüme dayalı ve fazlı biçimde.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UZMANLIĞI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 finans çekirdeği, dört dağıtım modeli, bir yerleşik yapay zeka katmanı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DAĞITIM MODELLERİ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YERLEŞİK YAPAY ZEKA YETENEKLERİ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3544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Çoğu projenin başladığı mevcut yapı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altyapınız, tam esneklik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bulut işletimi, esneklik korunur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Standart kapsam, hızlı devreye alma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Akıllı mutabakat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38615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Banka ve cari kalemlerin geçmiş davranıştan öğrenerek eşlenmesi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Anomali tespiti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38615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Alışılmadık kayıtların kapanıştan önce işaretlenmesi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Tahmine dayalı muhasebe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038615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Kesinleşmemiş işlemlerin dönem içinde görünür olması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Doğal dille sorgulama ve gezinme katmanı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ÇEKİRDEĞİ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Üst düzey organizasyon yapısı ve global hesap planı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 muhasebesi ve kârlılık analizi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 sürecinin adım adım yeniden kurgulanması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Yasal ve yönetsel raporlamanın tek kaynaktan üretilmesi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504688"/>
            <a:ext cx="79321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SAP’nin yapay zeka yetenekleri ayrı bir ürün olarak satın alınmaz, sistemin içinde yerleşiktir. Hepsini açmak strateji değildir — hangisinin sizde çalışacak veri hacmine ve süreç disiplinine sahip olduğunu ölçer, sırayla devreye alırız.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ÇÖZÜMLER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Beş çözüm alanı, tek bir finans bakış açısı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Aynı kurum çoğu zaman birden fazla kategoriye girer. Bu tablo, hangi işe başlamanın daha anlamlı olduğunu göstermek için var.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12648" y="1990852"/>
            <a:ext cx="10966399" cy="365760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7314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731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KİME UYGUN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0731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TİPİK SÜRE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07314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 KAZANIM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852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 Modülleri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412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 ve uçtan uca finansal süreç tasarımı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26126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Mevcut SAP kurulumu dağılmış ya da yeni kuracak şirketler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1264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Teşhis 3–4 hafta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Yeniden yapılandırma 4–7 ay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612644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Tutarlı raporlama ve öngörülebilir kapanış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350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Dönüşümü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5910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ve seçici geçiş kararı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336245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 üzerinde olup geçiş planlaması gereken şirketler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36245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Analiz 4–6 hafta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Dönüşüm 6–14 ay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362452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Gerekçeli yöntem kararı ve öngörülebilir geçiş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848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408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 mimarisi ve uygulaması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411226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Standarda uyum sağlayabilen, hızlı kurulum isteyen şirketler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41122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Değerlendirme 2–3 hafta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Kurulum 3–5 ay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4112260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Hızlı devreye alma ve düşük işletme yükü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346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906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ve Cloud ERP Private Edition mimarisi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4862068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 esnekliğini korumak zorunda olan büyük ölçekli şirketler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8620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Hazırlık 5–8 hafta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Geçiş 7–14 ay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4862068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Esnekliği koruyarak altyapı yükünden kurtulma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58444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ile Finans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404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SAP’nin yerleşik yapay zeka yetenekleri ve otomasyon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611876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Tekrar eden manuel finans işine çok saat harcayan ekipler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56118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Değerlendirme 2–3 hafta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İlk faz 6–12 hafta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561187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Geri kazanılan insan saati ve erken hata yakalama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BULUT MİMARİSİ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mu Private Cloud mu — geri dönüşü en pahalı karar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47216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Biri diğerinin gelişmiş ya da ucuz sürümü değil; farklı takaslar.</a:t>
            </a:r>
            <a:endParaRPr lang="en-US" sz="1050" dirty="0"/>
          </a:p>
        </p:txBody>
      </p:sp>
      <p:pic>
        <p:nvPicPr>
          <p:cNvPr id="5" name="Image 0" descr="./assets/fig-cloud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12417"/>
            <a:ext cx="4892040" cy="3264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185813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Maliyet modeli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9588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09588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Kullanıcı ve kapsam bazında abonelik; güncellemeler dahil.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30619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30619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Boyutlandırmaya bağlı; güncelleme testleri sizde kalır.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55308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Özelleştirme esnekliği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79082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1490472" y="279082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Çekirdek değiştirilemez; genişletme ayrı katmanda.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0113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490472" y="300113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Çekirdeğe müdahale dahil; mevcut ABAP taşınabilir.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24802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Güncelleme döngüsü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48576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48576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Düzenli, otomatik ve ertelenemez.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69608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1490472" y="369608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Zamanlamayı siz belirlersiniz; her sürüm ayrı proje.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394296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Kurulum süresi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18071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1490472" y="418071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kurulumu tipik olarak 3–5 ay.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39102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1490472" y="439102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Kapsama ve taşınan mirasa göre tipik olarak 7–14 ay.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63791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Tipik uygunluk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8756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1490472" y="48756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 standarda yakın orta ölçekli şirketler.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08596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508596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Ağır özelleştirme ve entegrasyon mirası taşıyanlar.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Belirli bir modeli savunmuyoruz.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 standart kapsamla karşılaştırır, iki modelin sizin durumunuzdaki maliyetini ve kısıtını yan yana koyarız. Kararı siz verirsiniz.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DEĞERİ NASIL ÜRETİYORUZ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Önce ölçüm, sonra savunabileceğiniz bir karar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Sonucu belirleyen şey metodolojinin adı değil, haftalık çalışma disiplinidir.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 öneri sistemdeki gerçek veriye bakılmadan verilmez. Ölçmeden verilen tavsiye bir tahmindir; maliyeti size kalır.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KARŞILAŞTIR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Seçenekler maliyet, süre ve riskiyle yan yana konur; kendi tercihimizi de gerekçesiyle söyleriz.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KARAR 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sizindir, gerekçe yazılı kalır. İki yıl sonra “bunu neden böyle yapmıştık?” sorusuna cevap veren şey odur.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SAHİPLEN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 birlikte yazılır, ilk kapanış birlikte çalıştırılır, dokümantasyon kullanılacak biçimde bırakılır.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Kötü haberi erken söyleriz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tahminin tutmayacağı belli olduğunda, bunu ay sonu raporunda değil o hafta söyleriz.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Ekibi büyütmek yerine fazlara böleriz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fazın sonunda çalışan bir çıktı olur ve devam kararı yeniden verilir.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YAKLAŞIMI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Dört adım; her adımın sonunda elle tutulur bir çıktı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adımın sonunda ne teslim edileceği baştan bellidir. Bir adım tamamlanmadan bir sonrakine geçilmez.</a:t>
            </a:r>
            <a:endParaRPr lang="en-US" sz="1050" dirty="0"/>
          </a:p>
        </p:txBody>
      </p:sp>
      <p:pic>
        <p:nvPicPr>
          <p:cNvPr id="5" name="Image 0" descr="./assets/fig-process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TİPİK SÜRE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1638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31638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6667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 yol haritası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3666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41696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1696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7258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46725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TEKNOLOJİ VE İŞ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zekayı iki tarafta da kullanıyoruz: sizin süreçlerinizde ve kendi çalışma şeklimizde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Ayrı bir hizmet başlığı değil; hem sunduğumuz sistemin hem de kendi yöntemimizin parçası.</a:t>
            </a:r>
            <a:endParaRPr lang="en-US" sz="1050" dirty="0"/>
          </a:p>
        </p:txBody>
      </p:sp>
      <p:pic>
        <p:nvPicPr>
          <p:cNvPr id="5" name="Image 0" descr="./assets/fig-ai-t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44649"/>
            <a:ext cx="5943600" cy="3959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95160" y="2272665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FİNANS SÜREÇLERİNİZDE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492121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Ekipte kalan otomasyon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022592" y="289445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280301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Banka ve cari kalemlerin akıllı mutabakatı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022592" y="3150489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51192" y="3059049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Kapanıştan önce anomali tespiti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022592" y="3406521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51192" y="3315081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Dönem içinde tahmine dayalı muhasebe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022592" y="366255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3571113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ile doğal dilde sorgulama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064889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KENDİ ÇALIŞMA ŞEKLİMİZDE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284345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Kısalan hazırlık işi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022592" y="4686681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51192" y="4595241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Özelleştirme envanteri ve kod etki analizi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22592" y="494271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4851273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022592" y="5198745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51192" y="5107305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migrasyonu mutabakat kontrolleri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022592" y="545477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536333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Yapılandırma dokümantasyonunun ilk sürümü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5911977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5857113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Duruşumuz.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Finansal kayıt üreten hiçbir karar insan denetiminden geçmeden kesinleşmez.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PRATİKTE PROJELER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Çalışma pratikte nasıl ilerliyor?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Sık karşılaştığımız üç durum ve her birinde izlediğimiz yaklaşım.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573975" y="1412621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TEMSİLİ — GERÇEK MÜŞTERİ VAKASI DEĞİL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7607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Üretim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ÇOK ŞİRKETLİ GRUP, BİRDEN FAZLA ÜLKE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DURUM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 üzerinde çalışan grup, bakım takvimi nedeniyle S/4HANA geçişi planlamak zorunda. Biriken özelleştirmelerin ne kadarı kullanılıyor bilinmiyor.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YAKLAŞIM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Önce kullanım verisine dayalı özelleştirme envanteri. Üç geçiş yöntemi maliyet, süre ve risk açısından karşılaştırılır. Şirket kodları dalgalar hâlinde planlanır.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SONUÇ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Yönetim kuruluna sunulabilecek gerekçeli bir yöntem kararı ve taşınmayacak geliştirmelerin elenmesiyle küçülmüş bir kapsam.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2511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2628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Teknoloji ve hizmet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HIZLI BÜYÜYEN ORTA ÖLÇEKLİ ŞİRKET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DURUM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hızla büyüyor, finans süreçleri hâlâ elektronik tablolara dayanıyor. Standart bir ERP isteniyor ancak Public Cloud yeter mi bilinmiyor.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YAKLAŞIM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 standart kapsamla madde madde karşılaştırılır. Fit-to-standard oturumlarıyla alışkanlıktan kaynaklanan farklar elenir.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SONUÇ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Standart üzerine kurulmuş, çeyreklik güncellemelere hazır bir finans yapısı ve büyüme sırasında tekrarlanabilir bir kurulum şablonu.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7415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7532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Perakende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ÇOK LOKASYONLU, YÜKSEK İŞLEM HACMİ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DURUM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 sonu kapanışı öngörülemez biçimde uzuyor. Mutabakat büyük ölçüde elle yapılıyor ve eşleşmeyen kalemler birkaç kişinin bilgisine bağlı.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YAKLAŞIM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 adımları süre ölçümüyle çıkarılır, bekleme yaratan bağımlılıklar tespit edilir. Eşik değerleri gerçek veriyle kalibre edilir.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SONUÇ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Adım bazında ölçülebilir ve öngörülebilir bir kapanış takvimi; ekibin işi eşleştirmekten istisna incelemeye kayar.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93765"/>
            <a:ext cx="88338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Müşteri adı, rakam ya da sonuç iddiası içermezler; hizmetin nasıl işlediğini anlatmak için hazırlanmış temsili örneklerdir.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NEDEN CPEAK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Farkı, projede kimin çalıştığı belirler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danışmanlığında sonucu belirleyen şey metodoloji değil, projede fiilen kimin çalıştığıdır.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62429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55037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modülünde gerçek derinlik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76829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 bizim için yan yetkinlik değil, ana uzmanlık alanımızdır. Hesap planı tasarımı, maliyet muhasebesi ve kapanış süreci gibi geri dönüşü pahalı kararlarda, konuyu daha önce defalarca yaşamış birinin görüşünü alırsınız.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162429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455037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modelinde tarafsızlık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076829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Cloud ve Private Cloud arasındaki seçimde belirli bir modeli savunmuyoruz. Süreçlerinizi standart kapsamla karşılaştırır, iki modelin sizin durumunuzdaki maliyetini ve kısıtını yan yana koyarız.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162429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2455037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ile hızlandırılmış teslim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076829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Analiz, dokümantasyon, test senaryosu üretimi ve migrasyon kontrolü gibi hacimli işlerde yapay zeka kullanıyoruz. Bu, hazırlık fazlarını kısaltıyor ve kıdemli danışmanın zamanını karar gerektiren işlere bırakıyor.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162429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455037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Projede kıdemli danışman çalışır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076829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Projeye teklifte adı geçen kişiler gelir. Danışmanın öğrenme süresini size fatura etmeyiz. Kapsam büyüdüğünde ekibi büyütmek yerine işi fazlara böleriz.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5321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</a:t>
            </a:r>
            <a:endParaRPr lang="en-US" sz="750" dirty="0"/>
          </a:p>
        </p:txBody>
      </p:sp>
      <p:pic>
        <p:nvPicPr>
          <p:cNvPr id="19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038" y="5498705"/>
            <a:ext cx="987552" cy="249710"/>
          </a:xfrm>
          <a:prstGeom prst="rect">
            <a:avLst/>
          </a:prstGeom>
        </p:spPr>
      </p:pic>
      <p:pic>
        <p:nvPicPr>
          <p:cNvPr id="20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86" y="5486400"/>
            <a:ext cx="564776" cy="274320"/>
          </a:xfrm>
          <a:prstGeom prst="rect">
            <a:avLst/>
          </a:prstGeom>
        </p:spPr>
      </p:pic>
      <p:pic>
        <p:nvPicPr>
          <p:cNvPr id="21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159" y="5486400"/>
            <a:ext cx="624314" cy="274320"/>
          </a:xfrm>
          <a:prstGeom prst="rect">
            <a:avLst/>
          </a:prstGeom>
        </p:spPr>
      </p:pic>
      <p:pic>
        <p:nvPicPr>
          <p:cNvPr id="22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369" y="5486400"/>
            <a:ext cx="888492" cy="274320"/>
          </a:xfrm>
          <a:prstGeom prst="rect">
            <a:avLst/>
          </a:prstGeom>
        </p:spPr>
      </p:pic>
      <p:pic>
        <p:nvPicPr>
          <p:cNvPr id="23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757" y="5505608"/>
            <a:ext cx="974385" cy="235904"/>
          </a:xfrm>
          <a:prstGeom prst="rect">
            <a:avLst/>
          </a:prstGeom>
        </p:spPr>
      </p:pic>
      <p:pic>
        <p:nvPicPr>
          <p:cNvPr id="24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038" y="5486400"/>
            <a:ext cx="426720" cy="274320"/>
          </a:xfrm>
          <a:prstGeom prst="rect">
            <a:avLst/>
          </a:prstGeom>
        </p:spPr>
      </p:pic>
      <p:pic>
        <p:nvPicPr>
          <p:cNvPr id="25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1654" y="5486400"/>
            <a:ext cx="868887" cy="274320"/>
          </a:xfrm>
          <a:prstGeom prst="rect">
            <a:avLst/>
          </a:prstGeom>
        </p:spPr>
      </p:pic>
      <p:pic>
        <p:nvPicPr>
          <p:cNvPr id="26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1437" y="5486400"/>
            <a:ext cx="481263" cy="274320"/>
          </a:xfrm>
          <a:prstGeom prst="rect">
            <a:avLst/>
          </a:prstGeom>
        </p:spPr>
      </p:pic>
      <p:pic>
        <p:nvPicPr>
          <p:cNvPr id="27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23596" y="5486400"/>
            <a:ext cx="529389" cy="27432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1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SONRAKİ ADIM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 günü içinde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dönüş yapalım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2611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Bugün nerede olduğunuzu ve neyi çözmeye çalıştığınızı birkaç cümleyle yazmanız yeterli. İlk görüşme 30–45 dakika sürer ve ücretsizdir.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DOĞRUDAN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TELEFON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OFİS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Kurumsal Tanıtım</dc:title>
  <dc:subject>SAP finans modülleri, S/4HANA dönüşümü ve SAP bulut mimarisi</dc:subject>
  <dc:creator>CPeak Consultancy</dc:creator>
  <cp:lastModifiedBy>CPeak Consultancy</cp:lastModifiedBy>
  <cp:revision>1</cp:revision>
  <dcterms:created xsi:type="dcterms:W3CDTF">2026-09-05T14:31:26Z</dcterms:created>
  <dcterms:modified xsi:type="dcterms:W3CDTF">2026-09-05T14:31:26Z</dcterms:modified>
</cp:coreProperties>
</file>
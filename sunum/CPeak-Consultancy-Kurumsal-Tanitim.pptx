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girişinden. Görsel sitenin kendi hero görselidir.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Deste müşterinin dünyasından açılıyor. Beş cümle sitedeki çözüm sayfalarının challenges dizilerinden birebir alındı.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Argümanın motoru: kararların bedeli. Dört cümle de sitedeki çözüm özetlerinden ve yaklaşım sayfasından.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Odak, kurumsal bilgi ve dört fark tek slaytta: bu bir "hakkımızda" değil, argümanın cevabı. Referans şeridi sitenin kendi logo bandı.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aynısı. İş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Çözümler sayfasındaki tablodan kısaltıldı.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Görsel sitenin yapay zeka akış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modeli. Aşama adları ve çıktılar sitenin süreç görselinde yazılı; slayt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Sitede duran ama desteye hiç girmemiş malzeme: teslim kalemleri ve raporlama düzeni. Bir sunumu web sitesi özetinden ayıran şey tam olarak bu somutluk.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Ticari teklif ve üstlenmediğimiz işler. İkincisi gerçek bir danışmanlık sunumunun güven kuran slaytıdır ve sitede yazılı olduğu hâlde destede yoktu.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İletişim bilgileri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KURUMSAL TANITIM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Finansallarda 10+ Yıl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 ve SAP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Mimarisi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finans modüllerinde derinlemesine uzmanlık, bulut modeli seçiminde tarafsız değerlendirme — aldığınız kararı gerekçesiyle birlikte savunabilmeniz için.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İSTANBUL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BAŞLANGIÇ NOKTASI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530352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Sorun çoğu zaman sistemde değil, sistemin içinde biriken kararlarda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53035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Aşağıdaki cümleler ilk görüşmelerde en sık duyduklarımız. Hiçbiri bozuk bir sistemi anlatmıyor; zamanla dağılmış bir yapıyı anlatıyor.</a:t>
            </a:r>
            <a:endParaRPr lang="en-US" sz="1000" dirty="0"/>
          </a:p>
        </p:txBody>
      </p:sp>
      <p:pic>
        <p:nvPicPr>
          <p:cNvPr id="5" name="Image 0" descr="./assets/fig-finance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" y="246938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368804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 sonu kapanışı her ay farklı sürüyor; gecikmenin nerede oluştuğu ölçülemiyor.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95528" y="309118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990596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Aynı bilgi FI ve CO tarafında farklı çıkıyor; mutabakat elle Excel’de yapılıyor.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371297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3612388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 mi greenfield mi sorusuna her danışman farklı ve gerekçesiz bir cevap veriyor.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5528" y="433476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51560" y="4234180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Cloud’un yeterli olup olmayacağı tartışılıyor ancak süreçler standart kapsamla karşılaştırılmıyor.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5528" y="495655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4855972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Hatalar kapanıştan sonra fark ediliyor; düzeltme maliyeti, önceden yakalamanın maliyetinden yüksek.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KARARIN BEDELİ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6"/>
              </a:lnSpc>
              <a:buNone/>
            </a:pPr>
            <a:r>
              <a:rPr lang="en-US" sz="27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kararların ortak özelliği, geri dönüşlerinin pahalı olması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KAPANIŞ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modülü, ERP’nin en az affeden alanıdır: hesap planında verilen bir karar üç yıl sonra raporlamayı kilitler.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83864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GEÇİŞ YÖNTEMİ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483864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Yöntem kararı, projenin süresini, maliyetini ve önümüzdeki on yıl taşınacak teknik borcu baştan belirler.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90488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BULUT MODELİ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190488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Takas doğru şirkette çok iyi çalışır; yanlış şirkette ise projenin ortasında anlaşılır.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897112" y="2427732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GEÇ DUYMAK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7112" y="2756916"/>
            <a:ext cx="2414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Geciken bir projede en pahalı şey gecikmenin kendisi değil, geç duyulmasıdır.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0812"/>
            <a:ext cx="79321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spc="-30" kern="0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Dördü de bir kez, erken verilir ve yıllarca ödenir. Önce ölçüp sonra öneriyor olmamızın tek gerekçesi budur.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CEVABIMIZ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yüzden kapsamı dar tuttuk: finans modülleri ve bulut mimarisi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6852"/>
            <a:ext cx="8833866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ECC, S/4HANA, Private Cloud ve Public Cloud ortamlarında uçtan uca finans modülleri üzerine çalışan bağımsız bir danışmanlığız. Bir işi almamız, en zor kısmını devretmeyeceğimiz anlamına gelir.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92934"/>
            <a:ext cx="883386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KURULUŞ 2021  ·  İSTANBUL  ·  TÜRKİYE, EMEA VE ABD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modülünde gerçek derinlik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 bizim için yan yetkinlik değil, ana uzmanlık alanımızdır. Geri dönüşü pahalı kararlarda, konuyu daha önce defalarca yaşamış birinin görüşünü alırsınız.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modelinde tarafsızlık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Cloud ve Private Cloud arasında belirli bir modeli savunmuyoruz. Süreçlerinizi standart kapsamla karşılaştırır, iki modelin sizin durumunuzdaki maliyetini ve kısıtını yan yana koyarız.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ile hızlandırılmış teslim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Analiz, dokümantasyon, test üretimi ve migrasyon kontrolü gibi hacimli işlerde yapay zeka kullanıyoruz. Bu, hazırlık fazlarını kısaltıyor ve kıdemli zamanı karar gerektiren işlere bırakıyor.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75869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05130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Projede kıdemli danışman çalışır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3673094"/>
            <a:ext cx="23957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Teklifte adı geçen kişiler projeye fiilen gelir. Danışmanın öğrenme süresini size fatura etmeyiz; kapsam büyüdüğünde ekibi büyütmek yerine işi fazlara böleriz.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55321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</a:t>
            </a:r>
            <a:endParaRPr lang="en-US" sz="750" dirty="0"/>
          </a:p>
        </p:txBody>
      </p:sp>
      <p:pic>
        <p:nvPicPr>
          <p:cNvPr id="20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038" y="5498705"/>
            <a:ext cx="987552" cy="249710"/>
          </a:xfrm>
          <a:prstGeom prst="rect">
            <a:avLst/>
          </a:prstGeom>
        </p:spPr>
      </p:pic>
      <p:pic>
        <p:nvPicPr>
          <p:cNvPr id="21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86" y="5486400"/>
            <a:ext cx="564776" cy="274320"/>
          </a:xfrm>
          <a:prstGeom prst="rect">
            <a:avLst/>
          </a:prstGeom>
        </p:spPr>
      </p:pic>
      <p:pic>
        <p:nvPicPr>
          <p:cNvPr id="22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159" y="5486400"/>
            <a:ext cx="624314" cy="274320"/>
          </a:xfrm>
          <a:prstGeom prst="rect">
            <a:avLst/>
          </a:prstGeom>
        </p:spPr>
      </p:pic>
      <p:pic>
        <p:nvPicPr>
          <p:cNvPr id="23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369" y="5486400"/>
            <a:ext cx="888492" cy="274320"/>
          </a:xfrm>
          <a:prstGeom prst="rect">
            <a:avLst/>
          </a:prstGeom>
        </p:spPr>
      </p:pic>
      <p:pic>
        <p:nvPicPr>
          <p:cNvPr id="24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757" y="5505608"/>
            <a:ext cx="974385" cy="235904"/>
          </a:xfrm>
          <a:prstGeom prst="rect">
            <a:avLst/>
          </a:prstGeom>
        </p:spPr>
      </p:pic>
      <p:pic>
        <p:nvPicPr>
          <p:cNvPr id="25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038" y="5486400"/>
            <a:ext cx="426720" cy="274320"/>
          </a:xfrm>
          <a:prstGeom prst="rect">
            <a:avLst/>
          </a:prstGeom>
        </p:spPr>
      </p:pic>
      <p:pic>
        <p:nvPicPr>
          <p:cNvPr id="26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1654" y="5486400"/>
            <a:ext cx="868887" cy="274320"/>
          </a:xfrm>
          <a:prstGeom prst="rect">
            <a:avLst/>
          </a:prstGeom>
        </p:spPr>
      </p:pic>
      <p:pic>
        <p:nvPicPr>
          <p:cNvPr id="27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1437" y="5486400"/>
            <a:ext cx="481263" cy="274320"/>
          </a:xfrm>
          <a:prstGeom prst="rect">
            <a:avLst/>
          </a:prstGeom>
        </p:spPr>
      </p:pic>
      <p:pic>
        <p:nvPicPr>
          <p:cNvPr id="28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23596" y="5486400"/>
            <a:ext cx="529389" cy="2743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0" name="Text 19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UZMANLIĞI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Dört dağıtım modelinin hepsi aynı finans çekirdeğine bağlanır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DAĞITIM MODELLERİ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YERLEŞİK YAPAY ZEKA YETENEKLERİ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3544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Çoğu projenin başladığı mevcut yapı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altyapınız, tam esneklik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bulut işletimi, esneklik korunur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Standart kapsam, hızlı devreye alma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Akıllı mutabakat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38615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Banka ve cari kalemlerin geçmiş davranıştan öğrenerek eşlenmesi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Anomali tespiti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38615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Alışılmadık kayıtların kapanıştan önce işaretlenmesi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Tahmine dayalı muhasebe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038615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Kesinleşmemiş işlemlerin dönem içinde görünür olması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Doğal dille sorgulama ve gezinme katmanı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ÇEKİRDEĞİ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Üst düzey organizasyon yapısı ve global hesap planı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 muhasebesi ve kârlılık analizi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 sürecinin adım adım yeniden kurgulanması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Yasal ve yönetsel raporlamanın tek kaynaktan üretilmesi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504688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ALANLARI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724144"/>
            <a:ext cx="9735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 Modülleri · S/4HANA Dönüşümü · SAP Public Cloud · SAP Private Cloud · Yapay Zeka ile Finans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BULUT MİMARİSİ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modelinde taraf tutmuyoruz; ölçüp yan yana koyuyoruz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Biri diğerinin gelişmiş ya da ucuz sürümü değil; farklı takaslar.</a:t>
            </a:r>
            <a:endParaRPr lang="en-US" sz="1050" dirty="0"/>
          </a:p>
        </p:txBody>
      </p:sp>
      <p:pic>
        <p:nvPicPr>
          <p:cNvPr id="5" name="Image 0" descr="./assets/fig-cloud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172081"/>
            <a:ext cx="4892040" cy="3264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1780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Maliyet modeli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55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4555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Kullanıcı ve kapsam bazında abonelik; güncellemeler dahil.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658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6658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Boyutlandırmaya bağlı; güncelleme testleri sizde kalır.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91274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Özelleştirme esnekliği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504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1490472" y="31504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Çekirdek değiştirilemez; genişletme ayrı katmanda.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36080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490472" y="336080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Çekirdeğe müdahale dahil; mevcut ABAP taşınabilir.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0768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Güncelleme döngüsü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454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8454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Düzenli, otomatik ve ertelenemez.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0557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1490472" y="40557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Zamanlamayı siz belirlersiniz; her sürüm ayrı proje.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30263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Kurulum süresi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54037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1490472" y="454037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kurulumu tipik olarak 3–5 ay.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506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1490472" y="47506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Kapsama ve taşınan mirasa göre tipik olarak 7–14 ay.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99757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Tipik uygunluk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523532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1490472" y="523532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 standarda yakın orta ölçekli şirketler.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4456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54456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Ağır özelleştirme ve entegrasyon mirası taşıyanlar.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Belirli bir modeli savunmuyoruz.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 standart kapsamla karşılaştırır, iki modelin sizin durumunuzdaki maliyetini ve kısıtını yan yana koyarız. Kararı siz verirsiniz.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TEKNOLOJİ VE İŞ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zekayı iki tarafta da kullanıyoruz: sizin süreçlerinizde ve kendi çalışma şeklimizde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SAP’nin yapay zeka yetenekleri ayrı bir ürün olarak satın alınmaz, sistemin içinde yerleşiktir. Hepsini açmak strateji değildir — hangisinin sizde karşılığı olduğunu ölçer, sırayla devreye alırız.</a:t>
            </a:r>
            <a:endParaRPr lang="en-US" sz="1050" dirty="0"/>
          </a:p>
        </p:txBody>
      </p:sp>
      <p:pic>
        <p:nvPicPr>
          <p:cNvPr id="5" name="Image 0" descr="./assets/fig-ai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44674"/>
            <a:ext cx="5943600" cy="3959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95160" y="2472690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FİNANS SÜREÇLERİNİZDE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69214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Ekipte kalan otomasyon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022592" y="309448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300304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Banka ve cari kalemlerin akıllı mutabakatı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022592" y="335051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51192" y="325907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Kapanıştan önce anomali tespiti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022592" y="360654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51192" y="351510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Dönem içinde tahmine dayalı muhasebe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022592" y="386257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377113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ile doğal dilde sorgulama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264914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KENDİ ÇALIŞMA ŞEKLİMİZDE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48437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Kısalan hazırlık işi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022592" y="488670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51192" y="479526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Özelleştirme envanteri ve kod etki analizi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22592" y="514273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505129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022592" y="53987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51192" y="530733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migrasyonu mutabakat kontrolleri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022592" y="565480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556336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Yapılandırma dokümantasyonunun ilk sürümü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6112002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605713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Duruşumuz.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Finansal kayıt üreten hiçbir karar insan denetiminden geçmeden kesinleşmez.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DEĞERİ NASIL ÜRETİYORUZ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Önce ölçüm, sonra savunabileceğiniz bir karar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Sonucu belirleyen şey metodolojinin adı değil, haftalık çalışma disiplinidir.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 öneri sistemdeki gerçek veriye bakılmadan verilmez. Ölçmeden verilen tavsiye bir tahmindir; maliyeti size kalır.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KARŞILAŞTIR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Seçenekler maliyet, süre ve riskiyle yan yana konur; kendi tercihimizi de gerekçesiyle söyleriz.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KARAR 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sizindir, gerekçe yazılı kalır. İki yıl sonra “bunu neden böyle yapmıştık?” sorusuna cevap veren şey odur.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SAHİPLEN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 birlikte yazılır, ilk kapanış birlikte çalıştırılır, dokümantasyon kullanılacak biçimde bırakılır.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Kötü haberi erken söyleriz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tahminin tutmayacağı belli olduğunda, bunu ay sonu raporunda değil o hafta söyleriz.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Ekibi büyütmek yerine fazlara böleriz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fazın sonunda çalışan bir çıktı olur ve devam kararı yeniden verilir.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YAKLAŞIMI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Dört adım; her adımın sonunda elle tutulur bir çıktı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adımın sonunda ne teslim edileceği baştan bellidir. Bir adım tamamlanmadan bir sonrakine geçilmez.</a:t>
            </a:r>
            <a:endParaRPr lang="en-US" sz="1050" dirty="0"/>
          </a:p>
        </p:txBody>
      </p:sp>
      <p:pic>
        <p:nvPicPr>
          <p:cNvPr id="5" name="Image 0" descr="./assets/fig-process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TİPİK SÜRE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1638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31638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6667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 yol haritası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3666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41696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1696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7258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46725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ELİNİZDE NE KALIYOR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Her fazın sonunda kalan şey bir sunum değil, kullanılan bir doküman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6852"/>
            <a:ext cx="8833866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Neyin teslim edileceği faz başlamadan anlaşılır; işin nerede olduğunu nasıl göreceğiniz de baştan sabitlenir ve proje boyunca değişmez.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447798"/>
            <a:ext cx="5120640" cy="30540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72211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TESLİM KALEMLERİ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069848" y="31381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07592" y="303301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Mevcut durum teşhis raporu ve önceliklendirilmiş bulgular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69848" y="34582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07592" y="335305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mimari, hesap planı ve organizasyon yapısı dokümanı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069848" y="37782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07592" y="367309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Yapılandırma (customizing) dokümantasyonu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069848" y="409829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399313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 planı ve mutabakat raporları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69848" y="441833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07592" y="431317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 ve test sonuç kayıtları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69848" y="47383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07592" y="463321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bazında devreye alma planı ve geri dönüş kriterleri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0584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07592" y="4953254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Anahtar kullanıcı eğitimi ve işletme el kitabı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45352" y="2447798"/>
            <a:ext cx="5169103" cy="30540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2722118"/>
            <a:ext cx="46204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 BOYUNCA GÖRÜNÜRLÜK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37960" y="31381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75704" y="303301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Haftalık durum raporu: tamamlananlar, riskler, karar bekleyenler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45821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75704" y="335305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Açık karar listesi: kimin, neye, ne zamana kadar karar vereceği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37960" y="37782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75704" y="367309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kaydı: her riskin sahibi, etkisi ve azaltma planı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409829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99313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 sonu teslim paketi: doküman, test kaydı, kabul kriteri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537960" y="441833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75704" y="4313174"/>
            <a:ext cx="43644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değişikliği kaydı: süre ve maliyet etkisiyle birlikte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757926"/>
            <a:ext cx="8833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Danışman çıktığında süreç duruyorsa iş bitmemiştir. Bunu bir nezaket değil, bir kabul kriteri olarak görüyoruz.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NASIL ÇALIŞIRIZ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Her ihtiyaç tam kapsamlı bir proje gerektirmez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çalışma biçimimiz var; hangisinin uygun olduğunu ilk görüşmede birlikte belirleriz.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7607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94436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karar vermeniz gerekiyor ve elinizde yeterli veri yok: geçiş yöntemi, bulut modeli seçimi ya da mevcut kurulumun sağlık kontrolü.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taraması, görüşmeler, önceliklendirilmiş bulgular ve gerekçeli öneri. Sonunda karar verebilecek durumda olursunuz.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 teslimi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Kararı vermişsiniz ve uygulanması gerekiyor: dönüşüm, kurulum ya da kapsamlı yeniden yapılandırma.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Fazlı plan, haftalık durum raporu, tanımlı teslim kalemleri ve devreye alma. Hypercare dahil.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74152" y="1888109"/>
            <a:ext cx="3803904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125853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 desteği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442448" y="2125853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Birkaç gün – birkaç hafta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509901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Projeyi kendi ekibiniz ya da başka bir danışman yürütüyor, belirli bir konuda derinlik gerekiyor: tasarım gözden geçirmesi ya da ikinci görüş.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369437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sınırlı ve net tanımlıdır, çıktı üzerinde baştan anlaşılır. Çalışma gereksiz yere uzatılmaz.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285232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ÜSTLENMEDİĞİMİZ İŞLER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86400"/>
            <a:ext cx="8833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Neyi yapmadığımızı söylemek, ne yaptığımızı söylemek kadar önemlidir.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" y="596646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3272" y="5870448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SAP modüllerinin ana sorumluluğu — lojistik, üretim planlama, İK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88456" y="596646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6200" y="5870448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Yalnızca kaynak sağlama: mimari ya da teslim sorumluluğu üstlenmeden danışman temini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5528" y="63870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3272" y="629107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Değerlendirme yapılmadan sabit fiyatla taahhüt edilen dönüşüm projeleri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388456" y="63870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6200" y="629107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Yazılım geliştirme ya da altyapı işletim hizmeti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500055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SONRAKİ ADIM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 günü içinde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dönüş yapalım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2611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Bugün nerede olduğunuzu ve neyi çözmeye çalıştığınızı birkaç cümleyle yazmanız yeterli. İlk görüşme 30–45 dakika sürer ve ücretsizdir.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DOĞRUDAN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TELEFON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OFİS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Kurumsal Tanıtım</dc:title>
  <dc:subject>SAP finans modülleri, S/4HANA dönüşümü ve SAP bulut mimarisi</dc:subject>
  <dc:creator>CPeak Consultancy</dc:creator>
  <cp:lastModifiedBy>CPeak Consultancy</cp:lastModifiedBy>
  <cp:revision>1</cp:revision>
  <dcterms:created xsi:type="dcterms:W3CDTF">2026-09-05T16:54:06Z</dcterms:created>
  <dcterms:modified xsi:type="dcterms:W3CDTF">2026-09-05T16:54:06Z</dcterms:modified>
</cp:coreProperties>
</file>
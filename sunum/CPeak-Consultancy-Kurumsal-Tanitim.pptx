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Finans modülleri sayfası, kısaltılarak yeniden yazıldı.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 geçiş yöntemi tablosu; sitedeki yöntem anlatımından kısaltılarak türetildi.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 Cloud sayfası, kısaltılarak yeniden yazıldı.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Private Cloud sayfası; sorumluluk şeması sitedeki sorumluluk matrisi anlatımından türetildi.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Çözümler sayfasındaki karşılaştırma tablosu, kısaltılarak yeniden yazıldı.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Yapay zeka sayfası, kısaltılarak yeniden yazıldı.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Teslim kalemleri çözüm sayfalarından, raporlama düzeni yaklaşım sayfasından.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Dört aşamalı teslim modeli; aşama çıktıları görselin içinde yazılı.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Sitenin referans bandındaki logoların tamamı.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Yaklaşım sayfasındaki ilkeler ve çalışma modelleri, tek satıra indirilerek.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Hakkımızda sayfasının odak bölümü ve üstlenilmeyen işler.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İletişim bilgileri site yapılandırmasından.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cover-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pic>
        <p:nvPicPr>
          <p:cNvPr id="3" name="Image 1" descr="./assets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49808"/>
            <a:ext cx="1874520" cy="64527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4734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KURUMSAL TANITIM</a:t>
            </a:r>
            <a:endParaRPr lang="en-US" sz="85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871216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16"/>
              </a:lnSpc>
              <a:buNone/>
            </a:pPr>
            <a:r>
              <a:rPr lang="en-US" sz="28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Finansallarda 10+ Yıl</a:t>
            </a:r>
            <a:endParaRPr lang="en-US" sz="2800" dirty="0"/>
          </a:p>
          <a:p>
            <a:pPr indent="0" marL="0">
              <a:lnSpc>
                <a:spcPts val="3416"/>
              </a:lnSpc>
              <a:buNone/>
            </a:pPr>
            <a:r>
              <a:rPr lang="en-US" sz="28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Deneyim ve SAP</a:t>
            </a:r>
            <a:endParaRPr lang="en-US" sz="2800" dirty="0"/>
          </a:p>
          <a:p>
            <a:pPr indent="0" marL="0">
              <a:lnSpc>
                <a:spcPts val="3416"/>
              </a:lnSpc>
              <a:buNone/>
            </a:pPr>
            <a:r>
              <a:rPr lang="en-US" sz="28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Bulut Mimarisi</a:t>
            </a:r>
            <a:endParaRPr lang="en-US" sz="28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773168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Finans modülleri, S/4HANA dönüşümü ve SAP bulut mimarisi.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61996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CPEAKCONSULTANCY.COM  ·  İSTANBUL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ÇÖZÜM 01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030517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Finans Modülleri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407160"/>
            <a:ext cx="7030517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CO, PA ve PS modüllerinde uçtan uca tasarım ve uygulama.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918081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ÇALIŞMA ADIMLARI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228977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210689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Mevcut yapının teşhisi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521585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2503297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Hesap planı ve organizasyon yapısı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814193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2795905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Maliyet muhasebesi ve kârlılık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106801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3088513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Kapanış sürecinin yeniden tasarımı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3399409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3381121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Devreye alma ve devir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911473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KİME UYGUN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95528" y="4277233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51560" y="4185793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Birden çok şirket kodunu tek raporlama mantığında toplayan gruplar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95528" y="4697857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51560" y="4606417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Kapanışı uzayan ve nedenini ölçemeyen finans ekipleri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5228209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SÜRE</a:t>
            </a:r>
            <a:endParaRPr lang="en-US" sz="7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5429377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Teşhis 3–4 hafta · Yeniden yapılandırma 4–7 ay</a:t>
            </a:r>
            <a:endParaRPr lang="en-US" sz="1200" dirty="0"/>
          </a:p>
        </p:txBody>
      </p:sp>
      <p:pic>
        <p:nvPicPr>
          <p:cNvPr id="24" name="Image 1" descr="./assets/fig-finance-t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598041"/>
            <a:ext cx="5330952" cy="3557016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ÇÖZÜM 02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030517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 Dönüşümü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407160"/>
            <a:ext cx="7030517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Yöntem kararı kanıta dayanır; sistem taraması tartışmayı görüş olmaktan çıkarır.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918081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ÇALIŞMA ADIMLARI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228977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210689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Hazırlık analizi ve yöntem kararı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521585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2503297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Özelleştirme borcunun temizlenmesi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814193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2795905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Finans tarafının dönüşümü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106801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3088513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 migrasyonu ve test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3399409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3381121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Devreye alma ve hypercare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911473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KİME UYGUN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95528" y="4277233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51560" y="4185793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Bakım takvimi nedeniyle geçiş planı gereken ECC kullanıcıları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95528" y="4697857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51560" y="4606417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 kadarının gerekli olduğu bilinmeyen özelleştirme taşıyan BT ekipleri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5228209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SÜRE</a:t>
            </a:r>
            <a:endParaRPr lang="en-US" sz="7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5429377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Analiz 4–6 hafta · Dönüşüm 6–14 ay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080760" y="1918081"/>
            <a:ext cx="5330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GEÇİŞ YÖNTEMLERİ, YAN YANA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6080760" y="2210689"/>
            <a:ext cx="5330952" cy="1060704"/>
          </a:xfrm>
          <a:prstGeom prst="rect">
            <a:avLst/>
          </a:prstGeom>
          <a:solidFill>
            <a:srgbClr val="F7F8F7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336792" y="2338705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Sistem dönüşümü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10040112" y="2338705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Brownfield</a:t>
            </a:r>
            <a:endParaRPr lang="en-US" sz="750" dirty="0"/>
          </a:p>
        </p:txBody>
      </p:sp>
      <p:sp>
        <p:nvSpPr>
          <p:cNvPr id="28" name="Text 25"/>
          <p:cNvSpPr txBox="1"/>
          <p:nvPr/>
        </p:nvSpPr>
        <p:spPr>
          <a:xfrm>
            <a:off x="6336792" y="2649601"/>
            <a:ext cx="4818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Mevcut sistem yerinde dönüştürülür. Tarihsel veri korunur, süreçler büyük ölçüde aynı kalır.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080760" y="3417697"/>
            <a:ext cx="5330952" cy="1060704"/>
          </a:xfrm>
          <a:prstGeom prst="rect">
            <a:avLst/>
          </a:prstGeom>
          <a:solidFill>
            <a:srgbClr val="F7F8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336792" y="3545713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Yeni kurulum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0040112" y="3545713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Greenfield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6336792" y="3856609"/>
            <a:ext cx="4818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sıfırdan kurulur. Süreçler yenilenir, geçmiş veri sınırlı taşınır.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080760" y="4624705"/>
            <a:ext cx="5330952" cy="1060704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336792" y="4752721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Seçici veri geçişi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10040112" y="4752721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Karma</a:t>
            </a:r>
            <a:endParaRPr lang="en-US" sz="750" dirty="0"/>
          </a:p>
        </p:txBody>
      </p:sp>
      <p:sp>
        <p:nvSpPr>
          <p:cNvPr id="36" name="Text 33"/>
          <p:cNvSpPr txBox="1"/>
          <p:nvPr/>
        </p:nvSpPr>
        <p:spPr>
          <a:xfrm>
            <a:off x="6336792" y="5063617"/>
            <a:ext cx="4818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Seçilen veri ve süreçler taşınır. Çok şirketli gruplarda toplam süre ve maliyet çoğu zaman daha düşük.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ÇÖZÜM 03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030517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Public Cloud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407160"/>
            <a:ext cx="7030517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ERP Public Edition: standart kapsam, hızlı kurulum, düşük işletme yükü.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918081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ÇALIŞMA ADIMLARI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228977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210689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Uygunluk değerlendirmesi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521585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2503297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Fit-to-standard ve finans kurulumu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814193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2795905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Genişletme stratejisi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106801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3088513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Güncelleme döngüsüne hazırlık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3399409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3381121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Devreye alma ve kullanıcı eğitimi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911473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KİME UYGUN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95528" y="4277233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51560" y="4185793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Süreçlerini standart üzerine kurmaya istekli orta ölçekli şirketler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95528" y="4697857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51560" y="4606417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İç BT kadrosu sınırlı olan organizasyonlar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5228209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SÜRE</a:t>
            </a:r>
            <a:endParaRPr lang="en-US" sz="7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5429377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Değerlendirme 2–3 hafta · Kurulum 3–5 ay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080760" y="1918081"/>
            <a:ext cx="5330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DEĞİŞİKLİĞE NEREDE İZİN VAR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6080760" y="2210689"/>
            <a:ext cx="5330952" cy="1325880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336792" y="2338705"/>
            <a:ext cx="481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STANDART ÇEKİRDEK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336792" y="2594737"/>
            <a:ext cx="481888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Değiştirilemez. Sürüm güncellemeleri otomatik uygulanır.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080760" y="3682873"/>
            <a:ext cx="5330952" cy="13258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336792" y="3810889"/>
            <a:ext cx="481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GENİŞLETME KATMANI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336792" y="4066921"/>
            <a:ext cx="481888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İhtiyaçlar yalnızca izin verilen genişletme yöntemleriyle karşılanır.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080760" y="5209921"/>
            <a:ext cx="5330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Hangi süreçlerin standart kapsam dışında kaldığı sözleşmeden önce ölçülür.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ÇÖZÜM 04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030517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Private Cloud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407160"/>
            <a:ext cx="7030517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 with SAP ve Cloud ERP Private Edition: süreç esnekliğini bırakmadan bulut işletimi.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918081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ÇALIŞMA ADIMLARI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228977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210689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Sorumluluk sınırlarının netleştirilmesi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521585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2503297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Hedef mimari ve boyutlandırma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814193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2795905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Finans süreçlerinin dönüşümü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106801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3088513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Geçiş ve devreye alma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3399409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3381121"/>
            <a:ext cx="4434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Hypercare ve işletmeye devir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911473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KİME UYGUN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95528" y="4277233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51560" y="4185793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Sektörüne özgü süreçleri standart kapsama sığmayan şirketler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95528" y="4697857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51560" y="4606417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 yerleşimi ve denetim gereksinimi olan düzenlenmiş sektörler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5228209"/>
            <a:ext cx="4892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SÜRE</a:t>
            </a:r>
            <a:endParaRPr lang="en-US" sz="7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5429377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Hazırlık 5–8 hafta · Geçiş 7–14 ay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080760" y="1918081"/>
            <a:ext cx="5330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SORUMLULUK NEREDE BAŞLIYOR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6080760" y="2210689"/>
            <a:ext cx="5330952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336792" y="2338705"/>
            <a:ext cx="481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336792" y="2594737"/>
            <a:ext cx="4818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Altyapı, temel işletim, platform erişilebilirliği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080760" y="3198241"/>
            <a:ext cx="5330952" cy="841248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336792" y="3326257"/>
            <a:ext cx="481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336792" y="3582289"/>
            <a:ext cx="4818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Mimari, finans süreçleri, geçiş yönetimi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6080760" y="4185793"/>
            <a:ext cx="5330952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336792" y="4313809"/>
            <a:ext cx="481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İÇ EKİP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6336792" y="4569841"/>
            <a:ext cx="4818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Süreç sahipliği, kabul testi, günlük operasyon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080760" y="5228209"/>
            <a:ext cx="5330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Sınır proje başlamadan yazılı hale getirilir; RISE projelerinde zaman en çok burada kaybedilir.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ÇÖZÜM 05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030517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Public ve Private Cloud karşılaştırması</a:t>
            </a:r>
            <a:endParaRPr lang="en-US" sz="2800" dirty="0"/>
          </a:p>
        </p:txBody>
      </p:sp>
      <p:pic>
        <p:nvPicPr>
          <p:cNvPr id="5" name="Image 1" descr="./assets/fig-cloud-t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046224"/>
            <a:ext cx="4892040" cy="326440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77240" y="209194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Maliyet modeli</a:t>
            </a:r>
            <a:endParaRPr lang="en-US" sz="115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232968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8" name="Text 4"/>
          <p:cNvSpPr txBox="1"/>
          <p:nvPr/>
        </p:nvSpPr>
        <p:spPr>
          <a:xfrm>
            <a:off x="1490472" y="2329688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Kullanıcı ve kapsam bazında abonelik; güncellemeler dahil.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54000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10" name="Text 6"/>
          <p:cNvSpPr txBox="1"/>
          <p:nvPr/>
        </p:nvSpPr>
        <p:spPr>
          <a:xfrm>
            <a:off x="1490472" y="2540000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Boyutlandırmaya bağlı; güncelleme testleri sizde kalır.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78688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Özelleştirme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0246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13" name="Text 9"/>
          <p:cNvSpPr txBox="1"/>
          <p:nvPr/>
        </p:nvSpPr>
        <p:spPr>
          <a:xfrm>
            <a:off x="1490472" y="3024632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Çekirdek sabittir; genişletme ayrı katmanda.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23494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15" name="Text 11"/>
          <p:cNvSpPr txBox="1"/>
          <p:nvPr/>
        </p:nvSpPr>
        <p:spPr>
          <a:xfrm>
            <a:off x="1490472" y="3234944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Çekirdeğe müdahale dahil; mevcut ABAP taşınabilir.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34818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Güncelleme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777240" y="3719576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18" name="Text 14"/>
          <p:cNvSpPr txBox="1"/>
          <p:nvPr/>
        </p:nvSpPr>
        <p:spPr>
          <a:xfrm>
            <a:off x="1490472" y="3719576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Düzenli, otomatik ve ertelenemez.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392988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20" name="Text 16"/>
          <p:cNvSpPr txBox="1"/>
          <p:nvPr/>
        </p:nvSpPr>
        <p:spPr>
          <a:xfrm>
            <a:off x="1490472" y="3929888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Zamanlamayı siz belirlersiniz; her sürüm ayrı proje.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777240" y="417677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Kurulum süresi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777240" y="441452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23" name="Text 19"/>
          <p:cNvSpPr txBox="1"/>
          <p:nvPr/>
        </p:nvSpPr>
        <p:spPr>
          <a:xfrm>
            <a:off x="1490472" y="4414520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Tek ülkeli finans kapsamında 3–5 ay.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777240" y="46248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1490472" y="4624832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Tipik olarak 7–14 ay.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77240" y="48717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Tipik uygunluk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777240" y="5109464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28" name="Text 24"/>
          <p:cNvSpPr txBox="1"/>
          <p:nvPr/>
        </p:nvSpPr>
        <p:spPr>
          <a:xfrm>
            <a:off x="1490472" y="5109464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Standarda yakın orta ölçekli şirketler.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777240" y="5319776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30" name="Text 26"/>
          <p:cNvSpPr txBox="1"/>
          <p:nvPr/>
        </p:nvSpPr>
        <p:spPr>
          <a:xfrm>
            <a:off x="1490472" y="5319776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Ağır özelleştirme ve entegrasyon mirası olanlar.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77240" y="5870448"/>
            <a:ext cx="883386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Taraf tutmuyoruz.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Süreçler standart kapsamla karşılaştırılır, iki model yan yana konur. Kararı siz verirsiniz.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10500055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8B3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ÇÖZÜM 06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030517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Yapay Zeka ve Finans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407160"/>
            <a:ext cx="7030517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SAP’nin yapay zeka yetenekleri sistemin içinde yerleşiktir. Hangisinin uyduğunu ölçer, sırayla devreye alırız.</a:t>
            </a:r>
            <a:endParaRPr lang="en-US" sz="1050" dirty="0"/>
          </a:p>
        </p:txBody>
      </p:sp>
      <p:pic>
        <p:nvPicPr>
          <p:cNvPr id="6" name="Image 1" descr="./assets/fig-ai-t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44954"/>
            <a:ext cx="5943600" cy="39593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995160" y="2172970"/>
            <a:ext cx="4416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SİZİN SÜREÇLERİNİZDE</a:t>
            </a:r>
            <a:endParaRPr lang="en-US" sz="750" dirty="0"/>
          </a:p>
        </p:txBody>
      </p:sp>
      <p:sp>
        <p:nvSpPr>
          <p:cNvPr id="8" name="Text 4"/>
          <p:cNvSpPr txBox="1"/>
          <p:nvPr/>
        </p:nvSpPr>
        <p:spPr>
          <a:xfrm>
            <a:off x="6995160" y="2392426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Ekibinize teslim edilen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7022592" y="2794762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251192" y="270332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Banka ve cari kalemlerde akıllı mutabakat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022592" y="3050794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251192" y="295935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Kapanıştan önce anomali tespiti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7022592" y="3306826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251192" y="321538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Dönem içinde tahmine dayalı muhasebe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7022592" y="356285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51192" y="347141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Joule ile doğal dilde sorgulama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6995160" y="3965194"/>
            <a:ext cx="4416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BİZİM TESLİMİMİZDE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6995160" y="4184650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Kısalan hazırlık işi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7022592" y="4586986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51192" y="449554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Özelleştirme envanteri ve kod etki analizi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7022592" y="484301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251192" y="475157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senaryolarının ilk taslakları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7022592" y="509905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51192" y="500761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 migrasyonu mutabakat kontrolleri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7022592" y="5355082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251192" y="526364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Yapılandırma dokümantasyonunun ilk sürümü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6995160" y="5812282"/>
            <a:ext cx="118872" cy="118872"/>
          </a:xfrm>
          <a:prstGeom prst="rect">
            <a:avLst/>
          </a:prstGeom>
          <a:solidFill>
            <a:srgbClr val="E8B33A"/>
          </a:solidFill>
          <a:ln w="3175">
            <a:solidFill>
              <a:srgbClr val="E8B33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251192" y="575741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Kural.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Finansal kayıt üreten hiçbir karar insan denetiminden geçmeden kesinleşmez.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TESLİM 07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030517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Teslim edilenler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777240" y="1535176"/>
            <a:ext cx="5120640" cy="3822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51560" y="182778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TESLİM KALEMLERİ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069848" y="231698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07592" y="2211832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Teşhis raporu ve önceliklendirilmiş bulgular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1069848" y="2719324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307592" y="2614168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Hedef mimari ve hesap planı tasarımı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069848" y="312166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07592" y="301650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Yapılandırma (customizing) dokümantasyonu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069848" y="3523996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07592" y="3418840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 migrasyon planı ve mutabakat raporları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069848" y="3926332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07592" y="3821176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senaryoları ve sonuç kayıtları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1069848" y="432866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07592" y="4223512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Saat bazında devreye alma planı ve geri dönüş kriterleri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1069848" y="4731004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07592" y="4625848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Anahtar kullanıcı eğitimi ve işletme el kitabı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245352" y="1535176"/>
            <a:ext cx="5169103" cy="3822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519672" y="1827784"/>
            <a:ext cx="462046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RAPORLAMA, BAŞTAN SABİT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6537960" y="231698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775704" y="2211832"/>
            <a:ext cx="43644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Haftalık durum: tamamlanan, devam eden, risk, karar bekleyen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537960" y="2719324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775704" y="2614168"/>
            <a:ext cx="43644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Açık karar listesi: sorumlu ve tarih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537960" y="312166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75704" y="3016504"/>
            <a:ext cx="43644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kaydı: sahip, etki, azaltma planı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537960" y="3523996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75704" y="3418840"/>
            <a:ext cx="43644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 sonu paketi: doküman, test kaydı, kabul kriteri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6537960" y="3926332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775704" y="3821176"/>
            <a:ext cx="43644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Kapsam değişikliği kaydı: süre ve maliyet etkisiyle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TESLİM 08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397764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Nasıl çalışırız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407160"/>
            <a:ext cx="397764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adım tanımlı bir çıktıyla biter. Bir adım kapanmadan diğeri başlamaz.</a:t>
            </a:r>
            <a:endParaRPr lang="en-US" sz="1050" dirty="0"/>
          </a:p>
        </p:txBody>
      </p:sp>
      <p:pic>
        <p:nvPicPr>
          <p:cNvPr id="6" name="Image 1" descr="./assets/fig-process-t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298448"/>
            <a:ext cx="6675120" cy="445312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852928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SÜRE</a:t>
            </a:r>
            <a:endParaRPr lang="en-US" sz="75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318211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1280160" y="316382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Değerlendirme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3566160" y="316382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hafta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68503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1280160" y="366674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Mimari ve yol haritası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366674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3–6 hafta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187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416966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Uygulama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3566160" y="416966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ay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777240" y="469087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1280160" y="467258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Hypercare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3566160" y="46725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4–12 hafta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REFERANSLAR 09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932191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Danışmanlarımızın çalıştığı kurumlar</a:t>
            </a:r>
            <a:endParaRPr lang="en-US" sz="2800" dirty="0"/>
          </a:p>
        </p:txBody>
      </p:sp>
      <p:pic>
        <p:nvPicPr>
          <p:cNvPr id="5" name="Image 1" descr="./assets/ref-mercedes-ben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90" y="2046940"/>
            <a:ext cx="1810512" cy="457801"/>
          </a:xfrm>
          <a:prstGeom prst="rect">
            <a:avLst/>
          </a:prstGeom>
        </p:spPr>
      </p:pic>
      <p:pic>
        <p:nvPicPr>
          <p:cNvPr id="6" name="Image 2" descr="./assets/ref-pw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130" y="2038096"/>
            <a:ext cx="978946" cy="475488"/>
          </a:xfrm>
          <a:prstGeom prst="rect">
            <a:avLst/>
          </a:prstGeom>
        </p:spPr>
      </p:pic>
      <p:pic>
        <p:nvPicPr>
          <p:cNvPr id="7" name="Image 3" descr="./assets/ref-fusion-consult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004" y="2038096"/>
            <a:ext cx="1082145" cy="475488"/>
          </a:xfrm>
          <a:prstGeom prst="rect">
            <a:avLst/>
          </a:prstGeom>
        </p:spPr>
      </p:pic>
      <p:pic>
        <p:nvPicPr>
          <p:cNvPr id="8" name="Image 4" descr="./assets/ref-boehringer-ingelhei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2077" y="2038096"/>
            <a:ext cx="1540053" cy="475488"/>
          </a:xfrm>
          <a:prstGeom prst="rect">
            <a:avLst/>
          </a:prstGeom>
        </p:spPr>
      </p:pic>
      <p:pic>
        <p:nvPicPr>
          <p:cNvPr id="9" name="Image 5" descr="./assets/ref-wav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058" y="2059595"/>
            <a:ext cx="1786372" cy="432490"/>
          </a:xfrm>
          <a:prstGeom prst="rect">
            <a:avLst/>
          </a:prstGeom>
        </p:spPr>
      </p:pic>
      <p:pic>
        <p:nvPicPr>
          <p:cNvPr id="10" name="Image 6" descr="./assets/ref-imery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2357" y="2038096"/>
            <a:ext cx="739648" cy="475488"/>
          </a:xfrm>
          <a:prstGeom prst="rect">
            <a:avLst/>
          </a:prstGeom>
        </p:spPr>
      </p:pic>
      <p:pic>
        <p:nvPicPr>
          <p:cNvPr id="11" name="Image 7" descr="./assets/ref-gs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217" y="3263392"/>
            <a:ext cx="1506071" cy="475488"/>
          </a:xfrm>
          <a:prstGeom prst="rect">
            <a:avLst/>
          </a:prstGeom>
        </p:spPr>
      </p:pic>
      <p:pic>
        <p:nvPicPr>
          <p:cNvPr id="12" name="Image 8" descr="./assets/ref-bek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2215" y="3263392"/>
            <a:ext cx="834189" cy="475488"/>
          </a:xfrm>
          <a:prstGeom prst="rect">
            <a:avLst/>
          </a:prstGeom>
        </p:spPr>
      </p:pic>
      <p:pic>
        <p:nvPicPr>
          <p:cNvPr id="13" name="Image 9" descr="./assets/ref-hidromek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3333" y="3320193"/>
            <a:ext cx="2776118" cy="361887"/>
          </a:xfrm>
          <a:prstGeom prst="rect">
            <a:avLst/>
          </a:prstGeom>
        </p:spPr>
      </p:pic>
      <p:pic>
        <p:nvPicPr>
          <p:cNvPr id="14" name="Image 10" descr="./assets/ref-fli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66379" y="3304269"/>
            <a:ext cx="1991563" cy="393734"/>
          </a:xfrm>
          <a:prstGeom prst="rect">
            <a:avLst/>
          </a:prstGeom>
        </p:spPr>
      </p:pic>
      <p:pic>
        <p:nvPicPr>
          <p:cNvPr id="15" name="Image 11" descr="./assets/ref-peri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24870" y="3263392"/>
            <a:ext cx="917608" cy="475488"/>
          </a:xfrm>
          <a:prstGeom prst="rect">
            <a:avLst/>
          </a:prstGeom>
        </p:spPr>
      </p:pic>
      <p:pic>
        <p:nvPicPr>
          <p:cNvPr id="16" name="Image 12" descr="./assets/ref-enerjis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35380" y="4535695"/>
            <a:ext cx="1931213" cy="381474"/>
          </a:xfrm>
          <a:prstGeom prst="rect">
            <a:avLst/>
          </a:prstGeom>
        </p:spPr>
      </p:pic>
      <p:pic>
        <p:nvPicPr>
          <p:cNvPr id="17" name="Image 13" descr="./assets/ref-aydem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3521" y="4488688"/>
            <a:ext cx="777667" cy="475488"/>
          </a:xfrm>
          <a:prstGeom prst="rect">
            <a:avLst/>
          </a:prstGeom>
        </p:spPr>
      </p:pic>
      <p:pic>
        <p:nvPicPr>
          <p:cNvPr id="18" name="Image 14" descr="./assets/ref-nuh-cimento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78116" y="4488688"/>
            <a:ext cx="1041215" cy="475488"/>
          </a:xfrm>
          <a:prstGeom prst="rect">
            <a:avLst/>
          </a:prstGeom>
        </p:spPr>
      </p:pic>
      <p:pic>
        <p:nvPicPr>
          <p:cNvPr id="19" name="Image 15" descr="./assets/ref-belbim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86259" y="4518299"/>
            <a:ext cx="1834652" cy="416266"/>
          </a:xfrm>
          <a:prstGeom prst="rect">
            <a:avLst/>
          </a:prstGeom>
        </p:spPr>
      </p:pic>
      <p:pic>
        <p:nvPicPr>
          <p:cNvPr id="20" name="Image 16" descr="./assets/ref-tcd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87839" y="4488688"/>
            <a:ext cx="516835" cy="475488"/>
          </a:xfrm>
          <a:prstGeom prst="rect">
            <a:avLst/>
          </a:prstGeom>
        </p:spPr>
      </p:pic>
      <p:pic>
        <p:nvPicPr>
          <p:cNvPr id="21" name="Image 17" descr="./assets/ref-iet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371602" y="4488688"/>
            <a:ext cx="384713" cy="475488"/>
          </a:xfrm>
          <a:prstGeom prst="rect">
            <a:avLst/>
          </a:prstGeom>
        </p:spPr>
      </p:pic>
      <p:sp>
        <p:nvSpPr>
          <p:cNvPr id="22" name="Text 2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YAKLAŞIM 10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030517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Yaklaşımımız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535176"/>
            <a:ext cx="3401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Önce ölçüm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809496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verisine bakılmadan öneri verilmez.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526280" y="1535176"/>
            <a:ext cx="3401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Yazılı gerekçe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26280" y="1809496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Karar sizin; gerekçe yazılı kalır.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8275320" y="1535176"/>
            <a:ext cx="3401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Erken uyarı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75320" y="1809496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Tutmayacağı belli olan tahmin o hafta bildirilir.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614168"/>
            <a:ext cx="3401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Sahipliğin devri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888488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Testler ve ilk kapanış birlikte yürütülür.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614168"/>
            <a:ext cx="3401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Ekip değil, faz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888488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Büyüyen kapsam fazlara bölünür.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2614168"/>
            <a:ext cx="3401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Hazırlıkta yapay zeka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2888488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Hacimli iş otomatik, karar kıdemli denetiminde.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0" y="4791456"/>
            <a:ext cx="12191695" cy="2066544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7240" y="5102352"/>
            <a:ext cx="522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ÇALIŞMA MODELLERİ</a:t>
            </a:r>
            <a:endParaRPr lang="en-US" sz="7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554126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Değerlendirme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944368" y="5541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5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hafta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5870448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Karar gerekiyor, elde yeterli veri yok.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4526280" y="554126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 teslimi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693408" y="5541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5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ay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4526280" y="5870448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Karar verilmiş, uygulanması gerekiyor.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8275320" y="554126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Uzman desteği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442448" y="5541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5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Birkaç gün – hafta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8275320" y="5870448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Yürüyen projede tek konuda derinlik gerekiyor.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500055" y="6528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8B3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ODAK 11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030517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Ne üzerinde çalışıyoruz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535176"/>
            <a:ext cx="973554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KURULUŞ 2021  ·  İSTANBUL  ·  TÜRKİYE, EMEA, ABD  ·  YALNIZCA KIDEMLİ DANIŞMAN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576072" y="1992376"/>
            <a:ext cx="3803904" cy="1847088"/>
          </a:xfrm>
          <a:prstGeom prst="rect">
            <a:avLst/>
          </a:prstGeom>
          <a:solidFill>
            <a:srgbClr val="F7F8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230120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504440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Finans modülleri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815336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 · CO · PA · PS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089656"/>
            <a:ext cx="3401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Organizasyon yapısı, hesap planı, maliyet, kârlılık ve kapanış süreci.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5112" y="1992376"/>
            <a:ext cx="3803904" cy="1847088"/>
          </a:xfrm>
          <a:prstGeom prst="rect">
            <a:avLst/>
          </a:prstGeom>
          <a:solidFill>
            <a:srgbClr val="F7F8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6280" y="2230120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504440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Bulut mimarisi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815336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 · PUBLIC</a:t>
            </a:r>
            <a:endParaRPr lang="en-US" sz="75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3089656"/>
            <a:ext cx="3401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Uygunluk değerlendirmesi, hedef mimari ve geçiş yönetimi.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074152" y="1992376"/>
            <a:ext cx="3803904" cy="1847088"/>
          </a:xfrm>
          <a:prstGeom prst="rect">
            <a:avLst/>
          </a:prstGeom>
          <a:solidFill>
            <a:srgbClr val="F7F8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75320" y="2230120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504440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Yapay zeka ve RPA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2815336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İÇİNDE YERLEŞİK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8275320" y="3089656"/>
            <a:ext cx="3401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Mutabakat, anomali tespiti ve tahmine dayalı muhasebe.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0" y="4626864"/>
            <a:ext cx="12191695" cy="2231136"/>
          </a:xfrm>
          <a:prstGeom prst="rect">
            <a:avLst/>
          </a:prstGeom>
          <a:solidFill>
            <a:srgbClr val="003F8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77240" y="4937760"/>
            <a:ext cx="522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ÜSTLENMEDİĞİMİZ İŞLER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795528" y="5381244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33272" y="5285232"/>
            <a:ext cx="478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Uzmanlık alanımız dışındaki modüllerin ana sorumluluğu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388456" y="5381244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626200" y="5285232"/>
            <a:ext cx="478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Teslim sorumluluğu olmadan kaynak sağlama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95528" y="5801868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33272" y="5705856"/>
            <a:ext cx="478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Değerlendirme yapılmadan sabit fiyatlı dönüşüm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388456" y="5801868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626200" y="5705856"/>
            <a:ext cx="478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Yazılım geliştirme ya da altyapı işletimi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10500055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09FC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quant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51560"/>
            <a:ext cx="3291840" cy="3877314"/>
          </a:xfrm>
          <a:prstGeom prst="rect">
            <a:avLst/>
          </a:prstGeom>
        </p:spPr>
      </p:pic>
      <p:pic>
        <p:nvPicPr>
          <p:cNvPr id="3" name="Image 1" descr="./assets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13232"/>
            <a:ext cx="1737360" cy="59805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0894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İLETİŞİM</a:t>
            </a:r>
            <a:endParaRPr lang="en-US" sz="85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487168"/>
            <a:ext cx="61288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70"/>
              </a:lnSpc>
              <a:buNone/>
            </a:pPr>
            <a:r>
              <a:rPr lang="en-US" sz="30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Projenizi anlatın</a:t>
            </a:r>
            <a:endParaRPr lang="en-US" sz="3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33101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 iş günü içinde dönüş yapıyoruz. İlk görüşme 30–45 dakika ve ücretsiz.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471830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GENEL</a:t>
            </a:r>
            <a:endParaRPr lang="en-US" sz="7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8920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info@cpeakconsultancy.com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4297680" y="471830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DOĞRUDAN — KEREM YİĞİT</a:t>
            </a:r>
            <a:endParaRPr lang="en-US" sz="7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48920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kerem.yigit@cpeakconsultancy.com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471830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TELEFON</a:t>
            </a:r>
            <a:endParaRPr lang="en-US" sz="7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48920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+90 (507) 032 81 70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537667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OFİS</a:t>
            </a:r>
            <a:endParaRPr lang="en-US" sz="7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55504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Bostancı Mah. Şemsettin Günaltay Cad.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No: 31/8, 34744 Kadıköy, İstanbul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4297680" y="537667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WEB</a:t>
            </a:r>
            <a:endParaRPr lang="en-US" sz="700" dirty="0"/>
          </a:p>
        </p:txBody>
      </p:sp>
      <p:sp>
        <p:nvSpPr>
          <p:cNvPr id="16" name="Text 12"/>
          <p:cNvSpPr txBox="1"/>
          <p:nvPr/>
        </p:nvSpPr>
        <p:spPr>
          <a:xfrm>
            <a:off x="4297680" y="55504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cpeakconsultancy.com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537667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LINKEDIN</a:t>
            </a:r>
            <a:endParaRPr lang="en-US" sz="700" dirty="0"/>
          </a:p>
        </p:txBody>
      </p:sp>
      <p:sp>
        <p:nvSpPr>
          <p:cNvPr id="18" name="Text 14"/>
          <p:cNvSpPr txBox="1"/>
          <p:nvPr/>
        </p:nvSpPr>
        <p:spPr>
          <a:xfrm>
            <a:off x="7818120" y="55504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linkedin.com/company/cpeak-consultancy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CPeak Consultancy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CPeak Consultancy — Kurumsal Tanıtım</dc:title>
  <dc:subject>SAP finans modülleri, S/4HANA dönüşümü ve SAP bulut mimarisi</dc:subject>
  <dc:creator>CPeak Consultancy</dc:creator>
  <cp:lastModifiedBy>CPeak Consultancy</cp:lastModifiedBy>
  <cp:revision>1</cp:revision>
  <dcterms:created xsi:type="dcterms:W3CDTF">2026-09-05T22:10:35Z</dcterms:created>
  <dcterms:modified xsi:type="dcterms:W3CDTF">2026-09-05T22:10:35Z</dcterms:modified>
</cp:coreProperties>
</file>
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Modül kırılımı; SAP finans modüllerinin standart kapsamı ve sitedeki uzmanlık tanımı.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geçiş yöntemi; SAP’ın standart geçiş seçenekleri ve sitedeki yöntem anlatımı.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Edition kırılımı; SAP’ın standart kapsam, BTP genişletme ve sürüm döngüsü tanımları.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Private Edition kırılımı; RISE sorumluluk dağılımı ve sürüm kontrolü.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sürümün karşılaştırması, tablo olarak.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SAP’ın finans tarafındaki yerleşik yapay zeka yetenekleri ve karar akışı.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Teslim kalemleri çözüm sayfalarından, raporlama düzeni yaklaşım sayfasından.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aşamalı teslim modeli; aşama çıktıları görselin içinde yazılı.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Sitenin referans bandındaki logoların tamamı.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Yaklaşım sayfasındaki ilkeler ve çalışma modelleri, tek satıra indirilerek.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Hakkımızda sayfasının odak bölümü ve üstlenilmeyen işler.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Kurumsal iletişim sayfası; bilgiler site yapılandırmasından.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F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4702" y="960120"/>
            <a:ext cx="1695298" cy="340157"/>
          </a:xfrm>
          <a:prstGeom prst="rect">
            <a:avLst/>
          </a:prstGeom>
          <a:solidFill>
            <a:srgbClr val="17508D"/>
          </a:solidFill>
          <a:ln/>
        </p:spPr>
      </p:sp>
      <p:sp>
        <p:nvSpPr>
          <p:cNvPr id="3" name="Shape 1"/>
          <p:cNvSpPr/>
          <p:nvPr/>
        </p:nvSpPr>
        <p:spPr>
          <a:xfrm>
            <a:off x="8581347" y="1508760"/>
            <a:ext cx="2848653" cy="340157"/>
          </a:xfrm>
          <a:prstGeom prst="rect">
            <a:avLst/>
          </a:prstGeom>
          <a:solidFill>
            <a:srgbClr val="265B94"/>
          </a:solidFill>
          <a:ln/>
        </p:spPr>
      </p:sp>
      <p:sp>
        <p:nvSpPr>
          <p:cNvPr id="4" name="Shape 2"/>
          <p:cNvSpPr/>
          <p:nvPr/>
        </p:nvSpPr>
        <p:spPr>
          <a:xfrm>
            <a:off x="7603580" y="2057400"/>
            <a:ext cx="3826420" cy="340157"/>
          </a:xfrm>
          <a:prstGeom prst="rect">
            <a:avLst/>
          </a:prstGeom>
          <a:solidFill>
            <a:srgbClr val="32659B"/>
          </a:solidFill>
          <a:ln/>
        </p:spPr>
      </p:sp>
      <p:sp>
        <p:nvSpPr>
          <p:cNvPr id="5" name="Shape 3"/>
          <p:cNvSpPr/>
          <p:nvPr/>
        </p:nvSpPr>
        <p:spPr>
          <a:xfrm>
            <a:off x="6950257" y="2606040"/>
            <a:ext cx="4479743" cy="340157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6" name="Shape 4"/>
          <p:cNvSpPr/>
          <p:nvPr/>
        </p:nvSpPr>
        <p:spPr>
          <a:xfrm>
            <a:off x="6720840" y="3154680"/>
            <a:ext cx="4709160" cy="340157"/>
          </a:xfrm>
          <a:prstGeom prst="rect">
            <a:avLst/>
          </a:prstGeom>
          <a:solidFill>
            <a:srgbClr val="3D6DA0"/>
          </a:solidFill>
          <a:ln/>
        </p:spPr>
      </p:sp>
      <p:sp>
        <p:nvSpPr>
          <p:cNvPr id="7" name="Shape 5"/>
          <p:cNvSpPr/>
          <p:nvPr/>
        </p:nvSpPr>
        <p:spPr>
          <a:xfrm>
            <a:off x="6950257" y="3703320"/>
            <a:ext cx="4479743" cy="340157"/>
          </a:xfrm>
          <a:prstGeom prst="rect">
            <a:avLst/>
          </a:prstGeom>
          <a:solidFill>
            <a:srgbClr val="E8B33A"/>
          </a:solidFill>
          <a:ln/>
        </p:spPr>
      </p:sp>
      <p:sp>
        <p:nvSpPr>
          <p:cNvPr id="8" name="Shape 6"/>
          <p:cNvSpPr/>
          <p:nvPr/>
        </p:nvSpPr>
        <p:spPr>
          <a:xfrm>
            <a:off x="7603580" y="4251960"/>
            <a:ext cx="3826420" cy="340157"/>
          </a:xfrm>
          <a:prstGeom prst="rect">
            <a:avLst/>
          </a:prstGeom>
          <a:solidFill>
            <a:srgbClr val="32659B"/>
          </a:solidFill>
          <a:ln/>
        </p:spPr>
      </p:sp>
      <p:sp>
        <p:nvSpPr>
          <p:cNvPr id="9" name="Shape 7"/>
          <p:cNvSpPr/>
          <p:nvPr/>
        </p:nvSpPr>
        <p:spPr>
          <a:xfrm>
            <a:off x="8581347" y="4800600"/>
            <a:ext cx="2848653" cy="340157"/>
          </a:xfrm>
          <a:prstGeom prst="rect">
            <a:avLst/>
          </a:prstGeom>
          <a:solidFill>
            <a:srgbClr val="265B94"/>
          </a:solidFill>
          <a:ln/>
        </p:spPr>
      </p:sp>
      <p:sp>
        <p:nvSpPr>
          <p:cNvPr id="10" name="Shape 8"/>
          <p:cNvSpPr/>
          <p:nvPr/>
        </p:nvSpPr>
        <p:spPr>
          <a:xfrm>
            <a:off x="9734702" y="5349240"/>
            <a:ext cx="1695298" cy="340157"/>
          </a:xfrm>
          <a:prstGeom prst="rect">
            <a:avLst/>
          </a:prstGeom>
          <a:solidFill>
            <a:srgbClr val="17508D"/>
          </a:solidFill>
          <a:ln/>
        </p:spPr>
      </p:sp>
      <p:pic>
        <p:nvPicPr>
          <p:cNvPr id="11" name="Image 0" descr="./assets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49808"/>
            <a:ext cx="1874520" cy="64527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7240" y="24734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KURUMSAL TANITIM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871216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16"/>
              </a:lnSpc>
              <a:buNone/>
            </a:pPr>
            <a:r>
              <a:rPr lang="en-US" sz="2800" b="1" spc="-9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Finansallarda 10+ Yıl</a:t>
            </a:r>
            <a:endParaRPr lang="en-US" sz="2800" dirty="0"/>
          </a:p>
          <a:p>
            <a:pPr indent="0" marL="0">
              <a:lnSpc>
                <a:spcPts val="3416"/>
              </a:lnSpc>
              <a:buNone/>
            </a:pPr>
            <a:r>
              <a:rPr lang="en-US" sz="2800" b="1" spc="-9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Deneyim ve SAP</a:t>
            </a:r>
            <a:endParaRPr lang="en-US" sz="2800" dirty="0"/>
          </a:p>
          <a:p>
            <a:pPr indent="0" marL="0">
              <a:lnSpc>
                <a:spcPts val="3416"/>
              </a:lnSpc>
              <a:buNone/>
            </a:pPr>
            <a:r>
              <a:rPr lang="en-US" sz="2800" b="1" spc="-9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Bulut Mimarisi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7731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 modülleri, S/4HANA dönüşümü ve SAP bulut mimarisi.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61996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CPEAKCONSULTANCY.COM  ·  İSTANBUL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ÇÖZÜM 01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Finans Modülleri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932191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 modüllerinde uçtan uca tasarım, kurulum ve devreye alma.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77240" y="1918081"/>
            <a:ext cx="5120640" cy="111556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14984" y="2064385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064385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Finansal Muhasebe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2375281"/>
            <a:ext cx="3694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defter, borçlar, alacaklar, duran varlık ve banka muhasebesi. Hesap planı ile organizasyon yapısının tasarımı.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91072" y="1918081"/>
            <a:ext cx="5120640" cy="111556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28816" y="2064385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CO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479792" y="2064385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Kontrolling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479792" y="2375281"/>
            <a:ext cx="3694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Maliyet merkezi, iç sipariş, ürün maliyetleme ve dağıtım anahtarlarının kurgusu.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7240" y="3198241"/>
            <a:ext cx="5120640" cy="111556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14984" y="3344545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PA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965960" y="3344545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Kârlılık Analizi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965960" y="3655441"/>
            <a:ext cx="3694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Ürün, müşteri ve kanal bazında marj analizi; yönetim raporlamasının veri temeli.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291072" y="3198241"/>
            <a:ext cx="5120640" cy="111556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528816" y="3344545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4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PS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7479792" y="3344545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Proje Sistemi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479792" y="3655441"/>
            <a:ext cx="3694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 bazlı maliyet ve bütçe takibi; yatırım ve müşteri projelerinin finansal izlenmesi.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716145"/>
            <a:ext cx="342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 AKIŞI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777240" y="4953889"/>
            <a:ext cx="2010400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41832" y="5081905"/>
            <a:ext cx="168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941832" y="5264785"/>
            <a:ext cx="168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Teşhis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941832" y="5484241"/>
            <a:ext cx="168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Mevcut yapının analizi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2933944" y="4953889"/>
            <a:ext cx="2010400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098536" y="5081905"/>
            <a:ext cx="168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3098536" y="5264785"/>
            <a:ext cx="168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Tasarım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3098536" y="5484241"/>
            <a:ext cx="168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Hesap planı ve organizasyon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090648" y="4953889"/>
            <a:ext cx="2010400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5255240" y="5081905"/>
            <a:ext cx="168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5255240" y="5264785"/>
            <a:ext cx="168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Kurgu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5255240" y="5484241"/>
            <a:ext cx="168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Maliyet ve kârlılık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247352" y="4953889"/>
            <a:ext cx="2010400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7411944" y="5081905"/>
            <a:ext cx="168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  <p:sp>
        <p:nvSpPr>
          <p:cNvPr id="37" name="Text 34"/>
          <p:cNvSpPr txBox="1"/>
          <p:nvPr/>
        </p:nvSpPr>
        <p:spPr>
          <a:xfrm>
            <a:off x="7411944" y="5264785"/>
            <a:ext cx="168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Kapanış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7411944" y="5484241"/>
            <a:ext cx="168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Süreç yeniden tasarımı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9404055" y="4953889"/>
            <a:ext cx="2010400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9568647" y="5081905"/>
            <a:ext cx="168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9568647" y="5264785"/>
            <a:ext cx="168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Devir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9568647" y="5484241"/>
            <a:ext cx="168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Devreye alma ve eğitim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ÇÖZÜM 02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S/4HANA Dönüşümü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932191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Geçiş yöntemi kararı; projenin süresini, maliyetini ve taşınacak teknik borcu belirler.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18081"/>
            <a:ext cx="342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GEÇİŞ YÖNTEMLERİ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777240" y="2174113"/>
            <a:ext cx="3401568" cy="1847088"/>
          </a:xfrm>
          <a:prstGeom prst="rect">
            <a:avLst/>
          </a:prstGeom>
          <a:solidFill>
            <a:srgbClr val="F7F8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14984" y="2411857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BROWNFIELD</a:t>
            </a:r>
            <a:endParaRPr lang="en-US" sz="700" dirty="0"/>
          </a:p>
        </p:txBody>
      </p:sp>
      <p:sp>
        <p:nvSpPr>
          <p:cNvPr id="9" name="Text 6"/>
          <p:cNvSpPr txBox="1"/>
          <p:nvPr/>
        </p:nvSpPr>
        <p:spPr>
          <a:xfrm>
            <a:off x="1014984" y="2667889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Sistem dönüşümü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1014984" y="3234817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Mevcut sistem yerinde dönüştürülür. Tarihsel veri ve süreçler korunur; en hızlı ve en düşük kesintili yol.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26280" y="2174113"/>
            <a:ext cx="3401568" cy="1847088"/>
          </a:xfrm>
          <a:prstGeom prst="rect">
            <a:avLst/>
          </a:prstGeom>
          <a:solidFill>
            <a:srgbClr val="F7F8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64024" y="2411857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GREENFIELD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4764024" y="2667889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Yeni kurulum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4764024" y="3234817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sıfırdan kurulur. Süreçler SAP standardına göre yeniden tasarlanır, geçmiş veri sınırlı taşınır.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75320" y="2174113"/>
            <a:ext cx="3401568" cy="184708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513064" y="2411857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SELECTIVE DATA TRANSITION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8513064" y="2667889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Seçici veri geçişi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8513064" y="3234817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Seçilen şirket kodları, süreçler ve veri nesneleri taşınır. Veriyi korurken süreç yenilemeye izin verir.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295521"/>
            <a:ext cx="342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PROJE AKIŞI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777240" y="4533265"/>
            <a:ext cx="2010400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41832" y="4661281"/>
            <a:ext cx="168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941832" y="4844161"/>
            <a:ext cx="168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Hazırlık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41832" y="5063617"/>
            <a:ext cx="168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Envanter ve uyum analizi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933944" y="4533265"/>
            <a:ext cx="2010400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098536" y="4661281"/>
            <a:ext cx="168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3098536" y="4844161"/>
            <a:ext cx="168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Sadeleştirme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3098536" y="5063617"/>
            <a:ext cx="168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Özelleştirme temizliği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090648" y="4533265"/>
            <a:ext cx="2010400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255240" y="4661281"/>
            <a:ext cx="168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  <p:sp>
        <p:nvSpPr>
          <p:cNvPr id="30" name="Text 27"/>
          <p:cNvSpPr txBox="1"/>
          <p:nvPr/>
        </p:nvSpPr>
        <p:spPr>
          <a:xfrm>
            <a:off x="5255240" y="4844161"/>
            <a:ext cx="168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Dönüşüm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255240" y="5063617"/>
            <a:ext cx="168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 tarafının kurgusu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247352" y="4533265"/>
            <a:ext cx="2010400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411944" y="4661281"/>
            <a:ext cx="168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  <p:sp>
        <p:nvSpPr>
          <p:cNvPr id="34" name="Text 31"/>
          <p:cNvSpPr txBox="1"/>
          <p:nvPr/>
        </p:nvSpPr>
        <p:spPr>
          <a:xfrm>
            <a:off x="7411944" y="4844161"/>
            <a:ext cx="168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Migrasyon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7411944" y="5063617"/>
            <a:ext cx="168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taşıma ve test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9404055" y="4533265"/>
            <a:ext cx="2010400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568647" y="4661281"/>
            <a:ext cx="168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9568647" y="4844161"/>
            <a:ext cx="168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Geçiş</a:t>
            </a:r>
            <a:endParaRPr lang="en-US" sz="1050" dirty="0"/>
          </a:p>
        </p:txBody>
      </p:sp>
      <p:sp>
        <p:nvSpPr>
          <p:cNvPr id="39" name="Text 36"/>
          <p:cNvSpPr txBox="1"/>
          <p:nvPr/>
        </p:nvSpPr>
        <p:spPr>
          <a:xfrm>
            <a:off x="9568647" y="5063617"/>
            <a:ext cx="168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Devreye alma ve hypercare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ÇÖZÜM 03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Public Cloud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932191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Cloud ERP Public Edition — standart kapsam üzerine kurulu, hızlı devreye alınan bulut ERP.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4551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18081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Standart kapsam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164969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best practice süreçleri hazır gelir; kurulum standart şablon üzerinden ilerler.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7703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649601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Fit-to-standard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896489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Süreçler standart kapsamla madde madde karşılaştırılır, farklar oturumlarda kapatılır.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40855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381121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Genişletme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628009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Çekirdek değiştirilmez. Ek ihtiyaçlar SAP BTP ve izin verilen genişletme yöntemleriyle karşılanır.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14007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112641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Güncelleme döngüsü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4359529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Yılda iki büyük sürüm ve aylık özellik güncellemesi. Kritik süreçler için regresyon test seti gerekir.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87159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4844161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Entegrasyon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5091049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Banka, e-belge ve çevre sistem bağlantıları standart arayüzlerle kurulur.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1918081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DEĞİŞİKLİĞE NEREDE İZİN VAR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583680" y="2210689"/>
            <a:ext cx="4828032" cy="1325880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39712" y="2338705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STANDART ÇEKİRDEK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839712" y="2594737"/>
            <a:ext cx="43159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Değiştirilemez; sürüm güncellemeleri otomatik uygulanır.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83680" y="3682873"/>
            <a:ext cx="4828032" cy="1325880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39712" y="3810889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GENİŞLETME KATMANI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839712" y="4066921"/>
            <a:ext cx="43159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 ihtiyaçlar yalnızca izin verilen yöntemlerle karşılanır.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ÇÖZÜM 04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SAP Private Cloud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932191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RISE with SAP · Cloud ERP Private Edition — kendi süreç mantığınızı koruyarak bulut işletimi.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4551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918081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Ayrılmış ortam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2164969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kendi ortamında çalışır; veri yerleşimi ve ağ mimarisinde daha fazla kontrol.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7703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649601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ABAP ve özelleştirme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896489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Çekirdeğe müdahale dahil geniş esneklik; mevcut ABAP geliştirmeleri taşınabilir.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40855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381121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Sürüm kontrolü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628009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Yıllık sürümler; yükseltmenin zamanlamasını siz belirlersiniz.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14007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1234440" y="4112641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Geçiş yönetimi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34440" y="4359529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Deneme geçişleri, mutabakat raporları ve saat bazında devreye alma planı.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871593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75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4844161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İşletmeye devir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5091049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Hypercare, anahtar kullanıcı eğitimi ve dokümantasyon devri.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583680" y="1918081"/>
            <a:ext cx="4828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SORUMLULUK DAĞILIMI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583680" y="2210689"/>
            <a:ext cx="4828032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39712" y="2338705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839712" y="2594737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Altyapı, temel işletim, platform erişilebilirliği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83680" y="3198241"/>
            <a:ext cx="4828032" cy="841248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839712" y="3326257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CPEAK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6839712" y="3582289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Mimari, finans süreçleri, geçiş yönetimi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583680" y="4185793"/>
            <a:ext cx="4828032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39712" y="4313809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İÇ EKİP</a:t>
            </a:r>
            <a:endParaRPr lang="en-US" sz="850" dirty="0"/>
          </a:p>
        </p:txBody>
      </p:sp>
      <p:sp>
        <p:nvSpPr>
          <p:cNvPr id="30" name="Text 27"/>
          <p:cNvSpPr txBox="1"/>
          <p:nvPr/>
        </p:nvSpPr>
        <p:spPr>
          <a:xfrm>
            <a:off x="6839712" y="4569841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Süreç sahipliği, kabul testi, günlük operasyon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ÇÖZÜM 05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Public ve Private Cloud karşılaştırması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77240" y="1535176"/>
            <a:ext cx="10637215" cy="384048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78408" y="1535176"/>
            <a:ext cx="18770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ÖLÇÜT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3257811" y="1535176"/>
            <a:ext cx="3776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PUBLIC CLOUD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7436717" y="1535176"/>
            <a:ext cx="37765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 CLOUD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777240" y="1919224"/>
            <a:ext cx="10637215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78408" y="1919224"/>
            <a:ext cx="18770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Kurulum yaklaşımı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3257811" y="1919224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Standart şablon, fit-to-standard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7436717" y="1919224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Mevcut süreçlere uyarlama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78408" y="2449576"/>
            <a:ext cx="18770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Özelleştirme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257811" y="2449576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Çekirdek sabit; SAP BTP ile genişletme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436717" y="2449576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ABAP dahil geniş esneklik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77240" y="2979928"/>
            <a:ext cx="10637215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78408" y="2979928"/>
            <a:ext cx="18770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Sürüm döngüsü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257811" y="2979928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Yılda iki büyük sürüm, otomatik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436717" y="2979928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Yıllık sürüm, zamanlama sizde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978408" y="3510280"/>
            <a:ext cx="18770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Altyapı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3257811" y="3510280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Paylaşımlı ortam, SAP işletir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436717" y="3510280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Ayrılmış ortam, daha fazla kontrol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77240" y="4040632"/>
            <a:ext cx="10637215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78408" y="4040632"/>
            <a:ext cx="18770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Kurulum süresi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257811" y="4040632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ay (tek ülke finans kapsamı)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7436717" y="4040632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7–14 ay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978408" y="4570984"/>
            <a:ext cx="18770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Toplam maliyet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3257811" y="4570984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Öngörülebilir; işletim ve güncelleme dahil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436717" y="4570984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Değişken; bakım ve test yükü sizde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77240" y="5101336"/>
            <a:ext cx="10637215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78408" y="5101336"/>
            <a:ext cx="187706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b="1" spc="-20" kern="0" dirty="0">
                <a:solidFill>
                  <a:srgbClr val="0E1620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Tipik uygunluk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3257811" y="5101336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Standarda yakın orta ölçekli şirketler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7436717" y="5101336"/>
            <a:ext cx="37765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Ağır özelleştirme ve entegrasyon mirası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0" y="5870448"/>
            <a:ext cx="12191695" cy="987552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777240" y="5870448"/>
            <a:ext cx="883386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Taraf tutmuyoruz. 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Süreçler standart kapsamla karşılaştırılır, iki model yan yana konur. Kararı siz verirsiniz.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0500055" y="6473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88B3B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ÇÖZÜM 06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Yapay Zeka ve Finans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932191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SAP’nin yapay zeka yetenekleri sistemin içinde yerleşiktir; ayrı bir ürün olarak satın alınmaz.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77240" y="1918081"/>
            <a:ext cx="5120640" cy="1097280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33272" y="2064385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Akıllı mutabakat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33272" y="2356993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Banka ekstresi ve açık kalemler, geçmiş eşleşme davranışından öğrenilerek otomatik kapatılır.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291072" y="1918081"/>
            <a:ext cx="5120640" cy="1097280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47104" y="2064385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Anomali tespiti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47104" y="2356993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Alışılmadık kayıtlar kapanıştan önce işaretlenir; düzeltme dönem içinde yapılır.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77240" y="3179953"/>
            <a:ext cx="5120640" cy="1097280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33272" y="3326257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Tahmine dayalı muhasebe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" y="3618865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Kesinleşmemiş işlemlerin etkisi dönem kapanmadan görünür hale gelir.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91072" y="3179953"/>
            <a:ext cx="5120640" cy="1097280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47104" y="3326257"/>
            <a:ext cx="4608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Joule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547104" y="3618865"/>
            <a:ext cx="4608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Doğal dille sorgulama ve gezinme katmanı; rapora komutla ulaşılır.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606417"/>
            <a:ext cx="34238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KARAR AKIŞI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77240" y="4844161"/>
            <a:ext cx="2549576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41832" y="4972177"/>
            <a:ext cx="222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941832" y="5155057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Tarama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941832" y="5374513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İşlemler taranır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473120" y="4844161"/>
            <a:ext cx="2549576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637712" y="4972177"/>
            <a:ext cx="222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3637712" y="5155057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İşaretleme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3637712" y="5374513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aday kayıtları ayırır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69000" y="4844161"/>
            <a:ext cx="2549576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333592" y="4972177"/>
            <a:ext cx="222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6333592" y="5155057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İnceleme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333592" y="5374513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Danışman ve ekip kontrol eder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864879" y="4844161"/>
            <a:ext cx="2549576" cy="841248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9029471" y="4972177"/>
            <a:ext cx="222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9029471" y="5155057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-2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Onay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9029471" y="5374513"/>
            <a:ext cx="222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İnsan onayıyla kesinleşir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77240" y="5850001"/>
            <a:ext cx="118872" cy="118872"/>
          </a:xfrm>
          <a:prstGeom prst="rect">
            <a:avLst/>
          </a:prstGeom>
          <a:solidFill>
            <a:srgbClr val="E8B33A"/>
          </a:solidFill>
          <a:ln w="3175">
            <a:solidFill>
              <a:srgbClr val="E8B33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51560" y="5795137"/>
            <a:ext cx="793219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Finansal kayıt üreten hiçbir karar insan denetiminden geçmeden kesinleşmez.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TESLİM 07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Teslim edilenler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77240" y="1535176"/>
            <a:ext cx="5120640" cy="3822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51560" y="182778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TESLİM KALEMLERİ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069848" y="2316988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07592" y="221183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Teşhis raporu ve önceliklendirilmiş bulgular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69848" y="2719324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07592" y="261416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Hedef mimari ve hesap planı tasarımı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69848" y="3121660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07592" y="301650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Yapılandırma (customizing) dokümantasyonu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1069848" y="3523996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307592" y="341884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 migrasyon planı ve mutabakat raporları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069848" y="3926332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07592" y="3821176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senaryoları ve sonuç kayıtları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69848" y="4328668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07592" y="422351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Saat bazında devreye alma planı ve geri dönüş kriterleri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1069848" y="4731004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07592" y="462584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Anahtar kullanıcı eğitimi ve işletme el kitabı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245352" y="1535176"/>
            <a:ext cx="5169103" cy="3822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19672" y="1827784"/>
            <a:ext cx="46204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RAPORLAMA, BAŞTAN SABİT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537960" y="2316988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75704" y="2211832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Haftalık durum: tamamlanan, devam eden, risk, karar bekleyen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37960" y="2719324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75704" y="2614168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Açık karar listesi: sorumlu ve tarih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37960" y="3121660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75704" y="3016504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kaydı: sahip, etki, azaltma planı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537960" y="3523996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775704" y="3418840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Faz sonu paketi: doküman, test kaydı, kabul kriteri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537960" y="3926332"/>
            <a:ext cx="68580" cy="68580"/>
          </a:xfrm>
          <a:prstGeom prst="ellipse">
            <a:avLst/>
          </a:prstGeom>
          <a:solidFill>
            <a:srgbClr val="11676A"/>
          </a:solidFill>
          <a:ln w="3175">
            <a:solidFill>
              <a:srgbClr val="11676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775704" y="3821176"/>
            <a:ext cx="43644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E16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Kapsam değişikliği kaydı: süre ve maliyet etkisiyle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TESLİM 08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Nasıl çalışırız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07160"/>
            <a:ext cx="7932191" cy="29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8"/>
              </a:lnSpc>
              <a:buNone/>
            </a:pPr>
            <a:r>
              <a:rPr lang="en-US" sz="10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 adım tanımlı bir çıktıyla biter. Bir adım kapanmadan diğeri başlamaz.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77240" y="1918081"/>
            <a:ext cx="2487168" cy="2286000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14984" y="2137537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14984" y="2613025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Değerlendirme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14984" y="3216529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 hafta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014984" y="3472561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Teşhis raporu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83864" y="1918081"/>
            <a:ext cx="2487168" cy="2286000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721608" y="2137537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721608" y="2613025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Mimari ve yol haritası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721608" y="3216529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3–6 hafta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3721608" y="3472561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Hedef mimari, fazlı plan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90488" y="1918081"/>
            <a:ext cx="2487168" cy="2286000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28232" y="2137537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428232" y="2613025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spc="-25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Uygulama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28232" y="3216529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3–14 ay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6428232" y="3472561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Çalışan sistem, test kayıtları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897112" y="1918081"/>
            <a:ext cx="2487168" cy="2286000"/>
          </a:xfrm>
          <a:prstGeom prst="rect">
            <a:avLst/>
          </a:prstGeom>
          <a:solidFill>
            <a:srgbClr val="11676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34856" y="2137537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E8B33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9134856" y="2613025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spc="-25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Hypercare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134856" y="3216529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4–12 hafta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9134856" y="3472561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Kapanış ve iyileştirme raporu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0" y="4791456"/>
            <a:ext cx="12191695" cy="2066544"/>
          </a:xfrm>
          <a:prstGeom prst="rect">
            <a:avLst/>
          </a:prstGeom>
          <a:solidFill>
            <a:srgbClr val="003F8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77240" y="5248656"/>
            <a:ext cx="522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ÇALIŞMA MODELLERİ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563270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Değerlendirme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5980176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D2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2–6 hafta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526280" y="563270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Proje teslimi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526280" y="5980176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D2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3–14 ay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563270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Uzman desteği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5980176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D2DDE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Birkaç gün – hafta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10500055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809FC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REFERANSLAR 09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Danışmanlarımızın çalıştığı kurumlar</a:t>
            </a:r>
            <a:endParaRPr lang="en-US" sz="2800" dirty="0"/>
          </a:p>
        </p:txBody>
      </p:sp>
      <p:pic>
        <p:nvPicPr>
          <p:cNvPr id="5" name="Image 1" descr="./assets/ref-mercedes-ben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90" y="2046940"/>
            <a:ext cx="1810512" cy="457801"/>
          </a:xfrm>
          <a:prstGeom prst="rect">
            <a:avLst/>
          </a:prstGeom>
        </p:spPr>
      </p:pic>
      <p:pic>
        <p:nvPicPr>
          <p:cNvPr id="6" name="Image 2" descr="./assets/ref-pw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7130" y="2038096"/>
            <a:ext cx="978946" cy="475488"/>
          </a:xfrm>
          <a:prstGeom prst="rect">
            <a:avLst/>
          </a:prstGeom>
        </p:spPr>
      </p:pic>
      <p:pic>
        <p:nvPicPr>
          <p:cNvPr id="7" name="Image 3" descr="./assets/ref-fusion-consult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004" y="2038096"/>
            <a:ext cx="1082145" cy="475488"/>
          </a:xfrm>
          <a:prstGeom prst="rect">
            <a:avLst/>
          </a:prstGeom>
        </p:spPr>
      </p:pic>
      <p:pic>
        <p:nvPicPr>
          <p:cNvPr id="8" name="Image 4" descr="./assets/ref-boehringer-ingelhe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077" y="2038096"/>
            <a:ext cx="1540053" cy="475488"/>
          </a:xfrm>
          <a:prstGeom prst="rect">
            <a:avLst/>
          </a:prstGeom>
        </p:spPr>
      </p:pic>
      <p:pic>
        <p:nvPicPr>
          <p:cNvPr id="9" name="Image 5" descr="./assets/ref-wav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058" y="2059595"/>
            <a:ext cx="1786372" cy="432490"/>
          </a:xfrm>
          <a:prstGeom prst="rect">
            <a:avLst/>
          </a:prstGeom>
        </p:spPr>
      </p:pic>
      <p:pic>
        <p:nvPicPr>
          <p:cNvPr id="10" name="Image 6" descr="./assets/ref-imery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2357" y="2038096"/>
            <a:ext cx="739648" cy="475488"/>
          </a:xfrm>
          <a:prstGeom prst="rect">
            <a:avLst/>
          </a:prstGeom>
        </p:spPr>
      </p:pic>
      <p:pic>
        <p:nvPicPr>
          <p:cNvPr id="11" name="Image 7" descr="./assets/ref-gs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217" y="3263392"/>
            <a:ext cx="1506071" cy="475488"/>
          </a:xfrm>
          <a:prstGeom prst="rect">
            <a:avLst/>
          </a:prstGeom>
        </p:spPr>
      </p:pic>
      <p:pic>
        <p:nvPicPr>
          <p:cNvPr id="12" name="Image 8" descr="./assets/ref-bek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2215" y="3263392"/>
            <a:ext cx="834189" cy="475488"/>
          </a:xfrm>
          <a:prstGeom prst="rect">
            <a:avLst/>
          </a:prstGeom>
        </p:spPr>
      </p:pic>
      <p:pic>
        <p:nvPicPr>
          <p:cNvPr id="13" name="Image 9" descr="./assets/ref-hidrome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3333" y="3320193"/>
            <a:ext cx="2776118" cy="361887"/>
          </a:xfrm>
          <a:prstGeom prst="rect">
            <a:avLst/>
          </a:prstGeom>
        </p:spPr>
      </p:pic>
      <p:pic>
        <p:nvPicPr>
          <p:cNvPr id="14" name="Image 10" descr="./assets/ref-flin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66379" y="3304269"/>
            <a:ext cx="1991563" cy="393734"/>
          </a:xfrm>
          <a:prstGeom prst="rect">
            <a:avLst/>
          </a:prstGeom>
        </p:spPr>
      </p:pic>
      <p:pic>
        <p:nvPicPr>
          <p:cNvPr id="15" name="Image 11" descr="./assets/ref-peri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24870" y="3263392"/>
            <a:ext cx="917608" cy="475488"/>
          </a:xfrm>
          <a:prstGeom prst="rect">
            <a:avLst/>
          </a:prstGeom>
        </p:spPr>
      </p:pic>
      <p:pic>
        <p:nvPicPr>
          <p:cNvPr id="16" name="Image 12" descr="./assets/ref-enerjis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5380" y="4535695"/>
            <a:ext cx="1931213" cy="381474"/>
          </a:xfrm>
          <a:prstGeom prst="rect">
            <a:avLst/>
          </a:prstGeom>
        </p:spPr>
      </p:pic>
      <p:pic>
        <p:nvPicPr>
          <p:cNvPr id="17" name="Image 13" descr="./assets/ref-aydem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3521" y="4488688"/>
            <a:ext cx="777667" cy="475488"/>
          </a:xfrm>
          <a:prstGeom prst="rect">
            <a:avLst/>
          </a:prstGeom>
        </p:spPr>
      </p:pic>
      <p:pic>
        <p:nvPicPr>
          <p:cNvPr id="18" name="Image 14" descr="./assets/ref-nuh-cimento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78116" y="4488688"/>
            <a:ext cx="1041215" cy="475488"/>
          </a:xfrm>
          <a:prstGeom prst="rect">
            <a:avLst/>
          </a:prstGeom>
        </p:spPr>
      </p:pic>
      <p:pic>
        <p:nvPicPr>
          <p:cNvPr id="19" name="Image 15" descr="./assets/ref-belbim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86259" y="4518299"/>
            <a:ext cx="1834652" cy="416266"/>
          </a:xfrm>
          <a:prstGeom prst="rect">
            <a:avLst/>
          </a:prstGeom>
        </p:spPr>
      </p:pic>
      <p:pic>
        <p:nvPicPr>
          <p:cNvPr id="20" name="Image 16" descr="./assets/ref-tcd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87839" y="4488688"/>
            <a:ext cx="516835" cy="475488"/>
          </a:xfrm>
          <a:prstGeom prst="rect">
            <a:avLst/>
          </a:prstGeom>
        </p:spPr>
      </p:pic>
      <p:pic>
        <p:nvPicPr>
          <p:cNvPr id="21" name="Image 17" descr="./assets/ref-iet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71602" y="4488688"/>
            <a:ext cx="384713" cy="475488"/>
          </a:xfrm>
          <a:prstGeom prst="rect">
            <a:avLst/>
          </a:prstGeom>
        </p:spPr>
      </p:pic>
      <p:sp>
        <p:nvSpPr>
          <p:cNvPr id="22" name="Text 2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YAKLAŞIM 10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Yaklaşımımız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77240" y="1535176"/>
            <a:ext cx="3401568" cy="1755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033272" y="179120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1033272" y="2065528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Önce ölçüm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33272" y="259588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verisine bakılmadan öneri verilmez.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26280" y="1535176"/>
            <a:ext cx="3401568" cy="1755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82312" y="179120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782312" y="2065528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Yazılı gerekçe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782312" y="259588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Karar sizin; gerekçe yazılı kalır.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275320" y="1535176"/>
            <a:ext cx="3401568" cy="1755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531352" y="1791208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8531352" y="2065528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Erken uyarı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31352" y="259588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Tutmayacağı belli olan tahmin o hafta bildirilir.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77240" y="3510280"/>
            <a:ext cx="3401568" cy="1755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033272" y="376631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4040632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Sahipliğin devri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33272" y="4570984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Testler ve ilk kapanış birlikte yürütülür.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526280" y="3510280"/>
            <a:ext cx="3401568" cy="1755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782312" y="376631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0"/>
          <p:cNvSpPr txBox="1"/>
          <p:nvPr/>
        </p:nvSpPr>
        <p:spPr>
          <a:xfrm>
            <a:off x="4782312" y="4040632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Ekip değil, faz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782312" y="4570984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Büyüyen kapsam fazlara bölünür.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8275320" y="3510280"/>
            <a:ext cx="3401568" cy="17556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8531352" y="3766312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800" dirty="0"/>
          </a:p>
        </p:txBody>
      </p:sp>
      <p:sp>
        <p:nvSpPr>
          <p:cNvPr id="27" name="Text 24"/>
          <p:cNvSpPr txBox="1"/>
          <p:nvPr/>
        </p:nvSpPr>
        <p:spPr>
          <a:xfrm>
            <a:off x="8531352" y="4040632"/>
            <a:ext cx="2889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Hazırlıkta yapay zeka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531352" y="4570984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Hacimli iş otomatik, karar kıdemli denetiminde.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0500055" y="63459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logo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2895" y="457200"/>
            <a:ext cx="1051560" cy="36198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4617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ODAK 11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804672"/>
            <a:ext cx="7932191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4"/>
              </a:lnSpc>
              <a:buNone/>
            </a:pPr>
            <a:r>
              <a:rPr lang="en-US" sz="2800" b="1" spc="-8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Ne üzerinde çalışıyoruz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535176"/>
            <a:ext cx="9735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KURULUŞ 2021  ·  İSTANBUL  ·  TÜRKİYE, EMEA, ABD  ·  YALNIZCA KIDEMLİ DANIŞMAN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777240" y="1992376"/>
            <a:ext cx="3401568" cy="1975104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33272" y="223012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033272" y="25044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Finans modülleri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033272" y="281533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 FI · CO · PA · PS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1033272" y="3089656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Organizasyon yapısı, hesap planı, maliyet, kârlılık ve kapanış süreci.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26280" y="1992376"/>
            <a:ext cx="3401568" cy="1975104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782312" y="223012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4782312" y="25044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Bulut mimarisi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4782312" y="281533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PRIVATE · PUBLIC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4782312" y="3089656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Uygunluk değerlendirmesi, hedef mimari ve geçiş yönetimi.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75320" y="1992376"/>
            <a:ext cx="3401568" cy="1975104"/>
          </a:xfrm>
          <a:prstGeom prst="rect">
            <a:avLst/>
          </a:prstGeom>
          <a:solidFill>
            <a:srgbClr val="E2E9EE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531352" y="2230120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11676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8531352" y="250444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-30" kern="0" dirty="0">
                <a:solidFill>
                  <a:srgbClr val="11676A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Yapay zeka ve RPA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531352" y="2815336"/>
            <a:ext cx="2889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5F6D7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 İÇİNDE YERLEŞİK</a:t>
            </a:r>
            <a:endParaRPr lang="en-US" sz="750" dirty="0"/>
          </a:p>
        </p:txBody>
      </p:sp>
      <p:sp>
        <p:nvSpPr>
          <p:cNvPr id="20" name="Text 17"/>
          <p:cNvSpPr txBox="1"/>
          <p:nvPr/>
        </p:nvSpPr>
        <p:spPr>
          <a:xfrm>
            <a:off x="8531352" y="3089656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4A5A6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Mutabakat, anomali tespiti ve tahmine dayalı muhasebe.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791456"/>
            <a:ext cx="12191695" cy="2066544"/>
          </a:xfrm>
          <a:prstGeom prst="rect">
            <a:avLst/>
          </a:prstGeom>
          <a:solidFill>
            <a:srgbClr val="003F8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77240" y="5102352"/>
            <a:ext cx="522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ÜSTLENMEDİĞİMİZ İŞLER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795528" y="5564124"/>
            <a:ext cx="68580" cy="68580"/>
          </a:xfrm>
          <a:prstGeom prst="ellipse">
            <a:avLst/>
          </a:prstGeom>
          <a:solidFill>
            <a:srgbClr val="F5DCA4"/>
          </a:solidFill>
          <a:ln w="3175">
            <a:solidFill>
              <a:srgbClr val="F5DCA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33272" y="5468112"/>
            <a:ext cx="478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Uzmanlık alanımız dışındaki modüllerin ana sorumluluğu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388456" y="5564124"/>
            <a:ext cx="68580" cy="68580"/>
          </a:xfrm>
          <a:prstGeom prst="ellipse">
            <a:avLst/>
          </a:prstGeom>
          <a:solidFill>
            <a:srgbClr val="F5DCA4"/>
          </a:solidFill>
          <a:ln w="3175">
            <a:solidFill>
              <a:srgbClr val="F5DCA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26200" y="5468112"/>
            <a:ext cx="478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Teslim sorumluluğu olmadan kaynak sağlama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95528" y="5984748"/>
            <a:ext cx="68580" cy="68580"/>
          </a:xfrm>
          <a:prstGeom prst="ellipse">
            <a:avLst/>
          </a:prstGeom>
          <a:solidFill>
            <a:srgbClr val="F5DCA4"/>
          </a:solidFill>
          <a:ln w="3175">
            <a:solidFill>
              <a:srgbClr val="F5DCA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33272" y="5888736"/>
            <a:ext cx="478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Değerlendirme yapılmadan sabit fiyatlı dönüşüm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388456" y="5984748"/>
            <a:ext cx="68580" cy="68580"/>
          </a:xfrm>
          <a:prstGeom prst="ellipse">
            <a:avLst/>
          </a:prstGeom>
          <a:solidFill>
            <a:srgbClr val="F5DCA4"/>
          </a:solidFill>
          <a:ln w="3175">
            <a:solidFill>
              <a:srgbClr val="F5DCA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626200" y="5888736"/>
            <a:ext cx="478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Yazılım geliştirme ya da altyapı işletimi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10500055" y="6547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60" kern="0" dirty="0">
                <a:solidFill>
                  <a:srgbClr val="809FC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F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914400"/>
            <a:ext cx="1234440" cy="204724"/>
          </a:xfrm>
          <a:prstGeom prst="rect">
            <a:avLst/>
          </a:prstGeom>
          <a:solidFill>
            <a:srgbClr val="17508D"/>
          </a:solidFill>
          <a:ln/>
        </p:spPr>
      </p:sp>
      <p:sp>
        <p:nvSpPr>
          <p:cNvPr id="3" name="Shape 1"/>
          <p:cNvSpPr/>
          <p:nvPr/>
        </p:nvSpPr>
        <p:spPr>
          <a:xfrm>
            <a:off x="9355738" y="1244600"/>
            <a:ext cx="2074262" cy="204724"/>
          </a:xfrm>
          <a:prstGeom prst="rect">
            <a:avLst/>
          </a:prstGeom>
          <a:solidFill>
            <a:srgbClr val="265B94"/>
          </a:solidFill>
          <a:ln/>
        </p:spPr>
      </p:sp>
      <p:sp>
        <p:nvSpPr>
          <p:cNvPr id="4" name="Shape 2"/>
          <p:cNvSpPr/>
          <p:nvPr/>
        </p:nvSpPr>
        <p:spPr>
          <a:xfrm>
            <a:off x="8643772" y="1574800"/>
            <a:ext cx="2786228" cy="204724"/>
          </a:xfrm>
          <a:prstGeom prst="rect">
            <a:avLst/>
          </a:prstGeom>
          <a:solidFill>
            <a:srgbClr val="32659B"/>
          </a:solidFill>
          <a:ln/>
        </p:spPr>
      </p:sp>
      <p:sp>
        <p:nvSpPr>
          <p:cNvPr id="5" name="Shape 3"/>
          <p:cNvSpPr/>
          <p:nvPr/>
        </p:nvSpPr>
        <p:spPr>
          <a:xfrm>
            <a:off x="8168051" y="1905000"/>
            <a:ext cx="3261949" cy="204724"/>
          </a:xfrm>
          <a:prstGeom prst="rect">
            <a:avLst/>
          </a:prstGeom>
          <a:solidFill>
            <a:srgbClr val="3A6B9F"/>
          </a:solidFill>
          <a:ln/>
        </p:spPr>
      </p:sp>
      <p:sp>
        <p:nvSpPr>
          <p:cNvPr id="6" name="Shape 4"/>
          <p:cNvSpPr/>
          <p:nvPr/>
        </p:nvSpPr>
        <p:spPr>
          <a:xfrm>
            <a:off x="8001000" y="2235200"/>
            <a:ext cx="3429000" cy="204724"/>
          </a:xfrm>
          <a:prstGeom prst="rect">
            <a:avLst/>
          </a:prstGeom>
          <a:solidFill>
            <a:srgbClr val="3D6DA0"/>
          </a:solidFill>
          <a:ln/>
        </p:spPr>
      </p:sp>
      <p:sp>
        <p:nvSpPr>
          <p:cNvPr id="7" name="Shape 5"/>
          <p:cNvSpPr/>
          <p:nvPr/>
        </p:nvSpPr>
        <p:spPr>
          <a:xfrm>
            <a:off x="8168051" y="2565400"/>
            <a:ext cx="3261949" cy="204724"/>
          </a:xfrm>
          <a:prstGeom prst="rect">
            <a:avLst/>
          </a:prstGeom>
          <a:solidFill>
            <a:srgbClr val="E8B33A"/>
          </a:solidFill>
          <a:ln/>
        </p:spPr>
      </p:sp>
      <p:sp>
        <p:nvSpPr>
          <p:cNvPr id="8" name="Shape 6"/>
          <p:cNvSpPr/>
          <p:nvPr/>
        </p:nvSpPr>
        <p:spPr>
          <a:xfrm>
            <a:off x="8643772" y="2895600"/>
            <a:ext cx="2786228" cy="204724"/>
          </a:xfrm>
          <a:prstGeom prst="rect">
            <a:avLst/>
          </a:prstGeom>
          <a:solidFill>
            <a:srgbClr val="32659B"/>
          </a:solidFill>
          <a:ln/>
        </p:spPr>
      </p:sp>
      <p:sp>
        <p:nvSpPr>
          <p:cNvPr id="9" name="Shape 7"/>
          <p:cNvSpPr/>
          <p:nvPr/>
        </p:nvSpPr>
        <p:spPr>
          <a:xfrm>
            <a:off x="9355738" y="3225800"/>
            <a:ext cx="2074262" cy="204724"/>
          </a:xfrm>
          <a:prstGeom prst="rect">
            <a:avLst/>
          </a:prstGeom>
          <a:solidFill>
            <a:srgbClr val="265B94"/>
          </a:solidFill>
          <a:ln/>
        </p:spPr>
      </p:sp>
      <p:sp>
        <p:nvSpPr>
          <p:cNvPr id="10" name="Shape 8"/>
          <p:cNvSpPr/>
          <p:nvPr/>
        </p:nvSpPr>
        <p:spPr>
          <a:xfrm>
            <a:off x="10195560" y="3556000"/>
            <a:ext cx="1234440" cy="204724"/>
          </a:xfrm>
          <a:prstGeom prst="rect">
            <a:avLst/>
          </a:prstGeom>
          <a:solidFill>
            <a:srgbClr val="17508D"/>
          </a:solidFill>
          <a:ln/>
        </p:spPr>
      </p:sp>
      <p:pic>
        <p:nvPicPr>
          <p:cNvPr id="11" name="Image 0" descr="./assets/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2057400" cy="70822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7240" y="20162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İLETİŞİM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395728"/>
            <a:ext cx="612884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80" kern="0" dirty="0">
                <a:solidFill>
                  <a:srgbClr val="FFFFFF"/>
                </a:solidFill>
                <a:latin typeface="Schibsted Grotesk" pitchFamily="34" charset="0"/>
                <a:ea typeface="Schibsted Grotesk" pitchFamily="34" charset="-122"/>
                <a:cs typeface="Schibsted Grotesk" pitchFamily="34" charset="-120"/>
              </a:rPr>
              <a:t>CPeak Consultancy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072384"/>
            <a:ext cx="70305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SAP finans modülleri · S/4HANA dönüşümü · SAP bulut mimarisi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41985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D2DD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Projenizi değerlendirmek için bir görüşme planlayalım. Bir iş günü içinde dönüş yapıyoruz.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3708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GENEL</a:t>
            </a:r>
            <a:endParaRPr lang="en-US" sz="7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5445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info@cpeakconsultancy.com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43708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DOĞRUDAN</a:t>
            </a:r>
            <a:endParaRPr lang="en-US" sz="7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45445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Kerem Yiğit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kerem.yigit@cpeakconsultancy.com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7818120" y="43708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TELEFON</a:t>
            </a:r>
            <a:endParaRPr lang="en-US" sz="700" dirty="0"/>
          </a:p>
        </p:txBody>
      </p:sp>
      <p:sp>
        <p:nvSpPr>
          <p:cNvPr id="21" name="Text 18"/>
          <p:cNvSpPr txBox="1"/>
          <p:nvPr/>
        </p:nvSpPr>
        <p:spPr>
          <a:xfrm>
            <a:off x="7818120" y="45445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+90 (507) 032 81 70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50840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ÇALIŞMA SAATLERİ</a:t>
            </a:r>
            <a:endParaRPr lang="en-US" sz="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2578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Pazartesi – Cuma · 09:00 – 18:00 (TSİ)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4297680" y="50840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WEB</a:t>
            </a:r>
            <a:endParaRPr lang="en-US" sz="700" dirty="0"/>
          </a:p>
        </p:txBody>
      </p:sp>
      <p:sp>
        <p:nvSpPr>
          <p:cNvPr id="25" name="Text 22"/>
          <p:cNvSpPr txBox="1"/>
          <p:nvPr/>
        </p:nvSpPr>
        <p:spPr>
          <a:xfrm>
            <a:off x="4297680" y="52578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cpeakconsultancy.com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7818120" y="50840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75" kern="0" dirty="0">
                <a:solidFill>
                  <a:srgbClr val="F5DC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LINKEDIN</a:t>
            </a:r>
            <a:endParaRPr lang="en-US" sz="700" dirty="0"/>
          </a:p>
        </p:txBody>
      </p:sp>
      <p:sp>
        <p:nvSpPr>
          <p:cNvPr id="27" name="Text 24"/>
          <p:cNvSpPr txBox="1"/>
          <p:nvPr/>
        </p:nvSpPr>
        <p:spPr>
          <a:xfrm>
            <a:off x="7818120" y="52578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linkedin.com/company/cpeak-consultancy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00316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77240" y="6364224"/>
            <a:ext cx="97355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75" kern="0" dirty="0">
                <a:solidFill>
                  <a:srgbClr val="B3C5D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Bostancı Mah. Şemsettin Günaltay Cad. No: 31/8  ·  34744 Kadıköy, İstanbul, Türkiye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CPeak Consultancy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CPeak Consultancy — Kurumsal Tanıtım</dc:title>
  <dc:subject>SAP finans modülleri, S/4HANA dönüşümü ve SAP bulut mimarisi</dc:subject>
  <dc:creator>CPeak Consultancy</dc:creator>
  <cp:lastModifiedBy>CPeak Consultancy</cp:lastModifiedBy>
  <cp:revision>1</cp:revision>
  <dcterms:created xsi:type="dcterms:W3CDTF">2026-09-06T11:36:19Z</dcterms:created>
  <dcterms:modified xsi:type="dcterms:W3CDTF">2026-09-06T11:36:19Z</dcterms:modified>
</cp:coreProperties>
</file>
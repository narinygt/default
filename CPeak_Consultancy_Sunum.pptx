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383D"/>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3.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image" Target="../media/image-9-1.png"/><Relationship Id="rId4" Type="http://schemas.openxmlformats.org/officeDocument/2006/relationships/image" Target="../media/image-9-1.png"/><Relationship Id="rId5" Type="http://schemas.openxmlformats.org/officeDocument/2006/relationships/image" Target="../media/image-9-1.png"/><Relationship Id="rId6" Type="http://schemas.openxmlformats.org/officeDocument/2006/relationships/image" Target="../media/image-9-1.png"/><Relationship Id="rId7" Type="http://schemas.openxmlformats.org/officeDocument/2006/relationships/image" Target="../media/image-9-1.png"/><Relationship Id="rId8" Type="http://schemas.openxmlformats.org/officeDocument/2006/relationships/image" Target="../media/image-9-1.png"/><Relationship Id="rId9" Type="http://schemas.openxmlformats.org/officeDocument/2006/relationships/slideLayout" Target="../slideLayouts/slideLayout2.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image" Target="../media/image-12-1.png"/><Relationship Id="rId4" Type="http://schemas.openxmlformats.org/officeDocument/2006/relationships/image" Target="../media/image-12-1.png"/><Relationship Id="rId5" Type="http://schemas.openxmlformats.org/officeDocument/2006/relationships/image" Target="../media/image-12-5.png"/><Relationship Id="rId6" Type="http://schemas.openxmlformats.org/officeDocument/2006/relationships/image" Target="../media/image-12-5.png"/><Relationship Id="rId7" Type="http://schemas.openxmlformats.org/officeDocument/2006/relationships/image" Target="../media/image-12-5.png"/><Relationship Id="rId8" Type="http://schemas.openxmlformats.org/officeDocument/2006/relationships/image" Target="../media/image-12-5.png"/><Relationship Id="rId9" Type="http://schemas.openxmlformats.org/officeDocument/2006/relationships/image" Target="../media/image-12-9.png"/><Relationship Id="rId10" Type="http://schemas.openxmlformats.org/officeDocument/2006/relationships/slideLayout" Target="../slideLayouts/slideLayout2.xml"/><Relationship Id="rId1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1.png"/><Relationship Id="rId3" Type="http://schemas.openxmlformats.org/officeDocument/2006/relationships/image" Target="../media/image-14-1.png"/><Relationship Id="rId4" Type="http://schemas.openxmlformats.org/officeDocument/2006/relationships/image" Target="../media/image-14-1.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9052560" y="-1645920"/>
            <a:ext cx="5120640" cy="5120640"/>
          </a:xfrm>
          <a:prstGeom prst="ellipse">
            <a:avLst/>
          </a:prstGeom>
          <a:solidFill>
            <a:srgbClr val="11676A">
              <a:alpha val="22000"/>
            </a:srgbClr>
          </a:solidFill>
          <a:ln/>
        </p:spPr>
      </p:sp>
      <p:sp>
        <p:nvSpPr>
          <p:cNvPr id="3" name="Shape 1"/>
          <p:cNvSpPr/>
          <p:nvPr/>
        </p:nvSpPr>
        <p:spPr>
          <a:xfrm>
            <a:off x="-1463040" y="4572000"/>
            <a:ext cx="4023360" cy="4023360"/>
          </a:xfrm>
          <a:prstGeom prst="ellipse">
            <a:avLst/>
          </a:prstGeom>
          <a:solidFill>
            <a:srgbClr val="003F82">
              <a:alpha val="25000"/>
            </a:srgbClr>
          </a:solidFill>
          <a:ln/>
        </p:spPr>
      </p:sp>
      <p:sp>
        <p:nvSpPr>
          <p:cNvPr id="4" name="Text 2"/>
          <p:cNvSpPr/>
          <p:nvPr/>
        </p:nvSpPr>
        <p:spPr>
          <a:xfrm>
            <a:off x="822960" y="2148840"/>
            <a:ext cx="9601200" cy="320040"/>
          </a:xfrm>
          <a:prstGeom prst="rect">
            <a:avLst/>
          </a:prstGeom>
          <a:noFill/>
          <a:ln/>
        </p:spPr>
        <p:txBody>
          <a:bodyPr wrap="square" rtlCol="0" anchor="ctr"/>
          <a:lstStyle/>
          <a:p>
            <a:pPr indent="0" marL="0">
              <a:buNone/>
            </a:pPr>
            <a:r>
              <a:rPr lang="en-US" sz="1300" b="1" spc="200" kern="0" dirty="0">
                <a:solidFill>
                  <a:srgbClr val="6FD9D6"/>
                </a:solidFill>
                <a:latin typeface="Arial" pitchFamily="34" charset="0"/>
                <a:ea typeface="Arial" pitchFamily="34" charset="-122"/>
                <a:cs typeface="Arial" pitchFamily="34" charset="-120"/>
              </a:rPr>
              <a:t>SAP FİNANS DANIŞMANLIĞI  •  KURULUŞ 2021  •  İSTANBUL</a:t>
            </a:r>
            <a:endParaRPr lang="en-US" sz="1300" dirty="0"/>
          </a:p>
        </p:txBody>
      </p:sp>
      <p:sp>
        <p:nvSpPr>
          <p:cNvPr id="5" name="Text 3"/>
          <p:cNvSpPr/>
          <p:nvPr/>
        </p:nvSpPr>
        <p:spPr>
          <a:xfrm>
            <a:off x="777240" y="2514600"/>
            <a:ext cx="10515600" cy="1143000"/>
          </a:xfrm>
          <a:prstGeom prst="rect">
            <a:avLst/>
          </a:prstGeom>
          <a:noFill/>
          <a:ln/>
        </p:spPr>
        <p:txBody>
          <a:bodyPr wrap="square" rtlCol="0" anchor="ctr">
            <a:normAutofit/>
          </a:bodyPr>
          <a:lstStyle/>
          <a:p>
            <a:pPr indent="0" marL="0">
              <a:buNone/>
            </a:pPr>
            <a:r>
              <a:rPr lang="en-US" sz="5200" b="1" dirty="0">
                <a:solidFill>
                  <a:srgbClr val="FFFFFF"/>
                </a:solidFill>
                <a:latin typeface="Arial" pitchFamily="34" charset="0"/>
                <a:ea typeface="Arial" pitchFamily="34" charset="-122"/>
                <a:cs typeface="Arial" pitchFamily="34" charset="-120"/>
              </a:rPr>
              <a:t>CPeak Consultancy</a:t>
            </a:r>
            <a:endParaRPr lang="en-US" sz="5200" dirty="0"/>
          </a:p>
        </p:txBody>
      </p:sp>
      <p:sp>
        <p:nvSpPr>
          <p:cNvPr id="6" name="Text 4"/>
          <p:cNvSpPr/>
          <p:nvPr/>
        </p:nvSpPr>
        <p:spPr>
          <a:xfrm>
            <a:off x="822960" y="3611880"/>
            <a:ext cx="9326880" cy="685800"/>
          </a:xfrm>
          <a:prstGeom prst="rect">
            <a:avLst/>
          </a:prstGeom>
          <a:noFill/>
          <a:ln/>
        </p:spPr>
        <p:txBody>
          <a:bodyPr wrap="square" rtlCol="0" anchor="ctr">
            <a:normAutofit/>
          </a:bodyPr>
          <a:lstStyle/>
          <a:p>
            <a:pPr indent="0" marL="0">
              <a:buNone/>
            </a:pPr>
            <a:r>
              <a:rPr lang="en-US" sz="1700" dirty="0">
                <a:solidFill>
                  <a:srgbClr val="BFE0DF"/>
                </a:solidFill>
                <a:latin typeface="Arial" pitchFamily="34" charset="0"/>
                <a:ea typeface="Arial" pitchFamily="34" charset="-122"/>
                <a:cs typeface="Arial" pitchFamily="34" charset="-120"/>
              </a:rPr>
              <a:t>SAP finans modüllerinde derinlemesine uzmanlık, bulut mimarisi seçiminde tarafsız değerlendirme</a:t>
            </a:r>
            <a:endParaRPr lang="en-US" sz="1700" dirty="0"/>
          </a:p>
        </p:txBody>
      </p:sp>
      <p:sp>
        <p:nvSpPr>
          <p:cNvPr id="7" name="Shape 5"/>
          <p:cNvSpPr/>
          <p:nvPr/>
        </p:nvSpPr>
        <p:spPr>
          <a:xfrm>
            <a:off x="822960" y="5074920"/>
            <a:ext cx="502920" cy="502920"/>
          </a:xfrm>
          <a:prstGeom prst="ellipse">
            <a:avLst/>
          </a:prstGeom>
          <a:solidFill>
            <a:srgbClr val="17494E"/>
          </a:solidFill>
          <a:ln/>
        </p:spPr>
      </p:sp>
      <p:pic>
        <p:nvPicPr>
          <p:cNvPr id="8" name="Image 0" descr="/tmp/claude-0/-home-user-Default/f7e81ef3-2f73-50cc-818d-26c445ecb8fe/scratchpad/cpeak/build/icons/building_white.png">    </p:cNvPr>
          <p:cNvPicPr>
            <a:picLocks noChangeAspect="1"/>
          </p:cNvPicPr>
          <p:nvPr/>
        </p:nvPicPr>
        <p:blipFill>
          <a:blip r:embed="rId1"/>
          <a:stretch>
            <a:fillRect/>
          </a:stretch>
        </p:blipFill>
        <p:spPr>
          <a:xfrm>
            <a:off x="948690" y="5200650"/>
            <a:ext cx="251460" cy="251460"/>
          </a:xfrm>
          <a:prstGeom prst="rect">
            <a:avLst/>
          </a:prstGeom>
        </p:spPr>
      </p:pic>
      <p:sp>
        <p:nvSpPr>
          <p:cNvPr id="9" name="Text 6"/>
          <p:cNvSpPr/>
          <p:nvPr/>
        </p:nvSpPr>
        <p:spPr>
          <a:xfrm>
            <a:off x="1463040" y="5084064"/>
            <a:ext cx="2743200" cy="256032"/>
          </a:xfrm>
          <a:prstGeom prst="rect">
            <a:avLst/>
          </a:prstGeom>
          <a:noFill/>
          <a:ln/>
        </p:spPr>
        <p:txBody>
          <a:bodyPr wrap="square" rtlCol="0" anchor="ctr"/>
          <a:lstStyle/>
          <a:p>
            <a:pPr indent="0" marL="0">
              <a:buNone/>
            </a:pPr>
            <a:r>
              <a:rPr lang="en-US" sz="1000" spc="100" kern="0" dirty="0">
                <a:solidFill>
                  <a:srgbClr val="BFE0DF"/>
                </a:solidFill>
                <a:latin typeface="Arial" pitchFamily="34" charset="0"/>
                <a:ea typeface="Arial" pitchFamily="34" charset="-122"/>
                <a:cs typeface="Arial" pitchFamily="34" charset="-120"/>
              </a:rPr>
              <a:t>KURULUŞ</a:t>
            </a:r>
            <a:endParaRPr lang="en-US" sz="1000" dirty="0"/>
          </a:p>
        </p:txBody>
      </p:sp>
      <p:sp>
        <p:nvSpPr>
          <p:cNvPr id="10" name="Text 7"/>
          <p:cNvSpPr/>
          <p:nvPr/>
        </p:nvSpPr>
        <p:spPr>
          <a:xfrm>
            <a:off x="1463040" y="5321808"/>
            <a:ext cx="2926080" cy="320040"/>
          </a:xfrm>
          <a:prstGeom prst="rect">
            <a:avLst/>
          </a:prstGeom>
          <a:noFill/>
          <a:ln/>
        </p:spPr>
        <p:txBody>
          <a:bodyPr wrap="square" rtlCol="0" anchor="ctr">
            <a:normAutofit/>
          </a:bodyPr>
          <a:lstStyle/>
          <a:p>
            <a:pPr indent="0" marL="0">
              <a:buNone/>
            </a:pPr>
            <a:r>
              <a:rPr lang="en-US" sz="1500" b="1" dirty="0">
                <a:solidFill>
                  <a:srgbClr val="FFFFFF"/>
                </a:solidFill>
                <a:latin typeface="Arial" pitchFamily="34" charset="0"/>
                <a:ea typeface="Arial" pitchFamily="34" charset="-122"/>
                <a:cs typeface="Arial" pitchFamily="34" charset="-120"/>
              </a:rPr>
              <a:t>2021</a:t>
            </a:r>
            <a:endParaRPr lang="en-US" sz="1500" dirty="0"/>
          </a:p>
        </p:txBody>
      </p:sp>
      <p:sp>
        <p:nvSpPr>
          <p:cNvPr id="11" name="Shape 8"/>
          <p:cNvSpPr/>
          <p:nvPr/>
        </p:nvSpPr>
        <p:spPr>
          <a:xfrm>
            <a:off x="4114800" y="5074920"/>
            <a:ext cx="502920" cy="502920"/>
          </a:xfrm>
          <a:prstGeom prst="ellipse">
            <a:avLst/>
          </a:prstGeom>
          <a:solidFill>
            <a:srgbClr val="17494E"/>
          </a:solidFill>
          <a:ln/>
        </p:spPr>
      </p:sp>
      <p:pic>
        <p:nvPicPr>
          <p:cNvPr id="12" name="Image 1" descr="/tmp/claude-0/-home-user-Default/f7e81ef3-2f73-50cc-818d-26c445ecb8fe/scratchpad/cpeak/build/icons/globe_white.png">    </p:cNvPr>
          <p:cNvPicPr>
            <a:picLocks noChangeAspect="1"/>
          </p:cNvPicPr>
          <p:nvPr/>
        </p:nvPicPr>
        <p:blipFill>
          <a:blip r:embed="rId2"/>
          <a:stretch>
            <a:fillRect/>
          </a:stretch>
        </p:blipFill>
        <p:spPr>
          <a:xfrm>
            <a:off x="4240530" y="5200650"/>
            <a:ext cx="251460" cy="251460"/>
          </a:xfrm>
          <a:prstGeom prst="rect">
            <a:avLst/>
          </a:prstGeom>
        </p:spPr>
      </p:pic>
      <p:sp>
        <p:nvSpPr>
          <p:cNvPr id="13" name="Text 9"/>
          <p:cNvSpPr/>
          <p:nvPr/>
        </p:nvSpPr>
        <p:spPr>
          <a:xfrm>
            <a:off x="4754880" y="5084064"/>
            <a:ext cx="2743200" cy="256032"/>
          </a:xfrm>
          <a:prstGeom prst="rect">
            <a:avLst/>
          </a:prstGeom>
          <a:noFill/>
          <a:ln/>
        </p:spPr>
        <p:txBody>
          <a:bodyPr wrap="square" rtlCol="0" anchor="ctr"/>
          <a:lstStyle/>
          <a:p>
            <a:pPr indent="0" marL="0">
              <a:buNone/>
            </a:pPr>
            <a:r>
              <a:rPr lang="en-US" sz="1000" spc="100" kern="0" dirty="0">
                <a:solidFill>
                  <a:srgbClr val="BFE0DF"/>
                </a:solidFill>
                <a:latin typeface="Arial" pitchFamily="34" charset="0"/>
                <a:ea typeface="Arial" pitchFamily="34" charset="-122"/>
                <a:cs typeface="Arial" pitchFamily="34" charset="-120"/>
              </a:rPr>
              <a:t>MERKEZ</a:t>
            </a:r>
            <a:endParaRPr lang="en-US" sz="1000" dirty="0"/>
          </a:p>
        </p:txBody>
      </p:sp>
      <p:sp>
        <p:nvSpPr>
          <p:cNvPr id="14" name="Text 10"/>
          <p:cNvSpPr/>
          <p:nvPr/>
        </p:nvSpPr>
        <p:spPr>
          <a:xfrm>
            <a:off x="4754880" y="5321808"/>
            <a:ext cx="2926080" cy="320040"/>
          </a:xfrm>
          <a:prstGeom prst="rect">
            <a:avLst/>
          </a:prstGeom>
          <a:noFill/>
          <a:ln/>
        </p:spPr>
        <p:txBody>
          <a:bodyPr wrap="square" rtlCol="0" anchor="ctr">
            <a:normAutofit/>
          </a:bodyPr>
          <a:lstStyle/>
          <a:p>
            <a:pPr indent="0" marL="0">
              <a:buNone/>
            </a:pPr>
            <a:r>
              <a:rPr lang="en-US" sz="1500" b="1" dirty="0">
                <a:solidFill>
                  <a:srgbClr val="FFFFFF"/>
                </a:solidFill>
                <a:latin typeface="Arial" pitchFamily="34" charset="0"/>
                <a:ea typeface="Arial" pitchFamily="34" charset="-122"/>
                <a:cs typeface="Arial" pitchFamily="34" charset="-120"/>
              </a:rPr>
              <a:t>İstanbul</a:t>
            </a:r>
            <a:endParaRPr lang="en-US" sz="1500" dirty="0"/>
          </a:p>
        </p:txBody>
      </p:sp>
      <p:sp>
        <p:nvSpPr>
          <p:cNvPr id="15" name="Shape 11"/>
          <p:cNvSpPr/>
          <p:nvPr/>
        </p:nvSpPr>
        <p:spPr>
          <a:xfrm>
            <a:off x="7406640" y="5074920"/>
            <a:ext cx="502920" cy="502920"/>
          </a:xfrm>
          <a:prstGeom prst="ellipse">
            <a:avLst/>
          </a:prstGeom>
          <a:solidFill>
            <a:srgbClr val="17494E"/>
          </a:solidFill>
          <a:ln/>
        </p:spPr>
      </p:sp>
      <p:pic>
        <p:nvPicPr>
          <p:cNvPr id="16" name="Image 2" descr="/tmp/claude-0/-home-user-Default/f7e81ef3-2f73-50cc-818d-26c445ecb8fe/scratchpad/cpeak/build/icons/users_white.png">    </p:cNvPr>
          <p:cNvPicPr>
            <a:picLocks noChangeAspect="1"/>
          </p:cNvPicPr>
          <p:nvPr/>
        </p:nvPicPr>
        <p:blipFill>
          <a:blip r:embed="rId3"/>
          <a:stretch>
            <a:fillRect/>
          </a:stretch>
        </p:blipFill>
        <p:spPr>
          <a:xfrm>
            <a:off x="7532370" y="5200650"/>
            <a:ext cx="251460" cy="251460"/>
          </a:xfrm>
          <a:prstGeom prst="rect">
            <a:avLst/>
          </a:prstGeom>
        </p:spPr>
      </p:pic>
      <p:sp>
        <p:nvSpPr>
          <p:cNvPr id="17" name="Text 12"/>
          <p:cNvSpPr/>
          <p:nvPr/>
        </p:nvSpPr>
        <p:spPr>
          <a:xfrm>
            <a:off x="8046720" y="5084064"/>
            <a:ext cx="2743200" cy="256032"/>
          </a:xfrm>
          <a:prstGeom prst="rect">
            <a:avLst/>
          </a:prstGeom>
          <a:noFill/>
          <a:ln/>
        </p:spPr>
        <p:txBody>
          <a:bodyPr wrap="square" rtlCol="0" anchor="ctr"/>
          <a:lstStyle/>
          <a:p>
            <a:pPr indent="0" marL="0">
              <a:buNone/>
            </a:pPr>
            <a:r>
              <a:rPr lang="en-US" sz="1000" spc="100" kern="0" dirty="0">
                <a:solidFill>
                  <a:srgbClr val="BFE0DF"/>
                </a:solidFill>
                <a:latin typeface="Arial" pitchFamily="34" charset="0"/>
                <a:ea typeface="Arial" pitchFamily="34" charset="-122"/>
                <a:cs typeface="Arial" pitchFamily="34" charset="-120"/>
              </a:rPr>
              <a:t>HIZMET BÖLGELERI</a:t>
            </a:r>
            <a:endParaRPr lang="en-US" sz="1000" dirty="0"/>
          </a:p>
        </p:txBody>
      </p:sp>
      <p:sp>
        <p:nvSpPr>
          <p:cNvPr id="18" name="Text 13"/>
          <p:cNvSpPr/>
          <p:nvPr/>
        </p:nvSpPr>
        <p:spPr>
          <a:xfrm>
            <a:off x="8046720" y="5321808"/>
            <a:ext cx="2926080" cy="320040"/>
          </a:xfrm>
          <a:prstGeom prst="rect">
            <a:avLst/>
          </a:prstGeom>
          <a:noFill/>
          <a:ln/>
        </p:spPr>
        <p:txBody>
          <a:bodyPr wrap="square" rtlCol="0" anchor="ctr">
            <a:normAutofit/>
          </a:bodyPr>
          <a:lstStyle/>
          <a:p>
            <a:pPr indent="0" marL="0">
              <a:buNone/>
            </a:pPr>
            <a:r>
              <a:rPr lang="en-US" sz="1500" b="1" dirty="0">
                <a:solidFill>
                  <a:srgbClr val="FFFFFF"/>
                </a:solidFill>
                <a:latin typeface="Arial" pitchFamily="34" charset="0"/>
                <a:ea typeface="Arial" pitchFamily="34" charset="-122"/>
                <a:cs typeface="Arial" pitchFamily="34" charset="-120"/>
              </a:rPr>
              <a:t>Türkiye, EMEA, ABD</a:t>
            </a:r>
            <a:endParaRPr lang="en-US" sz="1500" dirty="0"/>
          </a:p>
        </p:txBody>
      </p:sp>
      <p:sp>
        <p:nvSpPr>
          <p:cNvPr id="19" name="Text 14"/>
          <p:cNvSpPr/>
          <p:nvPr/>
        </p:nvSpPr>
        <p:spPr>
          <a:xfrm>
            <a:off x="822960" y="6355080"/>
            <a:ext cx="5486400" cy="274320"/>
          </a:xfrm>
          <a:prstGeom prst="rect">
            <a:avLst/>
          </a:prstGeom>
          <a:noFill/>
          <a:ln/>
        </p:spPr>
        <p:txBody>
          <a:bodyPr wrap="square" rtlCol="0" anchor="ctr"/>
          <a:lstStyle/>
          <a:p>
            <a:pPr indent="0" marL="0">
              <a:buNone/>
            </a:pPr>
            <a:r>
              <a:rPr lang="en-US" sz="1050" spc="150" kern="0" dirty="0">
                <a:solidFill>
                  <a:srgbClr val="BFE0DF"/>
                </a:solidFill>
                <a:latin typeface="Arial" pitchFamily="34" charset="0"/>
                <a:ea typeface="Arial" pitchFamily="34" charset="-122"/>
                <a:cs typeface="Arial" pitchFamily="34" charset="-120"/>
              </a:rPr>
              <a:t>Kurumsal Tanıtım Sunumu</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65760"/>
            <a:ext cx="10515600" cy="292608"/>
          </a:xfrm>
          <a:prstGeom prst="rect">
            <a:avLst/>
          </a:prstGeom>
          <a:noFill/>
          <a:ln/>
        </p:spPr>
        <p:txBody>
          <a:bodyPr wrap="square" rtlCol="0" anchor="ctr"/>
          <a:lstStyle/>
          <a:p>
            <a:pPr indent="0" marL="0">
              <a:buNone/>
            </a:pPr>
            <a:r>
              <a:rPr lang="en-US" sz="1250" b="1" spc="200" kern="0" dirty="0">
                <a:solidFill>
                  <a:srgbClr val="11676A"/>
                </a:solidFill>
                <a:latin typeface="Arial" pitchFamily="34" charset="0"/>
                <a:ea typeface="Arial" pitchFamily="34" charset="-122"/>
                <a:cs typeface="Arial" pitchFamily="34" charset="-120"/>
              </a:rPr>
              <a:t>HAKKIMIZDA</a:t>
            </a:r>
            <a:endParaRPr lang="en-US" sz="1250" dirty="0"/>
          </a:p>
        </p:txBody>
      </p:sp>
      <p:sp>
        <p:nvSpPr>
          <p:cNvPr id="3" name="Text 1"/>
          <p:cNvSpPr/>
          <p:nvPr/>
        </p:nvSpPr>
        <p:spPr>
          <a:xfrm>
            <a:off x="502920" y="640080"/>
            <a:ext cx="11155680" cy="960120"/>
          </a:xfrm>
          <a:prstGeom prst="rect">
            <a:avLst/>
          </a:prstGeom>
          <a:noFill/>
          <a:ln/>
        </p:spPr>
        <p:txBody>
          <a:bodyPr wrap="square" rtlCol="0" anchor="ctr">
            <a:normAutofit/>
          </a:bodyPr>
          <a:lstStyle/>
          <a:p>
            <a:pPr indent="0" marL="0">
              <a:lnSpc>
                <a:spcPts val="2688"/>
              </a:lnSpc>
              <a:buNone/>
            </a:pPr>
            <a:r>
              <a:rPr lang="en-US" sz="2400" b="1" dirty="0">
                <a:solidFill>
                  <a:srgbClr val="16262C"/>
                </a:solidFill>
                <a:latin typeface="Arial" pitchFamily="34" charset="0"/>
                <a:ea typeface="Arial" pitchFamily="34" charset="-122"/>
                <a:cs typeface="Arial" pitchFamily="34" charset="-120"/>
              </a:rPr>
              <a:t>Finans modüllerinde ve yapay zeka destekli süreçlerde uçtan uca uzmanlık</a:t>
            </a:r>
            <a:endParaRPr lang="en-US" sz="2400" dirty="0"/>
          </a:p>
        </p:txBody>
      </p:sp>
      <p:sp>
        <p:nvSpPr>
          <p:cNvPr id="4" name="Text 2"/>
          <p:cNvSpPr/>
          <p:nvPr/>
        </p:nvSpPr>
        <p:spPr>
          <a:xfrm>
            <a:off x="502920" y="1874520"/>
            <a:ext cx="6720840" cy="2286000"/>
          </a:xfrm>
          <a:prstGeom prst="rect">
            <a:avLst/>
          </a:prstGeom>
          <a:noFill/>
          <a:ln/>
        </p:spPr>
        <p:txBody>
          <a:bodyPr wrap="square" rtlCol="0" anchor="ctr">
            <a:normAutofit/>
          </a:bodyPr>
          <a:lstStyle/>
          <a:p>
            <a:pPr indent="0" marL="0">
              <a:lnSpc>
                <a:spcPts val="2200"/>
              </a:lnSpc>
              <a:buNone/>
            </a:pPr>
            <a:r>
              <a:rPr lang="en-US" sz="1450" dirty="0">
                <a:solidFill>
                  <a:srgbClr val="3D4C52"/>
                </a:solidFill>
                <a:latin typeface="Arial" pitchFamily="34" charset="0"/>
                <a:ea typeface="Arial" pitchFamily="34" charset="-122"/>
                <a:cs typeface="Arial" pitchFamily="34" charset="-120"/>
              </a:rPr>
              <a:t>CPeak Consultancy; SAP ECC, S/4HANA on-premise, Private Cloud ve Public Cloud ortamlarında uçtan uca finans modülleri üzerine çalışan bağımsız bir danışmanlık şirketidir. Odak alanımız, uzman kadromuzla yürüttüğümüz yapay zeka destekli çalışma biçimimizdir. Uzmanlık alanımız dışındaki lojistik modüllerde ise yurt içi ve yurt dışı iş ortaklarımızla birlikte çalışarak projenize uçtan uca destek vermeyi taahhüt ederiz.</a:t>
            </a:r>
            <a:endParaRPr lang="en-US" sz="1450" dirty="0"/>
          </a:p>
        </p:txBody>
      </p:sp>
      <p:sp>
        <p:nvSpPr>
          <p:cNvPr id="5" name="Shape 3"/>
          <p:cNvSpPr/>
          <p:nvPr/>
        </p:nvSpPr>
        <p:spPr>
          <a:xfrm>
            <a:off x="502920" y="4343400"/>
            <a:ext cx="6720840" cy="1691640"/>
          </a:xfrm>
          <a:prstGeom prst="roundRect">
            <a:avLst>
              <a:gd name="adj" fmla="val 4324"/>
            </a:avLst>
          </a:prstGeom>
          <a:solidFill>
            <a:srgbClr val="EFF5F5"/>
          </a:solidFill>
          <a:ln/>
        </p:spPr>
      </p:sp>
      <p:sp>
        <p:nvSpPr>
          <p:cNvPr id="6" name="Shape 4"/>
          <p:cNvSpPr/>
          <p:nvPr/>
        </p:nvSpPr>
        <p:spPr>
          <a:xfrm>
            <a:off x="777240" y="4617720"/>
            <a:ext cx="548640" cy="548640"/>
          </a:xfrm>
          <a:prstGeom prst="ellipse">
            <a:avLst/>
          </a:prstGeom>
          <a:solidFill>
            <a:srgbClr val="11676A"/>
          </a:solidFill>
          <a:ln/>
        </p:spPr>
      </p:sp>
      <p:pic>
        <p:nvPicPr>
          <p:cNvPr id="7" name="Image 0" descr="/tmp/claude-0/-home-user-Default/f7e81ef3-2f73-50cc-818d-26c445ecb8fe/scratchpad/cpeak/build/icons/usertie_white.png">    </p:cNvPr>
          <p:cNvPicPr>
            <a:picLocks noChangeAspect="1"/>
          </p:cNvPicPr>
          <p:nvPr/>
        </p:nvPicPr>
        <p:blipFill>
          <a:blip r:embed="rId1"/>
          <a:stretch>
            <a:fillRect/>
          </a:stretch>
        </p:blipFill>
        <p:spPr>
          <a:xfrm>
            <a:off x="914400" y="4754880"/>
            <a:ext cx="274320" cy="274320"/>
          </a:xfrm>
          <a:prstGeom prst="rect">
            <a:avLst/>
          </a:prstGeom>
        </p:spPr>
      </p:pic>
      <p:sp>
        <p:nvSpPr>
          <p:cNvPr id="8" name="Text 5"/>
          <p:cNvSpPr/>
          <p:nvPr/>
        </p:nvSpPr>
        <p:spPr>
          <a:xfrm>
            <a:off x="1508760" y="4498848"/>
            <a:ext cx="5486400" cy="1371600"/>
          </a:xfrm>
          <a:prstGeom prst="rect">
            <a:avLst/>
          </a:prstGeom>
          <a:noFill/>
          <a:ln/>
        </p:spPr>
        <p:txBody>
          <a:bodyPr wrap="square" rtlCol="0" anchor="ctr">
            <a:normAutofit/>
          </a:bodyPr>
          <a:lstStyle/>
          <a:p>
            <a:pPr indent="0" marL="0">
              <a:lnSpc>
                <a:spcPts val="1800"/>
              </a:lnSpc>
              <a:buNone/>
            </a:pPr>
            <a:r>
              <a:rPr lang="en-US" sz="1250" dirty="0">
                <a:solidFill>
                  <a:srgbClr val="3D4C52"/>
                </a:solidFill>
                <a:latin typeface="Arial" pitchFamily="34" charset="0"/>
                <a:ea typeface="Arial" pitchFamily="34" charset="-122"/>
                <a:cs typeface="Arial" pitchFamily="34" charset="-120"/>
              </a:rPr>
              <a:t>Kadro küçük ve kıdemlidir. Tekliflerde adı geçen danışmanlar projede fiilen çalışan kişilerdir; teklif aşamasında tanıştığınız danışman, proje boyunca sizinle çalışmaya devam eder.</a:t>
            </a:r>
            <a:endParaRPr lang="en-US" sz="1250" dirty="0"/>
          </a:p>
        </p:txBody>
      </p:sp>
      <p:sp>
        <p:nvSpPr>
          <p:cNvPr id="9" name="Shape 6"/>
          <p:cNvSpPr/>
          <p:nvPr/>
        </p:nvSpPr>
        <p:spPr>
          <a:xfrm>
            <a:off x="7635240" y="1874520"/>
            <a:ext cx="4069080" cy="4160520"/>
          </a:xfrm>
          <a:prstGeom prst="roundRect">
            <a:avLst>
              <a:gd name="adj" fmla="val 1798"/>
            </a:avLst>
          </a:prstGeom>
          <a:solidFill>
            <a:srgbClr val="0F383D"/>
          </a:solidFill>
          <a:ln/>
        </p:spPr>
      </p:sp>
      <p:sp>
        <p:nvSpPr>
          <p:cNvPr id="10" name="Text 7"/>
          <p:cNvSpPr/>
          <p:nvPr/>
        </p:nvSpPr>
        <p:spPr>
          <a:xfrm>
            <a:off x="8001000" y="2121408"/>
            <a:ext cx="3337560" cy="274320"/>
          </a:xfrm>
          <a:prstGeom prst="rect">
            <a:avLst/>
          </a:prstGeom>
          <a:noFill/>
          <a:ln/>
        </p:spPr>
        <p:txBody>
          <a:bodyPr wrap="square" rtlCol="0" anchor="ctr"/>
          <a:lstStyle/>
          <a:p>
            <a:pPr indent="0" marL="0">
              <a:buNone/>
            </a:pPr>
            <a:r>
              <a:rPr lang="en-US" sz="1100" b="1" spc="150" kern="0" dirty="0">
                <a:solidFill>
                  <a:srgbClr val="6FD9D6"/>
                </a:solidFill>
                <a:latin typeface="Arial" pitchFamily="34" charset="0"/>
                <a:ea typeface="Arial" pitchFamily="34" charset="-122"/>
                <a:cs typeface="Arial" pitchFamily="34" charset="-120"/>
              </a:rPr>
              <a:t>KURUMSAL BİLGİLER</a:t>
            </a:r>
            <a:endParaRPr lang="en-US" sz="1100" dirty="0"/>
          </a:p>
        </p:txBody>
      </p:sp>
      <p:sp>
        <p:nvSpPr>
          <p:cNvPr id="11" name="Text 8"/>
          <p:cNvSpPr/>
          <p:nvPr/>
        </p:nvSpPr>
        <p:spPr>
          <a:xfrm>
            <a:off x="8001000" y="2606040"/>
            <a:ext cx="3337560" cy="237744"/>
          </a:xfrm>
          <a:prstGeom prst="rect">
            <a:avLst/>
          </a:prstGeom>
          <a:noFill/>
          <a:ln/>
        </p:spPr>
        <p:txBody>
          <a:bodyPr wrap="square" rtlCol="0" anchor="ctr"/>
          <a:lstStyle/>
          <a:p>
            <a:pPr indent="0" marL="0">
              <a:buNone/>
            </a:pPr>
            <a:r>
              <a:rPr lang="en-US" sz="950" spc="100" kern="0" dirty="0">
                <a:solidFill>
                  <a:srgbClr val="BFE0DF"/>
                </a:solidFill>
                <a:latin typeface="Arial" pitchFamily="34" charset="0"/>
                <a:ea typeface="Arial" pitchFamily="34" charset="-122"/>
                <a:cs typeface="Arial" pitchFamily="34" charset="-120"/>
              </a:rPr>
              <a:t>KURULUŞ YILI</a:t>
            </a:r>
            <a:endParaRPr lang="en-US" sz="950" dirty="0"/>
          </a:p>
        </p:txBody>
      </p:sp>
      <p:sp>
        <p:nvSpPr>
          <p:cNvPr id="12" name="Text 9"/>
          <p:cNvSpPr/>
          <p:nvPr/>
        </p:nvSpPr>
        <p:spPr>
          <a:xfrm>
            <a:off x="8001000" y="2852928"/>
            <a:ext cx="3337560" cy="384048"/>
          </a:xfrm>
          <a:prstGeom prst="rect">
            <a:avLst/>
          </a:prstGeom>
          <a:noFill/>
          <a:ln/>
        </p:spPr>
        <p:txBody>
          <a:bodyPr wrap="square" rtlCol="0" anchor="ctr">
            <a:normAutofit/>
          </a:bodyPr>
          <a:lstStyle/>
          <a:p>
            <a:pPr indent="0" marL="0">
              <a:buNone/>
            </a:pPr>
            <a:r>
              <a:rPr lang="en-US" sz="1400" b="1" dirty="0">
                <a:solidFill>
                  <a:srgbClr val="FFFFFF"/>
                </a:solidFill>
                <a:latin typeface="Arial" pitchFamily="34" charset="0"/>
                <a:ea typeface="Arial" pitchFamily="34" charset="-122"/>
                <a:cs typeface="Arial" pitchFamily="34" charset="-120"/>
              </a:rPr>
              <a:t>2021</a:t>
            </a:r>
            <a:endParaRPr lang="en-US" sz="1400" dirty="0"/>
          </a:p>
        </p:txBody>
      </p:sp>
      <p:sp>
        <p:nvSpPr>
          <p:cNvPr id="13" name="Shape 10"/>
          <p:cNvSpPr/>
          <p:nvPr/>
        </p:nvSpPr>
        <p:spPr>
          <a:xfrm>
            <a:off x="8001000" y="3182112"/>
            <a:ext cx="3337560" cy="0"/>
          </a:xfrm>
          <a:prstGeom prst="line">
            <a:avLst/>
          </a:prstGeom>
          <a:noFill/>
          <a:ln w="12700">
            <a:solidFill>
              <a:srgbClr val="1E5B60"/>
            </a:solidFill>
            <a:prstDash val="solid"/>
          </a:ln>
        </p:spPr>
      </p:sp>
      <p:sp>
        <p:nvSpPr>
          <p:cNvPr id="14" name="Text 11"/>
          <p:cNvSpPr/>
          <p:nvPr/>
        </p:nvSpPr>
        <p:spPr>
          <a:xfrm>
            <a:off x="8001000" y="3291840"/>
            <a:ext cx="3337560" cy="237744"/>
          </a:xfrm>
          <a:prstGeom prst="rect">
            <a:avLst/>
          </a:prstGeom>
          <a:noFill/>
          <a:ln/>
        </p:spPr>
        <p:txBody>
          <a:bodyPr wrap="square" rtlCol="0" anchor="ctr"/>
          <a:lstStyle/>
          <a:p>
            <a:pPr indent="0" marL="0">
              <a:buNone/>
            </a:pPr>
            <a:r>
              <a:rPr lang="en-US" sz="950" spc="100" kern="0" dirty="0">
                <a:solidFill>
                  <a:srgbClr val="BFE0DF"/>
                </a:solidFill>
                <a:latin typeface="Arial" pitchFamily="34" charset="0"/>
                <a:ea typeface="Arial" pitchFamily="34" charset="-122"/>
                <a:cs typeface="Arial" pitchFamily="34" charset="-120"/>
              </a:rPr>
              <a:t>MERKEZ</a:t>
            </a:r>
            <a:endParaRPr lang="en-US" sz="950" dirty="0"/>
          </a:p>
        </p:txBody>
      </p:sp>
      <p:sp>
        <p:nvSpPr>
          <p:cNvPr id="15" name="Text 12"/>
          <p:cNvSpPr/>
          <p:nvPr/>
        </p:nvSpPr>
        <p:spPr>
          <a:xfrm>
            <a:off x="8001000" y="3538728"/>
            <a:ext cx="3337560" cy="384048"/>
          </a:xfrm>
          <a:prstGeom prst="rect">
            <a:avLst/>
          </a:prstGeom>
          <a:noFill/>
          <a:ln/>
        </p:spPr>
        <p:txBody>
          <a:bodyPr wrap="square" rtlCol="0" anchor="ctr">
            <a:normAutofit/>
          </a:bodyPr>
          <a:lstStyle/>
          <a:p>
            <a:pPr indent="0" marL="0">
              <a:buNone/>
            </a:pPr>
            <a:r>
              <a:rPr lang="en-US" sz="1400" b="1" dirty="0">
                <a:solidFill>
                  <a:srgbClr val="FFFFFF"/>
                </a:solidFill>
                <a:latin typeface="Arial" pitchFamily="34" charset="0"/>
                <a:ea typeface="Arial" pitchFamily="34" charset="-122"/>
                <a:cs typeface="Arial" pitchFamily="34" charset="-120"/>
              </a:rPr>
              <a:t>İstanbul</a:t>
            </a:r>
            <a:endParaRPr lang="en-US" sz="1400" dirty="0"/>
          </a:p>
        </p:txBody>
      </p:sp>
      <p:sp>
        <p:nvSpPr>
          <p:cNvPr id="16" name="Shape 13"/>
          <p:cNvSpPr/>
          <p:nvPr/>
        </p:nvSpPr>
        <p:spPr>
          <a:xfrm>
            <a:off x="8001000" y="3867912"/>
            <a:ext cx="3337560" cy="0"/>
          </a:xfrm>
          <a:prstGeom prst="line">
            <a:avLst/>
          </a:prstGeom>
          <a:noFill/>
          <a:ln w="12700">
            <a:solidFill>
              <a:srgbClr val="1E5B60"/>
            </a:solidFill>
            <a:prstDash val="solid"/>
          </a:ln>
        </p:spPr>
      </p:sp>
      <p:sp>
        <p:nvSpPr>
          <p:cNvPr id="17" name="Text 14"/>
          <p:cNvSpPr/>
          <p:nvPr/>
        </p:nvSpPr>
        <p:spPr>
          <a:xfrm>
            <a:off x="8001000" y="3977640"/>
            <a:ext cx="3337560" cy="237744"/>
          </a:xfrm>
          <a:prstGeom prst="rect">
            <a:avLst/>
          </a:prstGeom>
          <a:noFill/>
          <a:ln/>
        </p:spPr>
        <p:txBody>
          <a:bodyPr wrap="square" rtlCol="0" anchor="ctr"/>
          <a:lstStyle/>
          <a:p>
            <a:pPr indent="0" marL="0">
              <a:buNone/>
            </a:pPr>
            <a:r>
              <a:rPr lang="en-US" sz="950" spc="100" kern="0" dirty="0">
                <a:solidFill>
                  <a:srgbClr val="BFE0DF"/>
                </a:solidFill>
                <a:latin typeface="Arial" pitchFamily="34" charset="0"/>
                <a:ea typeface="Arial" pitchFamily="34" charset="-122"/>
                <a:cs typeface="Arial" pitchFamily="34" charset="-120"/>
              </a:rPr>
              <a:t>HIZMET VERILEN BÖLGELER</a:t>
            </a:r>
            <a:endParaRPr lang="en-US" sz="950" dirty="0"/>
          </a:p>
        </p:txBody>
      </p:sp>
      <p:sp>
        <p:nvSpPr>
          <p:cNvPr id="18" name="Text 15"/>
          <p:cNvSpPr/>
          <p:nvPr/>
        </p:nvSpPr>
        <p:spPr>
          <a:xfrm>
            <a:off x="8001000" y="4224528"/>
            <a:ext cx="3337560" cy="384048"/>
          </a:xfrm>
          <a:prstGeom prst="rect">
            <a:avLst/>
          </a:prstGeom>
          <a:noFill/>
          <a:ln/>
        </p:spPr>
        <p:txBody>
          <a:bodyPr wrap="square" rtlCol="0" anchor="ctr">
            <a:normAutofit/>
          </a:bodyPr>
          <a:lstStyle/>
          <a:p>
            <a:pPr indent="0" marL="0">
              <a:buNone/>
            </a:pPr>
            <a:r>
              <a:rPr lang="en-US" sz="1400" b="1" dirty="0">
                <a:solidFill>
                  <a:srgbClr val="FFFFFF"/>
                </a:solidFill>
                <a:latin typeface="Arial" pitchFamily="34" charset="0"/>
                <a:ea typeface="Arial" pitchFamily="34" charset="-122"/>
                <a:cs typeface="Arial" pitchFamily="34" charset="-120"/>
              </a:rPr>
              <a:t>Türkiye, EMEA ve ABD</a:t>
            </a:r>
            <a:endParaRPr lang="en-US" sz="1400" dirty="0"/>
          </a:p>
        </p:txBody>
      </p:sp>
      <p:sp>
        <p:nvSpPr>
          <p:cNvPr id="19" name="Shape 16"/>
          <p:cNvSpPr/>
          <p:nvPr/>
        </p:nvSpPr>
        <p:spPr>
          <a:xfrm>
            <a:off x="8001000" y="4553712"/>
            <a:ext cx="3337560" cy="0"/>
          </a:xfrm>
          <a:prstGeom prst="line">
            <a:avLst/>
          </a:prstGeom>
          <a:noFill/>
          <a:ln w="12700">
            <a:solidFill>
              <a:srgbClr val="1E5B60"/>
            </a:solidFill>
            <a:prstDash val="solid"/>
          </a:ln>
        </p:spPr>
      </p:sp>
      <p:sp>
        <p:nvSpPr>
          <p:cNvPr id="20" name="Text 17"/>
          <p:cNvSpPr/>
          <p:nvPr/>
        </p:nvSpPr>
        <p:spPr>
          <a:xfrm>
            <a:off x="8001000" y="4663440"/>
            <a:ext cx="3337560" cy="237744"/>
          </a:xfrm>
          <a:prstGeom prst="rect">
            <a:avLst/>
          </a:prstGeom>
          <a:noFill/>
          <a:ln/>
        </p:spPr>
        <p:txBody>
          <a:bodyPr wrap="square" rtlCol="0" anchor="ctr"/>
          <a:lstStyle/>
          <a:p>
            <a:pPr indent="0" marL="0">
              <a:buNone/>
            </a:pPr>
            <a:r>
              <a:rPr lang="en-US" sz="950" spc="100" kern="0" dirty="0">
                <a:solidFill>
                  <a:srgbClr val="BFE0DF"/>
                </a:solidFill>
                <a:latin typeface="Arial" pitchFamily="34" charset="0"/>
                <a:ea typeface="Arial" pitchFamily="34" charset="-122"/>
                <a:cs typeface="Arial" pitchFamily="34" charset="-120"/>
              </a:rPr>
              <a:t>UZMANLIK EKSENI</a:t>
            </a:r>
            <a:endParaRPr lang="en-US" sz="950" dirty="0"/>
          </a:p>
        </p:txBody>
      </p:sp>
      <p:sp>
        <p:nvSpPr>
          <p:cNvPr id="21" name="Text 18"/>
          <p:cNvSpPr/>
          <p:nvPr/>
        </p:nvSpPr>
        <p:spPr>
          <a:xfrm>
            <a:off x="8001000" y="4910328"/>
            <a:ext cx="3337560" cy="384048"/>
          </a:xfrm>
          <a:prstGeom prst="rect">
            <a:avLst/>
          </a:prstGeom>
          <a:noFill/>
          <a:ln/>
        </p:spPr>
        <p:txBody>
          <a:bodyPr wrap="square" rtlCol="0" anchor="ctr">
            <a:normAutofit/>
          </a:bodyPr>
          <a:lstStyle/>
          <a:p>
            <a:pPr indent="0" marL="0">
              <a:buNone/>
            </a:pPr>
            <a:r>
              <a:rPr lang="en-US" sz="1400" b="1" dirty="0">
                <a:solidFill>
                  <a:srgbClr val="FFFFFF"/>
                </a:solidFill>
                <a:latin typeface="Arial" pitchFamily="34" charset="0"/>
                <a:ea typeface="Arial" pitchFamily="34" charset="-122"/>
                <a:cs typeface="Arial" pitchFamily="34" charset="-120"/>
              </a:rPr>
              <a:t>SAP Finans Modülleri (FI/CO/PA/PS)</a:t>
            </a:r>
            <a:endParaRPr lang="en-US" sz="1400" dirty="0"/>
          </a:p>
        </p:txBody>
      </p:sp>
      <p:sp>
        <p:nvSpPr>
          <p:cNvPr id="22" name="Shape 19"/>
          <p:cNvSpPr/>
          <p:nvPr/>
        </p:nvSpPr>
        <p:spPr>
          <a:xfrm>
            <a:off x="8001000" y="5239512"/>
            <a:ext cx="3337560" cy="0"/>
          </a:xfrm>
          <a:prstGeom prst="line">
            <a:avLst/>
          </a:prstGeom>
          <a:noFill/>
          <a:ln w="12700">
            <a:solidFill>
              <a:srgbClr val="1E5B60"/>
            </a:solidFill>
            <a:prstDash val="solid"/>
          </a:ln>
        </p:spPr>
      </p:sp>
      <p:sp>
        <p:nvSpPr>
          <p:cNvPr id="23" name="Text 20"/>
          <p:cNvSpPr/>
          <p:nvPr/>
        </p:nvSpPr>
        <p:spPr>
          <a:xfrm>
            <a:off x="8001000" y="5349240"/>
            <a:ext cx="3337560" cy="237744"/>
          </a:xfrm>
          <a:prstGeom prst="rect">
            <a:avLst/>
          </a:prstGeom>
          <a:noFill/>
          <a:ln/>
        </p:spPr>
        <p:txBody>
          <a:bodyPr wrap="square" rtlCol="0" anchor="ctr"/>
          <a:lstStyle/>
          <a:p>
            <a:pPr indent="0" marL="0">
              <a:buNone/>
            </a:pPr>
            <a:r>
              <a:rPr lang="en-US" sz="950" spc="100" kern="0" dirty="0">
                <a:solidFill>
                  <a:srgbClr val="BFE0DF"/>
                </a:solidFill>
                <a:latin typeface="Arial" pitchFamily="34" charset="0"/>
                <a:ea typeface="Arial" pitchFamily="34" charset="-122"/>
                <a:cs typeface="Arial" pitchFamily="34" charset="-120"/>
              </a:rPr>
              <a:t>BULUT YAKLAŞIMI</a:t>
            </a:r>
            <a:endParaRPr lang="en-US" sz="950" dirty="0"/>
          </a:p>
        </p:txBody>
      </p:sp>
      <p:sp>
        <p:nvSpPr>
          <p:cNvPr id="24" name="Text 21"/>
          <p:cNvSpPr/>
          <p:nvPr/>
        </p:nvSpPr>
        <p:spPr>
          <a:xfrm>
            <a:off x="8001000" y="5596128"/>
            <a:ext cx="3337560" cy="384048"/>
          </a:xfrm>
          <a:prstGeom prst="rect">
            <a:avLst/>
          </a:prstGeom>
          <a:noFill/>
          <a:ln/>
        </p:spPr>
        <p:txBody>
          <a:bodyPr wrap="square" rtlCol="0" anchor="ctr">
            <a:normAutofit/>
          </a:bodyPr>
          <a:lstStyle/>
          <a:p>
            <a:pPr indent="0" marL="0">
              <a:buNone/>
            </a:pPr>
            <a:r>
              <a:rPr lang="en-US" sz="1400" b="1" dirty="0">
                <a:solidFill>
                  <a:srgbClr val="FFFFFF"/>
                </a:solidFill>
                <a:latin typeface="Arial" pitchFamily="34" charset="0"/>
                <a:ea typeface="Arial" pitchFamily="34" charset="-122"/>
                <a:cs typeface="Arial" pitchFamily="34" charset="-120"/>
              </a:rPr>
              <a:t>Private ve Public Cloud'da tarafsız</a:t>
            </a:r>
            <a:endParaRPr lang="en-US" sz="1400" dirty="0"/>
          </a:p>
        </p:txBody>
      </p:sp>
      <p:sp>
        <p:nvSpPr>
          <p:cNvPr id="25" name="Text 22"/>
          <p:cNvSpPr/>
          <p:nvPr/>
        </p:nvSpPr>
        <p:spPr>
          <a:xfrm>
            <a:off x="502920" y="6492240"/>
            <a:ext cx="5486400" cy="256032"/>
          </a:xfrm>
          <a:prstGeom prst="rect">
            <a:avLst/>
          </a:prstGeom>
          <a:noFill/>
          <a:ln/>
        </p:spPr>
        <p:txBody>
          <a:bodyPr wrap="square" rtlCol="0" anchor="ctr"/>
          <a:lstStyle/>
          <a:p>
            <a:pPr algn="l" indent="0" marL="0">
              <a:buNone/>
            </a:pPr>
            <a:r>
              <a:rPr lang="en-US" sz="900" spc="150" kern="0" dirty="0">
                <a:solidFill>
                  <a:srgbClr val="6C7B80"/>
                </a:solidFill>
                <a:latin typeface="Arial" pitchFamily="34" charset="0"/>
                <a:ea typeface="Arial" pitchFamily="34" charset="-122"/>
                <a:cs typeface="Arial" pitchFamily="34" charset="-120"/>
              </a:rPr>
              <a:t>HAKKIMIZDA</a:t>
            </a:r>
            <a:endParaRPr lang="en-US" sz="900" dirty="0"/>
          </a:p>
        </p:txBody>
      </p:sp>
      <p:sp>
        <p:nvSpPr>
          <p:cNvPr id="26" name="Text 23"/>
          <p:cNvSpPr/>
          <p:nvPr/>
        </p:nvSpPr>
        <p:spPr>
          <a:xfrm>
            <a:off x="8945575" y="6492240"/>
            <a:ext cx="2743200" cy="256032"/>
          </a:xfrm>
          <a:prstGeom prst="rect">
            <a:avLst/>
          </a:prstGeom>
          <a:noFill/>
          <a:ln/>
        </p:spPr>
        <p:txBody>
          <a:bodyPr wrap="square" rtlCol="0" anchor="ctr"/>
          <a:lstStyle/>
          <a:p>
            <a:pPr algn="r" indent="0" marL="0">
              <a:buNone/>
            </a:pPr>
            <a:r>
              <a:rPr lang="en-US" sz="900" dirty="0">
                <a:solidFill>
                  <a:srgbClr val="6C7B80"/>
                </a:solidFill>
                <a:latin typeface="Arial" pitchFamily="34" charset="0"/>
                <a:ea typeface="Arial" pitchFamily="34" charset="-122"/>
                <a:cs typeface="Arial" pitchFamily="34" charset="-120"/>
              </a:rPr>
              <a:t>CPeak Consultancy</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65760"/>
            <a:ext cx="10515600" cy="292608"/>
          </a:xfrm>
          <a:prstGeom prst="rect">
            <a:avLst/>
          </a:prstGeom>
          <a:noFill/>
          <a:ln/>
        </p:spPr>
        <p:txBody>
          <a:bodyPr wrap="square" rtlCol="0" anchor="ctr"/>
          <a:lstStyle/>
          <a:p>
            <a:pPr indent="0" marL="0">
              <a:buNone/>
            </a:pPr>
            <a:r>
              <a:rPr lang="en-US" sz="1250" b="1" spc="200" kern="0" dirty="0">
                <a:solidFill>
                  <a:srgbClr val="11676A"/>
                </a:solidFill>
                <a:latin typeface="Arial" pitchFamily="34" charset="0"/>
                <a:ea typeface="Arial" pitchFamily="34" charset="-122"/>
                <a:cs typeface="Arial" pitchFamily="34" charset="-120"/>
              </a:rPr>
              <a:t>KONUMLANDIRMA</a:t>
            </a:r>
            <a:endParaRPr lang="en-US" sz="1250" dirty="0"/>
          </a:p>
        </p:txBody>
      </p:sp>
      <p:sp>
        <p:nvSpPr>
          <p:cNvPr id="3" name="Text 1"/>
          <p:cNvSpPr/>
          <p:nvPr/>
        </p:nvSpPr>
        <p:spPr>
          <a:xfrm>
            <a:off x="502920" y="640080"/>
            <a:ext cx="11155680" cy="822960"/>
          </a:xfrm>
          <a:prstGeom prst="rect">
            <a:avLst/>
          </a:prstGeom>
          <a:noFill/>
          <a:ln/>
        </p:spPr>
        <p:txBody>
          <a:bodyPr wrap="square" rtlCol="0" anchor="ctr">
            <a:normAutofit/>
          </a:bodyPr>
          <a:lstStyle/>
          <a:p>
            <a:pPr indent="0" marL="0">
              <a:lnSpc>
                <a:spcPts val="3200"/>
              </a:lnSpc>
              <a:buNone/>
            </a:pPr>
            <a:r>
              <a:rPr lang="en-US" sz="2800" b="1" dirty="0">
                <a:solidFill>
                  <a:srgbClr val="16262C"/>
                </a:solidFill>
                <a:latin typeface="Arial" pitchFamily="34" charset="0"/>
                <a:ea typeface="Arial" pitchFamily="34" charset="-122"/>
                <a:cs typeface="Arial" pitchFamily="34" charset="-120"/>
              </a:rPr>
              <a:t>Neden dar bir uzmanlık alanı seçtik</a:t>
            </a:r>
            <a:endParaRPr lang="en-US" sz="2800" dirty="0"/>
          </a:p>
        </p:txBody>
      </p:sp>
      <p:sp>
        <p:nvSpPr>
          <p:cNvPr id="4" name="Shape 2"/>
          <p:cNvSpPr/>
          <p:nvPr/>
        </p:nvSpPr>
        <p:spPr>
          <a:xfrm>
            <a:off x="502920" y="1783080"/>
            <a:ext cx="566928" cy="566928"/>
          </a:xfrm>
          <a:prstGeom prst="ellipse">
            <a:avLst/>
          </a:prstGeom>
          <a:solidFill>
            <a:srgbClr val="EFF5F5"/>
          </a:solidFill>
          <a:ln/>
        </p:spPr>
      </p:sp>
      <p:pic>
        <p:nvPicPr>
          <p:cNvPr id="5" name="Image 0" descr="/tmp/claude-0/-home-user-Default/f7e81ef3-2f73-50cc-818d-26c445ecb8fe/scratchpad/cpeak/build/icons/warning_teal.png">    </p:cNvPr>
          <p:cNvPicPr>
            <a:picLocks noChangeAspect="1"/>
          </p:cNvPicPr>
          <p:nvPr/>
        </p:nvPicPr>
        <p:blipFill>
          <a:blip r:embed="rId1"/>
          <a:stretch>
            <a:fillRect/>
          </a:stretch>
        </p:blipFill>
        <p:spPr>
          <a:xfrm>
            <a:off x="644652" y="1924812"/>
            <a:ext cx="283464" cy="283464"/>
          </a:xfrm>
          <a:prstGeom prst="rect">
            <a:avLst/>
          </a:prstGeom>
        </p:spPr>
      </p:pic>
      <p:sp>
        <p:nvSpPr>
          <p:cNvPr id="6" name="Text 3"/>
          <p:cNvSpPr/>
          <p:nvPr/>
        </p:nvSpPr>
        <p:spPr>
          <a:xfrm>
            <a:off x="1234440" y="1810512"/>
            <a:ext cx="5760720" cy="365760"/>
          </a:xfrm>
          <a:prstGeom prst="rect">
            <a:avLst/>
          </a:prstGeom>
          <a:noFill/>
          <a:ln/>
        </p:spPr>
        <p:txBody>
          <a:bodyPr wrap="square" rtlCol="0" anchor="ctr">
            <a:normAutofit/>
          </a:bodyPr>
          <a:lstStyle/>
          <a:p>
            <a:pPr indent="0" marL="0">
              <a:buNone/>
            </a:pPr>
            <a:r>
              <a:rPr lang="en-US" sz="1650" b="1" dirty="0">
                <a:solidFill>
                  <a:srgbClr val="16262C"/>
                </a:solidFill>
                <a:latin typeface="Arial" pitchFamily="34" charset="0"/>
                <a:ea typeface="Arial" pitchFamily="34" charset="-122"/>
                <a:cs typeface="Arial" pitchFamily="34" charset="-120"/>
              </a:rPr>
              <a:t>Yaygın modelin riski</a:t>
            </a:r>
            <a:endParaRPr lang="en-US" sz="1650" dirty="0"/>
          </a:p>
        </p:txBody>
      </p:sp>
      <p:sp>
        <p:nvSpPr>
          <p:cNvPr id="7" name="Text 4"/>
          <p:cNvSpPr/>
          <p:nvPr/>
        </p:nvSpPr>
        <p:spPr>
          <a:xfrm>
            <a:off x="1234440" y="2194560"/>
            <a:ext cx="5760720" cy="1417320"/>
          </a:xfrm>
          <a:prstGeom prst="rect">
            <a:avLst/>
          </a:prstGeom>
          <a:noFill/>
          <a:ln/>
        </p:spPr>
        <p:txBody>
          <a:bodyPr wrap="square" rtlCol="0" anchor="ctr">
            <a:normAutofit/>
          </a:bodyPr>
          <a:lstStyle/>
          <a:p>
            <a:pPr indent="0" marL="0">
              <a:lnSpc>
                <a:spcPts val="1800"/>
              </a:lnSpc>
              <a:buNone/>
            </a:pPr>
            <a:r>
              <a:rPr lang="en-US" sz="1250" dirty="0">
                <a:solidFill>
                  <a:srgbClr val="3D4C52"/>
                </a:solidFill>
                <a:latin typeface="Arial" pitchFamily="34" charset="0"/>
                <a:ea typeface="Arial" pitchFamily="34" charset="-122"/>
                <a:cs typeface="Arial" pitchFamily="34" charset="-120"/>
              </a:rPr>
              <a:t>SAP danışmanlığında yaygın yaklaşım geniş kapsam sunmak, sonra her alan için farklı bir uzman bulmaktır. Bu, satış aşamasında rahattır; ancak projede sorumluluğun dağılmasına yol açar.</a:t>
            </a:r>
            <a:endParaRPr lang="en-US" sz="1250" dirty="0"/>
          </a:p>
        </p:txBody>
      </p:sp>
      <p:sp>
        <p:nvSpPr>
          <p:cNvPr id="8" name="Shape 5"/>
          <p:cNvSpPr/>
          <p:nvPr/>
        </p:nvSpPr>
        <p:spPr>
          <a:xfrm>
            <a:off x="502920" y="3749040"/>
            <a:ext cx="566928" cy="566928"/>
          </a:xfrm>
          <a:prstGeom prst="ellipse">
            <a:avLst/>
          </a:prstGeom>
          <a:solidFill>
            <a:srgbClr val="EFF5F5"/>
          </a:solidFill>
          <a:ln/>
        </p:spPr>
      </p:sp>
      <p:pic>
        <p:nvPicPr>
          <p:cNvPr id="9" name="Image 1" descr="/tmp/claude-0/-home-user-Default/f7e81ef3-2f73-50cc-818d-26c445ecb8fe/scratchpad/cpeak/build/icons/bullseye_teal.png">    </p:cNvPr>
          <p:cNvPicPr>
            <a:picLocks noChangeAspect="1"/>
          </p:cNvPicPr>
          <p:nvPr/>
        </p:nvPicPr>
        <p:blipFill>
          <a:blip r:embed="rId2"/>
          <a:stretch>
            <a:fillRect/>
          </a:stretch>
        </p:blipFill>
        <p:spPr>
          <a:xfrm>
            <a:off x="644652" y="3890772"/>
            <a:ext cx="283464" cy="283464"/>
          </a:xfrm>
          <a:prstGeom prst="rect">
            <a:avLst/>
          </a:prstGeom>
        </p:spPr>
      </p:pic>
      <p:sp>
        <p:nvSpPr>
          <p:cNvPr id="10" name="Text 6"/>
          <p:cNvSpPr/>
          <p:nvPr/>
        </p:nvSpPr>
        <p:spPr>
          <a:xfrm>
            <a:off x="1234440" y="3776472"/>
            <a:ext cx="5760720" cy="365760"/>
          </a:xfrm>
          <a:prstGeom prst="rect">
            <a:avLst/>
          </a:prstGeom>
          <a:noFill/>
          <a:ln/>
        </p:spPr>
        <p:txBody>
          <a:bodyPr wrap="square" rtlCol="0" anchor="ctr">
            <a:normAutofit/>
          </a:bodyPr>
          <a:lstStyle/>
          <a:p>
            <a:pPr indent="0" marL="0">
              <a:buNone/>
            </a:pPr>
            <a:r>
              <a:rPr lang="en-US" sz="1650" b="1" dirty="0">
                <a:solidFill>
                  <a:srgbClr val="16262C"/>
                </a:solidFill>
                <a:latin typeface="Arial" pitchFamily="34" charset="0"/>
                <a:ea typeface="Arial" pitchFamily="34" charset="-122"/>
                <a:cs typeface="Arial" pitchFamily="34" charset="-120"/>
              </a:rPr>
              <a:t>Bizim tercihimiz</a:t>
            </a:r>
            <a:endParaRPr lang="en-US" sz="1650" dirty="0"/>
          </a:p>
        </p:txBody>
      </p:sp>
      <p:sp>
        <p:nvSpPr>
          <p:cNvPr id="11" name="Text 7"/>
          <p:cNvSpPr/>
          <p:nvPr/>
        </p:nvSpPr>
        <p:spPr>
          <a:xfrm>
            <a:off x="1234440" y="4160520"/>
            <a:ext cx="5760720" cy="1417320"/>
          </a:xfrm>
          <a:prstGeom prst="rect">
            <a:avLst/>
          </a:prstGeom>
          <a:noFill/>
          <a:ln/>
        </p:spPr>
        <p:txBody>
          <a:bodyPr wrap="square" rtlCol="0" anchor="ctr">
            <a:normAutofit/>
          </a:bodyPr>
          <a:lstStyle/>
          <a:p>
            <a:pPr indent="0" marL="0">
              <a:lnSpc>
                <a:spcPts val="1800"/>
              </a:lnSpc>
              <a:buNone/>
            </a:pPr>
            <a:r>
              <a:rPr lang="en-US" sz="1250" dirty="0">
                <a:solidFill>
                  <a:srgbClr val="3D4C52"/>
                </a:solidFill>
                <a:latin typeface="Arial" pitchFamily="34" charset="0"/>
                <a:ea typeface="Arial" pitchFamily="34" charset="-122"/>
                <a:cs typeface="Arial" pitchFamily="34" charset="-120"/>
              </a:rPr>
              <a:t>Finans modülleri ve bulut mimarisi dışına çıkmıyoruz. Bir işi almamız, o işin en zor kısmını dışarıya devretmeyeceğimiz anlamına gelir.</a:t>
            </a:r>
            <a:endParaRPr lang="en-US" sz="1250" dirty="0"/>
          </a:p>
        </p:txBody>
      </p:sp>
      <p:sp>
        <p:nvSpPr>
          <p:cNvPr id="12" name="Shape 8"/>
          <p:cNvSpPr/>
          <p:nvPr/>
        </p:nvSpPr>
        <p:spPr>
          <a:xfrm>
            <a:off x="7635240" y="1783080"/>
            <a:ext cx="4069080" cy="4434840"/>
          </a:xfrm>
          <a:prstGeom prst="roundRect">
            <a:avLst>
              <a:gd name="adj" fmla="val 1798"/>
            </a:avLst>
          </a:prstGeom>
          <a:solidFill>
            <a:srgbClr val="11676A"/>
          </a:solidFill>
          <a:ln/>
        </p:spPr>
      </p:sp>
      <p:sp>
        <p:nvSpPr>
          <p:cNvPr id="13" name="Text 9"/>
          <p:cNvSpPr/>
          <p:nvPr/>
        </p:nvSpPr>
        <p:spPr>
          <a:xfrm>
            <a:off x="8001000" y="2057400"/>
            <a:ext cx="3383280" cy="274320"/>
          </a:xfrm>
          <a:prstGeom prst="rect">
            <a:avLst/>
          </a:prstGeom>
          <a:noFill/>
          <a:ln/>
        </p:spPr>
        <p:txBody>
          <a:bodyPr wrap="square" rtlCol="0" anchor="ctr"/>
          <a:lstStyle/>
          <a:p>
            <a:pPr indent="0" marL="0">
              <a:buNone/>
            </a:pPr>
            <a:r>
              <a:rPr lang="en-US" sz="1100" b="1" spc="150" kern="0" dirty="0">
                <a:solidFill>
                  <a:srgbClr val="CFEDEC"/>
                </a:solidFill>
                <a:latin typeface="Arial" pitchFamily="34" charset="0"/>
                <a:ea typeface="Arial" pitchFamily="34" charset="-122"/>
                <a:cs typeface="Arial" pitchFamily="34" charset="-120"/>
              </a:rPr>
              <a:t>PRATİK SONUCU</a:t>
            </a:r>
            <a:endParaRPr lang="en-US" sz="1100" dirty="0"/>
          </a:p>
        </p:txBody>
      </p:sp>
      <p:sp>
        <p:nvSpPr>
          <p:cNvPr id="14" name="Text 10"/>
          <p:cNvSpPr/>
          <p:nvPr/>
        </p:nvSpPr>
        <p:spPr>
          <a:xfrm>
            <a:off x="8001000" y="2423160"/>
            <a:ext cx="3383280" cy="1417320"/>
          </a:xfrm>
          <a:prstGeom prst="rect">
            <a:avLst/>
          </a:prstGeom>
          <a:noFill/>
          <a:ln/>
        </p:spPr>
        <p:txBody>
          <a:bodyPr wrap="square" rtlCol="0" anchor="ctr">
            <a:normAutofit/>
          </a:bodyPr>
          <a:lstStyle/>
          <a:p>
            <a:pPr indent="0" marL="0">
              <a:lnSpc>
                <a:spcPts val="2000"/>
              </a:lnSpc>
              <a:buNone/>
            </a:pPr>
            <a:r>
              <a:rPr lang="en-US" sz="1500" b="1" dirty="0">
                <a:solidFill>
                  <a:srgbClr val="FFFFFF"/>
                </a:solidFill>
                <a:latin typeface="Arial" pitchFamily="34" charset="0"/>
                <a:ea typeface="Arial" pitchFamily="34" charset="-122"/>
                <a:cs typeface="Arial" pitchFamily="34" charset="-120"/>
              </a:rPr>
              <a:t>Uzmanlık alanımız dışındaki modüllerin ana sorumluluğunu almıyoruz — bunu yaklaşımımız sayfasında açıkça yazıyoruz.</a:t>
            </a:r>
            <a:endParaRPr lang="en-US" sz="1500" dirty="0"/>
          </a:p>
        </p:txBody>
      </p:sp>
      <p:sp>
        <p:nvSpPr>
          <p:cNvPr id="15" name="Shape 11"/>
          <p:cNvSpPr/>
          <p:nvPr/>
        </p:nvSpPr>
        <p:spPr>
          <a:xfrm>
            <a:off x="8001000" y="3977640"/>
            <a:ext cx="3383280" cy="0"/>
          </a:xfrm>
          <a:prstGeom prst="line">
            <a:avLst/>
          </a:prstGeom>
          <a:noFill/>
          <a:ln w="12700">
            <a:solidFill>
              <a:srgbClr val="3E8B8D"/>
            </a:solidFill>
            <a:prstDash val="solid"/>
          </a:ln>
        </p:spPr>
      </p:sp>
      <p:sp>
        <p:nvSpPr>
          <p:cNvPr id="16" name="Text 12"/>
          <p:cNvSpPr/>
          <p:nvPr/>
        </p:nvSpPr>
        <p:spPr>
          <a:xfrm>
            <a:off x="8001000" y="4160520"/>
            <a:ext cx="3383280" cy="1920240"/>
          </a:xfrm>
          <a:prstGeom prst="rect">
            <a:avLst/>
          </a:prstGeom>
          <a:noFill/>
          <a:ln/>
        </p:spPr>
        <p:txBody>
          <a:bodyPr wrap="square" rtlCol="0" anchor="ctr">
            <a:normAutofit/>
          </a:bodyPr>
          <a:lstStyle/>
          <a:p>
            <a:pPr indent="0" marL="0">
              <a:lnSpc>
                <a:spcPts val="1900"/>
              </a:lnSpc>
              <a:buNone/>
            </a:pPr>
            <a:r>
              <a:rPr lang="en-US" sz="1300" dirty="0">
                <a:solidFill>
                  <a:srgbClr val="E7F6F5"/>
                </a:solidFill>
                <a:latin typeface="Arial" pitchFamily="34" charset="0"/>
                <a:ea typeface="Arial" pitchFamily="34" charset="-122"/>
                <a:cs typeface="Arial" pitchFamily="34" charset="-120"/>
              </a:rPr>
              <a:t>Bu odak, ölçek anlamına gelmiyor. Aynı anda çok sayıda proje yürütmek yerine, kıdemli kadronun fiilen çalışmasını mümkün kılacak sayıda iş alıyoruz.</a:t>
            </a:r>
            <a:endParaRPr lang="en-US" sz="1300" dirty="0"/>
          </a:p>
        </p:txBody>
      </p:sp>
      <p:sp>
        <p:nvSpPr>
          <p:cNvPr id="17" name="Text 13"/>
          <p:cNvSpPr/>
          <p:nvPr/>
        </p:nvSpPr>
        <p:spPr>
          <a:xfrm>
            <a:off x="502920" y="6492240"/>
            <a:ext cx="5486400" cy="256032"/>
          </a:xfrm>
          <a:prstGeom prst="rect">
            <a:avLst/>
          </a:prstGeom>
          <a:noFill/>
          <a:ln/>
        </p:spPr>
        <p:txBody>
          <a:bodyPr wrap="square" rtlCol="0" anchor="ctr"/>
          <a:lstStyle/>
          <a:p>
            <a:pPr algn="l" indent="0" marL="0">
              <a:buNone/>
            </a:pPr>
            <a:r>
              <a:rPr lang="en-US" sz="900" spc="150" kern="0" dirty="0">
                <a:solidFill>
                  <a:srgbClr val="6C7B80"/>
                </a:solidFill>
                <a:latin typeface="Arial" pitchFamily="34" charset="0"/>
                <a:ea typeface="Arial" pitchFamily="34" charset="-122"/>
                <a:cs typeface="Arial" pitchFamily="34" charset="-120"/>
              </a:rPr>
              <a:t>KONUMLANDIRMA</a:t>
            </a:r>
            <a:endParaRPr lang="en-US" sz="900" dirty="0"/>
          </a:p>
        </p:txBody>
      </p:sp>
      <p:sp>
        <p:nvSpPr>
          <p:cNvPr id="18" name="Text 14"/>
          <p:cNvSpPr/>
          <p:nvPr/>
        </p:nvSpPr>
        <p:spPr>
          <a:xfrm>
            <a:off x="8945575" y="6492240"/>
            <a:ext cx="2743200" cy="256032"/>
          </a:xfrm>
          <a:prstGeom prst="rect">
            <a:avLst/>
          </a:prstGeom>
          <a:noFill/>
          <a:ln/>
        </p:spPr>
        <p:txBody>
          <a:bodyPr wrap="square" rtlCol="0" anchor="ctr"/>
          <a:lstStyle/>
          <a:p>
            <a:pPr algn="r" indent="0" marL="0">
              <a:buNone/>
            </a:pPr>
            <a:r>
              <a:rPr lang="en-US" sz="900" dirty="0">
                <a:solidFill>
                  <a:srgbClr val="6C7B80"/>
                </a:solidFill>
                <a:latin typeface="Arial" pitchFamily="34" charset="0"/>
                <a:ea typeface="Arial" pitchFamily="34" charset="-122"/>
                <a:cs typeface="Arial" pitchFamily="34" charset="-120"/>
              </a:rPr>
              <a:t>CPeak Consultancy</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65760"/>
            <a:ext cx="10515600" cy="292608"/>
          </a:xfrm>
          <a:prstGeom prst="rect">
            <a:avLst/>
          </a:prstGeom>
          <a:noFill/>
          <a:ln/>
        </p:spPr>
        <p:txBody>
          <a:bodyPr wrap="square" rtlCol="0" anchor="ctr"/>
          <a:lstStyle/>
          <a:p>
            <a:pPr indent="0" marL="0">
              <a:buNone/>
            </a:pPr>
            <a:r>
              <a:rPr lang="en-US" sz="1250" b="1" spc="200" kern="0" dirty="0">
                <a:solidFill>
                  <a:srgbClr val="11676A"/>
                </a:solidFill>
                <a:latin typeface="Arial" pitchFamily="34" charset="0"/>
                <a:ea typeface="Arial" pitchFamily="34" charset="-122"/>
                <a:cs typeface="Arial" pitchFamily="34" charset="-120"/>
              </a:rPr>
              <a:t>UZMANLIK</a:t>
            </a:r>
            <a:endParaRPr lang="en-US" sz="1250" dirty="0"/>
          </a:p>
        </p:txBody>
      </p:sp>
      <p:sp>
        <p:nvSpPr>
          <p:cNvPr id="3" name="Text 1"/>
          <p:cNvSpPr/>
          <p:nvPr/>
        </p:nvSpPr>
        <p:spPr>
          <a:xfrm>
            <a:off x="502920" y="640080"/>
            <a:ext cx="11155680" cy="822960"/>
          </a:xfrm>
          <a:prstGeom prst="rect">
            <a:avLst/>
          </a:prstGeom>
          <a:noFill/>
          <a:ln/>
        </p:spPr>
        <p:txBody>
          <a:bodyPr wrap="square" rtlCol="0" anchor="ctr">
            <a:normAutofit/>
          </a:bodyPr>
          <a:lstStyle/>
          <a:p>
            <a:pPr indent="0" marL="0">
              <a:lnSpc>
                <a:spcPts val="3200"/>
              </a:lnSpc>
              <a:buNone/>
            </a:pPr>
            <a:r>
              <a:rPr lang="en-US" sz="2800" b="1" dirty="0">
                <a:solidFill>
                  <a:srgbClr val="16262C"/>
                </a:solidFill>
                <a:latin typeface="Arial" pitchFamily="34" charset="0"/>
                <a:ea typeface="Arial" pitchFamily="34" charset="-122"/>
                <a:cs typeface="Arial" pitchFamily="34" charset="-120"/>
              </a:rPr>
              <a:t>Ne üzerinde çalışıyoruz?</a:t>
            </a:r>
            <a:endParaRPr lang="en-US" sz="2800" dirty="0"/>
          </a:p>
        </p:txBody>
      </p:sp>
      <p:sp>
        <p:nvSpPr>
          <p:cNvPr id="4" name="Text 2"/>
          <p:cNvSpPr/>
          <p:nvPr/>
        </p:nvSpPr>
        <p:spPr>
          <a:xfrm>
            <a:off x="502920" y="1371600"/>
            <a:ext cx="10058400" cy="365760"/>
          </a:xfrm>
          <a:prstGeom prst="rect">
            <a:avLst/>
          </a:prstGeom>
          <a:noFill/>
          <a:ln/>
        </p:spPr>
        <p:txBody>
          <a:bodyPr wrap="square" rtlCol="0" anchor="ctr"/>
          <a:lstStyle/>
          <a:p>
            <a:pPr indent="0" marL="0">
              <a:buNone/>
            </a:pPr>
            <a:r>
              <a:rPr lang="en-US" sz="1400" dirty="0">
                <a:solidFill>
                  <a:srgbClr val="6C7B80"/>
                </a:solidFill>
                <a:latin typeface="Arial" pitchFamily="34" charset="0"/>
                <a:ea typeface="Arial" pitchFamily="34" charset="-122"/>
                <a:cs typeface="Arial" pitchFamily="34" charset="-120"/>
              </a:rPr>
              <a:t>Uzmanlığımız üç alanda birleşiyor ve bu üçü birbirini besliyor.</a:t>
            </a:r>
            <a:endParaRPr lang="en-US" sz="1400" dirty="0"/>
          </a:p>
        </p:txBody>
      </p:sp>
      <p:sp>
        <p:nvSpPr>
          <p:cNvPr id="5" name="Shape 3"/>
          <p:cNvSpPr/>
          <p:nvPr/>
        </p:nvSpPr>
        <p:spPr>
          <a:xfrm>
            <a:off x="502920" y="1874520"/>
            <a:ext cx="3611880" cy="4251960"/>
          </a:xfrm>
          <a:prstGeom prst="roundRect">
            <a:avLst>
              <a:gd name="adj" fmla="val 2025"/>
            </a:avLst>
          </a:prstGeom>
          <a:solidFill>
            <a:srgbClr val="EFF5F5"/>
          </a:solidFill>
          <a:ln/>
        </p:spPr>
      </p:sp>
      <p:sp>
        <p:nvSpPr>
          <p:cNvPr id="6" name="Shape 4"/>
          <p:cNvSpPr/>
          <p:nvPr/>
        </p:nvSpPr>
        <p:spPr>
          <a:xfrm>
            <a:off x="822960" y="2194560"/>
            <a:ext cx="640080" cy="640080"/>
          </a:xfrm>
          <a:prstGeom prst="ellipse">
            <a:avLst/>
          </a:prstGeom>
          <a:solidFill>
            <a:srgbClr val="11676A"/>
          </a:solidFill>
          <a:ln/>
        </p:spPr>
      </p:sp>
      <p:pic>
        <p:nvPicPr>
          <p:cNvPr id="7" name="Image 0" descr="/tmp/claude-0/-home-user-Default/f7e81ef3-2f73-50cc-818d-26c445ecb8fe/scratchpad/cpeak/build/icons/landmark_white.png">    </p:cNvPr>
          <p:cNvPicPr>
            <a:picLocks noChangeAspect="1"/>
          </p:cNvPicPr>
          <p:nvPr/>
        </p:nvPicPr>
        <p:blipFill>
          <a:blip r:embed="rId1"/>
          <a:stretch>
            <a:fillRect/>
          </a:stretch>
        </p:blipFill>
        <p:spPr>
          <a:xfrm>
            <a:off x="982980" y="2354580"/>
            <a:ext cx="320040" cy="320040"/>
          </a:xfrm>
          <a:prstGeom prst="rect">
            <a:avLst/>
          </a:prstGeom>
        </p:spPr>
      </p:pic>
      <p:sp>
        <p:nvSpPr>
          <p:cNvPr id="8" name="Text 5"/>
          <p:cNvSpPr/>
          <p:nvPr/>
        </p:nvSpPr>
        <p:spPr>
          <a:xfrm>
            <a:off x="777240" y="3017520"/>
            <a:ext cx="3063240" cy="457200"/>
          </a:xfrm>
          <a:prstGeom prst="rect">
            <a:avLst/>
          </a:prstGeom>
          <a:noFill/>
          <a:ln/>
        </p:spPr>
        <p:txBody>
          <a:bodyPr wrap="square" rtlCol="0" anchor="ctr">
            <a:normAutofit/>
          </a:bodyPr>
          <a:lstStyle/>
          <a:p>
            <a:pPr indent="0" marL="0">
              <a:buNone/>
            </a:pPr>
            <a:r>
              <a:rPr lang="en-US" sz="1700" b="1" dirty="0">
                <a:solidFill>
                  <a:srgbClr val="16262C"/>
                </a:solidFill>
                <a:latin typeface="Arial" pitchFamily="34" charset="0"/>
                <a:ea typeface="Arial" pitchFamily="34" charset="-122"/>
                <a:cs typeface="Arial" pitchFamily="34" charset="-120"/>
              </a:rPr>
              <a:t>Finans Modülleri</a:t>
            </a:r>
            <a:endParaRPr lang="en-US" sz="1700" dirty="0"/>
          </a:p>
        </p:txBody>
      </p:sp>
      <p:sp>
        <p:nvSpPr>
          <p:cNvPr id="9" name="Text 6"/>
          <p:cNvSpPr/>
          <p:nvPr/>
        </p:nvSpPr>
        <p:spPr>
          <a:xfrm>
            <a:off x="777240" y="3447288"/>
            <a:ext cx="3063240" cy="502920"/>
          </a:xfrm>
          <a:prstGeom prst="rect">
            <a:avLst/>
          </a:prstGeom>
          <a:noFill/>
          <a:ln/>
        </p:spPr>
        <p:txBody>
          <a:bodyPr wrap="square" rtlCol="0" anchor="ctr">
            <a:normAutofit/>
          </a:bodyPr>
          <a:lstStyle/>
          <a:p>
            <a:pPr indent="0" marL="0">
              <a:lnSpc>
                <a:spcPts val="1500"/>
              </a:lnSpc>
              <a:buNone/>
            </a:pPr>
            <a:r>
              <a:rPr lang="en-US" sz="1150" b="1" dirty="0">
                <a:solidFill>
                  <a:srgbClr val="003F82"/>
                </a:solidFill>
                <a:latin typeface="Arial" pitchFamily="34" charset="0"/>
                <a:ea typeface="Arial" pitchFamily="34" charset="-122"/>
                <a:cs typeface="Arial" pitchFamily="34" charset="-120"/>
              </a:rPr>
              <a:t>SAP FI, CO, PA (Marj Analizi) ve PS (Proje Sistemi)</a:t>
            </a:r>
            <a:endParaRPr lang="en-US" sz="1150" dirty="0"/>
          </a:p>
        </p:txBody>
      </p:sp>
      <p:sp>
        <p:nvSpPr>
          <p:cNvPr id="10" name="Text 7"/>
          <p:cNvSpPr/>
          <p:nvPr/>
        </p:nvSpPr>
        <p:spPr>
          <a:xfrm>
            <a:off x="777240" y="4023360"/>
            <a:ext cx="3063240" cy="1965960"/>
          </a:xfrm>
          <a:prstGeom prst="rect">
            <a:avLst/>
          </a:prstGeom>
          <a:noFill/>
          <a:ln/>
        </p:spPr>
        <p:txBody>
          <a:bodyPr wrap="square" rtlCol="0" anchor="ctr">
            <a:normAutofit/>
          </a:bodyPr>
          <a:lstStyle/>
          <a:p>
            <a:pPr indent="0" marL="0">
              <a:lnSpc>
                <a:spcPts val="1600"/>
              </a:lnSpc>
              <a:buNone/>
            </a:pPr>
            <a:r>
              <a:rPr lang="en-US" sz="1150" dirty="0">
                <a:solidFill>
                  <a:srgbClr val="3D4C52"/>
                </a:solidFill>
                <a:latin typeface="Arial" pitchFamily="34" charset="0"/>
                <a:ea typeface="Arial" pitchFamily="34" charset="-122"/>
                <a:cs typeface="Arial" pitchFamily="34" charset="-120"/>
              </a:rPr>
              <a:t>FI ve CO tarafında global hesap planı ve üst düzey organizasyon yapısı tasarımı, maliyet ve kârlılık muhasebesi, kapanış sürecinin yeniden kurgulanması.</a:t>
            </a:r>
            <a:endParaRPr lang="en-US" sz="1150" dirty="0"/>
          </a:p>
        </p:txBody>
      </p:sp>
      <p:sp>
        <p:nvSpPr>
          <p:cNvPr id="11" name="Shape 8"/>
          <p:cNvSpPr/>
          <p:nvPr/>
        </p:nvSpPr>
        <p:spPr>
          <a:xfrm>
            <a:off x="4343400" y="1874520"/>
            <a:ext cx="3611880" cy="4251960"/>
          </a:xfrm>
          <a:prstGeom prst="roundRect">
            <a:avLst>
              <a:gd name="adj" fmla="val 2025"/>
            </a:avLst>
          </a:prstGeom>
          <a:solidFill>
            <a:srgbClr val="EFF5F5"/>
          </a:solidFill>
          <a:ln/>
        </p:spPr>
      </p:sp>
      <p:sp>
        <p:nvSpPr>
          <p:cNvPr id="12" name="Shape 9"/>
          <p:cNvSpPr/>
          <p:nvPr/>
        </p:nvSpPr>
        <p:spPr>
          <a:xfrm>
            <a:off x="4663440" y="2194560"/>
            <a:ext cx="640080" cy="640080"/>
          </a:xfrm>
          <a:prstGeom prst="ellipse">
            <a:avLst/>
          </a:prstGeom>
          <a:solidFill>
            <a:srgbClr val="11676A"/>
          </a:solidFill>
          <a:ln/>
        </p:spPr>
      </p:sp>
      <p:pic>
        <p:nvPicPr>
          <p:cNvPr id="13" name="Image 1" descr="/tmp/claude-0/-home-user-Default/f7e81ef3-2f73-50cc-818d-26c445ecb8fe/scratchpad/cpeak/build/icons/cloud_white.png">    </p:cNvPr>
          <p:cNvPicPr>
            <a:picLocks noChangeAspect="1"/>
          </p:cNvPicPr>
          <p:nvPr/>
        </p:nvPicPr>
        <p:blipFill>
          <a:blip r:embed="rId2"/>
          <a:stretch>
            <a:fillRect/>
          </a:stretch>
        </p:blipFill>
        <p:spPr>
          <a:xfrm>
            <a:off x="4823460" y="2354580"/>
            <a:ext cx="320040" cy="320040"/>
          </a:xfrm>
          <a:prstGeom prst="rect">
            <a:avLst/>
          </a:prstGeom>
        </p:spPr>
      </p:pic>
      <p:sp>
        <p:nvSpPr>
          <p:cNvPr id="14" name="Text 10"/>
          <p:cNvSpPr/>
          <p:nvPr/>
        </p:nvSpPr>
        <p:spPr>
          <a:xfrm>
            <a:off x="4617720" y="3017520"/>
            <a:ext cx="3063240" cy="457200"/>
          </a:xfrm>
          <a:prstGeom prst="rect">
            <a:avLst/>
          </a:prstGeom>
          <a:noFill/>
          <a:ln/>
        </p:spPr>
        <p:txBody>
          <a:bodyPr wrap="square" rtlCol="0" anchor="ctr">
            <a:normAutofit/>
          </a:bodyPr>
          <a:lstStyle/>
          <a:p>
            <a:pPr indent="0" marL="0">
              <a:buNone/>
            </a:pPr>
            <a:r>
              <a:rPr lang="en-US" sz="1700" b="1" dirty="0">
                <a:solidFill>
                  <a:srgbClr val="16262C"/>
                </a:solidFill>
                <a:latin typeface="Arial" pitchFamily="34" charset="0"/>
                <a:ea typeface="Arial" pitchFamily="34" charset="-122"/>
                <a:cs typeface="Arial" pitchFamily="34" charset="-120"/>
              </a:rPr>
              <a:t>Bulut Teknolojisi</a:t>
            </a:r>
            <a:endParaRPr lang="en-US" sz="1700" dirty="0"/>
          </a:p>
        </p:txBody>
      </p:sp>
      <p:sp>
        <p:nvSpPr>
          <p:cNvPr id="15" name="Text 11"/>
          <p:cNvSpPr/>
          <p:nvPr/>
        </p:nvSpPr>
        <p:spPr>
          <a:xfrm>
            <a:off x="4617720" y="3447288"/>
            <a:ext cx="3063240" cy="502920"/>
          </a:xfrm>
          <a:prstGeom prst="rect">
            <a:avLst/>
          </a:prstGeom>
          <a:noFill/>
          <a:ln/>
        </p:spPr>
        <p:txBody>
          <a:bodyPr wrap="square" rtlCol="0" anchor="ctr">
            <a:normAutofit/>
          </a:bodyPr>
          <a:lstStyle/>
          <a:p>
            <a:pPr indent="0" marL="0">
              <a:lnSpc>
                <a:spcPts val="1500"/>
              </a:lnSpc>
              <a:buNone/>
            </a:pPr>
            <a:r>
              <a:rPr lang="en-US" sz="1150" b="1" dirty="0">
                <a:solidFill>
                  <a:srgbClr val="003F82"/>
                </a:solidFill>
                <a:latin typeface="Arial" pitchFamily="34" charset="0"/>
                <a:ea typeface="Arial" pitchFamily="34" charset="-122"/>
                <a:cs typeface="Arial" pitchFamily="34" charset="-120"/>
              </a:rPr>
              <a:t>Private Cloud ve Public Cloud</a:t>
            </a:r>
            <a:endParaRPr lang="en-US" sz="1150" dirty="0"/>
          </a:p>
        </p:txBody>
      </p:sp>
      <p:sp>
        <p:nvSpPr>
          <p:cNvPr id="16" name="Text 12"/>
          <p:cNvSpPr/>
          <p:nvPr/>
        </p:nvSpPr>
        <p:spPr>
          <a:xfrm>
            <a:off x="4617720" y="4023360"/>
            <a:ext cx="3063240" cy="1965960"/>
          </a:xfrm>
          <a:prstGeom prst="rect">
            <a:avLst/>
          </a:prstGeom>
          <a:noFill/>
          <a:ln/>
        </p:spPr>
        <p:txBody>
          <a:bodyPr wrap="square" rtlCol="0" anchor="ctr">
            <a:normAutofit/>
          </a:bodyPr>
          <a:lstStyle/>
          <a:p>
            <a:pPr indent="0" marL="0">
              <a:lnSpc>
                <a:spcPts val="1600"/>
              </a:lnSpc>
              <a:buNone/>
            </a:pPr>
            <a:r>
              <a:rPr lang="en-US" sz="1150" dirty="0">
                <a:solidFill>
                  <a:srgbClr val="3D4C52"/>
                </a:solidFill>
                <a:latin typeface="Arial" pitchFamily="34" charset="0"/>
                <a:ea typeface="Arial" pitchFamily="34" charset="-122"/>
                <a:cs typeface="Arial" pitchFamily="34" charset="-120"/>
              </a:rPr>
              <a:t>Public Cloud ve Private Cloud modelleri arasında uygunluk değerlendirmesi, hedef mimari tasarımı ve canlı geçiş yönetimi. Belirli bir modelin savunuculuğunu yapmıyoruz.</a:t>
            </a:r>
            <a:endParaRPr lang="en-US" sz="1150" dirty="0"/>
          </a:p>
        </p:txBody>
      </p:sp>
      <p:sp>
        <p:nvSpPr>
          <p:cNvPr id="17" name="Shape 13"/>
          <p:cNvSpPr/>
          <p:nvPr/>
        </p:nvSpPr>
        <p:spPr>
          <a:xfrm>
            <a:off x="8183880" y="1874520"/>
            <a:ext cx="3611880" cy="4251960"/>
          </a:xfrm>
          <a:prstGeom prst="roundRect">
            <a:avLst>
              <a:gd name="adj" fmla="val 2025"/>
            </a:avLst>
          </a:prstGeom>
          <a:solidFill>
            <a:srgbClr val="EFF5F5"/>
          </a:solidFill>
          <a:ln/>
        </p:spPr>
      </p:sp>
      <p:sp>
        <p:nvSpPr>
          <p:cNvPr id="18" name="Shape 14"/>
          <p:cNvSpPr/>
          <p:nvPr/>
        </p:nvSpPr>
        <p:spPr>
          <a:xfrm>
            <a:off x="8503920" y="2194560"/>
            <a:ext cx="640080" cy="640080"/>
          </a:xfrm>
          <a:prstGeom prst="ellipse">
            <a:avLst/>
          </a:prstGeom>
          <a:solidFill>
            <a:srgbClr val="11676A"/>
          </a:solidFill>
          <a:ln/>
        </p:spPr>
      </p:sp>
      <p:pic>
        <p:nvPicPr>
          <p:cNvPr id="19" name="Image 2" descr="/tmp/claude-0/-home-user-Default/f7e81ef3-2f73-50cc-818d-26c445ecb8fe/scratchpad/cpeak/build/icons/robot_white.png">    </p:cNvPr>
          <p:cNvPicPr>
            <a:picLocks noChangeAspect="1"/>
          </p:cNvPicPr>
          <p:nvPr/>
        </p:nvPicPr>
        <p:blipFill>
          <a:blip r:embed="rId3"/>
          <a:stretch>
            <a:fillRect/>
          </a:stretch>
        </p:blipFill>
        <p:spPr>
          <a:xfrm>
            <a:off x="8663940" y="2354580"/>
            <a:ext cx="320040" cy="320040"/>
          </a:xfrm>
          <a:prstGeom prst="rect">
            <a:avLst/>
          </a:prstGeom>
        </p:spPr>
      </p:pic>
      <p:sp>
        <p:nvSpPr>
          <p:cNvPr id="20" name="Text 15"/>
          <p:cNvSpPr/>
          <p:nvPr/>
        </p:nvSpPr>
        <p:spPr>
          <a:xfrm>
            <a:off x="8458200" y="3017520"/>
            <a:ext cx="3063240" cy="457200"/>
          </a:xfrm>
          <a:prstGeom prst="rect">
            <a:avLst/>
          </a:prstGeom>
          <a:noFill/>
          <a:ln/>
        </p:spPr>
        <p:txBody>
          <a:bodyPr wrap="square" rtlCol="0" anchor="ctr">
            <a:normAutofit/>
          </a:bodyPr>
          <a:lstStyle/>
          <a:p>
            <a:pPr indent="0" marL="0">
              <a:buNone/>
            </a:pPr>
            <a:r>
              <a:rPr lang="en-US" sz="1700" b="1" dirty="0">
                <a:solidFill>
                  <a:srgbClr val="16262C"/>
                </a:solidFill>
                <a:latin typeface="Arial" pitchFamily="34" charset="0"/>
                <a:ea typeface="Arial" pitchFamily="34" charset="-122"/>
                <a:cs typeface="Arial" pitchFamily="34" charset="-120"/>
              </a:rPr>
              <a:t>Yapay Zeka ve RPA</a:t>
            </a:r>
            <a:endParaRPr lang="en-US" sz="1700" dirty="0"/>
          </a:p>
        </p:txBody>
      </p:sp>
      <p:sp>
        <p:nvSpPr>
          <p:cNvPr id="21" name="Text 16"/>
          <p:cNvSpPr/>
          <p:nvPr/>
        </p:nvSpPr>
        <p:spPr>
          <a:xfrm>
            <a:off x="8458200" y="3447288"/>
            <a:ext cx="3063240" cy="502920"/>
          </a:xfrm>
          <a:prstGeom prst="rect">
            <a:avLst/>
          </a:prstGeom>
          <a:noFill/>
          <a:ln/>
        </p:spPr>
        <p:txBody>
          <a:bodyPr wrap="square" rtlCol="0" anchor="ctr">
            <a:normAutofit/>
          </a:bodyPr>
          <a:lstStyle/>
          <a:p>
            <a:pPr indent="0" marL="0">
              <a:lnSpc>
                <a:spcPts val="1500"/>
              </a:lnSpc>
              <a:buNone/>
            </a:pPr>
            <a:r>
              <a:rPr lang="en-US" sz="1150" b="1" dirty="0">
                <a:solidFill>
                  <a:srgbClr val="003F82"/>
                </a:solidFill>
                <a:latin typeface="Arial" pitchFamily="34" charset="0"/>
                <a:ea typeface="Arial" pitchFamily="34" charset="-122"/>
                <a:cs typeface="Arial" pitchFamily="34" charset="-120"/>
              </a:rPr>
              <a:t>Destekli süreç otomasyonu</a:t>
            </a:r>
            <a:endParaRPr lang="en-US" sz="1150" dirty="0"/>
          </a:p>
        </p:txBody>
      </p:sp>
      <p:sp>
        <p:nvSpPr>
          <p:cNvPr id="22" name="Text 17"/>
          <p:cNvSpPr/>
          <p:nvPr/>
        </p:nvSpPr>
        <p:spPr>
          <a:xfrm>
            <a:off x="8458200" y="4023360"/>
            <a:ext cx="3063240" cy="1965960"/>
          </a:xfrm>
          <a:prstGeom prst="rect">
            <a:avLst/>
          </a:prstGeom>
          <a:noFill/>
          <a:ln/>
        </p:spPr>
        <p:txBody>
          <a:bodyPr wrap="square" rtlCol="0" anchor="ctr">
            <a:normAutofit/>
          </a:bodyPr>
          <a:lstStyle/>
          <a:p>
            <a:pPr indent="0" marL="0">
              <a:lnSpc>
                <a:spcPts val="1600"/>
              </a:lnSpc>
              <a:buNone/>
            </a:pPr>
            <a:r>
              <a:rPr lang="en-US" sz="1150" dirty="0">
                <a:solidFill>
                  <a:srgbClr val="3D4C52"/>
                </a:solidFill>
                <a:latin typeface="Arial" pitchFamily="34" charset="0"/>
                <a:ea typeface="Arial" pitchFamily="34" charset="-122"/>
                <a:cs typeface="Arial" pitchFamily="34" charset="-120"/>
              </a:rPr>
              <a:t>SAP'nin yerleşik yapay zeka yetenekleriyle mutabakat, anomali tespiti ve tahmine dayalı muhasebe alanlarında otomasyon sağlıyoruz; bunu ölçüme dayalı ve fazlı biçimde yapıyoruz.</a:t>
            </a:r>
            <a:endParaRPr lang="en-US" sz="1150" dirty="0"/>
          </a:p>
        </p:txBody>
      </p:sp>
      <p:sp>
        <p:nvSpPr>
          <p:cNvPr id="23" name="Text 18"/>
          <p:cNvSpPr/>
          <p:nvPr/>
        </p:nvSpPr>
        <p:spPr>
          <a:xfrm>
            <a:off x="502920" y="6492240"/>
            <a:ext cx="5486400" cy="256032"/>
          </a:xfrm>
          <a:prstGeom prst="rect">
            <a:avLst/>
          </a:prstGeom>
          <a:noFill/>
          <a:ln/>
        </p:spPr>
        <p:txBody>
          <a:bodyPr wrap="square" rtlCol="0" anchor="ctr"/>
          <a:lstStyle/>
          <a:p>
            <a:pPr algn="l" indent="0" marL="0">
              <a:buNone/>
            </a:pPr>
            <a:r>
              <a:rPr lang="en-US" sz="900" spc="150" kern="0" dirty="0">
                <a:solidFill>
                  <a:srgbClr val="6C7B80"/>
                </a:solidFill>
                <a:latin typeface="Arial" pitchFamily="34" charset="0"/>
                <a:ea typeface="Arial" pitchFamily="34" charset="-122"/>
                <a:cs typeface="Arial" pitchFamily="34" charset="-120"/>
              </a:rPr>
              <a:t>UZMANLIK ALANLARI</a:t>
            </a:r>
            <a:endParaRPr lang="en-US" sz="900" dirty="0"/>
          </a:p>
        </p:txBody>
      </p:sp>
      <p:sp>
        <p:nvSpPr>
          <p:cNvPr id="24" name="Text 19"/>
          <p:cNvSpPr/>
          <p:nvPr/>
        </p:nvSpPr>
        <p:spPr>
          <a:xfrm>
            <a:off x="8945575" y="6492240"/>
            <a:ext cx="2743200" cy="256032"/>
          </a:xfrm>
          <a:prstGeom prst="rect">
            <a:avLst/>
          </a:prstGeom>
          <a:noFill/>
          <a:ln/>
        </p:spPr>
        <p:txBody>
          <a:bodyPr wrap="square" rtlCol="0" anchor="ctr"/>
          <a:lstStyle/>
          <a:p>
            <a:pPr algn="r" indent="0" marL="0">
              <a:buNone/>
            </a:pPr>
            <a:r>
              <a:rPr lang="en-US" sz="900" dirty="0">
                <a:solidFill>
                  <a:srgbClr val="6C7B80"/>
                </a:solidFill>
                <a:latin typeface="Arial" pitchFamily="34" charset="0"/>
                <a:ea typeface="Arial" pitchFamily="34" charset="-122"/>
                <a:cs typeface="Arial" pitchFamily="34" charset="-120"/>
              </a:rPr>
              <a:t>CPeak Consultancy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365760"/>
            <a:ext cx="10515600" cy="292608"/>
          </a:xfrm>
          <a:prstGeom prst="rect">
            <a:avLst/>
          </a:prstGeom>
          <a:noFill/>
          <a:ln/>
        </p:spPr>
        <p:txBody>
          <a:bodyPr wrap="square" rtlCol="0" anchor="ctr"/>
          <a:lstStyle/>
          <a:p>
            <a:pPr indent="0" marL="0">
              <a:buNone/>
            </a:pPr>
            <a:r>
              <a:rPr lang="en-US" sz="1250" b="1" spc="200" kern="0" dirty="0">
                <a:solidFill>
                  <a:srgbClr val="11676A"/>
                </a:solidFill>
                <a:latin typeface="Arial" pitchFamily="34" charset="0"/>
                <a:ea typeface="Arial" pitchFamily="34" charset="-122"/>
                <a:cs typeface="Arial" pitchFamily="34" charset="-120"/>
              </a:rPr>
              <a:t>ÇÖZÜMLER</a:t>
            </a:r>
            <a:endParaRPr lang="en-US" sz="1250" dirty="0"/>
          </a:p>
        </p:txBody>
      </p:sp>
      <p:sp>
        <p:nvSpPr>
          <p:cNvPr id="3" name="Text 1"/>
          <p:cNvSpPr/>
          <p:nvPr/>
        </p:nvSpPr>
        <p:spPr>
          <a:xfrm>
            <a:off x="502920" y="640080"/>
            <a:ext cx="11155680" cy="822960"/>
          </a:xfrm>
          <a:prstGeom prst="rect">
            <a:avLst/>
          </a:prstGeom>
          <a:noFill/>
          <a:ln/>
        </p:spPr>
        <p:txBody>
          <a:bodyPr wrap="square" rtlCol="0" anchor="ctr">
            <a:normAutofit/>
          </a:bodyPr>
          <a:lstStyle/>
          <a:p>
            <a:pPr indent="0" marL="0">
              <a:lnSpc>
                <a:spcPts val="3200"/>
              </a:lnSpc>
              <a:buNone/>
            </a:pPr>
            <a:r>
              <a:rPr lang="en-US" sz="2800" b="1" dirty="0">
                <a:solidFill>
                  <a:srgbClr val="16262C"/>
                </a:solidFill>
                <a:latin typeface="Arial" pitchFamily="34" charset="0"/>
                <a:ea typeface="Arial" pitchFamily="34" charset="-122"/>
                <a:cs typeface="Arial" pitchFamily="34" charset="-120"/>
              </a:rPr>
              <a:t>Beş çözüm alanında tek finans bakış açısı</a:t>
            </a:r>
            <a:endParaRPr lang="en-US" sz="2800" dirty="0"/>
          </a:p>
        </p:txBody>
      </p:sp>
      <p:sp>
        <p:nvSpPr>
          <p:cNvPr id="4" name="Text 2"/>
          <p:cNvSpPr/>
          <p:nvPr/>
        </p:nvSpPr>
        <p:spPr>
          <a:xfrm>
            <a:off x="502920" y="1371600"/>
            <a:ext cx="10058400" cy="365760"/>
          </a:xfrm>
          <a:prstGeom prst="rect">
            <a:avLst/>
          </a:prstGeom>
          <a:noFill/>
          <a:ln/>
        </p:spPr>
        <p:txBody>
          <a:bodyPr wrap="square" rtlCol="0" anchor="ctr"/>
          <a:lstStyle/>
          <a:p>
            <a:pPr indent="0" marL="0">
              <a:buNone/>
            </a:pPr>
            <a:r>
              <a:rPr lang="en-US" sz="1400" dirty="0">
                <a:solidFill>
                  <a:srgbClr val="6C7B80"/>
                </a:solidFill>
                <a:latin typeface="Arial" pitchFamily="34" charset="0"/>
                <a:ea typeface="Arial" pitchFamily="34" charset="-122"/>
                <a:cs typeface="Arial" pitchFamily="34" charset="-120"/>
              </a:rPr>
              <a:t>Her çalışma, finans ekibinin günlük işine ne olacağı sorusundan başlar.</a:t>
            </a:r>
            <a:endParaRPr lang="en-US" sz="1400" dirty="0"/>
          </a:p>
        </p:txBody>
      </p:sp>
      <p:sp>
        <p:nvSpPr>
          <p:cNvPr id="5" name="Shape 3"/>
          <p:cNvSpPr/>
          <p:nvPr/>
        </p:nvSpPr>
        <p:spPr>
          <a:xfrm>
            <a:off x="502920" y="1874520"/>
            <a:ext cx="3429000" cy="1965960"/>
          </a:xfrm>
          <a:prstGeom prst="roundRect">
            <a:avLst>
              <a:gd name="adj" fmla="val 3721"/>
            </a:avLst>
          </a:prstGeom>
          <a:solidFill>
            <a:srgbClr val="EFF5F5"/>
          </a:solidFill>
          <a:ln/>
        </p:spPr>
      </p:sp>
      <p:sp>
        <p:nvSpPr>
          <p:cNvPr id="6" name="Shape 4"/>
          <p:cNvSpPr/>
          <p:nvPr/>
        </p:nvSpPr>
        <p:spPr>
          <a:xfrm>
            <a:off x="758952" y="2130552"/>
            <a:ext cx="457200" cy="457200"/>
          </a:xfrm>
          <a:prstGeom prst="ellipse">
            <a:avLst/>
          </a:prstGeom>
          <a:solidFill>
            <a:srgbClr val="11676A"/>
          </a:solidFill>
          <a:ln/>
        </p:spPr>
      </p:sp>
      <p:pic>
        <p:nvPicPr>
          <p:cNvPr id="7" name="Image 0" descr="/tmp/claude-0/-home-user-Default/f7e81ef3-2f73-50cc-818d-26c445ecb8fe/scratchpad/cpeak/build/icons/landmark_white.png">    </p:cNvPr>
          <p:cNvPicPr>
            <a:picLocks noChangeAspect="1"/>
          </p:cNvPicPr>
          <p:nvPr/>
        </p:nvPicPr>
        <p:blipFill>
          <a:blip r:embed="rId1"/>
          <a:stretch>
            <a:fillRect/>
          </a:stretch>
        </p:blipFill>
        <p:spPr>
          <a:xfrm>
            <a:off x="873252" y="2244852"/>
            <a:ext cx="228600" cy="228600"/>
          </a:xfrm>
          <a:prstGeom prst="rect">
            <a:avLst/>
          </a:prstGeom>
        </p:spPr>
      </p:pic>
      <p:sp>
        <p:nvSpPr>
          <p:cNvPr id="8" name="Text 5"/>
          <p:cNvSpPr/>
          <p:nvPr/>
        </p:nvSpPr>
        <p:spPr>
          <a:xfrm>
            <a:off x="1371600" y="2075688"/>
            <a:ext cx="2331720" cy="548640"/>
          </a:xfrm>
          <a:prstGeom prst="rect">
            <a:avLst/>
          </a:prstGeom>
          <a:noFill/>
          <a:ln/>
        </p:spPr>
        <p:txBody>
          <a:bodyPr wrap="square" rtlCol="0" anchor="ctr">
            <a:normAutofit/>
          </a:bodyPr>
          <a:lstStyle/>
          <a:p>
            <a:pPr indent="0" marL="0">
              <a:buNone/>
            </a:pPr>
            <a:r>
              <a:rPr lang="en-US" sz="1350" b="1" dirty="0">
                <a:solidFill>
                  <a:srgbClr val="16262C"/>
                </a:solidFill>
                <a:latin typeface="Arial" pitchFamily="34" charset="0"/>
                <a:ea typeface="Arial" pitchFamily="34" charset="-122"/>
                <a:cs typeface="Arial" pitchFamily="34" charset="-120"/>
              </a:rPr>
              <a:t>SAP Finans Modülleri</a:t>
            </a:r>
            <a:endParaRPr lang="en-US" sz="1350" dirty="0"/>
          </a:p>
        </p:txBody>
      </p:sp>
      <p:sp>
        <p:nvSpPr>
          <p:cNvPr id="9" name="Text 6"/>
          <p:cNvSpPr/>
          <p:nvPr/>
        </p:nvSpPr>
        <p:spPr>
          <a:xfrm>
            <a:off x="758952" y="2743200"/>
            <a:ext cx="2916936" cy="914400"/>
          </a:xfrm>
          <a:prstGeom prst="rect">
            <a:avLst/>
          </a:prstGeom>
          <a:noFill/>
          <a:ln/>
        </p:spPr>
        <p:txBody>
          <a:bodyPr wrap="square" rtlCol="0" anchor="ctr">
            <a:normAutofit/>
          </a:bodyPr>
          <a:lstStyle/>
          <a:p>
            <a:pPr indent="0" marL="0">
              <a:lnSpc>
                <a:spcPts val="1450"/>
              </a:lnSpc>
              <a:buNone/>
            </a:pPr>
            <a:r>
              <a:rPr lang="en-US" sz="1050" dirty="0">
                <a:solidFill>
                  <a:srgbClr val="3D4C52"/>
                </a:solidFill>
                <a:latin typeface="Arial" pitchFamily="34" charset="0"/>
                <a:ea typeface="Arial" pitchFamily="34" charset="-122"/>
                <a:cs typeface="Arial" pitchFamily="34" charset="-120"/>
              </a:rPr>
              <a:t>Genel muhasebe, borç/alacak, sabit kıymet ve maliyet muhasebesini tek bir tutarlı süreç mimarisinde kurar ya da yeniden düzenleriz.</a:t>
            </a:r>
            <a:endParaRPr lang="en-US" sz="1050" dirty="0"/>
          </a:p>
        </p:txBody>
      </p:sp>
      <p:sp>
        <p:nvSpPr>
          <p:cNvPr id="10" name="Shape 7"/>
          <p:cNvSpPr/>
          <p:nvPr/>
        </p:nvSpPr>
        <p:spPr>
          <a:xfrm>
            <a:off x="4114800" y="1874520"/>
            <a:ext cx="3429000" cy="1965960"/>
          </a:xfrm>
          <a:prstGeom prst="roundRect">
            <a:avLst>
              <a:gd name="adj" fmla="val 3721"/>
            </a:avLst>
          </a:prstGeom>
          <a:solidFill>
            <a:srgbClr val="EFF5F5"/>
          </a:solidFill>
          <a:ln/>
        </p:spPr>
      </p:sp>
      <p:sp>
        <p:nvSpPr>
          <p:cNvPr id="11" name="Shape 8"/>
          <p:cNvSpPr/>
          <p:nvPr/>
        </p:nvSpPr>
        <p:spPr>
          <a:xfrm>
            <a:off x="4370832" y="2130552"/>
            <a:ext cx="457200" cy="457200"/>
          </a:xfrm>
          <a:prstGeom prst="ellipse">
            <a:avLst/>
          </a:prstGeom>
          <a:solidFill>
            <a:srgbClr val="11676A"/>
          </a:solidFill>
          <a:ln/>
        </p:spPr>
      </p:sp>
      <p:pic>
        <p:nvPicPr>
          <p:cNvPr id="12" name="Image 1" descr="/tmp/claude-0/-home-user-Default/f7e81ef3-2f73-50cc-818d-26c445ecb8fe/scratchpad/cpeak/build/icons/route_white.png">    </p:cNvPr>
          <p:cNvPicPr>
            <a:picLocks noChangeAspect="1"/>
          </p:cNvPicPr>
          <p:nvPr/>
        </p:nvPicPr>
        <p:blipFill>
          <a:blip r:embed="rId2"/>
          <a:stretch>
            <a:fillRect/>
          </a:stretch>
        </p:blipFill>
        <p:spPr>
          <a:xfrm>
            <a:off x="4485132" y="2244852"/>
            <a:ext cx="228600" cy="228600"/>
          </a:xfrm>
          <a:prstGeom prst="rect">
            <a:avLst/>
          </a:prstGeom>
        </p:spPr>
      </p:pic>
      <p:sp>
        <p:nvSpPr>
          <p:cNvPr id="13" name="Text 9"/>
          <p:cNvSpPr/>
          <p:nvPr/>
        </p:nvSpPr>
        <p:spPr>
          <a:xfrm>
            <a:off x="4983480" y="2075688"/>
            <a:ext cx="2331720" cy="548640"/>
          </a:xfrm>
          <a:prstGeom prst="rect">
            <a:avLst/>
          </a:prstGeom>
          <a:noFill/>
          <a:ln/>
        </p:spPr>
        <p:txBody>
          <a:bodyPr wrap="square" rtlCol="0" anchor="ctr">
            <a:normAutofit/>
          </a:bodyPr>
          <a:lstStyle/>
          <a:p>
            <a:pPr indent="0" marL="0">
              <a:buNone/>
            </a:pPr>
            <a:r>
              <a:rPr lang="en-US" sz="1350" b="1" dirty="0">
                <a:solidFill>
                  <a:srgbClr val="16262C"/>
                </a:solidFill>
                <a:latin typeface="Arial" pitchFamily="34" charset="0"/>
                <a:ea typeface="Arial" pitchFamily="34" charset="-122"/>
                <a:cs typeface="Arial" pitchFamily="34" charset="-120"/>
              </a:rPr>
              <a:t>S/4HANA Dönüşümü</a:t>
            </a:r>
            <a:endParaRPr lang="en-US" sz="1350" dirty="0"/>
          </a:p>
        </p:txBody>
      </p:sp>
      <p:sp>
        <p:nvSpPr>
          <p:cNvPr id="14" name="Text 10"/>
          <p:cNvSpPr/>
          <p:nvPr/>
        </p:nvSpPr>
        <p:spPr>
          <a:xfrm>
            <a:off x="4370832" y="2743200"/>
            <a:ext cx="2916936" cy="914400"/>
          </a:xfrm>
          <a:prstGeom prst="rect">
            <a:avLst/>
          </a:prstGeom>
          <a:noFill/>
          <a:ln/>
        </p:spPr>
        <p:txBody>
          <a:bodyPr wrap="square" rtlCol="0" anchor="ctr">
            <a:normAutofit/>
          </a:bodyPr>
          <a:lstStyle/>
          <a:p>
            <a:pPr indent="0" marL="0">
              <a:lnSpc>
                <a:spcPts val="1450"/>
              </a:lnSpc>
              <a:buNone/>
            </a:pPr>
            <a:r>
              <a:rPr lang="en-US" sz="1050" dirty="0">
                <a:solidFill>
                  <a:srgbClr val="3D4C52"/>
                </a:solidFill>
                <a:latin typeface="Arial" pitchFamily="34" charset="0"/>
                <a:ea typeface="Arial" pitchFamily="34" charset="-122"/>
                <a:cs typeface="Arial" pitchFamily="34" charset="-120"/>
              </a:rPr>
              <a:t>Hangi geçiş yönteminin doğru olduğunu veriyle belirler, kararı gerekçesiyle belgeler ve dönüşümü uçtan uca yürütürüz.</a:t>
            </a:r>
            <a:endParaRPr lang="en-US" sz="1050" dirty="0"/>
          </a:p>
        </p:txBody>
      </p:sp>
      <p:sp>
        <p:nvSpPr>
          <p:cNvPr id="15" name="Shape 11"/>
          <p:cNvSpPr/>
          <p:nvPr/>
        </p:nvSpPr>
        <p:spPr>
          <a:xfrm>
            <a:off x="7726680" y="1874520"/>
            <a:ext cx="3429000" cy="1965960"/>
          </a:xfrm>
          <a:prstGeom prst="roundRect">
            <a:avLst>
              <a:gd name="adj" fmla="val 3721"/>
            </a:avLst>
          </a:prstGeom>
          <a:solidFill>
            <a:srgbClr val="EFF5F5"/>
          </a:solidFill>
          <a:ln/>
        </p:spPr>
      </p:sp>
      <p:sp>
        <p:nvSpPr>
          <p:cNvPr id="16" name="Shape 12"/>
          <p:cNvSpPr/>
          <p:nvPr/>
        </p:nvSpPr>
        <p:spPr>
          <a:xfrm>
            <a:off x="7982712" y="2130552"/>
            <a:ext cx="457200" cy="457200"/>
          </a:xfrm>
          <a:prstGeom prst="ellipse">
            <a:avLst/>
          </a:prstGeom>
          <a:solidFill>
            <a:srgbClr val="11676A"/>
          </a:solidFill>
          <a:ln/>
        </p:spPr>
      </p:sp>
      <p:pic>
        <p:nvPicPr>
          <p:cNvPr id="17" name="Image 2" descr="/tmp/claude-0/-home-user-Default/f7e81ef3-2f73-50cc-818d-26c445ecb8fe/scratchpad/cpeak/build/icons/cloud_white.png">    </p:cNvPr>
          <p:cNvPicPr>
            <a:picLocks noChangeAspect="1"/>
          </p:cNvPicPr>
          <p:nvPr/>
        </p:nvPicPr>
        <p:blipFill>
          <a:blip r:embed="rId3"/>
          <a:stretch>
            <a:fillRect/>
          </a:stretch>
        </p:blipFill>
        <p:spPr>
          <a:xfrm>
            <a:off x="8097012" y="2244852"/>
            <a:ext cx="228600" cy="228600"/>
          </a:xfrm>
          <a:prstGeom prst="rect">
            <a:avLst/>
          </a:prstGeom>
        </p:spPr>
      </p:pic>
      <p:sp>
        <p:nvSpPr>
          <p:cNvPr id="18" name="Text 13"/>
          <p:cNvSpPr/>
          <p:nvPr/>
        </p:nvSpPr>
        <p:spPr>
          <a:xfrm>
            <a:off x="8595360" y="2075688"/>
            <a:ext cx="2331720" cy="548640"/>
          </a:xfrm>
          <a:prstGeom prst="rect">
            <a:avLst/>
          </a:prstGeom>
          <a:noFill/>
          <a:ln/>
        </p:spPr>
        <p:txBody>
          <a:bodyPr wrap="square" rtlCol="0" anchor="ctr">
            <a:normAutofit/>
          </a:bodyPr>
          <a:lstStyle/>
          <a:p>
            <a:pPr indent="0" marL="0">
              <a:buNone/>
            </a:pPr>
            <a:r>
              <a:rPr lang="en-US" sz="1350" b="1" dirty="0">
                <a:solidFill>
                  <a:srgbClr val="16262C"/>
                </a:solidFill>
                <a:latin typeface="Arial" pitchFamily="34" charset="0"/>
                <a:ea typeface="Arial" pitchFamily="34" charset="-122"/>
                <a:cs typeface="Arial" pitchFamily="34" charset="-120"/>
              </a:rPr>
              <a:t>SAP Public Cloud</a:t>
            </a:r>
            <a:endParaRPr lang="en-US" sz="1350" dirty="0"/>
          </a:p>
        </p:txBody>
      </p:sp>
      <p:sp>
        <p:nvSpPr>
          <p:cNvPr id="19" name="Text 14"/>
          <p:cNvSpPr/>
          <p:nvPr/>
        </p:nvSpPr>
        <p:spPr>
          <a:xfrm>
            <a:off x="7982712" y="2743200"/>
            <a:ext cx="2916936" cy="914400"/>
          </a:xfrm>
          <a:prstGeom prst="rect">
            <a:avLst/>
          </a:prstGeom>
          <a:noFill/>
          <a:ln/>
        </p:spPr>
        <p:txBody>
          <a:bodyPr wrap="square" rtlCol="0" anchor="ctr">
            <a:normAutofit/>
          </a:bodyPr>
          <a:lstStyle/>
          <a:p>
            <a:pPr indent="0" marL="0">
              <a:lnSpc>
                <a:spcPts val="1450"/>
              </a:lnSpc>
              <a:buNone/>
            </a:pPr>
            <a:r>
              <a:rPr lang="en-US" sz="1050" dirty="0">
                <a:solidFill>
                  <a:srgbClr val="3D4C52"/>
                </a:solidFill>
                <a:latin typeface="Arial" pitchFamily="34" charset="0"/>
                <a:ea typeface="Arial" pitchFamily="34" charset="-122"/>
                <a:cs typeface="Arial" pitchFamily="34" charset="-120"/>
              </a:rPr>
              <a:t>Standarda uyum karşılığında hız ve düşük toplam maliyet sunan modelde, sürecin standarda uyumunu önce netleştiririz.</a:t>
            </a:r>
            <a:endParaRPr lang="en-US" sz="1050" dirty="0"/>
          </a:p>
        </p:txBody>
      </p:sp>
      <p:sp>
        <p:nvSpPr>
          <p:cNvPr id="20" name="Shape 15"/>
          <p:cNvSpPr/>
          <p:nvPr/>
        </p:nvSpPr>
        <p:spPr>
          <a:xfrm>
            <a:off x="2308860" y="4023360"/>
            <a:ext cx="3429000" cy="1965960"/>
          </a:xfrm>
          <a:prstGeom prst="roundRect">
            <a:avLst>
              <a:gd name="adj" fmla="val 3721"/>
            </a:avLst>
          </a:prstGeom>
          <a:solidFill>
            <a:srgbClr val="EFF5F5"/>
          </a:solidFill>
          <a:ln/>
        </p:spPr>
      </p:sp>
      <p:sp>
        <p:nvSpPr>
          <p:cNvPr id="21" name="Shape 16"/>
          <p:cNvSpPr/>
          <p:nvPr/>
        </p:nvSpPr>
        <p:spPr>
          <a:xfrm>
            <a:off x="2564892" y="4279392"/>
            <a:ext cx="457200" cy="457200"/>
          </a:xfrm>
          <a:prstGeom prst="ellipse">
            <a:avLst/>
          </a:prstGeom>
          <a:solidFill>
            <a:srgbClr val="11676A"/>
          </a:solidFill>
          <a:ln/>
        </p:spPr>
      </p:sp>
      <p:pic>
        <p:nvPicPr>
          <p:cNvPr id="22" name="Image 3" descr="/tmp/claude-0/-home-user-Default/f7e81ef3-2f73-50cc-818d-26c445ecb8fe/scratchpad/cpeak/build/icons/shield_white.png">    </p:cNvPr>
          <p:cNvPicPr>
            <a:picLocks noChangeAspect="1"/>
          </p:cNvPicPr>
          <p:nvPr/>
        </p:nvPicPr>
        <p:blipFill>
          <a:blip r:embed="rId4"/>
          <a:stretch>
            <a:fillRect/>
          </a:stretch>
        </p:blipFill>
        <p:spPr>
          <a:xfrm>
            <a:off x="2679192" y="4393692"/>
            <a:ext cx="228600" cy="228600"/>
          </a:xfrm>
          <a:prstGeom prst="rect">
            <a:avLst/>
          </a:prstGeom>
        </p:spPr>
      </p:pic>
      <p:sp>
        <p:nvSpPr>
          <p:cNvPr id="23" name="Text 17"/>
          <p:cNvSpPr/>
          <p:nvPr/>
        </p:nvSpPr>
        <p:spPr>
          <a:xfrm>
            <a:off x="3177540" y="4224528"/>
            <a:ext cx="2331720" cy="548640"/>
          </a:xfrm>
          <a:prstGeom prst="rect">
            <a:avLst/>
          </a:prstGeom>
          <a:noFill/>
          <a:ln/>
        </p:spPr>
        <p:txBody>
          <a:bodyPr wrap="square" rtlCol="0" anchor="ctr">
            <a:normAutofit/>
          </a:bodyPr>
          <a:lstStyle/>
          <a:p>
            <a:pPr indent="0" marL="0">
              <a:buNone/>
            </a:pPr>
            <a:r>
              <a:rPr lang="en-US" sz="1350" b="1" dirty="0">
                <a:solidFill>
                  <a:srgbClr val="16262C"/>
                </a:solidFill>
                <a:latin typeface="Arial" pitchFamily="34" charset="0"/>
                <a:ea typeface="Arial" pitchFamily="34" charset="-122"/>
                <a:cs typeface="Arial" pitchFamily="34" charset="-120"/>
              </a:rPr>
              <a:t>SAP Private Cloud</a:t>
            </a:r>
            <a:endParaRPr lang="en-US" sz="1350" dirty="0"/>
          </a:p>
        </p:txBody>
      </p:sp>
      <p:sp>
        <p:nvSpPr>
          <p:cNvPr id="24" name="Text 18"/>
          <p:cNvSpPr/>
          <p:nvPr/>
        </p:nvSpPr>
        <p:spPr>
          <a:xfrm>
            <a:off x="2564892" y="4892040"/>
            <a:ext cx="2916936" cy="914400"/>
          </a:xfrm>
          <a:prstGeom prst="rect">
            <a:avLst/>
          </a:prstGeom>
          <a:noFill/>
          <a:ln/>
        </p:spPr>
        <p:txBody>
          <a:bodyPr wrap="square" rtlCol="0" anchor="ctr">
            <a:normAutofit/>
          </a:bodyPr>
          <a:lstStyle/>
          <a:p>
            <a:pPr indent="0" marL="0">
              <a:lnSpc>
                <a:spcPts val="1450"/>
              </a:lnSpc>
              <a:buNone/>
            </a:pPr>
            <a:r>
              <a:rPr lang="en-US" sz="1050" dirty="0">
                <a:solidFill>
                  <a:srgbClr val="3D4C52"/>
                </a:solidFill>
                <a:latin typeface="Arial" pitchFamily="34" charset="0"/>
                <a:ea typeface="Arial" pitchFamily="34" charset="-122"/>
                <a:cs typeface="Arial" pitchFamily="34" charset="-120"/>
              </a:rPr>
              <a:t>Kendi süreç mantığını koruyarak buluta geçmek isteyen şirketler için mimari tasarım, geçiş ve sağlayıcı koordinasyonu.</a:t>
            </a:r>
            <a:endParaRPr lang="en-US" sz="1050" dirty="0"/>
          </a:p>
        </p:txBody>
      </p:sp>
      <p:sp>
        <p:nvSpPr>
          <p:cNvPr id="25" name="Shape 19"/>
          <p:cNvSpPr/>
          <p:nvPr/>
        </p:nvSpPr>
        <p:spPr>
          <a:xfrm>
            <a:off x="5920740" y="4023360"/>
            <a:ext cx="3429000" cy="1965960"/>
          </a:xfrm>
          <a:prstGeom prst="roundRect">
            <a:avLst>
              <a:gd name="adj" fmla="val 3721"/>
            </a:avLst>
          </a:prstGeom>
          <a:solidFill>
            <a:srgbClr val="EFF5F5"/>
          </a:solidFill>
          <a:ln/>
        </p:spPr>
      </p:sp>
      <p:sp>
        <p:nvSpPr>
          <p:cNvPr id="26" name="Shape 20"/>
          <p:cNvSpPr/>
          <p:nvPr/>
        </p:nvSpPr>
        <p:spPr>
          <a:xfrm>
            <a:off x="6176772" y="4279392"/>
            <a:ext cx="457200" cy="457200"/>
          </a:xfrm>
          <a:prstGeom prst="ellipse">
            <a:avLst/>
          </a:prstGeom>
          <a:solidFill>
            <a:srgbClr val="11676A"/>
          </a:solidFill>
          <a:ln/>
        </p:spPr>
      </p:sp>
      <p:pic>
        <p:nvPicPr>
          <p:cNvPr id="27" name="Image 4" descr="/tmp/claude-0/-home-user-Default/f7e81ef3-2f73-50cc-818d-26c445ecb8fe/scratchpad/cpeak/build/icons/robot_white.png">    </p:cNvPr>
          <p:cNvPicPr>
            <a:picLocks noChangeAspect="1"/>
          </p:cNvPicPr>
          <p:nvPr/>
        </p:nvPicPr>
        <p:blipFill>
          <a:blip r:embed="rId5"/>
          <a:stretch>
            <a:fillRect/>
          </a:stretch>
        </p:blipFill>
        <p:spPr>
          <a:xfrm>
            <a:off x="6291072" y="4393692"/>
            <a:ext cx="228600" cy="228600"/>
          </a:xfrm>
          <a:prstGeom prst="rect">
            <a:avLst/>
          </a:prstGeom>
        </p:spPr>
      </p:pic>
      <p:sp>
        <p:nvSpPr>
          <p:cNvPr id="28" name="Text 21"/>
          <p:cNvSpPr/>
          <p:nvPr/>
        </p:nvSpPr>
        <p:spPr>
          <a:xfrm>
            <a:off x="6789420" y="4224528"/>
            <a:ext cx="2331720" cy="548640"/>
          </a:xfrm>
          <a:prstGeom prst="rect">
            <a:avLst/>
          </a:prstGeom>
          <a:noFill/>
          <a:ln/>
        </p:spPr>
        <p:txBody>
          <a:bodyPr wrap="square" rtlCol="0" anchor="ctr">
            <a:normAutofit/>
          </a:bodyPr>
          <a:lstStyle/>
          <a:p>
            <a:pPr indent="0" marL="0">
              <a:buNone/>
            </a:pPr>
            <a:r>
              <a:rPr lang="en-US" sz="1350" b="1" dirty="0">
                <a:solidFill>
                  <a:srgbClr val="16262C"/>
                </a:solidFill>
                <a:latin typeface="Arial" pitchFamily="34" charset="0"/>
                <a:ea typeface="Arial" pitchFamily="34" charset="-122"/>
                <a:cs typeface="Arial" pitchFamily="34" charset="-120"/>
              </a:rPr>
              <a:t>Yapay Zeka ile Finans</a:t>
            </a:r>
            <a:endParaRPr lang="en-US" sz="1350" dirty="0"/>
          </a:p>
        </p:txBody>
      </p:sp>
      <p:sp>
        <p:nvSpPr>
          <p:cNvPr id="29" name="Text 22"/>
          <p:cNvSpPr/>
          <p:nvPr/>
        </p:nvSpPr>
        <p:spPr>
          <a:xfrm>
            <a:off x="6176772" y="4892040"/>
            <a:ext cx="2916936" cy="914400"/>
          </a:xfrm>
          <a:prstGeom prst="rect">
            <a:avLst/>
          </a:prstGeom>
          <a:noFill/>
          <a:ln/>
        </p:spPr>
        <p:txBody>
          <a:bodyPr wrap="square" rtlCol="0" anchor="ctr">
            <a:normAutofit/>
          </a:bodyPr>
          <a:lstStyle/>
          <a:p>
            <a:pPr indent="0" marL="0">
              <a:lnSpc>
                <a:spcPts val="1450"/>
              </a:lnSpc>
              <a:buNone/>
            </a:pPr>
            <a:r>
              <a:rPr lang="en-US" sz="1050" dirty="0">
                <a:solidFill>
                  <a:srgbClr val="3D4C52"/>
                </a:solidFill>
                <a:latin typeface="Arial" pitchFamily="34" charset="0"/>
                <a:ea typeface="Arial" pitchFamily="34" charset="-122"/>
                <a:cs typeface="Arial" pitchFamily="34" charset="-120"/>
              </a:rPr>
              <a:t>Mutabakat, anomali tespiti ve tahmine dayalı muhasebe alanlarında işe yarayan yeteneği belirler, devreye alırız.</a:t>
            </a:r>
            <a:endParaRPr lang="en-US" sz="1050" dirty="0"/>
          </a:p>
        </p:txBody>
      </p:sp>
      <p:sp>
        <p:nvSpPr>
          <p:cNvPr id="30" name="Text 23"/>
          <p:cNvSpPr/>
          <p:nvPr/>
        </p:nvSpPr>
        <p:spPr>
          <a:xfrm>
            <a:off x="502920" y="6492240"/>
            <a:ext cx="5486400" cy="256032"/>
          </a:xfrm>
          <a:prstGeom prst="rect">
            <a:avLst/>
          </a:prstGeom>
          <a:noFill/>
          <a:ln/>
        </p:spPr>
        <p:txBody>
          <a:bodyPr wrap="square" rtlCol="0" anchor="ctr"/>
          <a:lstStyle/>
          <a:p>
            <a:pPr algn="l" indent="0" marL="0">
              <a:buNone/>
            </a:pPr>
            <a:r>
              <a:rPr lang="en-US" sz="900" spc="150" kern="0" dirty="0">
                <a:solidFill>
                  <a:srgbClr val="6C7B80"/>
                </a:solidFill>
                <a:latin typeface="Arial" pitchFamily="34" charset="0"/>
                <a:ea typeface="Arial" pitchFamily="34" charset="-122"/>
                <a:cs typeface="Arial" pitchFamily="34" charset="-120"/>
              </a:rPr>
              <a:t>ÇÖZÜMLER</a:t>
            </a:r>
            <a:endParaRPr lang="en-US" sz="900" dirty="0"/>
          </a:p>
        </p:txBody>
      </p:sp>
      <p:sp>
        <p:nvSpPr>
          <p:cNvPr id="31" name="Text 24"/>
          <p:cNvSpPr/>
          <p:nvPr/>
        </p:nvSpPr>
        <p:spPr>
          <a:xfrm>
            <a:off x="8945575" y="6492240"/>
            <a:ext cx="2743200" cy="256032"/>
          </a:xfrm>
          <a:prstGeom prst="rect">
            <a:avLst/>
          </a:prstGeom>
          <a:noFill/>
          <a:ln/>
        </p:spPr>
        <p:txBody>
          <a:bodyPr wrap="square" rtlCol="0" anchor="ctr"/>
          <a:lstStyle/>
          <a:p>
            <a:pPr algn="r" indent="0" marL="0">
              <a:buNone/>
            </a:pPr>
            <a:r>
              <a:rPr lang="en-US" sz="900" dirty="0">
                <a:solidFill>
                  <a:srgbClr val="6C7B80"/>
                </a:solidFill>
                <a:latin typeface="Arial" pitchFamily="34" charset="0"/>
                <a:ea typeface="Arial" pitchFamily="34" charset="-122"/>
                <a:cs typeface="Arial" pitchFamily="34" charset="-120"/>
              </a:rPr>
              <a:t>CPeak Consultancy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65760"/>
            <a:ext cx="10515600" cy="292608"/>
          </a:xfrm>
          <a:prstGeom prst="rect">
            <a:avLst/>
          </a:prstGeom>
          <a:noFill/>
          <a:ln/>
        </p:spPr>
        <p:txBody>
          <a:bodyPr wrap="square" rtlCol="0" anchor="ctr"/>
          <a:lstStyle/>
          <a:p>
            <a:pPr indent="0" marL="0">
              <a:buNone/>
            </a:pPr>
            <a:r>
              <a:rPr lang="en-US" sz="1250" b="1" spc="200" kern="0" dirty="0">
                <a:solidFill>
                  <a:srgbClr val="11676A"/>
                </a:solidFill>
                <a:latin typeface="Arial" pitchFamily="34" charset="0"/>
                <a:ea typeface="Arial" pitchFamily="34" charset="-122"/>
                <a:cs typeface="Arial" pitchFamily="34" charset="-120"/>
              </a:rPr>
              <a:t>KARŞILAŞTIRMA</a:t>
            </a:r>
            <a:endParaRPr lang="en-US" sz="1250" dirty="0"/>
          </a:p>
        </p:txBody>
      </p:sp>
      <p:sp>
        <p:nvSpPr>
          <p:cNvPr id="3" name="Text 1"/>
          <p:cNvSpPr/>
          <p:nvPr/>
        </p:nvSpPr>
        <p:spPr>
          <a:xfrm>
            <a:off x="502920" y="640080"/>
            <a:ext cx="11155680" cy="777240"/>
          </a:xfrm>
          <a:prstGeom prst="rect">
            <a:avLst/>
          </a:prstGeom>
          <a:noFill/>
          <a:ln/>
        </p:spPr>
        <p:txBody>
          <a:bodyPr wrap="square" rtlCol="0" anchor="ctr">
            <a:normAutofit/>
          </a:bodyPr>
          <a:lstStyle/>
          <a:p>
            <a:pPr indent="0" marL="0">
              <a:lnSpc>
                <a:spcPts val="2464"/>
              </a:lnSpc>
              <a:buNone/>
            </a:pPr>
            <a:r>
              <a:rPr lang="en-US" sz="2200" b="1" dirty="0">
                <a:solidFill>
                  <a:srgbClr val="16262C"/>
                </a:solidFill>
                <a:latin typeface="Arial" pitchFamily="34" charset="0"/>
                <a:ea typeface="Arial" pitchFamily="34" charset="-122"/>
                <a:cs typeface="Arial" pitchFamily="34" charset="-120"/>
              </a:rPr>
              <a:t>Beş çözüm alanının kapsam süre ve kazanım karşılaştırması</a:t>
            </a:r>
            <a:endParaRPr lang="en-US" sz="2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201400" cy="914400"/>
        </p:xfrm>
        <a:graphic>
          <a:graphicData uri="http://schemas.openxmlformats.org/drawingml/2006/table">
            <a:tbl>
              <a:tblPr/>
              <a:tblGrid>
                <a:gridCol w="2331720"/>
                <a:gridCol w="3520440"/>
                <a:gridCol w="2468880"/>
                <a:gridCol w="2880360"/>
              </a:tblGrid>
              <a:tr h="0">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Çözüm</a:t>
                      </a:r>
                      <a:endParaRPr lang="en-US" sz="120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11676A"/>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Kime Uygun</a:t>
                      </a:r>
                      <a:endParaRPr lang="en-US" sz="120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11676A"/>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Tipik Süre</a:t>
                      </a:r>
                      <a:endParaRPr lang="en-US" sz="120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11676A"/>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Ana Kazanım</a:t>
                      </a:r>
                      <a:endParaRPr lang="en-US" sz="120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11676A"/>
                    </a:solidFill>
                  </a:tcPr>
                </a:tc>
              </a:tr>
              <a:tr h="0">
                <a:tc>
                  <a:txBody>
                    <a:bodyPr/>
                    <a:lstStyle/>
                    <a:p>
                      <a:pPr algn="l" indent="0" marL="0">
                        <a:buNone/>
                      </a:pPr>
                      <a:r>
                        <a:rPr lang="en-US" sz="1050" b="1" dirty="0">
                          <a:solidFill>
                            <a:srgbClr val="003F82"/>
                          </a:solidFill>
                          <a:latin typeface="Arial" pitchFamily="34" charset="0"/>
                          <a:ea typeface="Arial" pitchFamily="34" charset="-122"/>
                          <a:cs typeface="Arial" pitchFamily="34" charset="-120"/>
                        </a:rPr>
                        <a:t>SAP Finans Modülleri</a:t>
                      </a:r>
                      <a:endParaRPr lang="en-US" sz="105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D4C52"/>
                          </a:solidFill>
                          <a:latin typeface="Arial" pitchFamily="34" charset="0"/>
                          <a:ea typeface="Arial" pitchFamily="34" charset="-122"/>
                          <a:cs typeface="Arial" pitchFamily="34" charset="-120"/>
                        </a:rPr>
                        <a:t>Mevcut SAP kurulumu dağılmış ya da yeni kuracak şirketler</a:t>
                      </a:r>
                      <a:endParaRPr lang="en-US" sz="105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D4C52"/>
                          </a:solidFill>
                          <a:latin typeface="Arial" pitchFamily="34" charset="0"/>
                          <a:ea typeface="Arial" pitchFamily="34" charset="-122"/>
                          <a:cs typeface="Arial" pitchFamily="34" charset="-120"/>
                        </a:rPr>
                        <a:t>Teşhis 3–4 hafta, yeniden yapılandırma 4–7 ay</a:t>
                      </a:r>
                      <a:endParaRPr lang="en-US" sz="105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D4C52"/>
                          </a:solidFill>
                          <a:latin typeface="Arial" pitchFamily="34" charset="0"/>
                          <a:ea typeface="Arial" pitchFamily="34" charset="-122"/>
                          <a:cs typeface="Arial" pitchFamily="34" charset="-120"/>
                        </a:rPr>
                        <a:t>Tutarlı raporlama ve öngörülebilir kapanış</a:t>
                      </a:r>
                      <a:endParaRPr lang="en-US" sz="105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003F82"/>
                          </a:solidFill>
                          <a:latin typeface="Arial" pitchFamily="34" charset="0"/>
                          <a:ea typeface="Arial" pitchFamily="34" charset="-122"/>
                          <a:cs typeface="Arial" pitchFamily="34" charset="-120"/>
                        </a:rPr>
                        <a:t>S/4HANA Dönüşümü</a:t>
                      </a:r>
                      <a:endParaRPr lang="en-US" sz="105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D4C52"/>
                          </a:solidFill>
                          <a:latin typeface="Arial" pitchFamily="34" charset="0"/>
                          <a:ea typeface="Arial" pitchFamily="34" charset="-122"/>
                          <a:cs typeface="Arial" pitchFamily="34" charset="-120"/>
                        </a:rPr>
                        <a:t>ECC üzerinde olup geçiş planlaması gereken şirketler</a:t>
                      </a:r>
                      <a:endParaRPr lang="en-US" sz="105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D4C52"/>
                          </a:solidFill>
                          <a:latin typeface="Arial" pitchFamily="34" charset="0"/>
                          <a:ea typeface="Arial" pitchFamily="34" charset="-122"/>
                          <a:cs typeface="Arial" pitchFamily="34" charset="-120"/>
                        </a:rPr>
                        <a:t>Analiz 4–6 hafta, dönüşüm 6–14 ay</a:t>
                      </a:r>
                      <a:endParaRPr lang="en-US" sz="105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D4C52"/>
                          </a:solidFill>
                          <a:latin typeface="Arial" pitchFamily="34" charset="0"/>
                          <a:ea typeface="Arial" pitchFamily="34" charset="-122"/>
                          <a:cs typeface="Arial" pitchFamily="34" charset="-120"/>
                        </a:rPr>
                        <a:t>Gerekçeli yöntem kararı ve öngörülebilir geçiş</a:t>
                      </a:r>
                      <a:endParaRPr lang="en-US" sz="105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003F82"/>
                          </a:solidFill>
                          <a:latin typeface="Arial" pitchFamily="34" charset="0"/>
                          <a:ea typeface="Arial" pitchFamily="34" charset="-122"/>
                          <a:cs typeface="Arial" pitchFamily="34" charset="-120"/>
                        </a:rPr>
                        <a:t>SAP Public Cloud</a:t>
                      </a:r>
                      <a:endParaRPr lang="en-US" sz="105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D4C52"/>
                          </a:solidFill>
                          <a:latin typeface="Arial" pitchFamily="34" charset="0"/>
                          <a:ea typeface="Arial" pitchFamily="34" charset="-122"/>
                          <a:cs typeface="Arial" pitchFamily="34" charset="-120"/>
                        </a:rPr>
                        <a:t>Standarda uyum sağlayabilen, hızlı kurulum isteyen şirketler</a:t>
                      </a:r>
                      <a:endParaRPr lang="en-US" sz="105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D4C52"/>
                          </a:solidFill>
                          <a:latin typeface="Arial" pitchFamily="34" charset="0"/>
                          <a:ea typeface="Arial" pitchFamily="34" charset="-122"/>
                          <a:cs typeface="Arial" pitchFamily="34" charset="-120"/>
                        </a:rPr>
                        <a:t>Değerlendirme 2–3 hafta, kurulum 3–5 ay</a:t>
                      </a:r>
                      <a:endParaRPr lang="en-US" sz="105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D4C52"/>
                          </a:solidFill>
                          <a:latin typeface="Arial" pitchFamily="34" charset="0"/>
                          <a:ea typeface="Arial" pitchFamily="34" charset="-122"/>
                          <a:cs typeface="Arial" pitchFamily="34" charset="-120"/>
                        </a:rPr>
                        <a:t>Hızlı devreye alma ve düşük işletme yükü</a:t>
                      </a:r>
                      <a:endParaRPr lang="en-US" sz="105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003F82"/>
                          </a:solidFill>
                          <a:latin typeface="Arial" pitchFamily="34" charset="0"/>
                          <a:ea typeface="Arial" pitchFamily="34" charset="-122"/>
                          <a:cs typeface="Arial" pitchFamily="34" charset="-120"/>
                        </a:rPr>
                        <a:t>SAP Private Cloud</a:t>
                      </a:r>
                      <a:endParaRPr lang="en-US" sz="105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D4C52"/>
                          </a:solidFill>
                          <a:latin typeface="Arial" pitchFamily="34" charset="0"/>
                          <a:ea typeface="Arial" pitchFamily="34" charset="-122"/>
                          <a:cs typeface="Arial" pitchFamily="34" charset="-120"/>
                        </a:rPr>
                        <a:t>Süreç esnekliğini korumak zorunda olan büyük ölçekli şirketler</a:t>
                      </a:r>
                      <a:endParaRPr lang="en-US" sz="105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D4C52"/>
                          </a:solidFill>
                          <a:latin typeface="Arial" pitchFamily="34" charset="0"/>
                          <a:ea typeface="Arial" pitchFamily="34" charset="-122"/>
                          <a:cs typeface="Arial" pitchFamily="34" charset="-120"/>
                        </a:rPr>
                        <a:t>Hazırlık 5–8 hafta, geçiş 7–14 ay</a:t>
                      </a:r>
                      <a:endParaRPr lang="en-US" sz="105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D4C52"/>
                          </a:solidFill>
                          <a:latin typeface="Arial" pitchFamily="34" charset="0"/>
                          <a:ea typeface="Arial" pitchFamily="34" charset="-122"/>
                          <a:cs typeface="Arial" pitchFamily="34" charset="-120"/>
                        </a:rPr>
                        <a:t>Esnekliği koruyarak altyapı yükünden kurtulma</a:t>
                      </a:r>
                      <a:endParaRPr lang="en-US" sz="105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003F82"/>
                          </a:solidFill>
                          <a:latin typeface="Arial" pitchFamily="34" charset="0"/>
                          <a:ea typeface="Arial" pitchFamily="34" charset="-122"/>
                          <a:cs typeface="Arial" pitchFamily="34" charset="-120"/>
                        </a:rPr>
                        <a:t>Yapay Zeka ile Finans</a:t>
                      </a:r>
                      <a:endParaRPr lang="en-US" sz="105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D4C52"/>
                          </a:solidFill>
                          <a:latin typeface="Arial" pitchFamily="34" charset="0"/>
                          <a:ea typeface="Arial" pitchFamily="34" charset="-122"/>
                          <a:cs typeface="Arial" pitchFamily="34" charset="-120"/>
                        </a:rPr>
                        <a:t>Tekrar eden manuel finans işine çok saat harcayan ekipler</a:t>
                      </a:r>
                      <a:endParaRPr lang="en-US" sz="105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D4C52"/>
                          </a:solidFill>
                          <a:latin typeface="Arial" pitchFamily="34" charset="0"/>
                          <a:ea typeface="Arial" pitchFamily="34" charset="-122"/>
                          <a:cs typeface="Arial" pitchFamily="34" charset="-120"/>
                        </a:rPr>
                        <a:t>Değerlendirme 2–3 hafta, ilk faz 6–12 hafta</a:t>
                      </a:r>
                      <a:endParaRPr lang="en-US" sz="105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D4C52"/>
                          </a:solidFill>
                          <a:latin typeface="Arial" pitchFamily="34" charset="0"/>
                          <a:ea typeface="Arial" pitchFamily="34" charset="-122"/>
                          <a:cs typeface="Arial" pitchFamily="34" charset="-120"/>
                        </a:rPr>
                        <a:t>Geri kazanılan insan saati ve daha erken hata yakalama</a:t>
                      </a:r>
                      <a:endParaRPr lang="en-US" sz="105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FFFFFF"/>
                    </a:solidFill>
                  </a:tcPr>
                </a:tc>
              </a:tr>
            </a:tbl>
          </a:graphicData>
        </a:graphic>
      </p:graphicFrame>
      <p:sp>
        <p:nvSpPr>
          <p:cNvPr id="5" name="Text 2"/>
          <p:cNvSpPr/>
          <p:nvPr/>
        </p:nvSpPr>
        <p:spPr>
          <a:xfrm>
            <a:off x="502920" y="6492240"/>
            <a:ext cx="5486400" cy="256032"/>
          </a:xfrm>
          <a:prstGeom prst="rect">
            <a:avLst/>
          </a:prstGeom>
          <a:noFill/>
          <a:ln/>
        </p:spPr>
        <p:txBody>
          <a:bodyPr wrap="square" rtlCol="0" anchor="ctr"/>
          <a:lstStyle/>
          <a:p>
            <a:pPr algn="l" indent="0" marL="0">
              <a:buNone/>
            </a:pPr>
            <a:r>
              <a:rPr lang="en-US" sz="900" spc="150" kern="0" dirty="0">
                <a:solidFill>
                  <a:srgbClr val="6C7B80"/>
                </a:solidFill>
                <a:latin typeface="Arial" pitchFamily="34" charset="0"/>
                <a:ea typeface="Arial" pitchFamily="34" charset="-122"/>
                <a:cs typeface="Arial" pitchFamily="34" charset="-120"/>
              </a:rPr>
              <a:t>ÇÖZÜM KARŞILAŞTIRMASI</a:t>
            </a:r>
            <a:endParaRPr lang="en-US" sz="900" dirty="0"/>
          </a:p>
        </p:txBody>
      </p:sp>
      <p:sp>
        <p:nvSpPr>
          <p:cNvPr id="6" name="Text 3"/>
          <p:cNvSpPr/>
          <p:nvPr/>
        </p:nvSpPr>
        <p:spPr>
          <a:xfrm>
            <a:off x="8945575" y="6492240"/>
            <a:ext cx="2743200" cy="256032"/>
          </a:xfrm>
          <a:prstGeom prst="rect">
            <a:avLst/>
          </a:prstGeom>
          <a:noFill/>
          <a:ln/>
        </p:spPr>
        <p:txBody>
          <a:bodyPr wrap="square" rtlCol="0" anchor="ctr"/>
          <a:lstStyle/>
          <a:p>
            <a:pPr algn="r" indent="0" marL="0">
              <a:buNone/>
            </a:pPr>
            <a:r>
              <a:rPr lang="en-US" sz="900" dirty="0">
                <a:solidFill>
                  <a:srgbClr val="6C7B80"/>
                </a:solidFill>
                <a:latin typeface="Arial" pitchFamily="34" charset="0"/>
                <a:ea typeface="Arial" pitchFamily="34" charset="-122"/>
                <a:cs typeface="Arial" pitchFamily="34" charset="-120"/>
              </a:rPr>
              <a:t>CPeak Consultancy</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365760"/>
            <a:ext cx="10515600" cy="292608"/>
          </a:xfrm>
          <a:prstGeom prst="rect">
            <a:avLst/>
          </a:prstGeom>
          <a:noFill/>
          <a:ln/>
        </p:spPr>
        <p:txBody>
          <a:bodyPr wrap="square" rtlCol="0" anchor="ctr"/>
          <a:lstStyle/>
          <a:p>
            <a:pPr indent="0" marL="0">
              <a:buNone/>
            </a:pPr>
            <a:r>
              <a:rPr lang="en-US" sz="1250" b="1" spc="200" kern="0" dirty="0">
                <a:solidFill>
                  <a:srgbClr val="11676A"/>
                </a:solidFill>
                <a:latin typeface="Arial" pitchFamily="34" charset="0"/>
                <a:ea typeface="Arial" pitchFamily="34" charset="-122"/>
                <a:cs typeface="Arial" pitchFamily="34" charset="-120"/>
              </a:rPr>
              <a:t>BULUT MODELI KARŞILAŞTIRMASI</a:t>
            </a:r>
            <a:endParaRPr lang="en-US" sz="1250" dirty="0"/>
          </a:p>
        </p:txBody>
      </p:sp>
      <p:sp>
        <p:nvSpPr>
          <p:cNvPr id="3" name="Text 1"/>
          <p:cNvSpPr/>
          <p:nvPr/>
        </p:nvSpPr>
        <p:spPr>
          <a:xfrm>
            <a:off x="502920" y="640080"/>
            <a:ext cx="11155680" cy="548640"/>
          </a:xfrm>
          <a:prstGeom prst="rect">
            <a:avLst/>
          </a:prstGeom>
          <a:noFill/>
          <a:ln/>
        </p:spPr>
        <p:txBody>
          <a:bodyPr wrap="square" rtlCol="0" anchor="ctr">
            <a:normAutofit/>
          </a:bodyPr>
          <a:lstStyle/>
          <a:p>
            <a:pPr indent="0" marL="0">
              <a:lnSpc>
                <a:spcPts val="2240"/>
              </a:lnSpc>
              <a:buNone/>
            </a:pPr>
            <a:r>
              <a:rPr lang="en-US" sz="2000" b="1" dirty="0">
                <a:solidFill>
                  <a:srgbClr val="16262C"/>
                </a:solidFill>
                <a:latin typeface="Arial" pitchFamily="34" charset="0"/>
                <a:ea typeface="Arial" pitchFamily="34" charset="-122"/>
                <a:cs typeface="Arial" pitchFamily="34" charset="-120"/>
              </a:rPr>
              <a:t>SAP Public ve Private Cloud arasındaki temel farklar</a:t>
            </a:r>
            <a:endParaRPr lang="en-US" sz="2000" dirty="0"/>
          </a:p>
        </p:txBody>
      </p:sp>
      <p:sp>
        <p:nvSpPr>
          <p:cNvPr id="4" name="Text 2"/>
          <p:cNvSpPr/>
          <p:nvPr/>
        </p:nvSpPr>
        <p:spPr>
          <a:xfrm>
            <a:off x="10698480" y="384048"/>
            <a:ext cx="1005840" cy="292608"/>
          </a:xfrm>
          <a:prstGeom prst="rect">
            <a:avLst/>
          </a:prstGeom>
          <a:noFill/>
          <a:ln/>
        </p:spPr>
        <p:txBody>
          <a:bodyPr wrap="square" rtlCol="0" anchor="ctr"/>
          <a:lstStyle/>
          <a:p>
            <a:pPr algn="r" indent="0" marL="0">
              <a:buNone/>
            </a:pPr>
            <a:r>
              <a:rPr lang="en-US" sz="1200" b="1" dirty="0">
                <a:solidFill>
                  <a:srgbClr val="6C7B80"/>
                </a:solidFill>
                <a:latin typeface="Arial" pitchFamily="34" charset="0"/>
                <a:ea typeface="Arial" pitchFamily="34" charset="-122"/>
                <a:cs typeface="Arial" pitchFamily="34" charset="-120"/>
              </a:rPr>
              <a:t>1 / 2</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201400" cy="914400"/>
        </p:xfrm>
        <a:graphic>
          <a:graphicData uri="http://schemas.openxmlformats.org/drawingml/2006/table">
            <a:tbl>
              <a:tblPr/>
              <a:tblGrid>
                <a:gridCol w="2240280"/>
                <a:gridCol w="4480560"/>
                <a:gridCol w="448056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Kriter</a:t>
                      </a:r>
                      <a:endParaRPr lang="en-US" sz="120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0B4A4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Public Cloud</a:t>
                      </a:r>
                      <a:endParaRPr lang="en-US" sz="120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11676A"/>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Private Cloud</a:t>
                      </a:r>
                      <a:endParaRPr lang="en-US" sz="120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003F82"/>
                    </a:solidFill>
                  </a:tcPr>
                </a:tc>
              </a:tr>
              <a:tr h="0">
                <a:tc>
                  <a:txBody>
                    <a:bodyPr/>
                    <a:lstStyle/>
                    <a:p>
                      <a:pPr indent="0" marL="0">
                        <a:buNone/>
                      </a:pPr>
                      <a:r>
                        <a:rPr lang="en-US" sz="1100" b="1" dirty="0">
                          <a:solidFill>
                            <a:srgbClr val="003F82"/>
                          </a:solidFill>
                          <a:latin typeface="Arial" pitchFamily="34" charset="0"/>
                          <a:ea typeface="Arial" pitchFamily="34" charset="-122"/>
                          <a:cs typeface="Arial" pitchFamily="34" charset="-120"/>
                        </a:rPr>
                        <a:t>Maliyet Modeli</a:t>
                      </a:r>
                      <a:endParaRPr lang="en-US" sz="110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EFF5F5"/>
                    </a:solidFill>
                  </a:tcPr>
                </a:tc>
                <a:tc>
                  <a:txBody>
                    <a:bodyPr/>
                    <a:lstStyle/>
                    <a:p>
                      <a:pPr indent="0" marL="0">
                        <a:lnSpc>
                          <a:spcPts val="1300"/>
                        </a:lnSpc>
                        <a:buNone/>
                      </a:pPr>
                      <a:r>
                        <a:rPr lang="en-US" sz="1000" dirty="0">
                          <a:solidFill>
                            <a:srgbClr val="3D4C52"/>
                          </a:solidFill>
                          <a:latin typeface="Arial" pitchFamily="34" charset="0"/>
                          <a:ea typeface="Arial" pitchFamily="34" charset="-122"/>
                          <a:cs typeface="Arial" pitchFamily="34" charset="-120"/>
                        </a:rPr>
                        <a:t>Abonelik esaslı, kullanıcı ve kapsam bazında öngörülebilir. Altyapı, işletim ve güncelleme maliyeti pakete dahildir.</a:t>
                      </a:r>
                      <a:endParaRPr lang="en-US" sz="100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FFFFFF"/>
                    </a:solidFill>
                  </a:tcPr>
                </a:tc>
                <a:tc>
                  <a:txBody>
                    <a:bodyPr/>
                    <a:lstStyle/>
                    <a:p>
                      <a:pPr indent="0" marL="0">
                        <a:lnSpc>
                          <a:spcPts val="1300"/>
                        </a:lnSpc>
                        <a:buNone/>
                      </a:pPr>
                      <a:r>
                        <a:rPr lang="en-US" sz="1000" dirty="0">
                          <a:solidFill>
                            <a:srgbClr val="3D4C52"/>
                          </a:solidFill>
                          <a:latin typeface="Arial" pitchFamily="34" charset="0"/>
                          <a:ea typeface="Arial" pitchFamily="34" charset="-122"/>
                          <a:cs typeface="Arial" pitchFamily="34" charset="-120"/>
                        </a:rPr>
                        <a:t>Abonelik esaslıdır ancak boyutlandırmaya göre değişir. Özelleştirme bakımı ve güncelleme testi kendi bütçenizde kalır; toplam maliyet daha yüksektir.</a:t>
                      </a:r>
                      <a:endParaRPr lang="en-US" sz="100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003F82"/>
                          </a:solidFill>
                          <a:latin typeface="Arial" pitchFamily="34" charset="0"/>
                          <a:ea typeface="Arial" pitchFamily="34" charset="-122"/>
                          <a:cs typeface="Arial" pitchFamily="34" charset="-120"/>
                        </a:rPr>
                        <a:t>Özelleştirme Esnekliği</a:t>
                      </a:r>
                      <a:endParaRPr lang="en-US" sz="110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EFF5F5"/>
                    </a:solidFill>
                  </a:tcPr>
                </a:tc>
                <a:tc>
                  <a:txBody>
                    <a:bodyPr/>
                    <a:lstStyle/>
                    <a:p>
                      <a:pPr indent="0" marL="0">
                        <a:lnSpc>
                          <a:spcPts val="1300"/>
                        </a:lnSpc>
                        <a:buNone/>
                      </a:pPr>
                      <a:r>
                        <a:rPr lang="en-US" sz="1000" dirty="0">
                          <a:solidFill>
                            <a:srgbClr val="3D4C52"/>
                          </a:solidFill>
                          <a:latin typeface="Arial" pitchFamily="34" charset="0"/>
                          <a:ea typeface="Arial" pitchFamily="34" charset="-122"/>
                          <a:cs typeface="Arial" pitchFamily="34" charset="-120"/>
                        </a:rPr>
                        <a:t>Çekirdek sistem değiştirilemez. Genişletme yalnızca izin verilen yöntemlerle yapılır. Klasik ABAP geliştirme yapılamaz.</a:t>
                      </a:r>
                      <a:endParaRPr lang="en-US" sz="100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FFFFFF"/>
                    </a:solidFill>
                  </a:tcPr>
                </a:tc>
                <a:tc>
                  <a:txBody>
                    <a:bodyPr/>
                    <a:lstStyle/>
                    <a:p>
                      <a:pPr indent="0" marL="0">
                        <a:lnSpc>
                          <a:spcPts val="1300"/>
                        </a:lnSpc>
                        <a:buNone/>
                      </a:pPr>
                      <a:r>
                        <a:rPr lang="en-US" sz="1000" dirty="0">
                          <a:solidFill>
                            <a:srgbClr val="3D4C52"/>
                          </a:solidFill>
                          <a:latin typeface="Arial" pitchFamily="34" charset="0"/>
                          <a:ea typeface="Arial" pitchFamily="34" charset="-122"/>
                          <a:cs typeface="Arial" pitchFamily="34" charset="-120"/>
                        </a:rPr>
                        <a:t>Çekirdeğe müdahale dahil geniş esneklik. Mevcut ABAP geliştirmeleri taşınabilir; karşılığında güncelleme başına test yükü doğar.</a:t>
                      </a:r>
                      <a:endParaRPr lang="en-US" sz="100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003F82"/>
                          </a:solidFill>
                          <a:latin typeface="Arial" pitchFamily="34" charset="0"/>
                          <a:ea typeface="Arial" pitchFamily="34" charset="-122"/>
                          <a:cs typeface="Arial" pitchFamily="34" charset="-120"/>
                        </a:rPr>
                        <a:t>Güncelleme Döngüsü</a:t>
                      </a:r>
                      <a:endParaRPr lang="en-US" sz="110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EFF5F5"/>
                    </a:solidFill>
                  </a:tcPr>
                </a:tc>
                <a:tc>
                  <a:txBody>
                    <a:bodyPr/>
                    <a:lstStyle/>
                    <a:p>
                      <a:pPr indent="0" marL="0">
                        <a:lnSpc>
                          <a:spcPts val="1300"/>
                        </a:lnSpc>
                        <a:buNone/>
                      </a:pPr>
                      <a:r>
                        <a:rPr lang="en-US" sz="1000" dirty="0">
                          <a:solidFill>
                            <a:srgbClr val="3D4C52"/>
                          </a:solidFill>
                          <a:latin typeface="Arial" pitchFamily="34" charset="0"/>
                          <a:ea typeface="Arial" pitchFamily="34" charset="-122"/>
                          <a:cs typeface="Arial" pitchFamily="34" charset="-120"/>
                        </a:rPr>
                        <a:t>Düzenli aralıklarla ve otomatik. Güncellemeler ertelenemez; kritik süreçler için hazır bir regresyon test seti gerekir.</a:t>
                      </a:r>
                      <a:endParaRPr lang="en-US" sz="100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FFFFFF"/>
                    </a:solidFill>
                  </a:tcPr>
                </a:tc>
                <a:tc>
                  <a:txBody>
                    <a:bodyPr/>
                    <a:lstStyle/>
                    <a:p>
                      <a:pPr indent="0" marL="0">
                        <a:lnSpc>
                          <a:spcPts val="1300"/>
                        </a:lnSpc>
                        <a:buNone/>
                      </a:pPr>
                      <a:r>
                        <a:rPr lang="en-US" sz="1000" dirty="0">
                          <a:solidFill>
                            <a:srgbClr val="3D4C52"/>
                          </a:solidFill>
                          <a:latin typeface="Arial" pitchFamily="34" charset="0"/>
                          <a:ea typeface="Arial" pitchFamily="34" charset="-122"/>
                          <a:cs typeface="Arial" pitchFamily="34" charset="-120"/>
                        </a:rPr>
                        <a:t>Zamanlamayı büyük ölçüde siz belirlersiniz. Sürüm yükseltmesi ayrı bir proje olarak planlanır.</a:t>
                      </a:r>
                      <a:endParaRPr lang="en-US" sz="100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003F82"/>
                          </a:solidFill>
                          <a:latin typeface="Arial" pitchFamily="34" charset="0"/>
                          <a:ea typeface="Arial" pitchFamily="34" charset="-122"/>
                          <a:cs typeface="Arial" pitchFamily="34" charset="-120"/>
                        </a:rPr>
                        <a:t>Kurulum Süresi</a:t>
                      </a:r>
                      <a:endParaRPr lang="en-US" sz="110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EFF5F5"/>
                    </a:solidFill>
                  </a:tcPr>
                </a:tc>
                <a:tc>
                  <a:txBody>
                    <a:bodyPr/>
                    <a:lstStyle/>
                    <a:p>
                      <a:pPr indent="0" marL="0">
                        <a:lnSpc>
                          <a:spcPts val="1300"/>
                        </a:lnSpc>
                        <a:buNone/>
                      </a:pPr>
                      <a:r>
                        <a:rPr lang="en-US" sz="1000" dirty="0">
                          <a:solidFill>
                            <a:srgbClr val="3D4C52"/>
                          </a:solidFill>
                          <a:latin typeface="Arial" pitchFamily="34" charset="0"/>
                          <a:ea typeface="Arial" pitchFamily="34" charset="-122"/>
                          <a:cs typeface="Arial" pitchFamily="34" charset="-120"/>
                        </a:rPr>
                        <a:t>Standart şablon üzerinden ilerlendiği için kısadır. Tek ülkeli finans kurulumu tipik olarak 3–5 ay.</a:t>
                      </a:r>
                      <a:endParaRPr lang="en-US" sz="100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FFFFFF"/>
                    </a:solidFill>
                  </a:tcPr>
                </a:tc>
                <a:tc>
                  <a:txBody>
                    <a:bodyPr/>
                    <a:lstStyle/>
                    <a:p>
                      <a:pPr indent="0" marL="0">
                        <a:lnSpc>
                          <a:spcPts val="1300"/>
                        </a:lnSpc>
                        <a:buNone/>
                      </a:pPr>
                      <a:r>
                        <a:rPr lang="en-US" sz="1000" dirty="0">
                          <a:solidFill>
                            <a:srgbClr val="3D4C52"/>
                          </a:solidFill>
                          <a:latin typeface="Arial" pitchFamily="34" charset="0"/>
                          <a:ea typeface="Arial" pitchFamily="34" charset="-122"/>
                          <a:cs typeface="Arial" pitchFamily="34" charset="-120"/>
                        </a:rPr>
                        <a:t>Kapsam ve taşınan mirasa bağlı olarak uzundur. Tipik olarak 7–14 ay.</a:t>
                      </a:r>
                      <a:endParaRPr lang="en-US" sz="100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003F82"/>
                          </a:solidFill>
                          <a:latin typeface="Arial" pitchFamily="34" charset="0"/>
                          <a:ea typeface="Arial" pitchFamily="34" charset="-122"/>
                          <a:cs typeface="Arial" pitchFamily="34" charset="-120"/>
                        </a:rPr>
                        <a:t>Süreç Yaklaşımı</a:t>
                      </a:r>
                      <a:endParaRPr lang="en-US" sz="110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EFF5F5"/>
                    </a:solidFill>
                  </a:tcPr>
                </a:tc>
                <a:tc>
                  <a:txBody>
                    <a:bodyPr/>
                    <a:lstStyle/>
                    <a:p>
                      <a:pPr indent="0" marL="0">
                        <a:lnSpc>
                          <a:spcPts val="1300"/>
                        </a:lnSpc>
                        <a:buNone/>
                      </a:pPr>
                      <a:r>
                        <a:rPr lang="en-US" sz="1000" dirty="0">
                          <a:solidFill>
                            <a:srgbClr val="3D4C52"/>
                          </a:solidFill>
                          <a:latin typeface="Arial" pitchFamily="34" charset="0"/>
                          <a:ea typeface="Arial" pitchFamily="34" charset="-122"/>
                          <a:cs typeface="Arial" pitchFamily="34" charset="-120"/>
                        </a:rPr>
                        <a:t>Fit-to-standard: süreç sisteme uyarlanır.</a:t>
                      </a:r>
                      <a:endParaRPr lang="en-US" sz="100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FFFFFF"/>
                    </a:solidFill>
                  </a:tcPr>
                </a:tc>
                <a:tc>
                  <a:txBody>
                    <a:bodyPr/>
                    <a:lstStyle/>
                    <a:p>
                      <a:pPr indent="0" marL="0">
                        <a:lnSpc>
                          <a:spcPts val="1300"/>
                        </a:lnSpc>
                        <a:buNone/>
                      </a:pPr>
                      <a:r>
                        <a:rPr lang="en-US" sz="1000" dirty="0">
                          <a:solidFill>
                            <a:srgbClr val="3D4C52"/>
                          </a:solidFill>
                          <a:latin typeface="Arial" pitchFamily="34" charset="0"/>
                          <a:ea typeface="Arial" pitchFamily="34" charset="-122"/>
                          <a:cs typeface="Arial" pitchFamily="34" charset="-120"/>
                        </a:rPr>
                        <a:t>Fit-to-gap: sistem sürece uyarlanabilir.</a:t>
                      </a:r>
                      <a:endParaRPr lang="en-US" sz="100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FFFFFF"/>
                    </a:solidFill>
                  </a:tcPr>
                </a:tc>
              </a:tr>
            </a:tbl>
          </a:graphicData>
        </a:graphic>
      </p:graphicFrame>
      <p:sp>
        <p:nvSpPr>
          <p:cNvPr id="6" name="Text 3"/>
          <p:cNvSpPr/>
          <p:nvPr/>
        </p:nvSpPr>
        <p:spPr>
          <a:xfrm>
            <a:off x="502920" y="6492240"/>
            <a:ext cx="5486400" cy="256032"/>
          </a:xfrm>
          <a:prstGeom prst="rect">
            <a:avLst/>
          </a:prstGeom>
          <a:noFill/>
          <a:ln/>
        </p:spPr>
        <p:txBody>
          <a:bodyPr wrap="square" rtlCol="0" anchor="ctr"/>
          <a:lstStyle/>
          <a:p>
            <a:pPr algn="l" indent="0" marL="0">
              <a:buNone/>
            </a:pPr>
            <a:r>
              <a:rPr lang="en-US" sz="900" spc="150" kern="0" dirty="0">
                <a:solidFill>
                  <a:srgbClr val="6C7B80"/>
                </a:solidFill>
                <a:latin typeface="Arial" pitchFamily="34" charset="0"/>
                <a:ea typeface="Arial" pitchFamily="34" charset="-122"/>
                <a:cs typeface="Arial" pitchFamily="34" charset="-120"/>
              </a:rPr>
              <a:t>BULUT MODELI</a:t>
            </a:r>
            <a:endParaRPr lang="en-US" sz="900" dirty="0"/>
          </a:p>
        </p:txBody>
      </p:sp>
      <p:sp>
        <p:nvSpPr>
          <p:cNvPr id="7" name="Text 4"/>
          <p:cNvSpPr/>
          <p:nvPr/>
        </p:nvSpPr>
        <p:spPr>
          <a:xfrm>
            <a:off x="8945575" y="6492240"/>
            <a:ext cx="2743200" cy="256032"/>
          </a:xfrm>
          <a:prstGeom prst="rect">
            <a:avLst/>
          </a:prstGeom>
          <a:noFill/>
          <a:ln/>
        </p:spPr>
        <p:txBody>
          <a:bodyPr wrap="square" rtlCol="0" anchor="ctr"/>
          <a:lstStyle/>
          <a:p>
            <a:pPr algn="r" indent="0" marL="0">
              <a:buNone/>
            </a:pPr>
            <a:r>
              <a:rPr lang="en-US" sz="900" dirty="0">
                <a:solidFill>
                  <a:srgbClr val="6C7B80"/>
                </a:solidFill>
                <a:latin typeface="Arial" pitchFamily="34" charset="0"/>
                <a:ea typeface="Arial" pitchFamily="34" charset="-122"/>
                <a:cs typeface="Arial" pitchFamily="34" charset="-120"/>
              </a:rPr>
              <a:t>CPeak Consultancy</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365760"/>
            <a:ext cx="10515600" cy="292608"/>
          </a:xfrm>
          <a:prstGeom prst="rect">
            <a:avLst/>
          </a:prstGeom>
          <a:noFill/>
          <a:ln/>
        </p:spPr>
        <p:txBody>
          <a:bodyPr wrap="square" rtlCol="0" anchor="ctr"/>
          <a:lstStyle/>
          <a:p>
            <a:pPr indent="0" marL="0">
              <a:buNone/>
            </a:pPr>
            <a:r>
              <a:rPr lang="en-US" sz="1250" b="1" spc="200" kern="0" dirty="0">
                <a:solidFill>
                  <a:srgbClr val="11676A"/>
                </a:solidFill>
                <a:latin typeface="Arial" pitchFamily="34" charset="0"/>
                <a:ea typeface="Arial" pitchFamily="34" charset="-122"/>
                <a:cs typeface="Arial" pitchFamily="34" charset="-120"/>
              </a:rPr>
              <a:t>BULUT MODELI KARŞILAŞTIRMASI</a:t>
            </a:r>
            <a:endParaRPr lang="en-US" sz="1250" dirty="0"/>
          </a:p>
        </p:txBody>
      </p:sp>
      <p:sp>
        <p:nvSpPr>
          <p:cNvPr id="3" name="Text 1"/>
          <p:cNvSpPr/>
          <p:nvPr/>
        </p:nvSpPr>
        <p:spPr>
          <a:xfrm>
            <a:off x="502920" y="640080"/>
            <a:ext cx="11155680" cy="548640"/>
          </a:xfrm>
          <a:prstGeom prst="rect">
            <a:avLst/>
          </a:prstGeom>
          <a:noFill/>
          <a:ln/>
        </p:spPr>
        <p:txBody>
          <a:bodyPr wrap="square" rtlCol="0" anchor="ctr">
            <a:normAutofit/>
          </a:bodyPr>
          <a:lstStyle/>
          <a:p>
            <a:pPr indent="0" marL="0">
              <a:lnSpc>
                <a:spcPts val="2240"/>
              </a:lnSpc>
              <a:buNone/>
            </a:pPr>
            <a:r>
              <a:rPr lang="en-US" sz="2000" b="1" dirty="0">
                <a:solidFill>
                  <a:srgbClr val="16262C"/>
                </a:solidFill>
                <a:latin typeface="Arial" pitchFamily="34" charset="0"/>
                <a:ea typeface="Arial" pitchFamily="34" charset="-122"/>
                <a:cs typeface="Arial" pitchFamily="34" charset="-120"/>
              </a:rPr>
              <a:t>SAP Public ve Private Cloud arasındaki temel farklar</a:t>
            </a:r>
            <a:endParaRPr lang="en-US" sz="2000" dirty="0"/>
          </a:p>
        </p:txBody>
      </p:sp>
      <p:sp>
        <p:nvSpPr>
          <p:cNvPr id="4" name="Text 2"/>
          <p:cNvSpPr/>
          <p:nvPr/>
        </p:nvSpPr>
        <p:spPr>
          <a:xfrm>
            <a:off x="10698480" y="384048"/>
            <a:ext cx="1005840" cy="292608"/>
          </a:xfrm>
          <a:prstGeom prst="rect">
            <a:avLst/>
          </a:prstGeom>
          <a:noFill/>
          <a:ln/>
        </p:spPr>
        <p:txBody>
          <a:bodyPr wrap="square" rtlCol="0" anchor="ctr"/>
          <a:lstStyle/>
          <a:p>
            <a:pPr algn="r" indent="0" marL="0">
              <a:buNone/>
            </a:pPr>
            <a:r>
              <a:rPr lang="en-US" sz="1200" b="1" dirty="0">
                <a:solidFill>
                  <a:srgbClr val="6C7B80"/>
                </a:solidFill>
                <a:latin typeface="Arial" pitchFamily="34" charset="0"/>
                <a:ea typeface="Arial" pitchFamily="34" charset="-122"/>
                <a:cs typeface="Arial" pitchFamily="34" charset="-120"/>
              </a:rPr>
              <a:t>2 / 2</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201400" cy="914400"/>
        </p:xfrm>
        <a:graphic>
          <a:graphicData uri="http://schemas.openxmlformats.org/drawingml/2006/table">
            <a:tbl>
              <a:tblPr/>
              <a:tblGrid>
                <a:gridCol w="2240280"/>
                <a:gridCol w="4480560"/>
                <a:gridCol w="448056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Kriter</a:t>
                      </a:r>
                      <a:endParaRPr lang="en-US" sz="120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0B4A4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Public Cloud</a:t>
                      </a:r>
                      <a:endParaRPr lang="en-US" sz="120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11676A"/>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Private Cloud</a:t>
                      </a:r>
                      <a:endParaRPr lang="en-US" sz="120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003F82"/>
                    </a:solidFill>
                  </a:tcPr>
                </a:tc>
              </a:tr>
              <a:tr h="0">
                <a:tc>
                  <a:txBody>
                    <a:bodyPr/>
                    <a:lstStyle/>
                    <a:p>
                      <a:pPr indent="0" marL="0">
                        <a:buNone/>
                      </a:pPr>
                      <a:r>
                        <a:rPr lang="en-US" sz="1100" b="1" dirty="0">
                          <a:solidFill>
                            <a:srgbClr val="003F82"/>
                          </a:solidFill>
                          <a:latin typeface="Arial" pitchFamily="34" charset="0"/>
                          <a:ea typeface="Arial" pitchFamily="34" charset="-122"/>
                          <a:cs typeface="Arial" pitchFamily="34" charset="-120"/>
                        </a:rPr>
                        <a:t>Yerelleştirme ve Mevzuat</a:t>
                      </a:r>
                      <a:endParaRPr lang="en-US" sz="110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EFF5F5"/>
                    </a:solidFill>
                  </a:tcPr>
                </a:tc>
                <a:tc>
                  <a:txBody>
                    <a:bodyPr/>
                    <a:lstStyle/>
                    <a:p>
                      <a:pPr indent="0" marL="0">
                        <a:lnSpc>
                          <a:spcPts val="1300"/>
                        </a:lnSpc>
                        <a:buNone/>
                      </a:pPr>
                      <a:r>
                        <a:rPr lang="en-US" sz="1000" dirty="0">
                          <a:solidFill>
                            <a:srgbClr val="3D4C52"/>
                          </a:solidFill>
                          <a:latin typeface="Arial" pitchFamily="34" charset="0"/>
                          <a:ea typeface="Arial" pitchFamily="34" charset="-122"/>
                          <a:cs typeface="Arial" pitchFamily="34" charset="-120"/>
                        </a:rPr>
                        <a:t>SAP tarafından sağlanan yerelleştirme kapsamıyla sınırlıdır ve sürümden sürüme genişler.</a:t>
                      </a:r>
                      <a:endParaRPr lang="en-US" sz="100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FFFFFF"/>
                    </a:solidFill>
                  </a:tcPr>
                </a:tc>
                <a:tc>
                  <a:txBody>
                    <a:bodyPr/>
                    <a:lstStyle/>
                    <a:p>
                      <a:pPr indent="0" marL="0">
                        <a:lnSpc>
                          <a:spcPts val="1300"/>
                        </a:lnSpc>
                        <a:buNone/>
                      </a:pPr>
                      <a:r>
                        <a:rPr lang="en-US" sz="1000" dirty="0">
                          <a:solidFill>
                            <a:srgbClr val="3D4C52"/>
                          </a:solidFill>
                          <a:latin typeface="Arial" pitchFamily="34" charset="0"/>
                          <a:ea typeface="Arial" pitchFamily="34" charset="-122"/>
                          <a:cs typeface="Arial" pitchFamily="34" charset="-120"/>
                        </a:rPr>
                        <a:t>Kapsam dışı yasal gereksinimler kendi geliştirmenizle karşılanabilir; düzenlenmiş sektörler için belirleyici olabilir.</a:t>
                      </a:r>
                      <a:endParaRPr lang="en-US" sz="100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003F82"/>
                          </a:solidFill>
                          <a:latin typeface="Arial" pitchFamily="34" charset="0"/>
                          <a:ea typeface="Arial" pitchFamily="34" charset="-122"/>
                          <a:cs typeface="Arial" pitchFamily="34" charset="-120"/>
                        </a:rPr>
                        <a:t>Veri ve Altyapı Kontrolü</a:t>
                      </a:r>
                      <a:endParaRPr lang="en-US" sz="110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EFF5F5"/>
                    </a:solidFill>
                  </a:tcPr>
                </a:tc>
                <a:tc>
                  <a:txBody>
                    <a:bodyPr/>
                    <a:lstStyle/>
                    <a:p>
                      <a:pPr indent="0" marL="0">
                        <a:lnSpc>
                          <a:spcPts val="1300"/>
                        </a:lnSpc>
                        <a:buNone/>
                      </a:pPr>
                      <a:r>
                        <a:rPr lang="en-US" sz="1000" dirty="0">
                          <a:solidFill>
                            <a:srgbClr val="3D4C52"/>
                          </a:solidFill>
                          <a:latin typeface="Arial" pitchFamily="34" charset="0"/>
                          <a:ea typeface="Arial" pitchFamily="34" charset="-122"/>
                          <a:cs typeface="Arial" pitchFamily="34" charset="-120"/>
                        </a:rPr>
                        <a:t>Paylaşılan altyapı; veri yerleşimi SAP'nin sunduğu bölgelerle sınırlıdır.</a:t>
                      </a:r>
                      <a:endParaRPr lang="en-US" sz="100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FFFFFF"/>
                    </a:solidFill>
                  </a:tcPr>
                </a:tc>
                <a:tc>
                  <a:txBody>
                    <a:bodyPr/>
                    <a:lstStyle/>
                    <a:p>
                      <a:pPr indent="0" marL="0">
                        <a:lnSpc>
                          <a:spcPts val="1300"/>
                        </a:lnSpc>
                        <a:buNone/>
                      </a:pPr>
                      <a:r>
                        <a:rPr lang="en-US" sz="1000" dirty="0">
                          <a:solidFill>
                            <a:srgbClr val="3D4C52"/>
                          </a:solidFill>
                          <a:latin typeface="Arial" pitchFamily="34" charset="0"/>
                          <a:ea typeface="Arial" pitchFamily="34" charset="-122"/>
                          <a:cs typeface="Arial" pitchFamily="34" charset="-120"/>
                        </a:rPr>
                        <a:t>Ayrılmış ortam; veri yerleşimi ve ağ mimarisi üzerinde daha fazla kontrol.</a:t>
                      </a:r>
                      <a:endParaRPr lang="en-US" sz="100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003F82"/>
                          </a:solidFill>
                          <a:latin typeface="Arial" pitchFamily="34" charset="0"/>
                          <a:ea typeface="Arial" pitchFamily="34" charset="-122"/>
                          <a:cs typeface="Arial" pitchFamily="34" charset="-120"/>
                        </a:rPr>
                        <a:t>İç BT Yükü</a:t>
                      </a:r>
                      <a:endParaRPr lang="en-US" sz="110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EFF5F5"/>
                    </a:solidFill>
                  </a:tcPr>
                </a:tc>
                <a:tc>
                  <a:txBody>
                    <a:bodyPr/>
                    <a:lstStyle/>
                    <a:p>
                      <a:pPr indent="0" marL="0">
                        <a:lnSpc>
                          <a:spcPts val="1300"/>
                        </a:lnSpc>
                        <a:buNone/>
                      </a:pPr>
                      <a:r>
                        <a:rPr lang="en-US" sz="1000" dirty="0">
                          <a:solidFill>
                            <a:srgbClr val="3D4C52"/>
                          </a:solidFill>
                          <a:latin typeface="Arial" pitchFamily="34" charset="0"/>
                          <a:ea typeface="Arial" pitchFamily="34" charset="-122"/>
                          <a:cs typeface="Arial" pitchFamily="34" charset="-120"/>
                        </a:rPr>
                        <a:t>Düşük. Altyapı ve temel işletim devredilir; ekip süreç sahipliği ve regresyon testine odaklanır.</a:t>
                      </a:r>
                      <a:endParaRPr lang="en-US" sz="100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FFFFFF"/>
                    </a:solidFill>
                  </a:tcPr>
                </a:tc>
                <a:tc>
                  <a:txBody>
                    <a:bodyPr/>
                    <a:lstStyle/>
                    <a:p>
                      <a:pPr indent="0" marL="0">
                        <a:lnSpc>
                          <a:spcPts val="1300"/>
                        </a:lnSpc>
                        <a:buNone/>
                      </a:pPr>
                      <a:r>
                        <a:rPr lang="en-US" sz="1000" dirty="0">
                          <a:solidFill>
                            <a:srgbClr val="3D4C52"/>
                          </a:solidFill>
                          <a:latin typeface="Arial" pitchFamily="34" charset="0"/>
                          <a:ea typeface="Arial" pitchFamily="34" charset="-122"/>
                          <a:cs typeface="Arial" pitchFamily="34" charset="-120"/>
                        </a:rPr>
                        <a:t>Orta. Altyapı devredilir; uygulama yönetimi ve sürüm planlaması sizde kalır.</a:t>
                      </a:r>
                      <a:endParaRPr lang="en-US" sz="100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003F82"/>
                          </a:solidFill>
                          <a:latin typeface="Arial" pitchFamily="34" charset="0"/>
                          <a:ea typeface="Arial" pitchFamily="34" charset="-122"/>
                          <a:cs typeface="Arial" pitchFamily="34" charset="-120"/>
                        </a:rPr>
                        <a:t>Tipik Uygunluk</a:t>
                      </a:r>
                      <a:endParaRPr lang="en-US" sz="110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EFF5F5"/>
                    </a:solidFill>
                  </a:tcPr>
                </a:tc>
                <a:tc>
                  <a:txBody>
                    <a:bodyPr/>
                    <a:lstStyle/>
                    <a:p>
                      <a:pPr indent="0" marL="0">
                        <a:lnSpc>
                          <a:spcPts val="1300"/>
                        </a:lnSpc>
                        <a:buNone/>
                      </a:pPr>
                      <a:r>
                        <a:rPr lang="en-US" sz="1000" dirty="0">
                          <a:solidFill>
                            <a:srgbClr val="3D4C52"/>
                          </a:solidFill>
                          <a:latin typeface="Arial" pitchFamily="34" charset="0"/>
                          <a:ea typeface="Arial" pitchFamily="34" charset="-122"/>
                          <a:cs typeface="Arial" pitchFamily="34" charset="-120"/>
                        </a:rPr>
                        <a:t>Süreçleri standarda yakın, hızlı büyüyen orta ölçekli şirketler; grup şablonuyla yayılan iştirakler.</a:t>
                      </a:r>
                      <a:endParaRPr lang="en-US" sz="100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FFFFFF"/>
                    </a:solidFill>
                  </a:tcPr>
                </a:tc>
                <a:tc>
                  <a:txBody>
                    <a:bodyPr/>
                    <a:lstStyle/>
                    <a:p>
                      <a:pPr indent="0" marL="0">
                        <a:lnSpc>
                          <a:spcPts val="1300"/>
                        </a:lnSpc>
                        <a:buNone/>
                      </a:pPr>
                      <a:r>
                        <a:rPr lang="en-US" sz="1000" dirty="0">
                          <a:solidFill>
                            <a:srgbClr val="3D4C52"/>
                          </a:solidFill>
                          <a:latin typeface="Arial" pitchFamily="34" charset="0"/>
                          <a:ea typeface="Arial" pitchFamily="34" charset="-122"/>
                          <a:cs typeface="Arial" pitchFamily="34" charset="-120"/>
                        </a:rPr>
                        <a:t>Ağır özelleştirme ve entegrasyon mirası taşıyan, sektöre özgü süreçleri olan büyük ölçekli şirketler.</a:t>
                      </a:r>
                      <a:endParaRPr lang="en-US" sz="1000" dirty="0">
                        <a:latin typeface="Arial" charset="0"/>
                        <a:ea typeface="Arial" charset="0"/>
                        <a:cs typeface="Arial" charset="0"/>
                      </a:endParaRPr>
                    </a:p>
                  </a:txBody>
                  <a:tcPr marL="91440" marR="91440" marT="45720" marB="45720" anchor="ctr">
                    <a:lnL w="9525" cap="flat" cmpd="sng" algn="ctr">
                      <a:solidFill>
                        <a:srgbClr val="D9E3E3"/>
                      </a:solidFill>
                      <a:prstDash val="solid"/>
                      <a:round/>
                      <a:headEnd type="none" w="med" len="med"/>
                      <a:tailEnd type="none" w="med" len="med"/>
                    </a:lnL>
                    <a:lnR w="9525" cap="flat" cmpd="sng" algn="ctr">
                      <a:solidFill>
                        <a:srgbClr val="D9E3E3"/>
                      </a:solidFill>
                      <a:prstDash val="solid"/>
                      <a:round/>
                      <a:headEnd type="none" w="med" len="med"/>
                      <a:tailEnd type="none" w="med" len="med"/>
                    </a:lnR>
                    <a:lnT w="9525" cap="flat" cmpd="sng" algn="ctr">
                      <a:solidFill>
                        <a:srgbClr val="D9E3E3"/>
                      </a:solidFill>
                      <a:prstDash val="solid"/>
                      <a:round/>
                      <a:headEnd type="none" w="med" len="med"/>
                      <a:tailEnd type="none" w="med" len="med"/>
                    </a:lnT>
                    <a:lnB w="9525" cap="flat" cmpd="sng" algn="ctr">
                      <a:solidFill>
                        <a:srgbClr val="D9E3E3"/>
                      </a:solidFill>
                      <a:prstDash val="solid"/>
                      <a:round/>
                      <a:headEnd type="none" w="med" len="med"/>
                      <a:tailEnd type="none" w="med" len="med"/>
                    </a:lnB>
                    <a:solidFill>
                      <a:srgbClr val="FFFFFF"/>
                    </a:solidFill>
                  </a:tcPr>
                </a:tc>
              </a:tr>
            </a:tbl>
          </a:graphicData>
        </a:graphic>
      </p:graphicFrame>
      <p:sp>
        <p:nvSpPr>
          <p:cNvPr id="6" name="Text 3"/>
          <p:cNvSpPr/>
          <p:nvPr/>
        </p:nvSpPr>
        <p:spPr>
          <a:xfrm>
            <a:off x="502920" y="6492240"/>
            <a:ext cx="5486400" cy="256032"/>
          </a:xfrm>
          <a:prstGeom prst="rect">
            <a:avLst/>
          </a:prstGeom>
          <a:noFill/>
          <a:ln/>
        </p:spPr>
        <p:txBody>
          <a:bodyPr wrap="square" rtlCol="0" anchor="ctr"/>
          <a:lstStyle/>
          <a:p>
            <a:pPr algn="l" indent="0" marL="0">
              <a:buNone/>
            </a:pPr>
            <a:r>
              <a:rPr lang="en-US" sz="900" spc="150" kern="0" dirty="0">
                <a:solidFill>
                  <a:srgbClr val="6C7B80"/>
                </a:solidFill>
                <a:latin typeface="Arial" pitchFamily="34" charset="0"/>
                <a:ea typeface="Arial" pitchFamily="34" charset="-122"/>
                <a:cs typeface="Arial" pitchFamily="34" charset="-120"/>
              </a:rPr>
              <a:t>BULUT MODELI</a:t>
            </a:r>
            <a:endParaRPr lang="en-US" sz="900" dirty="0"/>
          </a:p>
        </p:txBody>
      </p:sp>
      <p:sp>
        <p:nvSpPr>
          <p:cNvPr id="7" name="Text 4"/>
          <p:cNvSpPr/>
          <p:nvPr/>
        </p:nvSpPr>
        <p:spPr>
          <a:xfrm>
            <a:off x="8945575" y="6492240"/>
            <a:ext cx="2743200" cy="256032"/>
          </a:xfrm>
          <a:prstGeom prst="rect">
            <a:avLst/>
          </a:prstGeom>
          <a:noFill/>
          <a:ln/>
        </p:spPr>
        <p:txBody>
          <a:bodyPr wrap="square" rtlCol="0" anchor="ctr"/>
          <a:lstStyle/>
          <a:p>
            <a:pPr algn="r" indent="0" marL="0">
              <a:buNone/>
            </a:pPr>
            <a:r>
              <a:rPr lang="en-US" sz="900" dirty="0">
                <a:solidFill>
                  <a:srgbClr val="6C7B80"/>
                </a:solidFill>
                <a:latin typeface="Arial" pitchFamily="34" charset="0"/>
                <a:ea typeface="Arial" pitchFamily="34" charset="-122"/>
                <a:cs typeface="Arial" pitchFamily="34" charset="-120"/>
              </a:rPr>
              <a:t>CPeak Consultancy</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365760"/>
            <a:ext cx="10515600" cy="292608"/>
          </a:xfrm>
          <a:prstGeom prst="rect">
            <a:avLst/>
          </a:prstGeom>
          <a:noFill/>
          <a:ln/>
        </p:spPr>
        <p:txBody>
          <a:bodyPr wrap="square" rtlCol="0" anchor="ctr"/>
          <a:lstStyle/>
          <a:p>
            <a:pPr indent="0" marL="0">
              <a:buNone/>
            </a:pPr>
            <a:r>
              <a:rPr lang="en-US" sz="1250" b="1" spc="200" kern="0" dirty="0">
                <a:solidFill>
                  <a:srgbClr val="11676A"/>
                </a:solidFill>
                <a:latin typeface="Arial" pitchFamily="34" charset="0"/>
                <a:ea typeface="Arial" pitchFamily="34" charset="-122"/>
                <a:cs typeface="Arial" pitchFamily="34" charset="-120"/>
              </a:rPr>
              <a:t>BULUT MODELI KARŞILAŞTIRMASI</a:t>
            </a:r>
            <a:endParaRPr lang="en-US" sz="1250" dirty="0"/>
          </a:p>
        </p:txBody>
      </p:sp>
      <p:sp>
        <p:nvSpPr>
          <p:cNvPr id="3" name="Text 1"/>
          <p:cNvSpPr/>
          <p:nvPr/>
        </p:nvSpPr>
        <p:spPr>
          <a:xfrm>
            <a:off x="502920" y="640080"/>
            <a:ext cx="11155680" cy="594360"/>
          </a:xfrm>
          <a:prstGeom prst="rect">
            <a:avLst/>
          </a:prstGeom>
          <a:noFill/>
          <a:ln/>
        </p:spPr>
        <p:txBody>
          <a:bodyPr wrap="square" rtlCol="0" anchor="ctr">
            <a:normAutofit/>
          </a:bodyPr>
          <a:lstStyle/>
          <a:p>
            <a:pPr indent="0" marL="0">
              <a:lnSpc>
                <a:spcPts val="2688"/>
              </a:lnSpc>
              <a:buNone/>
            </a:pPr>
            <a:r>
              <a:rPr lang="en-US" sz="2400" b="1" dirty="0">
                <a:solidFill>
                  <a:srgbClr val="16262C"/>
                </a:solidFill>
                <a:latin typeface="Arial" pitchFamily="34" charset="0"/>
                <a:ea typeface="Arial" pitchFamily="34" charset="-122"/>
                <a:cs typeface="Arial" pitchFamily="34" charset="-120"/>
              </a:rPr>
              <a:t>Hangisi size uygun olabilir?</a:t>
            </a:r>
            <a:endParaRPr lang="en-US" sz="2400" dirty="0"/>
          </a:p>
        </p:txBody>
      </p:sp>
      <p:sp>
        <p:nvSpPr>
          <p:cNvPr id="4" name="Shape 2"/>
          <p:cNvSpPr/>
          <p:nvPr/>
        </p:nvSpPr>
        <p:spPr>
          <a:xfrm>
            <a:off x="502920" y="1600200"/>
            <a:ext cx="5440680" cy="4206240"/>
          </a:xfrm>
          <a:prstGeom prst="roundRect">
            <a:avLst>
              <a:gd name="adj" fmla="val 1739"/>
            </a:avLst>
          </a:prstGeom>
          <a:solidFill>
            <a:srgbClr val="EFF5F5"/>
          </a:solidFill>
          <a:ln/>
        </p:spPr>
      </p:sp>
      <p:sp>
        <p:nvSpPr>
          <p:cNvPr id="5" name="Shape 3"/>
          <p:cNvSpPr/>
          <p:nvPr/>
        </p:nvSpPr>
        <p:spPr>
          <a:xfrm>
            <a:off x="502920" y="1600200"/>
            <a:ext cx="5440680" cy="640080"/>
          </a:xfrm>
          <a:prstGeom prst="rect">
            <a:avLst/>
          </a:prstGeom>
          <a:solidFill>
            <a:srgbClr val="11676A"/>
          </a:solidFill>
          <a:ln/>
        </p:spPr>
      </p:sp>
      <p:sp>
        <p:nvSpPr>
          <p:cNvPr id="6" name="Text 4"/>
          <p:cNvSpPr/>
          <p:nvPr/>
        </p:nvSpPr>
        <p:spPr>
          <a:xfrm>
            <a:off x="777240" y="1600200"/>
            <a:ext cx="4892040" cy="640080"/>
          </a:xfrm>
          <a:prstGeom prst="rect">
            <a:avLst/>
          </a:prstGeom>
          <a:noFill/>
          <a:ln/>
        </p:spPr>
        <p:txBody>
          <a:bodyPr wrap="square" rtlCol="0" anchor="ctr"/>
          <a:lstStyle/>
          <a:p>
            <a:pPr indent="0" marL="0">
              <a:buNone/>
            </a:pPr>
            <a:r>
              <a:rPr lang="en-US" sz="1700" b="1" dirty="0">
                <a:solidFill>
                  <a:srgbClr val="FFFFFF"/>
                </a:solidFill>
                <a:latin typeface="Arial" pitchFamily="34" charset="0"/>
                <a:ea typeface="Arial" pitchFamily="34" charset="-122"/>
                <a:cs typeface="Arial" pitchFamily="34" charset="-120"/>
              </a:rPr>
              <a:t>SAP Public Cloud</a:t>
            </a:r>
            <a:endParaRPr lang="en-US" sz="1700" dirty="0"/>
          </a:p>
        </p:txBody>
      </p:sp>
      <p:sp>
        <p:nvSpPr>
          <p:cNvPr id="7" name="Shape 5"/>
          <p:cNvSpPr/>
          <p:nvPr/>
        </p:nvSpPr>
        <p:spPr>
          <a:xfrm>
            <a:off x="777240" y="2468880"/>
            <a:ext cx="329184" cy="329184"/>
          </a:xfrm>
          <a:prstGeom prst="ellipse">
            <a:avLst/>
          </a:prstGeom>
          <a:solidFill>
            <a:srgbClr val="FFFFFF"/>
          </a:solidFill>
          <a:ln/>
        </p:spPr>
      </p:sp>
      <p:pic>
        <p:nvPicPr>
          <p:cNvPr id="8" name="Image 0" descr="/tmp/claude-0/-home-user-Default/f7e81ef3-2f73-50cc-818d-26c445ecb8fe/scratchpad/cpeak/build/icons/check_teal.png">    </p:cNvPr>
          <p:cNvPicPr>
            <a:picLocks noChangeAspect="1"/>
          </p:cNvPicPr>
          <p:nvPr/>
        </p:nvPicPr>
        <p:blipFill>
          <a:blip r:embed="rId1"/>
          <a:stretch>
            <a:fillRect/>
          </a:stretch>
        </p:blipFill>
        <p:spPr>
          <a:xfrm>
            <a:off x="859536" y="2551176"/>
            <a:ext cx="164592" cy="164592"/>
          </a:xfrm>
          <a:prstGeom prst="rect">
            <a:avLst/>
          </a:prstGeom>
        </p:spPr>
      </p:pic>
      <p:sp>
        <p:nvSpPr>
          <p:cNvPr id="9" name="Text 6"/>
          <p:cNvSpPr/>
          <p:nvPr/>
        </p:nvSpPr>
        <p:spPr>
          <a:xfrm>
            <a:off x="1234440" y="2377440"/>
            <a:ext cx="4434840" cy="777240"/>
          </a:xfrm>
          <a:prstGeom prst="rect">
            <a:avLst/>
          </a:prstGeom>
          <a:noFill/>
          <a:ln/>
        </p:spPr>
        <p:txBody>
          <a:bodyPr wrap="square" rtlCol="0" anchor="ctr">
            <a:normAutofit/>
          </a:bodyPr>
          <a:lstStyle/>
          <a:p>
            <a:pPr indent="0" marL="0">
              <a:lnSpc>
                <a:spcPts val="1500"/>
              </a:lnSpc>
              <a:buNone/>
            </a:pPr>
            <a:r>
              <a:rPr lang="en-US" sz="1150" dirty="0">
                <a:solidFill>
                  <a:srgbClr val="3D4C52"/>
                </a:solidFill>
                <a:latin typeface="Arial" pitchFamily="34" charset="0"/>
                <a:ea typeface="Arial" pitchFamily="34" charset="-122"/>
                <a:cs typeface="Arial" pitchFamily="34" charset="-120"/>
              </a:rPr>
              <a:t>Süreçlerinizi standarda uydurmaya istekliyseniz</a:t>
            </a:r>
            <a:endParaRPr lang="en-US" sz="1150" dirty="0"/>
          </a:p>
        </p:txBody>
      </p:sp>
      <p:sp>
        <p:nvSpPr>
          <p:cNvPr id="10" name="Shape 7"/>
          <p:cNvSpPr/>
          <p:nvPr/>
        </p:nvSpPr>
        <p:spPr>
          <a:xfrm>
            <a:off x="777240" y="3291840"/>
            <a:ext cx="329184" cy="329184"/>
          </a:xfrm>
          <a:prstGeom prst="ellipse">
            <a:avLst/>
          </a:prstGeom>
          <a:solidFill>
            <a:srgbClr val="FFFFFF"/>
          </a:solidFill>
          <a:ln/>
        </p:spPr>
      </p:sp>
      <p:pic>
        <p:nvPicPr>
          <p:cNvPr id="11" name="Image 1" descr="/tmp/claude-0/-home-user-Default/f7e81ef3-2f73-50cc-818d-26c445ecb8fe/scratchpad/cpeak/build/icons/check_teal.png">    </p:cNvPr>
          <p:cNvPicPr>
            <a:picLocks noChangeAspect="1"/>
          </p:cNvPicPr>
          <p:nvPr/>
        </p:nvPicPr>
        <p:blipFill>
          <a:blip r:embed="rId2"/>
          <a:stretch>
            <a:fillRect/>
          </a:stretch>
        </p:blipFill>
        <p:spPr>
          <a:xfrm>
            <a:off x="859536" y="3374136"/>
            <a:ext cx="164592" cy="164592"/>
          </a:xfrm>
          <a:prstGeom prst="rect">
            <a:avLst/>
          </a:prstGeom>
        </p:spPr>
      </p:pic>
      <p:sp>
        <p:nvSpPr>
          <p:cNvPr id="12" name="Text 8"/>
          <p:cNvSpPr/>
          <p:nvPr/>
        </p:nvSpPr>
        <p:spPr>
          <a:xfrm>
            <a:off x="1234440" y="3200400"/>
            <a:ext cx="4434840" cy="777240"/>
          </a:xfrm>
          <a:prstGeom prst="rect">
            <a:avLst/>
          </a:prstGeom>
          <a:noFill/>
          <a:ln/>
        </p:spPr>
        <p:txBody>
          <a:bodyPr wrap="square" rtlCol="0" anchor="ctr">
            <a:normAutofit/>
          </a:bodyPr>
          <a:lstStyle/>
          <a:p>
            <a:pPr indent="0" marL="0">
              <a:lnSpc>
                <a:spcPts val="1500"/>
              </a:lnSpc>
              <a:buNone/>
            </a:pPr>
            <a:r>
              <a:rPr lang="en-US" sz="1150" dirty="0">
                <a:solidFill>
                  <a:srgbClr val="3D4C52"/>
                </a:solidFill>
                <a:latin typeface="Arial" pitchFamily="34" charset="0"/>
                <a:ea typeface="Arial" pitchFamily="34" charset="-122"/>
                <a:cs typeface="Arial" pitchFamily="34" charset="-120"/>
              </a:rPr>
              <a:t>İç BT kadronuz sınırlıysa ve altyapı yükünü taşımak istemiyorsanız</a:t>
            </a:r>
            <a:endParaRPr lang="en-US" sz="1150" dirty="0"/>
          </a:p>
        </p:txBody>
      </p:sp>
      <p:sp>
        <p:nvSpPr>
          <p:cNvPr id="13" name="Shape 9"/>
          <p:cNvSpPr/>
          <p:nvPr/>
        </p:nvSpPr>
        <p:spPr>
          <a:xfrm>
            <a:off x="777240" y="4114800"/>
            <a:ext cx="329184" cy="329184"/>
          </a:xfrm>
          <a:prstGeom prst="ellipse">
            <a:avLst/>
          </a:prstGeom>
          <a:solidFill>
            <a:srgbClr val="FFFFFF"/>
          </a:solidFill>
          <a:ln/>
        </p:spPr>
      </p:sp>
      <p:pic>
        <p:nvPicPr>
          <p:cNvPr id="14" name="Image 2" descr="/tmp/claude-0/-home-user-Default/f7e81ef3-2f73-50cc-818d-26c445ecb8fe/scratchpad/cpeak/build/icons/check_teal.png">    </p:cNvPr>
          <p:cNvPicPr>
            <a:picLocks noChangeAspect="1"/>
          </p:cNvPicPr>
          <p:nvPr/>
        </p:nvPicPr>
        <p:blipFill>
          <a:blip r:embed="rId3"/>
          <a:stretch>
            <a:fillRect/>
          </a:stretch>
        </p:blipFill>
        <p:spPr>
          <a:xfrm>
            <a:off x="859536" y="4197096"/>
            <a:ext cx="164592" cy="164592"/>
          </a:xfrm>
          <a:prstGeom prst="rect">
            <a:avLst/>
          </a:prstGeom>
        </p:spPr>
      </p:pic>
      <p:sp>
        <p:nvSpPr>
          <p:cNvPr id="15" name="Text 10"/>
          <p:cNvSpPr/>
          <p:nvPr/>
        </p:nvSpPr>
        <p:spPr>
          <a:xfrm>
            <a:off x="1234440" y="4023360"/>
            <a:ext cx="4434840" cy="777240"/>
          </a:xfrm>
          <a:prstGeom prst="rect">
            <a:avLst/>
          </a:prstGeom>
          <a:noFill/>
          <a:ln/>
        </p:spPr>
        <p:txBody>
          <a:bodyPr wrap="square" rtlCol="0" anchor="ctr">
            <a:normAutofit/>
          </a:bodyPr>
          <a:lstStyle/>
          <a:p>
            <a:pPr indent="0" marL="0">
              <a:lnSpc>
                <a:spcPts val="1500"/>
              </a:lnSpc>
              <a:buNone/>
            </a:pPr>
            <a:r>
              <a:rPr lang="en-US" sz="1150" dirty="0">
                <a:solidFill>
                  <a:srgbClr val="3D4C52"/>
                </a:solidFill>
                <a:latin typeface="Arial" pitchFamily="34" charset="0"/>
                <a:ea typeface="Arial" pitchFamily="34" charset="-122"/>
                <a:cs typeface="Arial" pitchFamily="34" charset="-120"/>
              </a:rPr>
              <a:t>Hızlı devreye alma önceliğinizse</a:t>
            </a:r>
            <a:endParaRPr lang="en-US" sz="1150" dirty="0"/>
          </a:p>
        </p:txBody>
      </p:sp>
      <p:sp>
        <p:nvSpPr>
          <p:cNvPr id="16" name="Shape 11"/>
          <p:cNvSpPr/>
          <p:nvPr/>
        </p:nvSpPr>
        <p:spPr>
          <a:xfrm>
            <a:off x="777240" y="4937760"/>
            <a:ext cx="329184" cy="329184"/>
          </a:xfrm>
          <a:prstGeom prst="ellipse">
            <a:avLst/>
          </a:prstGeom>
          <a:solidFill>
            <a:srgbClr val="FFFFFF"/>
          </a:solidFill>
          <a:ln/>
        </p:spPr>
      </p:sp>
      <p:pic>
        <p:nvPicPr>
          <p:cNvPr id="17" name="Image 3" descr="/tmp/claude-0/-home-user-Default/f7e81ef3-2f73-50cc-818d-26c445ecb8fe/scratchpad/cpeak/build/icons/check_teal.png">    </p:cNvPr>
          <p:cNvPicPr>
            <a:picLocks noChangeAspect="1"/>
          </p:cNvPicPr>
          <p:nvPr/>
        </p:nvPicPr>
        <p:blipFill>
          <a:blip r:embed="rId4"/>
          <a:stretch>
            <a:fillRect/>
          </a:stretch>
        </p:blipFill>
        <p:spPr>
          <a:xfrm>
            <a:off x="859536" y="5020056"/>
            <a:ext cx="164592" cy="164592"/>
          </a:xfrm>
          <a:prstGeom prst="rect">
            <a:avLst/>
          </a:prstGeom>
        </p:spPr>
      </p:pic>
      <p:sp>
        <p:nvSpPr>
          <p:cNvPr id="18" name="Text 12"/>
          <p:cNvSpPr/>
          <p:nvPr/>
        </p:nvSpPr>
        <p:spPr>
          <a:xfrm>
            <a:off x="1234440" y="4846320"/>
            <a:ext cx="4434840" cy="777240"/>
          </a:xfrm>
          <a:prstGeom prst="rect">
            <a:avLst/>
          </a:prstGeom>
          <a:noFill/>
          <a:ln/>
        </p:spPr>
        <p:txBody>
          <a:bodyPr wrap="square" rtlCol="0" anchor="ctr">
            <a:normAutofit/>
          </a:bodyPr>
          <a:lstStyle/>
          <a:p>
            <a:pPr indent="0" marL="0">
              <a:lnSpc>
                <a:spcPts val="1500"/>
              </a:lnSpc>
              <a:buNone/>
            </a:pPr>
            <a:r>
              <a:rPr lang="en-US" sz="1150" dirty="0">
                <a:solidFill>
                  <a:srgbClr val="3D4C52"/>
                </a:solidFill>
                <a:latin typeface="Arial" pitchFamily="34" charset="0"/>
                <a:ea typeface="Arial" pitchFamily="34" charset="-122"/>
                <a:cs typeface="Arial" pitchFamily="34" charset="-120"/>
              </a:rPr>
              <a:t>Birden fazla iştirakte tekrarlanabilir bir şablon kurmak istiyorsanız</a:t>
            </a:r>
            <a:endParaRPr lang="en-US" sz="1150" dirty="0"/>
          </a:p>
        </p:txBody>
      </p:sp>
      <p:sp>
        <p:nvSpPr>
          <p:cNvPr id="19" name="Shape 13"/>
          <p:cNvSpPr/>
          <p:nvPr/>
        </p:nvSpPr>
        <p:spPr>
          <a:xfrm>
            <a:off x="6263640" y="1600200"/>
            <a:ext cx="5440680" cy="4206240"/>
          </a:xfrm>
          <a:prstGeom prst="roundRect">
            <a:avLst>
              <a:gd name="adj" fmla="val 1739"/>
            </a:avLst>
          </a:prstGeom>
          <a:solidFill>
            <a:srgbClr val="EFF5F5"/>
          </a:solidFill>
          <a:ln/>
        </p:spPr>
      </p:sp>
      <p:sp>
        <p:nvSpPr>
          <p:cNvPr id="20" name="Shape 14"/>
          <p:cNvSpPr/>
          <p:nvPr/>
        </p:nvSpPr>
        <p:spPr>
          <a:xfrm>
            <a:off x="6263640" y="1600200"/>
            <a:ext cx="5440680" cy="640080"/>
          </a:xfrm>
          <a:prstGeom prst="rect">
            <a:avLst/>
          </a:prstGeom>
          <a:solidFill>
            <a:srgbClr val="003F82"/>
          </a:solidFill>
          <a:ln/>
        </p:spPr>
      </p:sp>
      <p:sp>
        <p:nvSpPr>
          <p:cNvPr id="21" name="Text 15"/>
          <p:cNvSpPr/>
          <p:nvPr/>
        </p:nvSpPr>
        <p:spPr>
          <a:xfrm>
            <a:off x="6537960" y="1600200"/>
            <a:ext cx="4892040" cy="640080"/>
          </a:xfrm>
          <a:prstGeom prst="rect">
            <a:avLst/>
          </a:prstGeom>
          <a:noFill/>
          <a:ln/>
        </p:spPr>
        <p:txBody>
          <a:bodyPr wrap="square" rtlCol="0" anchor="ctr"/>
          <a:lstStyle/>
          <a:p>
            <a:pPr indent="0" marL="0">
              <a:buNone/>
            </a:pPr>
            <a:r>
              <a:rPr lang="en-US" sz="1700" b="1" dirty="0">
                <a:solidFill>
                  <a:srgbClr val="FFFFFF"/>
                </a:solidFill>
                <a:latin typeface="Arial" pitchFamily="34" charset="0"/>
                <a:ea typeface="Arial" pitchFamily="34" charset="-122"/>
                <a:cs typeface="Arial" pitchFamily="34" charset="-120"/>
              </a:rPr>
              <a:t>SAP Private Cloud</a:t>
            </a:r>
            <a:endParaRPr lang="en-US" sz="1700" dirty="0"/>
          </a:p>
        </p:txBody>
      </p:sp>
      <p:sp>
        <p:nvSpPr>
          <p:cNvPr id="22" name="Shape 16"/>
          <p:cNvSpPr/>
          <p:nvPr/>
        </p:nvSpPr>
        <p:spPr>
          <a:xfrm>
            <a:off x="6537960" y="2468880"/>
            <a:ext cx="329184" cy="329184"/>
          </a:xfrm>
          <a:prstGeom prst="ellipse">
            <a:avLst/>
          </a:prstGeom>
          <a:solidFill>
            <a:srgbClr val="FFFFFF"/>
          </a:solidFill>
          <a:ln/>
        </p:spPr>
      </p:sp>
      <p:pic>
        <p:nvPicPr>
          <p:cNvPr id="23" name="Image 4" descr="/tmp/claude-0/-home-user-Default/f7e81ef3-2f73-50cc-818d-26c445ecb8fe/scratchpad/cpeak/build/icons/check_teal.png">    </p:cNvPr>
          <p:cNvPicPr>
            <a:picLocks noChangeAspect="1"/>
          </p:cNvPicPr>
          <p:nvPr/>
        </p:nvPicPr>
        <p:blipFill>
          <a:blip r:embed="rId5"/>
          <a:stretch>
            <a:fillRect/>
          </a:stretch>
        </p:blipFill>
        <p:spPr>
          <a:xfrm>
            <a:off x="6620256" y="2551176"/>
            <a:ext cx="164592" cy="164592"/>
          </a:xfrm>
          <a:prstGeom prst="rect">
            <a:avLst/>
          </a:prstGeom>
        </p:spPr>
      </p:pic>
      <p:sp>
        <p:nvSpPr>
          <p:cNvPr id="24" name="Text 17"/>
          <p:cNvSpPr/>
          <p:nvPr/>
        </p:nvSpPr>
        <p:spPr>
          <a:xfrm>
            <a:off x="6995160" y="2377440"/>
            <a:ext cx="4434840" cy="777240"/>
          </a:xfrm>
          <a:prstGeom prst="rect">
            <a:avLst/>
          </a:prstGeom>
          <a:noFill/>
          <a:ln/>
        </p:spPr>
        <p:txBody>
          <a:bodyPr wrap="square" rtlCol="0" anchor="ctr">
            <a:normAutofit/>
          </a:bodyPr>
          <a:lstStyle/>
          <a:p>
            <a:pPr indent="0" marL="0">
              <a:lnSpc>
                <a:spcPts val="1500"/>
              </a:lnSpc>
              <a:buNone/>
            </a:pPr>
            <a:r>
              <a:rPr lang="en-US" sz="1150" dirty="0">
                <a:solidFill>
                  <a:srgbClr val="3D4C52"/>
                </a:solidFill>
                <a:latin typeface="Arial" pitchFamily="34" charset="0"/>
                <a:ea typeface="Arial" pitchFamily="34" charset="-122"/>
                <a:cs typeface="Arial" pitchFamily="34" charset="-120"/>
              </a:rPr>
              <a:t>Sektörünüze özgü, standart kapsamda karşılığı olmayan zorunlu süreçleriniz varsa</a:t>
            </a:r>
            <a:endParaRPr lang="en-US" sz="1150" dirty="0"/>
          </a:p>
        </p:txBody>
      </p:sp>
      <p:sp>
        <p:nvSpPr>
          <p:cNvPr id="25" name="Shape 18"/>
          <p:cNvSpPr/>
          <p:nvPr/>
        </p:nvSpPr>
        <p:spPr>
          <a:xfrm>
            <a:off x="6537960" y="3291840"/>
            <a:ext cx="329184" cy="329184"/>
          </a:xfrm>
          <a:prstGeom prst="ellipse">
            <a:avLst/>
          </a:prstGeom>
          <a:solidFill>
            <a:srgbClr val="FFFFFF"/>
          </a:solidFill>
          <a:ln/>
        </p:spPr>
      </p:sp>
      <p:pic>
        <p:nvPicPr>
          <p:cNvPr id="26" name="Image 5" descr="/tmp/claude-0/-home-user-Default/f7e81ef3-2f73-50cc-818d-26c445ecb8fe/scratchpad/cpeak/build/icons/check_teal.png">    </p:cNvPr>
          <p:cNvPicPr>
            <a:picLocks noChangeAspect="1"/>
          </p:cNvPicPr>
          <p:nvPr/>
        </p:nvPicPr>
        <p:blipFill>
          <a:blip r:embed="rId6"/>
          <a:stretch>
            <a:fillRect/>
          </a:stretch>
        </p:blipFill>
        <p:spPr>
          <a:xfrm>
            <a:off x="6620256" y="3374136"/>
            <a:ext cx="164592" cy="164592"/>
          </a:xfrm>
          <a:prstGeom prst="rect">
            <a:avLst/>
          </a:prstGeom>
        </p:spPr>
      </p:pic>
      <p:sp>
        <p:nvSpPr>
          <p:cNvPr id="27" name="Text 19"/>
          <p:cNvSpPr/>
          <p:nvPr/>
        </p:nvSpPr>
        <p:spPr>
          <a:xfrm>
            <a:off x="6995160" y="3200400"/>
            <a:ext cx="4434840" cy="777240"/>
          </a:xfrm>
          <a:prstGeom prst="rect">
            <a:avLst/>
          </a:prstGeom>
          <a:noFill/>
          <a:ln/>
        </p:spPr>
        <p:txBody>
          <a:bodyPr wrap="square" rtlCol="0" anchor="ctr">
            <a:normAutofit/>
          </a:bodyPr>
          <a:lstStyle/>
          <a:p>
            <a:pPr indent="0" marL="0">
              <a:lnSpc>
                <a:spcPts val="1500"/>
              </a:lnSpc>
              <a:buNone/>
            </a:pPr>
            <a:r>
              <a:rPr lang="en-US" sz="1150" dirty="0">
                <a:solidFill>
                  <a:srgbClr val="3D4C52"/>
                </a:solidFill>
                <a:latin typeface="Arial" pitchFamily="34" charset="0"/>
                <a:ea typeface="Arial" pitchFamily="34" charset="-122"/>
                <a:cs typeface="Arial" pitchFamily="34" charset="-120"/>
              </a:rPr>
              <a:t>Yıllar içinde biriken entegrasyon mirasınız varsa</a:t>
            </a:r>
            <a:endParaRPr lang="en-US" sz="1150" dirty="0"/>
          </a:p>
        </p:txBody>
      </p:sp>
      <p:sp>
        <p:nvSpPr>
          <p:cNvPr id="28" name="Shape 20"/>
          <p:cNvSpPr/>
          <p:nvPr/>
        </p:nvSpPr>
        <p:spPr>
          <a:xfrm>
            <a:off x="6537960" y="4114800"/>
            <a:ext cx="329184" cy="329184"/>
          </a:xfrm>
          <a:prstGeom prst="ellipse">
            <a:avLst/>
          </a:prstGeom>
          <a:solidFill>
            <a:srgbClr val="FFFFFF"/>
          </a:solidFill>
          <a:ln/>
        </p:spPr>
      </p:sp>
      <p:pic>
        <p:nvPicPr>
          <p:cNvPr id="29" name="Image 6" descr="/tmp/claude-0/-home-user-Default/f7e81ef3-2f73-50cc-818d-26c445ecb8fe/scratchpad/cpeak/build/icons/check_teal.png">    </p:cNvPr>
          <p:cNvPicPr>
            <a:picLocks noChangeAspect="1"/>
          </p:cNvPicPr>
          <p:nvPr/>
        </p:nvPicPr>
        <p:blipFill>
          <a:blip r:embed="rId7"/>
          <a:stretch>
            <a:fillRect/>
          </a:stretch>
        </p:blipFill>
        <p:spPr>
          <a:xfrm>
            <a:off x="6620256" y="4197096"/>
            <a:ext cx="164592" cy="164592"/>
          </a:xfrm>
          <a:prstGeom prst="rect">
            <a:avLst/>
          </a:prstGeom>
        </p:spPr>
      </p:pic>
      <p:sp>
        <p:nvSpPr>
          <p:cNvPr id="30" name="Text 21"/>
          <p:cNvSpPr/>
          <p:nvPr/>
        </p:nvSpPr>
        <p:spPr>
          <a:xfrm>
            <a:off x="6995160" y="4023360"/>
            <a:ext cx="4434840" cy="777240"/>
          </a:xfrm>
          <a:prstGeom prst="rect">
            <a:avLst/>
          </a:prstGeom>
          <a:noFill/>
          <a:ln/>
        </p:spPr>
        <p:txBody>
          <a:bodyPr wrap="square" rtlCol="0" anchor="ctr">
            <a:normAutofit/>
          </a:bodyPr>
          <a:lstStyle/>
          <a:p>
            <a:pPr indent="0" marL="0">
              <a:lnSpc>
                <a:spcPts val="1500"/>
              </a:lnSpc>
              <a:buNone/>
            </a:pPr>
            <a:r>
              <a:rPr lang="en-US" sz="1150" dirty="0">
                <a:solidFill>
                  <a:srgbClr val="3D4C52"/>
                </a:solidFill>
                <a:latin typeface="Arial" pitchFamily="34" charset="0"/>
                <a:ea typeface="Arial" pitchFamily="34" charset="-122"/>
                <a:cs typeface="Arial" pitchFamily="34" charset="-120"/>
              </a:rPr>
              <a:t>Düzenleyici nedenlerle veri yerleşimi ve altyapı kontrolü gerekiyorsa</a:t>
            </a:r>
            <a:endParaRPr lang="en-US" sz="1150" dirty="0"/>
          </a:p>
        </p:txBody>
      </p:sp>
      <p:sp>
        <p:nvSpPr>
          <p:cNvPr id="31" name="Shape 22"/>
          <p:cNvSpPr/>
          <p:nvPr/>
        </p:nvSpPr>
        <p:spPr>
          <a:xfrm>
            <a:off x="6537960" y="4937760"/>
            <a:ext cx="329184" cy="329184"/>
          </a:xfrm>
          <a:prstGeom prst="ellipse">
            <a:avLst/>
          </a:prstGeom>
          <a:solidFill>
            <a:srgbClr val="FFFFFF"/>
          </a:solidFill>
          <a:ln/>
        </p:spPr>
      </p:sp>
      <p:pic>
        <p:nvPicPr>
          <p:cNvPr id="32" name="Image 7" descr="/tmp/claude-0/-home-user-Default/f7e81ef3-2f73-50cc-818d-26c445ecb8fe/scratchpad/cpeak/build/icons/check_teal.png">    </p:cNvPr>
          <p:cNvPicPr>
            <a:picLocks noChangeAspect="1"/>
          </p:cNvPicPr>
          <p:nvPr/>
        </p:nvPicPr>
        <p:blipFill>
          <a:blip r:embed="rId8"/>
          <a:stretch>
            <a:fillRect/>
          </a:stretch>
        </p:blipFill>
        <p:spPr>
          <a:xfrm>
            <a:off x="6620256" y="5020056"/>
            <a:ext cx="164592" cy="164592"/>
          </a:xfrm>
          <a:prstGeom prst="rect">
            <a:avLst/>
          </a:prstGeom>
        </p:spPr>
      </p:pic>
      <p:sp>
        <p:nvSpPr>
          <p:cNvPr id="33" name="Text 23"/>
          <p:cNvSpPr/>
          <p:nvPr/>
        </p:nvSpPr>
        <p:spPr>
          <a:xfrm>
            <a:off x="6995160" y="4846320"/>
            <a:ext cx="4434840" cy="777240"/>
          </a:xfrm>
          <a:prstGeom prst="rect">
            <a:avLst/>
          </a:prstGeom>
          <a:noFill/>
          <a:ln/>
        </p:spPr>
        <p:txBody>
          <a:bodyPr wrap="square" rtlCol="0" anchor="ctr">
            <a:normAutofit/>
          </a:bodyPr>
          <a:lstStyle/>
          <a:p>
            <a:pPr indent="0" marL="0">
              <a:lnSpc>
                <a:spcPts val="1500"/>
              </a:lnSpc>
              <a:buNone/>
            </a:pPr>
            <a:r>
              <a:rPr lang="en-US" sz="1150" dirty="0">
                <a:solidFill>
                  <a:srgbClr val="3D4C52"/>
                </a:solidFill>
                <a:latin typeface="Arial" pitchFamily="34" charset="0"/>
                <a:ea typeface="Arial" pitchFamily="34" charset="-122"/>
                <a:cs typeface="Arial" pitchFamily="34" charset="-120"/>
              </a:rPr>
              <a:t>Sürüm yükseltme zamanlamasını kendiniz belirlemeniz gerekiyorsa</a:t>
            </a:r>
            <a:endParaRPr lang="en-US" sz="1150" dirty="0"/>
          </a:p>
        </p:txBody>
      </p:sp>
      <p:sp>
        <p:nvSpPr>
          <p:cNvPr id="34" name="Text 24"/>
          <p:cNvSpPr/>
          <p:nvPr/>
        </p:nvSpPr>
        <p:spPr>
          <a:xfrm>
            <a:off x="502920" y="5943600"/>
            <a:ext cx="11155680" cy="457200"/>
          </a:xfrm>
          <a:prstGeom prst="rect">
            <a:avLst/>
          </a:prstGeom>
          <a:noFill/>
          <a:ln/>
        </p:spPr>
        <p:txBody>
          <a:bodyPr wrap="square" rtlCol="0" anchor="ctr">
            <a:normAutofit/>
          </a:bodyPr>
          <a:lstStyle/>
          <a:p>
            <a:pPr indent="0" marL="0">
              <a:buNone/>
            </a:pPr>
            <a:r>
              <a:rPr lang="en-US" sz="1150" i="1" dirty="0">
                <a:solidFill>
                  <a:srgbClr val="6C7B80"/>
                </a:solidFill>
                <a:latin typeface="Arial" pitchFamily="34" charset="0"/>
                <a:ea typeface="Arial" pitchFamily="34" charset="-122"/>
                <a:cs typeface="Arial" pitchFamily="34" charset="-120"/>
              </a:rPr>
              <a:t>Bu listeler bir karar değil, bir başlangıç noktasıdır. Gerçek karar, süreçlerin standart kapsamla madde madde karşılaştırılmasından sonra verilir.</a:t>
            </a:r>
            <a:endParaRPr lang="en-US" sz="1150" dirty="0"/>
          </a:p>
        </p:txBody>
      </p:sp>
      <p:sp>
        <p:nvSpPr>
          <p:cNvPr id="35" name="Text 25"/>
          <p:cNvSpPr/>
          <p:nvPr/>
        </p:nvSpPr>
        <p:spPr>
          <a:xfrm>
            <a:off x="502920" y="6492240"/>
            <a:ext cx="5486400" cy="256032"/>
          </a:xfrm>
          <a:prstGeom prst="rect">
            <a:avLst/>
          </a:prstGeom>
          <a:noFill/>
          <a:ln/>
        </p:spPr>
        <p:txBody>
          <a:bodyPr wrap="square" rtlCol="0" anchor="ctr"/>
          <a:lstStyle/>
          <a:p>
            <a:pPr algn="l" indent="0" marL="0">
              <a:buNone/>
            </a:pPr>
            <a:r>
              <a:rPr lang="en-US" sz="900" spc="150" kern="0" dirty="0">
                <a:solidFill>
                  <a:srgbClr val="6C7B80"/>
                </a:solidFill>
                <a:latin typeface="Arial" pitchFamily="34" charset="0"/>
                <a:ea typeface="Arial" pitchFamily="34" charset="-122"/>
                <a:cs typeface="Arial" pitchFamily="34" charset="-120"/>
              </a:rPr>
              <a:t>BULUT MODELI</a:t>
            </a:r>
            <a:endParaRPr lang="en-US" sz="900" dirty="0"/>
          </a:p>
        </p:txBody>
      </p:sp>
      <p:sp>
        <p:nvSpPr>
          <p:cNvPr id="36" name="Text 26"/>
          <p:cNvSpPr/>
          <p:nvPr/>
        </p:nvSpPr>
        <p:spPr>
          <a:xfrm>
            <a:off x="8945575" y="6492240"/>
            <a:ext cx="2743200" cy="256032"/>
          </a:xfrm>
          <a:prstGeom prst="rect">
            <a:avLst/>
          </a:prstGeom>
          <a:noFill/>
          <a:ln/>
        </p:spPr>
        <p:txBody>
          <a:bodyPr wrap="square" rtlCol="0" anchor="ctr"/>
          <a:lstStyle/>
          <a:p>
            <a:pPr algn="r" indent="0" marL="0">
              <a:buNone/>
            </a:pPr>
            <a:r>
              <a:rPr lang="en-US" sz="900" dirty="0">
                <a:solidFill>
                  <a:srgbClr val="6C7B80"/>
                </a:solidFill>
                <a:latin typeface="Arial" pitchFamily="34" charset="0"/>
                <a:ea typeface="Arial" pitchFamily="34" charset="-122"/>
                <a:cs typeface="Arial" pitchFamily="34" charset="-120"/>
              </a:rPr>
              <a:t>CPeak Consultancy</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365760"/>
            <a:ext cx="10515600" cy="292608"/>
          </a:xfrm>
          <a:prstGeom prst="rect">
            <a:avLst/>
          </a:prstGeom>
          <a:noFill/>
          <a:ln/>
        </p:spPr>
        <p:txBody>
          <a:bodyPr wrap="square" rtlCol="0" anchor="ctr"/>
          <a:lstStyle/>
          <a:p>
            <a:pPr indent="0" marL="0">
              <a:buNone/>
            </a:pPr>
            <a:r>
              <a:rPr lang="en-US" sz="1250" b="1" spc="200" kern="0" dirty="0">
                <a:solidFill>
                  <a:srgbClr val="11676A"/>
                </a:solidFill>
                <a:latin typeface="Arial" pitchFamily="34" charset="0"/>
                <a:ea typeface="Arial" pitchFamily="34" charset="-122"/>
                <a:cs typeface="Arial" pitchFamily="34" charset="-120"/>
              </a:rPr>
              <a:t>YAKLAŞIMIMIZ</a:t>
            </a:r>
            <a:endParaRPr lang="en-US" sz="1250" dirty="0"/>
          </a:p>
        </p:txBody>
      </p:sp>
      <p:sp>
        <p:nvSpPr>
          <p:cNvPr id="3" name="Text 1"/>
          <p:cNvSpPr/>
          <p:nvPr/>
        </p:nvSpPr>
        <p:spPr>
          <a:xfrm>
            <a:off x="502920" y="640080"/>
            <a:ext cx="11155680" cy="594360"/>
          </a:xfrm>
          <a:prstGeom prst="rect">
            <a:avLst/>
          </a:prstGeom>
          <a:noFill/>
          <a:ln/>
        </p:spPr>
        <p:txBody>
          <a:bodyPr wrap="square" rtlCol="0" anchor="ctr">
            <a:normAutofit/>
          </a:bodyPr>
          <a:lstStyle/>
          <a:p>
            <a:pPr indent="0" marL="0">
              <a:lnSpc>
                <a:spcPts val="2464"/>
              </a:lnSpc>
              <a:buNone/>
            </a:pPr>
            <a:r>
              <a:rPr lang="en-US" sz="2200" b="1" dirty="0">
                <a:solidFill>
                  <a:srgbClr val="16262C"/>
                </a:solidFill>
                <a:latin typeface="Arial" pitchFamily="34" charset="0"/>
                <a:ea typeface="Arial" pitchFamily="34" charset="-122"/>
                <a:cs typeface="Arial" pitchFamily="34" charset="-120"/>
              </a:rPr>
              <a:t>Dört adımın her birinde elle tutulur bir çıktı</a:t>
            </a:r>
            <a:endParaRPr lang="en-US" sz="2200" dirty="0"/>
          </a:p>
        </p:txBody>
      </p:sp>
      <p:sp>
        <p:nvSpPr>
          <p:cNvPr id="4" name="Shape 2"/>
          <p:cNvSpPr/>
          <p:nvPr/>
        </p:nvSpPr>
        <p:spPr>
          <a:xfrm>
            <a:off x="502920" y="1508760"/>
            <a:ext cx="2724912" cy="4892040"/>
          </a:xfrm>
          <a:prstGeom prst="roundRect">
            <a:avLst>
              <a:gd name="adj" fmla="val 2685"/>
            </a:avLst>
          </a:prstGeom>
          <a:solidFill>
            <a:srgbClr val="EFF5F5"/>
          </a:solidFill>
          <a:ln/>
        </p:spPr>
      </p:sp>
      <p:sp>
        <p:nvSpPr>
          <p:cNvPr id="5" name="Text 3"/>
          <p:cNvSpPr/>
          <p:nvPr/>
        </p:nvSpPr>
        <p:spPr>
          <a:xfrm>
            <a:off x="731520" y="1645920"/>
            <a:ext cx="1280160" cy="640080"/>
          </a:xfrm>
          <a:prstGeom prst="rect">
            <a:avLst/>
          </a:prstGeom>
          <a:noFill/>
          <a:ln/>
        </p:spPr>
        <p:txBody>
          <a:bodyPr wrap="square" rtlCol="0" anchor="ctr"/>
          <a:lstStyle/>
          <a:p>
            <a:pPr indent="0" marL="0">
              <a:buNone/>
            </a:pPr>
            <a:r>
              <a:rPr lang="en-US" sz="2800" b="1" dirty="0">
                <a:solidFill>
                  <a:srgbClr val="11676A"/>
                </a:solidFill>
                <a:latin typeface="Courier New" pitchFamily="34" charset="0"/>
                <a:ea typeface="Courier New" pitchFamily="34" charset="-122"/>
                <a:cs typeface="Courier New" pitchFamily="34" charset="-120"/>
              </a:rPr>
              <a:t>01</a:t>
            </a:r>
            <a:endParaRPr lang="en-US" sz="2800" dirty="0"/>
          </a:p>
        </p:txBody>
      </p:sp>
      <p:sp>
        <p:nvSpPr>
          <p:cNvPr id="6" name="Text 4"/>
          <p:cNvSpPr/>
          <p:nvPr/>
        </p:nvSpPr>
        <p:spPr>
          <a:xfrm>
            <a:off x="731520" y="2286000"/>
            <a:ext cx="2267712" cy="640080"/>
          </a:xfrm>
          <a:prstGeom prst="rect">
            <a:avLst/>
          </a:prstGeom>
          <a:noFill/>
          <a:ln/>
        </p:spPr>
        <p:txBody>
          <a:bodyPr wrap="square" rtlCol="0" anchor="ctr">
            <a:normAutofit/>
          </a:bodyPr>
          <a:lstStyle/>
          <a:p>
            <a:pPr indent="0" marL="0">
              <a:lnSpc>
                <a:spcPts val="1600"/>
              </a:lnSpc>
              <a:buNone/>
            </a:pPr>
            <a:r>
              <a:rPr lang="en-US" sz="1400" b="1" dirty="0">
                <a:solidFill>
                  <a:srgbClr val="16262C"/>
                </a:solidFill>
                <a:latin typeface="Arial" pitchFamily="34" charset="0"/>
                <a:ea typeface="Arial" pitchFamily="34" charset="-122"/>
                <a:cs typeface="Arial" pitchFamily="34" charset="-120"/>
              </a:rPr>
              <a:t>Değerlendirme</a:t>
            </a:r>
            <a:endParaRPr lang="en-US" sz="1400" dirty="0"/>
          </a:p>
        </p:txBody>
      </p:sp>
      <p:sp>
        <p:nvSpPr>
          <p:cNvPr id="7" name="Text 5"/>
          <p:cNvSpPr/>
          <p:nvPr/>
        </p:nvSpPr>
        <p:spPr>
          <a:xfrm>
            <a:off x="731520" y="2971800"/>
            <a:ext cx="2267712" cy="1691640"/>
          </a:xfrm>
          <a:prstGeom prst="rect">
            <a:avLst/>
          </a:prstGeom>
          <a:noFill/>
          <a:ln/>
        </p:spPr>
        <p:txBody>
          <a:bodyPr wrap="square" rtlCol="0" anchor="ctr">
            <a:normAutofit/>
          </a:bodyPr>
          <a:lstStyle/>
          <a:p>
            <a:pPr indent="0" marL="0">
              <a:lnSpc>
                <a:spcPts val="1400"/>
              </a:lnSpc>
              <a:buNone/>
            </a:pPr>
            <a:r>
              <a:rPr lang="en-US" sz="1050" dirty="0">
                <a:solidFill>
                  <a:srgbClr val="3D4C52"/>
                </a:solidFill>
                <a:latin typeface="Arial" pitchFamily="34" charset="0"/>
                <a:ea typeface="Arial" pitchFamily="34" charset="-122"/>
                <a:cs typeface="Arial" pitchFamily="34" charset="-120"/>
              </a:rPr>
              <a:t>Sistemdeki gerçek veriyi okuruz: kullanım oranları, veri kalitesi, özelleştirme envanteri ve süreç süreleri.</a:t>
            </a:r>
            <a:endParaRPr lang="en-US" sz="1050" dirty="0"/>
          </a:p>
        </p:txBody>
      </p:sp>
      <p:sp>
        <p:nvSpPr>
          <p:cNvPr id="8" name="Shape 6"/>
          <p:cNvSpPr/>
          <p:nvPr/>
        </p:nvSpPr>
        <p:spPr>
          <a:xfrm>
            <a:off x="731520" y="4800600"/>
            <a:ext cx="2267712" cy="0"/>
          </a:xfrm>
          <a:prstGeom prst="line">
            <a:avLst/>
          </a:prstGeom>
          <a:noFill/>
          <a:ln w="12700">
            <a:solidFill>
              <a:srgbClr val="D9E3E3"/>
            </a:solidFill>
            <a:prstDash val="solid"/>
          </a:ln>
        </p:spPr>
      </p:sp>
      <p:sp>
        <p:nvSpPr>
          <p:cNvPr id="9" name="Text 7"/>
          <p:cNvSpPr/>
          <p:nvPr/>
        </p:nvSpPr>
        <p:spPr>
          <a:xfrm>
            <a:off x="731520" y="4910328"/>
            <a:ext cx="2267712" cy="228600"/>
          </a:xfrm>
          <a:prstGeom prst="rect">
            <a:avLst/>
          </a:prstGeom>
          <a:noFill/>
          <a:ln/>
        </p:spPr>
        <p:txBody>
          <a:bodyPr wrap="square" rtlCol="0" anchor="ctr"/>
          <a:lstStyle/>
          <a:p>
            <a:pPr indent="0" marL="0">
              <a:buNone/>
            </a:pPr>
            <a:r>
              <a:rPr lang="en-US" sz="850" spc="100" kern="0" dirty="0">
                <a:solidFill>
                  <a:srgbClr val="6C7B80"/>
                </a:solidFill>
                <a:latin typeface="Arial" pitchFamily="34" charset="0"/>
                <a:ea typeface="Arial" pitchFamily="34" charset="-122"/>
                <a:cs typeface="Arial" pitchFamily="34" charset="-120"/>
              </a:rPr>
              <a:t>TESLİM EDİLEN</a:t>
            </a:r>
            <a:endParaRPr lang="en-US" sz="850" dirty="0"/>
          </a:p>
        </p:txBody>
      </p:sp>
      <p:sp>
        <p:nvSpPr>
          <p:cNvPr id="10" name="Text 8"/>
          <p:cNvSpPr/>
          <p:nvPr/>
        </p:nvSpPr>
        <p:spPr>
          <a:xfrm>
            <a:off x="731520" y="5138928"/>
            <a:ext cx="2267712" cy="777240"/>
          </a:xfrm>
          <a:prstGeom prst="rect">
            <a:avLst/>
          </a:prstGeom>
          <a:noFill/>
          <a:ln/>
        </p:spPr>
        <p:txBody>
          <a:bodyPr wrap="square" rtlCol="0" anchor="ctr">
            <a:normAutofit/>
          </a:bodyPr>
          <a:lstStyle/>
          <a:p>
            <a:pPr indent="0" marL="0">
              <a:lnSpc>
                <a:spcPts val="1250"/>
              </a:lnSpc>
              <a:buNone/>
            </a:pPr>
            <a:r>
              <a:rPr lang="en-US" sz="950" dirty="0">
                <a:solidFill>
                  <a:srgbClr val="3D4C52"/>
                </a:solidFill>
                <a:latin typeface="Arial" pitchFamily="34" charset="0"/>
                <a:ea typeface="Arial" pitchFamily="34" charset="-122"/>
                <a:cs typeface="Arial" pitchFamily="34" charset="-120"/>
              </a:rPr>
              <a:t>Teşhis raporu ve önceliklendirilmiş bulgular listesi</a:t>
            </a:r>
            <a:endParaRPr lang="en-US" sz="950" dirty="0"/>
          </a:p>
        </p:txBody>
      </p:sp>
      <p:sp>
        <p:nvSpPr>
          <p:cNvPr id="11" name="Text 9"/>
          <p:cNvSpPr/>
          <p:nvPr/>
        </p:nvSpPr>
        <p:spPr>
          <a:xfrm>
            <a:off x="731520" y="5943600"/>
            <a:ext cx="2267712" cy="320040"/>
          </a:xfrm>
          <a:prstGeom prst="rect">
            <a:avLst/>
          </a:prstGeom>
          <a:noFill/>
          <a:ln/>
        </p:spPr>
        <p:txBody>
          <a:bodyPr wrap="square" rtlCol="0" anchor="ctr">
            <a:normAutofit/>
          </a:bodyPr>
          <a:lstStyle/>
          <a:p>
            <a:pPr indent="0" marL="0">
              <a:buNone/>
            </a:pPr>
            <a:r>
              <a:rPr lang="en-US" sz="950" b="1" dirty="0">
                <a:solidFill>
                  <a:srgbClr val="11676A"/>
                </a:solidFill>
                <a:latin typeface="Arial" pitchFamily="34" charset="0"/>
                <a:ea typeface="Arial" pitchFamily="34" charset="-122"/>
                <a:cs typeface="Arial" pitchFamily="34" charset="-120"/>
              </a:rPr>
              <a:t>TİPİK SÜRE  2–6 hafta</a:t>
            </a:r>
            <a:endParaRPr lang="en-US" sz="950" dirty="0"/>
          </a:p>
        </p:txBody>
      </p:sp>
      <p:sp>
        <p:nvSpPr>
          <p:cNvPr id="12" name="Shape 10"/>
          <p:cNvSpPr/>
          <p:nvPr/>
        </p:nvSpPr>
        <p:spPr>
          <a:xfrm>
            <a:off x="3346704" y="1508760"/>
            <a:ext cx="2724912" cy="4892040"/>
          </a:xfrm>
          <a:prstGeom prst="roundRect">
            <a:avLst>
              <a:gd name="adj" fmla="val 2685"/>
            </a:avLst>
          </a:prstGeom>
          <a:solidFill>
            <a:srgbClr val="EFF5F5"/>
          </a:solidFill>
          <a:ln/>
        </p:spPr>
      </p:sp>
      <p:sp>
        <p:nvSpPr>
          <p:cNvPr id="13" name="Text 11"/>
          <p:cNvSpPr/>
          <p:nvPr/>
        </p:nvSpPr>
        <p:spPr>
          <a:xfrm>
            <a:off x="3575304" y="1645920"/>
            <a:ext cx="1280160" cy="640080"/>
          </a:xfrm>
          <a:prstGeom prst="rect">
            <a:avLst/>
          </a:prstGeom>
          <a:noFill/>
          <a:ln/>
        </p:spPr>
        <p:txBody>
          <a:bodyPr wrap="square" rtlCol="0" anchor="ctr"/>
          <a:lstStyle/>
          <a:p>
            <a:pPr indent="0" marL="0">
              <a:buNone/>
            </a:pPr>
            <a:r>
              <a:rPr lang="en-US" sz="2800" b="1" dirty="0">
                <a:solidFill>
                  <a:srgbClr val="11676A"/>
                </a:solidFill>
                <a:latin typeface="Courier New" pitchFamily="34" charset="0"/>
                <a:ea typeface="Courier New" pitchFamily="34" charset="-122"/>
                <a:cs typeface="Courier New" pitchFamily="34" charset="-120"/>
              </a:rPr>
              <a:t>02</a:t>
            </a:r>
            <a:endParaRPr lang="en-US" sz="2800" dirty="0"/>
          </a:p>
        </p:txBody>
      </p:sp>
      <p:sp>
        <p:nvSpPr>
          <p:cNvPr id="14" name="Text 12"/>
          <p:cNvSpPr/>
          <p:nvPr/>
        </p:nvSpPr>
        <p:spPr>
          <a:xfrm>
            <a:off x="3575304" y="2286000"/>
            <a:ext cx="2267712" cy="640080"/>
          </a:xfrm>
          <a:prstGeom prst="rect">
            <a:avLst/>
          </a:prstGeom>
          <a:noFill/>
          <a:ln/>
        </p:spPr>
        <p:txBody>
          <a:bodyPr wrap="square" rtlCol="0" anchor="ctr">
            <a:normAutofit/>
          </a:bodyPr>
          <a:lstStyle/>
          <a:p>
            <a:pPr indent="0" marL="0">
              <a:lnSpc>
                <a:spcPts val="1600"/>
              </a:lnSpc>
              <a:buNone/>
            </a:pPr>
            <a:r>
              <a:rPr lang="en-US" sz="1400" b="1" dirty="0">
                <a:solidFill>
                  <a:srgbClr val="16262C"/>
                </a:solidFill>
                <a:latin typeface="Arial" pitchFamily="34" charset="0"/>
                <a:ea typeface="Arial" pitchFamily="34" charset="-122"/>
                <a:cs typeface="Arial" pitchFamily="34" charset="-120"/>
              </a:rPr>
              <a:t>Mimari ve Yol Haritası</a:t>
            </a:r>
            <a:endParaRPr lang="en-US" sz="1400" dirty="0"/>
          </a:p>
        </p:txBody>
      </p:sp>
      <p:sp>
        <p:nvSpPr>
          <p:cNvPr id="15" name="Text 13"/>
          <p:cNvSpPr/>
          <p:nvPr/>
        </p:nvSpPr>
        <p:spPr>
          <a:xfrm>
            <a:off x="3575304" y="2971800"/>
            <a:ext cx="2267712" cy="1691640"/>
          </a:xfrm>
          <a:prstGeom prst="rect">
            <a:avLst/>
          </a:prstGeom>
          <a:noFill/>
          <a:ln/>
        </p:spPr>
        <p:txBody>
          <a:bodyPr wrap="square" rtlCol="0" anchor="ctr">
            <a:normAutofit/>
          </a:bodyPr>
          <a:lstStyle/>
          <a:p>
            <a:pPr indent="0" marL="0">
              <a:lnSpc>
                <a:spcPts val="1400"/>
              </a:lnSpc>
              <a:buNone/>
            </a:pPr>
            <a:r>
              <a:rPr lang="en-US" sz="1050" dirty="0">
                <a:solidFill>
                  <a:srgbClr val="3D4C52"/>
                </a:solidFill>
                <a:latin typeface="Arial" pitchFamily="34" charset="0"/>
                <a:ea typeface="Arial" pitchFamily="34" charset="-122"/>
                <a:cs typeface="Arial" pitchFamily="34" charset="-120"/>
              </a:rPr>
              <a:t>Seçeneklerin maliyetini, süresini ve riskini yan yana koyar, hedef mimariyi tasarlarız. Kararı siz verirsiniz.</a:t>
            </a:r>
            <a:endParaRPr lang="en-US" sz="1050" dirty="0"/>
          </a:p>
        </p:txBody>
      </p:sp>
      <p:sp>
        <p:nvSpPr>
          <p:cNvPr id="16" name="Shape 14"/>
          <p:cNvSpPr/>
          <p:nvPr/>
        </p:nvSpPr>
        <p:spPr>
          <a:xfrm>
            <a:off x="3575304" y="4800600"/>
            <a:ext cx="2267712" cy="0"/>
          </a:xfrm>
          <a:prstGeom prst="line">
            <a:avLst/>
          </a:prstGeom>
          <a:noFill/>
          <a:ln w="12700">
            <a:solidFill>
              <a:srgbClr val="D9E3E3"/>
            </a:solidFill>
            <a:prstDash val="solid"/>
          </a:ln>
        </p:spPr>
      </p:sp>
      <p:sp>
        <p:nvSpPr>
          <p:cNvPr id="17" name="Text 15"/>
          <p:cNvSpPr/>
          <p:nvPr/>
        </p:nvSpPr>
        <p:spPr>
          <a:xfrm>
            <a:off x="3575304" y="4910328"/>
            <a:ext cx="2267712" cy="228600"/>
          </a:xfrm>
          <a:prstGeom prst="rect">
            <a:avLst/>
          </a:prstGeom>
          <a:noFill/>
          <a:ln/>
        </p:spPr>
        <p:txBody>
          <a:bodyPr wrap="square" rtlCol="0" anchor="ctr"/>
          <a:lstStyle/>
          <a:p>
            <a:pPr indent="0" marL="0">
              <a:buNone/>
            </a:pPr>
            <a:r>
              <a:rPr lang="en-US" sz="850" spc="100" kern="0" dirty="0">
                <a:solidFill>
                  <a:srgbClr val="6C7B80"/>
                </a:solidFill>
                <a:latin typeface="Arial" pitchFamily="34" charset="0"/>
                <a:ea typeface="Arial" pitchFamily="34" charset="-122"/>
                <a:cs typeface="Arial" pitchFamily="34" charset="-120"/>
              </a:rPr>
              <a:t>TESLİM EDİLEN</a:t>
            </a:r>
            <a:endParaRPr lang="en-US" sz="850" dirty="0"/>
          </a:p>
        </p:txBody>
      </p:sp>
      <p:sp>
        <p:nvSpPr>
          <p:cNvPr id="18" name="Text 16"/>
          <p:cNvSpPr/>
          <p:nvPr/>
        </p:nvSpPr>
        <p:spPr>
          <a:xfrm>
            <a:off x="3575304" y="5138928"/>
            <a:ext cx="2267712" cy="777240"/>
          </a:xfrm>
          <a:prstGeom prst="rect">
            <a:avLst/>
          </a:prstGeom>
          <a:noFill/>
          <a:ln/>
        </p:spPr>
        <p:txBody>
          <a:bodyPr wrap="square" rtlCol="0" anchor="ctr">
            <a:normAutofit/>
          </a:bodyPr>
          <a:lstStyle/>
          <a:p>
            <a:pPr indent="0" marL="0">
              <a:lnSpc>
                <a:spcPts val="1250"/>
              </a:lnSpc>
              <a:buNone/>
            </a:pPr>
            <a:r>
              <a:rPr lang="en-US" sz="950" dirty="0">
                <a:solidFill>
                  <a:srgbClr val="3D4C52"/>
                </a:solidFill>
                <a:latin typeface="Arial" pitchFamily="34" charset="0"/>
                <a:ea typeface="Arial" pitchFamily="34" charset="-122"/>
                <a:cs typeface="Arial" pitchFamily="34" charset="-120"/>
              </a:rPr>
              <a:t>Hedef mimari dokümanı ve fazlı yol haritası</a:t>
            </a:r>
            <a:endParaRPr lang="en-US" sz="950" dirty="0"/>
          </a:p>
        </p:txBody>
      </p:sp>
      <p:sp>
        <p:nvSpPr>
          <p:cNvPr id="19" name="Text 17"/>
          <p:cNvSpPr/>
          <p:nvPr/>
        </p:nvSpPr>
        <p:spPr>
          <a:xfrm>
            <a:off x="3575304" y="5943600"/>
            <a:ext cx="2267712" cy="320040"/>
          </a:xfrm>
          <a:prstGeom prst="rect">
            <a:avLst/>
          </a:prstGeom>
          <a:noFill/>
          <a:ln/>
        </p:spPr>
        <p:txBody>
          <a:bodyPr wrap="square" rtlCol="0" anchor="ctr">
            <a:normAutofit/>
          </a:bodyPr>
          <a:lstStyle/>
          <a:p>
            <a:pPr indent="0" marL="0">
              <a:buNone/>
            </a:pPr>
            <a:r>
              <a:rPr lang="en-US" sz="950" b="1" dirty="0">
                <a:solidFill>
                  <a:srgbClr val="11676A"/>
                </a:solidFill>
                <a:latin typeface="Arial" pitchFamily="34" charset="0"/>
                <a:ea typeface="Arial" pitchFamily="34" charset="-122"/>
                <a:cs typeface="Arial" pitchFamily="34" charset="-120"/>
              </a:rPr>
              <a:t>TİPİK SÜRE  3–6 hafta</a:t>
            </a:r>
            <a:endParaRPr lang="en-US" sz="950" dirty="0"/>
          </a:p>
        </p:txBody>
      </p:sp>
      <p:sp>
        <p:nvSpPr>
          <p:cNvPr id="20" name="Shape 18"/>
          <p:cNvSpPr/>
          <p:nvPr/>
        </p:nvSpPr>
        <p:spPr>
          <a:xfrm>
            <a:off x="6190488" y="1508760"/>
            <a:ext cx="2724912" cy="4892040"/>
          </a:xfrm>
          <a:prstGeom prst="roundRect">
            <a:avLst>
              <a:gd name="adj" fmla="val 2685"/>
            </a:avLst>
          </a:prstGeom>
          <a:solidFill>
            <a:srgbClr val="EFF5F5"/>
          </a:solidFill>
          <a:ln/>
        </p:spPr>
      </p:sp>
      <p:sp>
        <p:nvSpPr>
          <p:cNvPr id="21" name="Text 19"/>
          <p:cNvSpPr/>
          <p:nvPr/>
        </p:nvSpPr>
        <p:spPr>
          <a:xfrm>
            <a:off x="6419088" y="1645920"/>
            <a:ext cx="1280160" cy="640080"/>
          </a:xfrm>
          <a:prstGeom prst="rect">
            <a:avLst/>
          </a:prstGeom>
          <a:noFill/>
          <a:ln/>
        </p:spPr>
        <p:txBody>
          <a:bodyPr wrap="square" rtlCol="0" anchor="ctr"/>
          <a:lstStyle/>
          <a:p>
            <a:pPr indent="0" marL="0">
              <a:buNone/>
            </a:pPr>
            <a:r>
              <a:rPr lang="en-US" sz="2800" b="1" dirty="0">
                <a:solidFill>
                  <a:srgbClr val="11676A"/>
                </a:solidFill>
                <a:latin typeface="Courier New" pitchFamily="34" charset="0"/>
                <a:ea typeface="Courier New" pitchFamily="34" charset="-122"/>
                <a:cs typeface="Courier New" pitchFamily="34" charset="-120"/>
              </a:rPr>
              <a:t>03</a:t>
            </a:r>
            <a:endParaRPr lang="en-US" sz="2800" dirty="0"/>
          </a:p>
        </p:txBody>
      </p:sp>
      <p:sp>
        <p:nvSpPr>
          <p:cNvPr id="22" name="Text 20"/>
          <p:cNvSpPr/>
          <p:nvPr/>
        </p:nvSpPr>
        <p:spPr>
          <a:xfrm>
            <a:off x="6419088" y="2286000"/>
            <a:ext cx="2267712" cy="640080"/>
          </a:xfrm>
          <a:prstGeom prst="rect">
            <a:avLst/>
          </a:prstGeom>
          <a:noFill/>
          <a:ln/>
        </p:spPr>
        <p:txBody>
          <a:bodyPr wrap="square" rtlCol="0" anchor="ctr">
            <a:normAutofit/>
          </a:bodyPr>
          <a:lstStyle/>
          <a:p>
            <a:pPr indent="0" marL="0">
              <a:lnSpc>
                <a:spcPts val="1600"/>
              </a:lnSpc>
              <a:buNone/>
            </a:pPr>
            <a:r>
              <a:rPr lang="en-US" sz="1400" b="1" dirty="0">
                <a:solidFill>
                  <a:srgbClr val="16262C"/>
                </a:solidFill>
                <a:latin typeface="Arial" pitchFamily="34" charset="0"/>
                <a:ea typeface="Arial" pitchFamily="34" charset="-122"/>
                <a:cs typeface="Arial" pitchFamily="34" charset="-120"/>
              </a:rPr>
              <a:t>Uygulama</a:t>
            </a:r>
            <a:endParaRPr lang="en-US" sz="1400" dirty="0"/>
          </a:p>
        </p:txBody>
      </p:sp>
      <p:sp>
        <p:nvSpPr>
          <p:cNvPr id="23" name="Text 21"/>
          <p:cNvSpPr/>
          <p:nvPr/>
        </p:nvSpPr>
        <p:spPr>
          <a:xfrm>
            <a:off x="6419088" y="2971800"/>
            <a:ext cx="2267712" cy="1691640"/>
          </a:xfrm>
          <a:prstGeom prst="rect">
            <a:avLst/>
          </a:prstGeom>
          <a:noFill/>
          <a:ln/>
        </p:spPr>
        <p:txBody>
          <a:bodyPr wrap="square" rtlCol="0" anchor="ctr">
            <a:normAutofit/>
          </a:bodyPr>
          <a:lstStyle/>
          <a:p>
            <a:pPr indent="0" marL="0">
              <a:lnSpc>
                <a:spcPts val="1400"/>
              </a:lnSpc>
              <a:buNone/>
            </a:pPr>
            <a:r>
              <a:rPr lang="en-US" sz="1050" dirty="0">
                <a:solidFill>
                  <a:srgbClr val="3D4C52"/>
                </a:solidFill>
                <a:latin typeface="Arial" pitchFamily="34" charset="0"/>
                <a:ea typeface="Arial" pitchFamily="34" charset="-122"/>
                <a:cs typeface="Arial" pitchFamily="34" charset="-120"/>
              </a:rPr>
              <a:t>Yapılandırma, veri migrasyonu, entegrasyon ve test fazlarını yürütürüz. Deneme geçişleri rutin haline gelir.</a:t>
            </a:r>
            <a:endParaRPr lang="en-US" sz="1050" dirty="0"/>
          </a:p>
        </p:txBody>
      </p:sp>
      <p:sp>
        <p:nvSpPr>
          <p:cNvPr id="24" name="Shape 22"/>
          <p:cNvSpPr/>
          <p:nvPr/>
        </p:nvSpPr>
        <p:spPr>
          <a:xfrm>
            <a:off x="6419088" y="4800600"/>
            <a:ext cx="2267712" cy="0"/>
          </a:xfrm>
          <a:prstGeom prst="line">
            <a:avLst/>
          </a:prstGeom>
          <a:noFill/>
          <a:ln w="12700">
            <a:solidFill>
              <a:srgbClr val="D9E3E3"/>
            </a:solidFill>
            <a:prstDash val="solid"/>
          </a:ln>
        </p:spPr>
      </p:sp>
      <p:sp>
        <p:nvSpPr>
          <p:cNvPr id="25" name="Text 23"/>
          <p:cNvSpPr/>
          <p:nvPr/>
        </p:nvSpPr>
        <p:spPr>
          <a:xfrm>
            <a:off x="6419088" y="4910328"/>
            <a:ext cx="2267712" cy="228600"/>
          </a:xfrm>
          <a:prstGeom prst="rect">
            <a:avLst/>
          </a:prstGeom>
          <a:noFill/>
          <a:ln/>
        </p:spPr>
        <p:txBody>
          <a:bodyPr wrap="square" rtlCol="0" anchor="ctr"/>
          <a:lstStyle/>
          <a:p>
            <a:pPr indent="0" marL="0">
              <a:buNone/>
            </a:pPr>
            <a:r>
              <a:rPr lang="en-US" sz="850" spc="100" kern="0" dirty="0">
                <a:solidFill>
                  <a:srgbClr val="6C7B80"/>
                </a:solidFill>
                <a:latin typeface="Arial" pitchFamily="34" charset="0"/>
                <a:ea typeface="Arial" pitchFamily="34" charset="-122"/>
                <a:cs typeface="Arial" pitchFamily="34" charset="-120"/>
              </a:rPr>
              <a:t>TESLİM EDİLEN</a:t>
            </a:r>
            <a:endParaRPr lang="en-US" sz="850" dirty="0"/>
          </a:p>
        </p:txBody>
      </p:sp>
      <p:sp>
        <p:nvSpPr>
          <p:cNvPr id="26" name="Text 24"/>
          <p:cNvSpPr/>
          <p:nvPr/>
        </p:nvSpPr>
        <p:spPr>
          <a:xfrm>
            <a:off x="6419088" y="5138928"/>
            <a:ext cx="2267712" cy="777240"/>
          </a:xfrm>
          <a:prstGeom prst="rect">
            <a:avLst/>
          </a:prstGeom>
          <a:noFill/>
          <a:ln/>
        </p:spPr>
        <p:txBody>
          <a:bodyPr wrap="square" rtlCol="0" anchor="ctr">
            <a:normAutofit/>
          </a:bodyPr>
          <a:lstStyle/>
          <a:p>
            <a:pPr indent="0" marL="0">
              <a:lnSpc>
                <a:spcPts val="1250"/>
              </a:lnSpc>
              <a:buNone/>
            </a:pPr>
            <a:r>
              <a:rPr lang="en-US" sz="950" dirty="0">
                <a:solidFill>
                  <a:srgbClr val="3D4C52"/>
                </a:solidFill>
                <a:latin typeface="Arial" pitchFamily="34" charset="0"/>
                <a:ea typeface="Arial" pitchFamily="34" charset="-122"/>
                <a:cs typeface="Arial" pitchFamily="34" charset="-120"/>
              </a:rPr>
              <a:t>Çalışan sistem, test kayıtları ve devreye alma planı</a:t>
            </a:r>
            <a:endParaRPr lang="en-US" sz="950" dirty="0"/>
          </a:p>
        </p:txBody>
      </p:sp>
      <p:sp>
        <p:nvSpPr>
          <p:cNvPr id="27" name="Text 25"/>
          <p:cNvSpPr/>
          <p:nvPr/>
        </p:nvSpPr>
        <p:spPr>
          <a:xfrm>
            <a:off x="6419088" y="5943600"/>
            <a:ext cx="2267712" cy="320040"/>
          </a:xfrm>
          <a:prstGeom prst="rect">
            <a:avLst/>
          </a:prstGeom>
          <a:noFill/>
          <a:ln/>
        </p:spPr>
        <p:txBody>
          <a:bodyPr wrap="square" rtlCol="0" anchor="ctr">
            <a:normAutofit/>
          </a:bodyPr>
          <a:lstStyle/>
          <a:p>
            <a:pPr indent="0" marL="0">
              <a:buNone/>
            </a:pPr>
            <a:r>
              <a:rPr lang="en-US" sz="950" b="1" dirty="0">
                <a:solidFill>
                  <a:srgbClr val="11676A"/>
                </a:solidFill>
                <a:latin typeface="Arial" pitchFamily="34" charset="0"/>
                <a:ea typeface="Arial" pitchFamily="34" charset="-122"/>
                <a:cs typeface="Arial" pitchFamily="34" charset="-120"/>
              </a:rPr>
              <a:t>TİPİK SÜRE  Kapsama göre 3–14 ay</a:t>
            </a:r>
            <a:endParaRPr lang="en-US" sz="950" dirty="0"/>
          </a:p>
        </p:txBody>
      </p:sp>
      <p:sp>
        <p:nvSpPr>
          <p:cNvPr id="28" name="Shape 26"/>
          <p:cNvSpPr/>
          <p:nvPr/>
        </p:nvSpPr>
        <p:spPr>
          <a:xfrm>
            <a:off x="9034272" y="1508760"/>
            <a:ext cx="2724912" cy="4892040"/>
          </a:xfrm>
          <a:prstGeom prst="roundRect">
            <a:avLst>
              <a:gd name="adj" fmla="val 2685"/>
            </a:avLst>
          </a:prstGeom>
          <a:solidFill>
            <a:srgbClr val="EFF5F5"/>
          </a:solidFill>
          <a:ln/>
        </p:spPr>
      </p:sp>
      <p:sp>
        <p:nvSpPr>
          <p:cNvPr id="29" name="Text 27"/>
          <p:cNvSpPr/>
          <p:nvPr/>
        </p:nvSpPr>
        <p:spPr>
          <a:xfrm>
            <a:off x="9262872" y="1645920"/>
            <a:ext cx="1280160" cy="640080"/>
          </a:xfrm>
          <a:prstGeom prst="rect">
            <a:avLst/>
          </a:prstGeom>
          <a:noFill/>
          <a:ln/>
        </p:spPr>
        <p:txBody>
          <a:bodyPr wrap="square" rtlCol="0" anchor="ctr"/>
          <a:lstStyle/>
          <a:p>
            <a:pPr indent="0" marL="0">
              <a:buNone/>
            </a:pPr>
            <a:r>
              <a:rPr lang="en-US" sz="2800" b="1" dirty="0">
                <a:solidFill>
                  <a:srgbClr val="11676A"/>
                </a:solidFill>
                <a:latin typeface="Courier New" pitchFamily="34" charset="0"/>
                <a:ea typeface="Courier New" pitchFamily="34" charset="-122"/>
                <a:cs typeface="Courier New" pitchFamily="34" charset="-120"/>
              </a:rPr>
              <a:t>04</a:t>
            </a:r>
            <a:endParaRPr lang="en-US" sz="2800" dirty="0"/>
          </a:p>
        </p:txBody>
      </p:sp>
      <p:sp>
        <p:nvSpPr>
          <p:cNvPr id="30" name="Text 28"/>
          <p:cNvSpPr/>
          <p:nvPr/>
        </p:nvSpPr>
        <p:spPr>
          <a:xfrm>
            <a:off x="9262872" y="2286000"/>
            <a:ext cx="2267712" cy="640080"/>
          </a:xfrm>
          <a:prstGeom prst="rect">
            <a:avLst/>
          </a:prstGeom>
          <a:noFill/>
          <a:ln/>
        </p:spPr>
        <p:txBody>
          <a:bodyPr wrap="square" rtlCol="0" anchor="ctr">
            <a:normAutofit/>
          </a:bodyPr>
          <a:lstStyle/>
          <a:p>
            <a:pPr indent="0" marL="0">
              <a:lnSpc>
                <a:spcPts val="1600"/>
              </a:lnSpc>
              <a:buNone/>
            </a:pPr>
            <a:r>
              <a:rPr lang="en-US" sz="1400" b="1" dirty="0">
                <a:solidFill>
                  <a:srgbClr val="16262C"/>
                </a:solidFill>
                <a:latin typeface="Arial" pitchFamily="34" charset="0"/>
                <a:ea typeface="Arial" pitchFamily="34" charset="-122"/>
                <a:cs typeface="Arial" pitchFamily="34" charset="-120"/>
              </a:rPr>
              <a:t>Hypercare</a:t>
            </a:r>
            <a:endParaRPr lang="en-US" sz="1400" dirty="0"/>
          </a:p>
        </p:txBody>
      </p:sp>
      <p:sp>
        <p:nvSpPr>
          <p:cNvPr id="31" name="Text 29"/>
          <p:cNvSpPr/>
          <p:nvPr/>
        </p:nvSpPr>
        <p:spPr>
          <a:xfrm>
            <a:off x="9262872" y="2971800"/>
            <a:ext cx="2267712" cy="1691640"/>
          </a:xfrm>
          <a:prstGeom prst="rect">
            <a:avLst/>
          </a:prstGeom>
          <a:noFill/>
          <a:ln/>
        </p:spPr>
        <p:txBody>
          <a:bodyPr wrap="square" rtlCol="0" anchor="ctr">
            <a:normAutofit/>
          </a:bodyPr>
          <a:lstStyle/>
          <a:p>
            <a:pPr indent="0" marL="0">
              <a:lnSpc>
                <a:spcPts val="1400"/>
              </a:lnSpc>
              <a:buNone/>
            </a:pPr>
            <a:r>
              <a:rPr lang="en-US" sz="1050" dirty="0">
                <a:solidFill>
                  <a:srgbClr val="3D4C52"/>
                </a:solidFill>
                <a:latin typeface="Arial" pitchFamily="34" charset="0"/>
                <a:ea typeface="Arial" pitchFamily="34" charset="-122"/>
                <a:cs typeface="Arial" pitchFamily="34" charset="-120"/>
              </a:rPr>
              <a:t>Geçiş sonrası ilk kapanışı ekiple birlikte yürütürüz. Açılan kayıtlar sınıflandırılır, tekrar edenler kalıcı çözülür.</a:t>
            </a:r>
            <a:endParaRPr lang="en-US" sz="1050" dirty="0"/>
          </a:p>
        </p:txBody>
      </p:sp>
      <p:sp>
        <p:nvSpPr>
          <p:cNvPr id="32" name="Shape 30"/>
          <p:cNvSpPr/>
          <p:nvPr/>
        </p:nvSpPr>
        <p:spPr>
          <a:xfrm>
            <a:off x="9262872" y="4800600"/>
            <a:ext cx="2267712" cy="0"/>
          </a:xfrm>
          <a:prstGeom prst="line">
            <a:avLst/>
          </a:prstGeom>
          <a:noFill/>
          <a:ln w="12700">
            <a:solidFill>
              <a:srgbClr val="D9E3E3"/>
            </a:solidFill>
            <a:prstDash val="solid"/>
          </a:ln>
        </p:spPr>
      </p:sp>
      <p:sp>
        <p:nvSpPr>
          <p:cNvPr id="33" name="Text 31"/>
          <p:cNvSpPr/>
          <p:nvPr/>
        </p:nvSpPr>
        <p:spPr>
          <a:xfrm>
            <a:off x="9262872" y="4910328"/>
            <a:ext cx="2267712" cy="228600"/>
          </a:xfrm>
          <a:prstGeom prst="rect">
            <a:avLst/>
          </a:prstGeom>
          <a:noFill/>
          <a:ln/>
        </p:spPr>
        <p:txBody>
          <a:bodyPr wrap="square" rtlCol="0" anchor="ctr"/>
          <a:lstStyle/>
          <a:p>
            <a:pPr indent="0" marL="0">
              <a:buNone/>
            </a:pPr>
            <a:r>
              <a:rPr lang="en-US" sz="850" spc="100" kern="0" dirty="0">
                <a:solidFill>
                  <a:srgbClr val="6C7B80"/>
                </a:solidFill>
                <a:latin typeface="Arial" pitchFamily="34" charset="0"/>
                <a:ea typeface="Arial" pitchFamily="34" charset="-122"/>
                <a:cs typeface="Arial" pitchFamily="34" charset="-120"/>
              </a:rPr>
              <a:t>TESLİM EDİLEN</a:t>
            </a:r>
            <a:endParaRPr lang="en-US" sz="850" dirty="0"/>
          </a:p>
        </p:txBody>
      </p:sp>
      <p:sp>
        <p:nvSpPr>
          <p:cNvPr id="34" name="Text 32"/>
          <p:cNvSpPr/>
          <p:nvPr/>
        </p:nvSpPr>
        <p:spPr>
          <a:xfrm>
            <a:off x="9262872" y="5138928"/>
            <a:ext cx="2267712" cy="777240"/>
          </a:xfrm>
          <a:prstGeom prst="rect">
            <a:avLst/>
          </a:prstGeom>
          <a:noFill/>
          <a:ln/>
        </p:spPr>
        <p:txBody>
          <a:bodyPr wrap="square" rtlCol="0" anchor="ctr">
            <a:normAutofit/>
          </a:bodyPr>
          <a:lstStyle/>
          <a:p>
            <a:pPr indent="0" marL="0">
              <a:lnSpc>
                <a:spcPts val="1250"/>
              </a:lnSpc>
              <a:buNone/>
            </a:pPr>
            <a:r>
              <a:rPr lang="en-US" sz="950" dirty="0">
                <a:solidFill>
                  <a:srgbClr val="3D4C52"/>
                </a:solidFill>
                <a:latin typeface="Arial" pitchFamily="34" charset="0"/>
                <a:ea typeface="Arial" pitchFamily="34" charset="-122"/>
                <a:cs typeface="Arial" pitchFamily="34" charset="-120"/>
              </a:rPr>
              <a:t>Hypercare kapanış raporu ve iyileştirme listesi</a:t>
            </a:r>
            <a:endParaRPr lang="en-US" sz="950" dirty="0"/>
          </a:p>
        </p:txBody>
      </p:sp>
      <p:sp>
        <p:nvSpPr>
          <p:cNvPr id="35" name="Text 33"/>
          <p:cNvSpPr/>
          <p:nvPr/>
        </p:nvSpPr>
        <p:spPr>
          <a:xfrm>
            <a:off x="9262872" y="5943600"/>
            <a:ext cx="2267712" cy="320040"/>
          </a:xfrm>
          <a:prstGeom prst="rect">
            <a:avLst/>
          </a:prstGeom>
          <a:noFill/>
          <a:ln/>
        </p:spPr>
        <p:txBody>
          <a:bodyPr wrap="square" rtlCol="0" anchor="ctr">
            <a:normAutofit/>
          </a:bodyPr>
          <a:lstStyle/>
          <a:p>
            <a:pPr indent="0" marL="0">
              <a:buNone/>
            </a:pPr>
            <a:r>
              <a:rPr lang="en-US" sz="950" b="1" dirty="0">
                <a:solidFill>
                  <a:srgbClr val="11676A"/>
                </a:solidFill>
                <a:latin typeface="Arial" pitchFamily="34" charset="0"/>
                <a:ea typeface="Arial" pitchFamily="34" charset="-122"/>
                <a:cs typeface="Arial" pitchFamily="34" charset="-120"/>
              </a:rPr>
              <a:t>TİPİK SÜRE  4–12 hafta</a:t>
            </a:r>
            <a:endParaRPr lang="en-US" sz="950" dirty="0"/>
          </a:p>
        </p:txBody>
      </p:sp>
      <p:sp>
        <p:nvSpPr>
          <p:cNvPr id="36" name="Text 34"/>
          <p:cNvSpPr/>
          <p:nvPr/>
        </p:nvSpPr>
        <p:spPr>
          <a:xfrm>
            <a:off x="502920" y="6492240"/>
            <a:ext cx="5486400" cy="256032"/>
          </a:xfrm>
          <a:prstGeom prst="rect">
            <a:avLst/>
          </a:prstGeom>
          <a:noFill/>
          <a:ln/>
        </p:spPr>
        <p:txBody>
          <a:bodyPr wrap="square" rtlCol="0" anchor="ctr"/>
          <a:lstStyle/>
          <a:p>
            <a:pPr algn="l" indent="0" marL="0">
              <a:buNone/>
            </a:pPr>
            <a:r>
              <a:rPr lang="en-US" sz="900" spc="150" kern="0" dirty="0">
                <a:solidFill>
                  <a:srgbClr val="6C7B80"/>
                </a:solidFill>
                <a:latin typeface="Arial" pitchFamily="34" charset="0"/>
                <a:ea typeface="Arial" pitchFamily="34" charset="-122"/>
                <a:cs typeface="Arial" pitchFamily="34" charset="-120"/>
              </a:rPr>
              <a:t>YAKLAŞIMIMIZ</a:t>
            </a:r>
            <a:endParaRPr lang="en-US" sz="900" dirty="0"/>
          </a:p>
        </p:txBody>
      </p:sp>
      <p:sp>
        <p:nvSpPr>
          <p:cNvPr id="37" name="Text 35"/>
          <p:cNvSpPr/>
          <p:nvPr/>
        </p:nvSpPr>
        <p:spPr>
          <a:xfrm>
            <a:off x="8945575" y="6492240"/>
            <a:ext cx="2743200" cy="256032"/>
          </a:xfrm>
          <a:prstGeom prst="rect">
            <a:avLst/>
          </a:prstGeom>
          <a:noFill/>
          <a:ln/>
        </p:spPr>
        <p:txBody>
          <a:bodyPr wrap="square" rtlCol="0" anchor="ctr"/>
          <a:lstStyle/>
          <a:p>
            <a:pPr algn="r" indent="0" marL="0">
              <a:buNone/>
            </a:pPr>
            <a:r>
              <a:rPr lang="en-US" sz="900" dirty="0">
                <a:solidFill>
                  <a:srgbClr val="6C7B80"/>
                </a:solidFill>
                <a:latin typeface="Arial" pitchFamily="34" charset="0"/>
                <a:ea typeface="Arial" pitchFamily="34" charset="-122"/>
                <a:cs typeface="Arial" pitchFamily="34" charset="-120"/>
              </a:rPr>
              <a:t>CPeak Consultancy</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365760"/>
            <a:ext cx="10515600" cy="292608"/>
          </a:xfrm>
          <a:prstGeom prst="rect">
            <a:avLst/>
          </a:prstGeom>
          <a:noFill/>
          <a:ln/>
        </p:spPr>
        <p:txBody>
          <a:bodyPr wrap="square" rtlCol="0" anchor="ctr"/>
          <a:lstStyle/>
          <a:p>
            <a:pPr indent="0" marL="0">
              <a:buNone/>
            </a:pPr>
            <a:r>
              <a:rPr lang="en-US" sz="1250" b="1" spc="200" kern="0" dirty="0">
                <a:solidFill>
                  <a:srgbClr val="11676A"/>
                </a:solidFill>
                <a:latin typeface="Arial" pitchFamily="34" charset="0"/>
                <a:ea typeface="Arial" pitchFamily="34" charset="-122"/>
                <a:cs typeface="Arial" pitchFamily="34" charset="-120"/>
              </a:rPr>
              <a:t>İLKELER</a:t>
            </a:r>
            <a:endParaRPr lang="en-US" sz="1250" dirty="0"/>
          </a:p>
        </p:txBody>
      </p:sp>
      <p:sp>
        <p:nvSpPr>
          <p:cNvPr id="3" name="Text 1"/>
          <p:cNvSpPr/>
          <p:nvPr/>
        </p:nvSpPr>
        <p:spPr>
          <a:xfrm>
            <a:off x="502920" y="640080"/>
            <a:ext cx="11155680" cy="822960"/>
          </a:xfrm>
          <a:prstGeom prst="rect">
            <a:avLst/>
          </a:prstGeom>
          <a:noFill/>
          <a:ln/>
        </p:spPr>
        <p:txBody>
          <a:bodyPr wrap="square" rtlCol="0" anchor="ctr">
            <a:normAutofit/>
          </a:bodyPr>
          <a:lstStyle/>
          <a:p>
            <a:pPr indent="0" marL="0">
              <a:lnSpc>
                <a:spcPts val="3200"/>
              </a:lnSpc>
              <a:buNone/>
            </a:pPr>
            <a:r>
              <a:rPr lang="en-US" sz="2800" b="1" dirty="0">
                <a:solidFill>
                  <a:srgbClr val="16262C"/>
                </a:solidFill>
                <a:latin typeface="Arial" pitchFamily="34" charset="0"/>
                <a:ea typeface="Arial" pitchFamily="34" charset="-122"/>
                <a:cs typeface="Arial" pitchFamily="34" charset="-120"/>
              </a:rPr>
              <a:t>Çalışma ilkelerimiz</a:t>
            </a:r>
            <a:endParaRPr lang="en-US" sz="2800" dirty="0"/>
          </a:p>
        </p:txBody>
      </p:sp>
      <p:sp>
        <p:nvSpPr>
          <p:cNvPr id="4" name="Shape 2"/>
          <p:cNvSpPr/>
          <p:nvPr/>
        </p:nvSpPr>
        <p:spPr>
          <a:xfrm>
            <a:off x="502920" y="1463040"/>
            <a:ext cx="3611880" cy="2240280"/>
          </a:xfrm>
          <a:prstGeom prst="roundRect">
            <a:avLst>
              <a:gd name="adj" fmla="val 3265"/>
            </a:avLst>
          </a:prstGeom>
          <a:solidFill>
            <a:srgbClr val="EFF5F5"/>
          </a:solidFill>
          <a:ln/>
        </p:spPr>
      </p:sp>
      <p:sp>
        <p:nvSpPr>
          <p:cNvPr id="5" name="Shape 3"/>
          <p:cNvSpPr/>
          <p:nvPr/>
        </p:nvSpPr>
        <p:spPr>
          <a:xfrm>
            <a:off x="758952" y="1691640"/>
            <a:ext cx="457200" cy="457200"/>
          </a:xfrm>
          <a:prstGeom prst="ellipse">
            <a:avLst/>
          </a:prstGeom>
          <a:solidFill>
            <a:srgbClr val="11676A"/>
          </a:solidFill>
          <a:ln/>
        </p:spPr>
      </p:sp>
      <p:pic>
        <p:nvPicPr>
          <p:cNvPr id="6" name="Image 0" descr="/tmp/claude-0/-home-user-Default/f7e81ef3-2f73-50cc-818d-26c445ecb8fe/scratchpad/cpeak/build/icons/chart_white.png">    </p:cNvPr>
          <p:cNvPicPr>
            <a:picLocks noChangeAspect="1"/>
          </p:cNvPicPr>
          <p:nvPr/>
        </p:nvPicPr>
        <p:blipFill>
          <a:blip r:embed="rId1"/>
          <a:stretch>
            <a:fillRect/>
          </a:stretch>
        </p:blipFill>
        <p:spPr>
          <a:xfrm>
            <a:off x="873252" y="1805940"/>
            <a:ext cx="228600" cy="228600"/>
          </a:xfrm>
          <a:prstGeom prst="rect">
            <a:avLst/>
          </a:prstGeom>
        </p:spPr>
      </p:pic>
      <p:sp>
        <p:nvSpPr>
          <p:cNvPr id="7" name="Text 4"/>
          <p:cNvSpPr/>
          <p:nvPr/>
        </p:nvSpPr>
        <p:spPr>
          <a:xfrm>
            <a:off x="758952" y="2286000"/>
            <a:ext cx="3099816" cy="640080"/>
          </a:xfrm>
          <a:prstGeom prst="rect">
            <a:avLst/>
          </a:prstGeom>
          <a:noFill/>
          <a:ln/>
        </p:spPr>
        <p:txBody>
          <a:bodyPr wrap="square" rtlCol="0" anchor="ctr">
            <a:normAutofit/>
          </a:bodyPr>
          <a:lstStyle/>
          <a:p>
            <a:pPr indent="0" marL="0">
              <a:lnSpc>
                <a:spcPts val="1500"/>
              </a:lnSpc>
              <a:buNone/>
            </a:pPr>
            <a:r>
              <a:rPr lang="en-US" sz="1250" b="1" dirty="0">
                <a:solidFill>
                  <a:srgbClr val="16262C"/>
                </a:solidFill>
                <a:latin typeface="Arial" pitchFamily="34" charset="0"/>
                <a:ea typeface="Arial" pitchFamily="34" charset="-122"/>
                <a:cs typeface="Arial" pitchFamily="34" charset="-120"/>
              </a:rPr>
              <a:t>Önce ölçer sonra öneririz</a:t>
            </a:r>
            <a:endParaRPr lang="en-US" sz="1250" dirty="0"/>
          </a:p>
        </p:txBody>
      </p:sp>
      <p:sp>
        <p:nvSpPr>
          <p:cNvPr id="8" name="Text 5"/>
          <p:cNvSpPr/>
          <p:nvPr/>
        </p:nvSpPr>
        <p:spPr>
          <a:xfrm>
            <a:off x="758952" y="2944368"/>
            <a:ext cx="3099816" cy="685800"/>
          </a:xfrm>
          <a:prstGeom prst="rect">
            <a:avLst/>
          </a:prstGeom>
          <a:noFill/>
          <a:ln/>
        </p:spPr>
        <p:txBody>
          <a:bodyPr wrap="square" rtlCol="0" anchor="ctr">
            <a:normAutofit/>
          </a:bodyPr>
          <a:lstStyle/>
          <a:p>
            <a:pPr indent="0" marL="0">
              <a:lnSpc>
                <a:spcPts val="1300"/>
              </a:lnSpc>
              <a:buNone/>
            </a:pPr>
            <a:r>
              <a:rPr lang="en-US" sz="1000" dirty="0">
                <a:solidFill>
                  <a:srgbClr val="3D4C52"/>
                </a:solidFill>
                <a:latin typeface="Arial" pitchFamily="34" charset="0"/>
                <a:ea typeface="Arial" pitchFamily="34" charset="-122"/>
                <a:cs typeface="Arial" pitchFamily="34" charset="-120"/>
              </a:rPr>
              <a:t>Hiçbir öneriyi sistemdeki gerçek veriye bakmadan vermeyiz. Ölçmeden verilen tavsiye bir tahmindir.</a:t>
            </a:r>
            <a:endParaRPr lang="en-US" sz="1000" dirty="0"/>
          </a:p>
        </p:txBody>
      </p:sp>
      <p:sp>
        <p:nvSpPr>
          <p:cNvPr id="9" name="Shape 6"/>
          <p:cNvSpPr/>
          <p:nvPr/>
        </p:nvSpPr>
        <p:spPr>
          <a:xfrm>
            <a:off x="4297680" y="1463040"/>
            <a:ext cx="3611880" cy="2240280"/>
          </a:xfrm>
          <a:prstGeom prst="roundRect">
            <a:avLst>
              <a:gd name="adj" fmla="val 3265"/>
            </a:avLst>
          </a:prstGeom>
          <a:solidFill>
            <a:srgbClr val="EFF5F5"/>
          </a:solidFill>
          <a:ln/>
        </p:spPr>
      </p:sp>
      <p:sp>
        <p:nvSpPr>
          <p:cNvPr id="10" name="Shape 7"/>
          <p:cNvSpPr/>
          <p:nvPr/>
        </p:nvSpPr>
        <p:spPr>
          <a:xfrm>
            <a:off x="4553712" y="1691640"/>
            <a:ext cx="457200" cy="457200"/>
          </a:xfrm>
          <a:prstGeom prst="ellipse">
            <a:avLst/>
          </a:prstGeom>
          <a:solidFill>
            <a:srgbClr val="11676A"/>
          </a:solidFill>
          <a:ln/>
        </p:spPr>
      </p:sp>
      <p:pic>
        <p:nvPicPr>
          <p:cNvPr id="11" name="Image 1" descr="/tmp/claude-0/-home-user-Default/f7e81ef3-2f73-50cc-818d-26c445ecb8fe/scratchpad/cpeak/build/icons/scale_white.png">    </p:cNvPr>
          <p:cNvPicPr>
            <a:picLocks noChangeAspect="1"/>
          </p:cNvPicPr>
          <p:nvPr/>
        </p:nvPicPr>
        <p:blipFill>
          <a:blip r:embed="rId2"/>
          <a:stretch>
            <a:fillRect/>
          </a:stretch>
        </p:blipFill>
        <p:spPr>
          <a:xfrm>
            <a:off x="4668012" y="1805940"/>
            <a:ext cx="228600" cy="228600"/>
          </a:xfrm>
          <a:prstGeom prst="rect">
            <a:avLst/>
          </a:prstGeom>
        </p:spPr>
      </p:pic>
      <p:sp>
        <p:nvSpPr>
          <p:cNvPr id="12" name="Text 8"/>
          <p:cNvSpPr/>
          <p:nvPr/>
        </p:nvSpPr>
        <p:spPr>
          <a:xfrm>
            <a:off x="4553712" y="2286000"/>
            <a:ext cx="3099816" cy="640080"/>
          </a:xfrm>
          <a:prstGeom prst="rect">
            <a:avLst/>
          </a:prstGeom>
          <a:noFill/>
          <a:ln/>
        </p:spPr>
        <p:txBody>
          <a:bodyPr wrap="square" rtlCol="0" anchor="ctr">
            <a:normAutofit/>
          </a:bodyPr>
          <a:lstStyle/>
          <a:p>
            <a:pPr indent="0" marL="0">
              <a:lnSpc>
                <a:spcPts val="1500"/>
              </a:lnSpc>
              <a:buNone/>
            </a:pPr>
            <a:r>
              <a:rPr lang="en-US" sz="1250" b="1" dirty="0">
                <a:solidFill>
                  <a:srgbClr val="16262C"/>
                </a:solidFill>
                <a:latin typeface="Arial" pitchFamily="34" charset="0"/>
                <a:ea typeface="Arial" pitchFamily="34" charset="-122"/>
                <a:cs typeface="Arial" pitchFamily="34" charset="-120"/>
              </a:rPr>
              <a:t>Kararı size bırakırız gerekçeyi yazılı veririz</a:t>
            </a:r>
            <a:endParaRPr lang="en-US" sz="1250" dirty="0"/>
          </a:p>
        </p:txBody>
      </p:sp>
      <p:sp>
        <p:nvSpPr>
          <p:cNvPr id="13" name="Text 9"/>
          <p:cNvSpPr/>
          <p:nvPr/>
        </p:nvSpPr>
        <p:spPr>
          <a:xfrm>
            <a:off x="4553712" y="2944368"/>
            <a:ext cx="3099816" cy="685800"/>
          </a:xfrm>
          <a:prstGeom prst="rect">
            <a:avLst/>
          </a:prstGeom>
          <a:noFill/>
          <a:ln/>
        </p:spPr>
        <p:txBody>
          <a:bodyPr wrap="square" rtlCol="0" anchor="ctr">
            <a:normAutofit/>
          </a:bodyPr>
          <a:lstStyle/>
          <a:p>
            <a:pPr indent="0" marL="0">
              <a:lnSpc>
                <a:spcPts val="1300"/>
              </a:lnSpc>
              <a:buNone/>
            </a:pPr>
            <a:r>
              <a:rPr lang="en-US" sz="1000" dirty="0">
                <a:solidFill>
                  <a:srgbClr val="3D4C52"/>
                </a:solidFill>
                <a:latin typeface="Arial" pitchFamily="34" charset="0"/>
                <a:ea typeface="Arial" pitchFamily="34" charset="-122"/>
                <a:cs typeface="Arial" pitchFamily="34" charset="-120"/>
              </a:rPr>
              <a:t>Seçenekleri maliyet, süre ve riskiyle yan yana koyar, tercihimizi gerekçesiyle söyleriz.</a:t>
            </a:r>
            <a:endParaRPr lang="en-US" sz="1000" dirty="0"/>
          </a:p>
        </p:txBody>
      </p:sp>
      <p:sp>
        <p:nvSpPr>
          <p:cNvPr id="14" name="Shape 10"/>
          <p:cNvSpPr/>
          <p:nvPr/>
        </p:nvSpPr>
        <p:spPr>
          <a:xfrm>
            <a:off x="8092440" y="1463040"/>
            <a:ext cx="3611880" cy="2240280"/>
          </a:xfrm>
          <a:prstGeom prst="roundRect">
            <a:avLst>
              <a:gd name="adj" fmla="val 3265"/>
            </a:avLst>
          </a:prstGeom>
          <a:solidFill>
            <a:srgbClr val="EFF5F5"/>
          </a:solidFill>
          <a:ln/>
        </p:spPr>
      </p:sp>
      <p:sp>
        <p:nvSpPr>
          <p:cNvPr id="15" name="Shape 11"/>
          <p:cNvSpPr/>
          <p:nvPr/>
        </p:nvSpPr>
        <p:spPr>
          <a:xfrm>
            <a:off x="8348472" y="1691640"/>
            <a:ext cx="457200" cy="457200"/>
          </a:xfrm>
          <a:prstGeom prst="ellipse">
            <a:avLst/>
          </a:prstGeom>
          <a:solidFill>
            <a:srgbClr val="11676A"/>
          </a:solidFill>
          <a:ln/>
        </p:spPr>
      </p:sp>
      <p:pic>
        <p:nvPicPr>
          <p:cNvPr id="16" name="Image 2" descr="/tmp/claude-0/-home-user-Default/f7e81ef3-2f73-50cc-818d-26c445ecb8fe/scratchpad/cpeak/build/icons/warning_white.png">    </p:cNvPr>
          <p:cNvPicPr>
            <a:picLocks noChangeAspect="1"/>
          </p:cNvPicPr>
          <p:nvPr/>
        </p:nvPicPr>
        <p:blipFill>
          <a:blip r:embed="rId3"/>
          <a:stretch>
            <a:fillRect/>
          </a:stretch>
        </p:blipFill>
        <p:spPr>
          <a:xfrm>
            <a:off x="8462772" y="1805940"/>
            <a:ext cx="228600" cy="228600"/>
          </a:xfrm>
          <a:prstGeom prst="rect">
            <a:avLst/>
          </a:prstGeom>
        </p:spPr>
      </p:pic>
      <p:sp>
        <p:nvSpPr>
          <p:cNvPr id="17" name="Text 12"/>
          <p:cNvSpPr/>
          <p:nvPr/>
        </p:nvSpPr>
        <p:spPr>
          <a:xfrm>
            <a:off x="8348472" y="2286000"/>
            <a:ext cx="3099816" cy="640080"/>
          </a:xfrm>
          <a:prstGeom prst="rect">
            <a:avLst/>
          </a:prstGeom>
          <a:noFill/>
          <a:ln/>
        </p:spPr>
        <p:txBody>
          <a:bodyPr wrap="square" rtlCol="0" anchor="ctr">
            <a:normAutofit/>
          </a:bodyPr>
          <a:lstStyle/>
          <a:p>
            <a:pPr indent="0" marL="0">
              <a:lnSpc>
                <a:spcPts val="1500"/>
              </a:lnSpc>
              <a:buNone/>
            </a:pPr>
            <a:r>
              <a:rPr lang="en-US" sz="1250" b="1" dirty="0">
                <a:solidFill>
                  <a:srgbClr val="16262C"/>
                </a:solidFill>
                <a:latin typeface="Arial" pitchFamily="34" charset="0"/>
                <a:ea typeface="Arial" pitchFamily="34" charset="-122"/>
                <a:cs typeface="Arial" pitchFamily="34" charset="-120"/>
              </a:rPr>
              <a:t>Kötü haberi erken söyleriz</a:t>
            </a:r>
            <a:endParaRPr lang="en-US" sz="1250" dirty="0"/>
          </a:p>
        </p:txBody>
      </p:sp>
      <p:sp>
        <p:nvSpPr>
          <p:cNvPr id="18" name="Text 13"/>
          <p:cNvSpPr/>
          <p:nvPr/>
        </p:nvSpPr>
        <p:spPr>
          <a:xfrm>
            <a:off x="8348472" y="2944368"/>
            <a:ext cx="3099816" cy="685800"/>
          </a:xfrm>
          <a:prstGeom prst="rect">
            <a:avLst/>
          </a:prstGeom>
          <a:noFill/>
          <a:ln/>
        </p:spPr>
        <p:txBody>
          <a:bodyPr wrap="square" rtlCol="0" anchor="ctr">
            <a:normAutofit/>
          </a:bodyPr>
          <a:lstStyle/>
          <a:p>
            <a:pPr indent="0" marL="0">
              <a:lnSpc>
                <a:spcPts val="1300"/>
              </a:lnSpc>
              <a:buNone/>
            </a:pPr>
            <a:r>
              <a:rPr lang="en-US" sz="1000" dirty="0">
                <a:solidFill>
                  <a:srgbClr val="3D4C52"/>
                </a:solidFill>
                <a:latin typeface="Arial" pitchFamily="34" charset="0"/>
                <a:ea typeface="Arial" pitchFamily="34" charset="-122"/>
                <a:cs typeface="Arial" pitchFamily="34" charset="-120"/>
              </a:rPr>
              <a:t>Bir tahminin tutmayacağı belli olduğunda, bunu ay sonu raporunda değil o hafta söyleriz.</a:t>
            </a:r>
            <a:endParaRPr lang="en-US" sz="1000" dirty="0"/>
          </a:p>
        </p:txBody>
      </p:sp>
      <p:sp>
        <p:nvSpPr>
          <p:cNvPr id="19" name="Shape 14"/>
          <p:cNvSpPr/>
          <p:nvPr/>
        </p:nvSpPr>
        <p:spPr>
          <a:xfrm>
            <a:off x="502920" y="3886200"/>
            <a:ext cx="3611880" cy="2240280"/>
          </a:xfrm>
          <a:prstGeom prst="roundRect">
            <a:avLst>
              <a:gd name="adj" fmla="val 3265"/>
            </a:avLst>
          </a:prstGeom>
          <a:solidFill>
            <a:srgbClr val="EFF5F5"/>
          </a:solidFill>
          <a:ln/>
        </p:spPr>
      </p:sp>
      <p:sp>
        <p:nvSpPr>
          <p:cNvPr id="20" name="Shape 15"/>
          <p:cNvSpPr/>
          <p:nvPr/>
        </p:nvSpPr>
        <p:spPr>
          <a:xfrm>
            <a:off x="758952" y="4114800"/>
            <a:ext cx="457200" cy="457200"/>
          </a:xfrm>
          <a:prstGeom prst="ellipse">
            <a:avLst/>
          </a:prstGeom>
          <a:solidFill>
            <a:srgbClr val="11676A"/>
          </a:solidFill>
          <a:ln/>
        </p:spPr>
      </p:sp>
      <p:pic>
        <p:nvPicPr>
          <p:cNvPr id="21" name="Image 3" descr="/tmp/claude-0/-home-user-Default/f7e81ef3-2f73-50cc-818d-26c445ecb8fe/scratchpad/cpeak/build/icons/users_white.png">    </p:cNvPr>
          <p:cNvPicPr>
            <a:picLocks noChangeAspect="1"/>
          </p:cNvPicPr>
          <p:nvPr/>
        </p:nvPicPr>
        <p:blipFill>
          <a:blip r:embed="rId4"/>
          <a:stretch>
            <a:fillRect/>
          </a:stretch>
        </p:blipFill>
        <p:spPr>
          <a:xfrm>
            <a:off x="873252" y="4229100"/>
            <a:ext cx="228600" cy="228600"/>
          </a:xfrm>
          <a:prstGeom prst="rect">
            <a:avLst/>
          </a:prstGeom>
        </p:spPr>
      </p:pic>
      <p:sp>
        <p:nvSpPr>
          <p:cNvPr id="22" name="Text 16"/>
          <p:cNvSpPr/>
          <p:nvPr/>
        </p:nvSpPr>
        <p:spPr>
          <a:xfrm>
            <a:off x="758952" y="4709160"/>
            <a:ext cx="3099816" cy="640080"/>
          </a:xfrm>
          <a:prstGeom prst="rect">
            <a:avLst/>
          </a:prstGeom>
          <a:noFill/>
          <a:ln/>
        </p:spPr>
        <p:txBody>
          <a:bodyPr wrap="square" rtlCol="0" anchor="ctr">
            <a:normAutofit/>
          </a:bodyPr>
          <a:lstStyle/>
          <a:p>
            <a:pPr indent="0" marL="0">
              <a:lnSpc>
                <a:spcPts val="1500"/>
              </a:lnSpc>
              <a:buNone/>
            </a:pPr>
            <a:r>
              <a:rPr lang="en-US" sz="1250" b="1" dirty="0">
                <a:solidFill>
                  <a:srgbClr val="16262C"/>
                </a:solidFill>
                <a:latin typeface="Arial" pitchFamily="34" charset="0"/>
                <a:ea typeface="Arial" pitchFamily="34" charset="-122"/>
                <a:cs typeface="Arial" pitchFamily="34" charset="-120"/>
              </a:rPr>
              <a:t>Ekibi süreç sahibi yaparız</a:t>
            </a:r>
            <a:endParaRPr lang="en-US" sz="1250" dirty="0"/>
          </a:p>
        </p:txBody>
      </p:sp>
      <p:sp>
        <p:nvSpPr>
          <p:cNvPr id="23" name="Text 17"/>
          <p:cNvSpPr/>
          <p:nvPr/>
        </p:nvSpPr>
        <p:spPr>
          <a:xfrm>
            <a:off x="758952" y="5367528"/>
            <a:ext cx="3099816" cy="685800"/>
          </a:xfrm>
          <a:prstGeom prst="rect">
            <a:avLst/>
          </a:prstGeom>
          <a:noFill/>
          <a:ln/>
        </p:spPr>
        <p:txBody>
          <a:bodyPr wrap="square" rtlCol="0" anchor="ctr">
            <a:normAutofit/>
          </a:bodyPr>
          <a:lstStyle/>
          <a:p>
            <a:pPr indent="0" marL="0">
              <a:lnSpc>
                <a:spcPts val="1300"/>
              </a:lnSpc>
              <a:buNone/>
            </a:pPr>
            <a:r>
              <a:rPr lang="en-US" sz="1000" dirty="0">
                <a:solidFill>
                  <a:srgbClr val="3D4C52"/>
                </a:solidFill>
                <a:latin typeface="Arial" pitchFamily="34" charset="0"/>
                <a:ea typeface="Arial" pitchFamily="34" charset="-122"/>
                <a:cs typeface="Arial" pitchFamily="34" charset="-120"/>
              </a:rPr>
              <a:t>Test senaryolarını birlikte yazar, dokümantasyonu kullanılacak biçimde bırakırız.</a:t>
            </a:r>
            <a:endParaRPr lang="en-US" sz="1000" dirty="0"/>
          </a:p>
        </p:txBody>
      </p:sp>
      <p:sp>
        <p:nvSpPr>
          <p:cNvPr id="24" name="Shape 18"/>
          <p:cNvSpPr/>
          <p:nvPr/>
        </p:nvSpPr>
        <p:spPr>
          <a:xfrm>
            <a:off x="4297680" y="3886200"/>
            <a:ext cx="3611880" cy="2240280"/>
          </a:xfrm>
          <a:prstGeom prst="roundRect">
            <a:avLst>
              <a:gd name="adj" fmla="val 3265"/>
            </a:avLst>
          </a:prstGeom>
          <a:solidFill>
            <a:srgbClr val="EFF5F5"/>
          </a:solidFill>
          <a:ln/>
        </p:spPr>
      </p:sp>
      <p:sp>
        <p:nvSpPr>
          <p:cNvPr id="25" name="Shape 19"/>
          <p:cNvSpPr/>
          <p:nvPr/>
        </p:nvSpPr>
        <p:spPr>
          <a:xfrm>
            <a:off x="4553712" y="4114800"/>
            <a:ext cx="457200" cy="457200"/>
          </a:xfrm>
          <a:prstGeom prst="ellipse">
            <a:avLst/>
          </a:prstGeom>
          <a:solidFill>
            <a:srgbClr val="11676A"/>
          </a:solidFill>
          <a:ln/>
        </p:spPr>
      </p:sp>
      <p:pic>
        <p:nvPicPr>
          <p:cNvPr id="26" name="Image 4" descr="/tmp/claude-0/-home-user-Default/f7e81ef3-2f73-50cc-818d-26c445ecb8fe/scratchpad/cpeak/build/icons/sitemap_white.png">    </p:cNvPr>
          <p:cNvPicPr>
            <a:picLocks noChangeAspect="1"/>
          </p:cNvPicPr>
          <p:nvPr/>
        </p:nvPicPr>
        <p:blipFill>
          <a:blip r:embed="rId5"/>
          <a:stretch>
            <a:fillRect/>
          </a:stretch>
        </p:blipFill>
        <p:spPr>
          <a:xfrm>
            <a:off x="4668012" y="4229100"/>
            <a:ext cx="228600" cy="228600"/>
          </a:xfrm>
          <a:prstGeom prst="rect">
            <a:avLst/>
          </a:prstGeom>
        </p:spPr>
      </p:pic>
      <p:sp>
        <p:nvSpPr>
          <p:cNvPr id="27" name="Text 20"/>
          <p:cNvSpPr/>
          <p:nvPr/>
        </p:nvSpPr>
        <p:spPr>
          <a:xfrm>
            <a:off x="4553712" y="4709160"/>
            <a:ext cx="3099816" cy="640080"/>
          </a:xfrm>
          <a:prstGeom prst="rect">
            <a:avLst/>
          </a:prstGeom>
          <a:noFill/>
          <a:ln/>
        </p:spPr>
        <p:txBody>
          <a:bodyPr wrap="square" rtlCol="0" anchor="ctr">
            <a:normAutofit/>
          </a:bodyPr>
          <a:lstStyle/>
          <a:p>
            <a:pPr indent="0" marL="0">
              <a:lnSpc>
                <a:spcPts val="1500"/>
              </a:lnSpc>
              <a:buNone/>
            </a:pPr>
            <a:r>
              <a:rPr lang="en-US" sz="1250" b="1" dirty="0">
                <a:solidFill>
                  <a:srgbClr val="16262C"/>
                </a:solidFill>
                <a:latin typeface="Arial" pitchFamily="34" charset="0"/>
                <a:ea typeface="Arial" pitchFamily="34" charset="-122"/>
                <a:cs typeface="Arial" pitchFamily="34" charset="-120"/>
              </a:rPr>
              <a:t>Kapsamı büyütmek yerine fazlara böleriz</a:t>
            </a:r>
            <a:endParaRPr lang="en-US" sz="1250" dirty="0"/>
          </a:p>
        </p:txBody>
      </p:sp>
      <p:sp>
        <p:nvSpPr>
          <p:cNvPr id="28" name="Text 21"/>
          <p:cNvSpPr/>
          <p:nvPr/>
        </p:nvSpPr>
        <p:spPr>
          <a:xfrm>
            <a:off x="4553712" y="5367528"/>
            <a:ext cx="3099816" cy="685800"/>
          </a:xfrm>
          <a:prstGeom prst="rect">
            <a:avLst/>
          </a:prstGeom>
          <a:noFill/>
          <a:ln/>
        </p:spPr>
        <p:txBody>
          <a:bodyPr wrap="square" rtlCol="0" anchor="ctr">
            <a:normAutofit/>
          </a:bodyPr>
          <a:lstStyle/>
          <a:p>
            <a:pPr indent="0" marL="0">
              <a:lnSpc>
                <a:spcPts val="1300"/>
              </a:lnSpc>
              <a:buNone/>
            </a:pPr>
            <a:r>
              <a:rPr lang="en-US" sz="1000" dirty="0">
                <a:solidFill>
                  <a:srgbClr val="3D4C52"/>
                </a:solidFill>
                <a:latin typeface="Arial" pitchFamily="34" charset="0"/>
                <a:ea typeface="Arial" pitchFamily="34" charset="-122"/>
                <a:cs typeface="Arial" pitchFamily="34" charset="-120"/>
              </a:rPr>
              <a:t>İhtiyaç büyüdüğünde ekibi değil, işi fazlara ayırırız. Her fazın sonunda çalışan bir çıktı olur.</a:t>
            </a:r>
            <a:endParaRPr lang="en-US" sz="1000" dirty="0"/>
          </a:p>
        </p:txBody>
      </p:sp>
      <p:sp>
        <p:nvSpPr>
          <p:cNvPr id="29" name="Shape 22"/>
          <p:cNvSpPr/>
          <p:nvPr/>
        </p:nvSpPr>
        <p:spPr>
          <a:xfrm>
            <a:off x="8092440" y="3886200"/>
            <a:ext cx="3611880" cy="2240280"/>
          </a:xfrm>
          <a:prstGeom prst="roundRect">
            <a:avLst>
              <a:gd name="adj" fmla="val 3265"/>
            </a:avLst>
          </a:prstGeom>
          <a:solidFill>
            <a:srgbClr val="EFF5F5"/>
          </a:solidFill>
          <a:ln/>
        </p:spPr>
      </p:sp>
      <p:sp>
        <p:nvSpPr>
          <p:cNvPr id="30" name="Shape 23"/>
          <p:cNvSpPr/>
          <p:nvPr/>
        </p:nvSpPr>
        <p:spPr>
          <a:xfrm>
            <a:off x="8348472" y="4114800"/>
            <a:ext cx="457200" cy="457200"/>
          </a:xfrm>
          <a:prstGeom prst="ellipse">
            <a:avLst/>
          </a:prstGeom>
          <a:solidFill>
            <a:srgbClr val="11676A"/>
          </a:solidFill>
          <a:ln/>
        </p:spPr>
      </p:sp>
      <p:pic>
        <p:nvPicPr>
          <p:cNvPr id="31" name="Image 5" descr="/tmp/claude-0/-home-user-Default/f7e81ef3-2f73-50cc-818d-26c445ecb8fe/scratchpad/cpeak/build/icons/robot_white.png">    </p:cNvPr>
          <p:cNvPicPr>
            <a:picLocks noChangeAspect="1"/>
          </p:cNvPicPr>
          <p:nvPr/>
        </p:nvPicPr>
        <p:blipFill>
          <a:blip r:embed="rId6"/>
          <a:stretch>
            <a:fillRect/>
          </a:stretch>
        </p:blipFill>
        <p:spPr>
          <a:xfrm>
            <a:off x="8462772" y="4229100"/>
            <a:ext cx="228600" cy="228600"/>
          </a:xfrm>
          <a:prstGeom prst="rect">
            <a:avLst/>
          </a:prstGeom>
        </p:spPr>
      </p:pic>
      <p:sp>
        <p:nvSpPr>
          <p:cNvPr id="32" name="Text 24"/>
          <p:cNvSpPr/>
          <p:nvPr/>
        </p:nvSpPr>
        <p:spPr>
          <a:xfrm>
            <a:off x="8348472" y="4709160"/>
            <a:ext cx="3099816" cy="640080"/>
          </a:xfrm>
          <a:prstGeom prst="rect">
            <a:avLst/>
          </a:prstGeom>
          <a:noFill/>
          <a:ln/>
        </p:spPr>
        <p:txBody>
          <a:bodyPr wrap="square" rtlCol="0" anchor="ctr">
            <a:normAutofit/>
          </a:bodyPr>
          <a:lstStyle/>
          <a:p>
            <a:pPr indent="0" marL="0">
              <a:lnSpc>
                <a:spcPts val="1500"/>
              </a:lnSpc>
              <a:buNone/>
            </a:pPr>
            <a:r>
              <a:rPr lang="en-US" sz="1250" b="1" dirty="0">
                <a:solidFill>
                  <a:srgbClr val="16262C"/>
                </a:solidFill>
                <a:latin typeface="Arial" pitchFamily="34" charset="0"/>
                <a:ea typeface="Arial" pitchFamily="34" charset="-122"/>
                <a:cs typeface="Arial" pitchFamily="34" charset="-120"/>
              </a:rPr>
              <a:t>Yapay zekayı hazırlık işlerinde kullanırız</a:t>
            </a:r>
            <a:endParaRPr lang="en-US" sz="1250" dirty="0"/>
          </a:p>
        </p:txBody>
      </p:sp>
      <p:sp>
        <p:nvSpPr>
          <p:cNvPr id="33" name="Text 25"/>
          <p:cNvSpPr/>
          <p:nvPr/>
        </p:nvSpPr>
        <p:spPr>
          <a:xfrm>
            <a:off x="8348472" y="5367528"/>
            <a:ext cx="3099816" cy="685800"/>
          </a:xfrm>
          <a:prstGeom prst="rect">
            <a:avLst/>
          </a:prstGeom>
          <a:noFill/>
          <a:ln/>
        </p:spPr>
        <p:txBody>
          <a:bodyPr wrap="square" rtlCol="0" anchor="ctr">
            <a:normAutofit/>
          </a:bodyPr>
          <a:lstStyle/>
          <a:p>
            <a:pPr indent="0" marL="0">
              <a:lnSpc>
                <a:spcPts val="1300"/>
              </a:lnSpc>
              <a:buNone/>
            </a:pPr>
            <a:r>
              <a:rPr lang="en-US" sz="1000" dirty="0">
                <a:solidFill>
                  <a:srgbClr val="3D4C52"/>
                </a:solidFill>
                <a:latin typeface="Arial" pitchFamily="34" charset="0"/>
                <a:ea typeface="Arial" pitchFamily="34" charset="-122"/>
                <a:cs typeface="Arial" pitchFamily="34" charset="-120"/>
              </a:rPr>
              <a:t>Karar gerektiren her adım ve müşteriye giden her çıktı kıdemli danışman denetiminden geçer.</a:t>
            </a:r>
            <a:endParaRPr lang="en-US" sz="1000" dirty="0"/>
          </a:p>
        </p:txBody>
      </p:sp>
      <p:sp>
        <p:nvSpPr>
          <p:cNvPr id="34" name="Text 26"/>
          <p:cNvSpPr/>
          <p:nvPr/>
        </p:nvSpPr>
        <p:spPr>
          <a:xfrm>
            <a:off x="502920" y="6492240"/>
            <a:ext cx="5486400" cy="256032"/>
          </a:xfrm>
          <a:prstGeom prst="rect">
            <a:avLst/>
          </a:prstGeom>
          <a:noFill/>
          <a:ln/>
        </p:spPr>
        <p:txBody>
          <a:bodyPr wrap="square" rtlCol="0" anchor="ctr"/>
          <a:lstStyle/>
          <a:p>
            <a:pPr algn="l" indent="0" marL="0">
              <a:buNone/>
            </a:pPr>
            <a:r>
              <a:rPr lang="en-US" sz="900" spc="150" kern="0" dirty="0">
                <a:solidFill>
                  <a:srgbClr val="6C7B80"/>
                </a:solidFill>
                <a:latin typeface="Arial" pitchFamily="34" charset="0"/>
                <a:ea typeface="Arial" pitchFamily="34" charset="-122"/>
                <a:cs typeface="Arial" pitchFamily="34" charset="-120"/>
              </a:rPr>
              <a:t>İLKELER</a:t>
            </a:r>
            <a:endParaRPr lang="en-US" sz="900" dirty="0"/>
          </a:p>
        </p:txBody>
      </p:sp>
      <p:sp>
        <p:nvSpPr>
          <p:cNvPr id="35" name="Text 27"/>
          <p:cNvSpPr/>
          <p:nvPr/>
        </p:nvSpPr>
        <p:spPr>
          <a:xfrm>
            <a:off x="8945575" y="6492240"/>
            <a:ext cx="2743200" cy="256032"/>
          </a:xfrm>
          <a:prstGeom prst="rect">
            <a:avLst/>
          </a:prstGeom>
          <a:noFill/>
          <a:ln/>
        </p:spPr>
        <p:txBody>
          <a:bodyPr wrap="square" rtlCol="0" anchor="ctr"/>
          <a:lstStyle/>
          <a:p>
            <a:pPr algn="r" indent="0" marL="0">
              <a:buNone/>
            </a:pPr>
            <a:r>
              <a:rPr lang="en-US" sz="900" dirty="0">
                <a:solidFill>
                  <a:srgbClr val="6C7B80"/>
                </a:solidFill>
                <a:latin typeface="Arial" pitchFamily="34" charset="0"/>
                <a:ea typeface="Arial" pitchFamily="34" charset="-122"/>
                <a:cs typeface="Arial" pitchFamily="34" charset="-120"/>
              </a:rPr>
              <a:t>CPeak Consultancy</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365760"/>
            <a:ext cx="10515600" cy="292608"/>
          </a:xfrm>
          <a:prstGeom prst="rect">
            <a:avLst/>
          </a:prstGeom>
          <a:noFill/>
          <a:ln/>
        </p:spPr>
        <p:txBody>
          <a:bodyPr wrap="square" rtlCol="0" anchor="ctr"/>
          <a:lstStyle/>
          <a:p>
            <a:pPr indent="0" marL="0">
              <a:buNone/>
            </a:pPr>
            <a:r>
              <a:rPr lang="en-US" sz="1250" b="1" spc="200" kern="0" dirty="0">
                <a:solidFill>
                  <a:srgbClr val="11676A"/>
                </a:solidFill>
                <a:latin typeface="Arial" pitchFamily="34" charset="0"/>
                <a:ea typeface="Arial" pitchFamily="34" charset="-122"/>
                <a:cs typeface="Arial" pitchFamily="34" charset="-120"/>
              </a:rPr>
              <a:t>YAPAY ZEKA</a:t>
            </a:r>
            <a:endParaRPr lang="en-US" sz="1250" dirty="0"/>
          </a:p>
        </p:txBody>
      </p:sp>
      <p:sp>
        <p:nvSpPr>
          <p:cNvPr id="3" name="Text 1"/>
          <p:cNvSpPr/>
          <p:nvPr/>
        </p:nvSpPr>
        <p:spPr>
          <a:xfrm>
            <a:off x="502920" y="640080"/>
            <a:ext cx="11155680" cy="594360"/>
          </a:xfrm>
          <a:prstGeom prst="rect">
            <a:avLst/>
          </a:prstGeom>
          <a:noFill/>
          <a:ln/>
        </p:spPr>
        <p:txBody>
          <a:bodyPr wrap="square" rtlCol="0" anchor="ctr">
            <a:normAutofit/>
          </a:bodyPr>
          <a:lstStyle/>
          <a:p>
            <a:pPr indent="0" marL="0">
              <a:lnSpc>
                <a:spcPts val="2688"/>
              </a:lnSpc>
              <a:buNone/>
            </a:pPr>
            <a:r>
              <a:rPr lang="en-US" sz="2400" b="1" dirty="0">
                <a:solidFill>
                  <a:srgbClr val="16262C"/>
                </a:solidFill>
                <a:latin typeface="Arial" pitchFamily="34" charset="0"/>
                <a:ea typeface="Arial" pitchFamily="34" charset="-122"/>
                <a:cs typeface="Arial" pitchFamily="34" charset="-120"/>
              </a:rPr>
              <a:t>Yapay zekayı iki tarafta da kullanıyoruz</a:t>
            </a:r>
            <a:endParaRPr lang="en-US" sz="2400" dirty="0"/>
          </a:p>
        </p:txBody>
      </p:sp>
      <p:sp>
        <p:nvSpPr>
          <p:cNvPr id="4" name="Shape 2"/>
          <p:cNvSpPr/>
          <p:nvPr/>
        </p:nvSpPr>
        <p:spPr>
          <a:xfrm>
            <a:off x="502920" y="1463040"/>
            <a:ext cx="5440680" cy="3246120"/>
          </a:xfrm>
          <a:prstGeom prst="roundRect">
            <a:avLst>
              <a:gd name="adj" fmla="val 2254"/>
            </a:avLst>
          </a:prstGeom>
          <a:solidFill>
            <a:srgbClr val="EFF5F5"/>
          </a:solidFill>
          <a:ln/>
        </p:spPr>
      </p:sp>
      <p:sp>
        <p:nvSpPr>
          <p:cNvPr id="5" name="Shape 3"/>
          <p:cNvSpPr/>
          <p:nvPr/>
        </p:nvSpPr>
        <p:spPr>
          <a:xfrm>
            <a:off x="502920" y="1463040"/>
            <a:ext cx="5440680" cy="548640"/>
          </a:xfrm>
          <a:prstGeom prst="rect">
            <a:avLst/>
          </a:prstGeom>
          <a:solidFill>
            <a:srgbClr val="11676A"/>
          </a:solidFill>
          <a:ln/>
        </p:spPr>
      </p:sp>
      <p:sp>
        <p:nvSpPr>
          <p:cNvPr id="6" name="Text 4"/>
          <p:cNvSpPr/>
          <p:nvPr/>
        </p:nvSpPr>
        <p:spPr>
          <a:xfrm>
            <a:off x="777240" y="1463040"/>
            <a:ext cx="4892040" cy="548640"/>
          </a:xfrm>
          <a:prstGeom prst="rect">
            <a:avLst/>
          </a:prstGeom>
          <a:noFill/>
          <a:ln/>
        </p:spPr>
        <p:txBody>
          <a:bodyPr wrap="square" rtlCol="0" anchor="ctr">
            <a:normAutofit/>
          </a:bodyPr>
          <a:lstStyle/>
          <a:p>
            <a:pPr indent="0" marL="0">
              <a:buNone/>
            </a:pPr>
            <a:r>
              <a:rPr lang="en-US" sz="1450" b="1" dirty="0">
                <a:solidFill>
                  <a:srgbClr val="FFFFFF"/>
                </a:solidFill>
                <a:latin typeface="Arial" pitchFamily="34" charset="0"/>
                <a:ea typeface="Arial" pitchFamily="34" charset="-122"/>
                <a:cs typeface="Arial" pitchFamily="34" charset="-120"/>
              </a:rPr>
              <a:t>Sizin Finans Süreçlerinizde</a:t>
            </a:r>
            <a:endParaRPr lang="en-US" sz="1450" dirty="0"/>
          </a:p>
        </p:txBody>
      </p:sp>
      <p:sp>
        <p:nvSpPr>
          <p:cNvPr id="7" name="Shape 5"/>
          <p:cNvSpPr/>
          <p:nvPr/>
        </p:nvSpPr>
        <p:spPr>
          <a:xfrm>
            <a:off x="777240" y="2194560"/>
            <a:ext cx="292608" cy="292608"/>
          </a:xfrm>
          <a:prstGeom prst="ellipse">
            <a:avLst/>
          </a:prstGeom>
          <a:solidFill>
            <a:srgbClr val="FFFFFF"/>
          </a:solidFill>
          <a:ln/>
        </p:spPr>
      </p:sp>
      <p:pic>
        <p:nvPicPr>
          <p:cNvPr id="8" name="Image 0" descr="/tmp/claude-0/-home-user-Default/f7e81ef3-2f73-50cc-818d-26c445ecb8fe/scratchpad/cpeak/build/icons/check_teal.png">    </p:cNvPr>
          <p:cNvPicPr>
            <a:picLocks noChangeAspect="1"/>
          </p:cNvPicPr>
          <p:nvPr/>
        </p:nvPicPr>
        <p:blipFill>
          <a:blip r:embed="rId1"/>
          <a:stretch>
            <a:fillRect/>
          </a:stretch>
        </p:blipFill>
        <p:spPr>
          <a:xfrm>
            <a:off x="850392" y="2267712"/>
            <a:ext cx="146304" cy="146304"/>
          </a:xfrm>
          <a:prstGeom prst="rect">
            <a:avLst/>
          </a:prstGeom>
        </p:spPr>
      </p:pic>
      <p:sp>
        <p:nvSpPr>
          <p:cNvPr id="9" name="Text 6"/>
          <p:cNvSpPr/>
          <p:nvPr/>
        </p:nvSpPr>
        <p:spPr>
          <a:xfrm>
            <a:off x="1188720" y="2103120"/>
            <a:ext cx="4480560" cy="658368"/>
          </a:xfrm>
          <a:prstGeom prst="rect">
            <a:avLst/>
          </a:prstGeom>
          <a:noFill/>
          <a:ln/>
        </p:spPr>
        <p:txBody>
          <a:bodyPr wrap="square" rtlCol="0" anchor="ctr">
            <a:normAutofit/>
          </a:bodyPr>
          <a:lstStyle/>
          <a:p>
            <a:pPr indent="0" marL="0">
              <a:lnSpc>
                <a:spcPts val="1350"/>
              </a:lnSpc>
              <a:buNone/>
            </a:pPr>
            <a:r>
              <a:rPr lang="en-US" sz="1100" dirty="0">
                <a:solidFill>
                  <a:srgbClr val="3D4C52"/>
                </a:solidFill>
                <a:latin typeface="Arial" pitchFamily="34" charset="0"/>
                <a:ea typeface="Arial" pitchFamily="34" charset="-122"/>
                <a:cs typeface="Arial" pitchFamily="34" charset="-120"/>
              </a:rPr>
              <a:t>Akıllı mutabakat: banka ve cari kalemlerin otomatik eşlenmesi</a:t>
            </a:r>
            <a:endParaRPr lang="en-US" sz="1100" dirty="0"/>
          </a:p>
        </p:txBody>
      </p:sp>
      <p:sp>
        <p:nvSpPr>
          <p:cNvPr id="10" name="Shape 7"/>
          <p:cNvSpPr/>
          <p:nvPr/>
        </p:nvSpPr>
        <p:spPr>
          <a:xfrm>
            <a:off x="777240" y="2816352"/>
            <a:ext cx="292608" cy="292608"/>
          </a:xfrm>
          <a:prstGeom prst="ellipse">
            <a:avLst/>
          </a:prstGeom>
          <a:solidFill>
            <a:srgbClr val="FFFFFF"/>
          </a:solidFill>
          <a:ln/>
        </p:spPr>
      </p:sp>
      <p:pic>
        <p:nvPicPr>
          <p:cNvPr id="11" name="Image 1" descr="/tmp/claude-0/-home-user-Default/f7e81ef3-2f73-50cc-818d-26c445ecb8fe/scratchpad/cpeak/build/icons/check_teal.png">    </p:cNvPr>
          <p:cNvPicPr>
            <a:picLocks noChangeAspect="1"/>
          </p:cNvPicPr>
          <p:nvPr/>
        </p:nvPicPr>
        <p:blipFill>
          <a:blip r:embed="rId2"/>
          <a:stretch>
            <a:fillRect/>
          </a:stretch>
        </p:blipFill>
        <p:spPr>
          <a:xfrm>
            <a:off x="850392" y="2889504"/>
            <a:ext cx="146304" cy="146304"/>
          </a:xfrm>
          <a:prstGeom prst="rect">
            <a:avLst/>
          </a:prstGeom>
        </p:spPr>
      </p:pic>
      <p:sp>
        <p:nvSpPr>
          <p:cNvPr id="12" name="Text 8"/>
          <p:cNvSpPr/>
          <p:nvPr/>
        </p:nvSpPr>
        <p:spPr>
          <a:xfrm>
            <a:off x="1188720" y="2724912"/>
            <a:ext cx="4480560" cy="658368"/>
          </a:xfrm>
          <a:prstGeom prst="rect">
            <a:avLst/>
          </a:prstGeom>
          <a:noFill/>
          <a:ln/>
        </p:spPr>
        <p:txBody>
          <a:bodyPr wrap="square" rtlCol="0" anchor="ctr">
            <a:normAutofit/>
          </a:bodyPr>
          <a:lstStyle/>
          <a:p>
            <a:pPr indent="0" marL="0">
              <a:lnSpc>
                <a:spcPts val="1350"/>
              </a:lnSpc>
              <a:buNone/>
            </a:pPr>
            <a:r>
              <a:rPr lang="en-US" sz="1100" dirty="0">
                <a:solidFill>
                  <a:srgbClr val="3D4C52"/>
                </a:solidFill>
                <a:latin typeface="Arial" pitchFamily="34" charset="0"/>
                <a:ea typeface="Arial" pitchFamily="34" charset="-122"/>
                <a:cs typeface="Arial" pitchFamily="34" charset="-120"/>
              </a:rPr>
              <a:t>Anomali tespiti: alışılmadık kayıtların kapanıştan önce işaretlenmesi</a:t>
            </a:r>
            <a:endParaRPr lang="en-US" sz="1100" dirty="0"/>
          </a:p>
        </p:txBody>
      </p:sp>
      <p:sp>
        <p:nvSpPr>
          <p:cNvPr id="13" name="Shape 9"/>
          <p:cNvSpPr/>
          <p:nvPr/>
        </p:nvSpPr>
        <p:spPr>
          <a:xfrm>
            <a:off x="777240" y="3438144"/>
            <a:ext cx="292608" cy="292608"/>
          </a:xfrm>
          <a:prstGeom prst="ellipse">
            <a:avLst/>
          </a:prstGeom>
          <a:solidFill>
            <a:srgbClr val="FFFFFF"/>
          </a:solidFill>
          <a:ln/>
        </p:spPr>
      </p:sp>
      <p:pic>
        <p:nvPicPr>
          <p:cNvPr id="14" name="Image 2" descr="/tmp/claude-0/-home-user-Default/f7e81ef3-2f73-50cc-818d-26c445ecb8fe/scratchpad/cpeak/build/icons/check_teal.png">    </p:cNvPr>
          <p:cNvPicPr>
            <a:picLocks noChangeAspect="1"/>
          </p:cNvPicPr>
          <p:nvPr/>
        </p:nvPicPr>
        <p:blipFill>
          <a:blip r:embed="rId3"/>
          <a:stretch>
            <a:fillRect/>
          </a:stretch>
        </p:blipFill>
        <p:spPr>
          <a:xfrm>
            <a:off x="850392" y="3511296"/>
            <a:ext cx="146304" cy="146304"/>
          </a:xfrm>
          <a:prstGeom prst="rect">
            <a:avLst/>
          </a:prstGeom>
        </p:spPr>
      </p:pic>
      <p:sp>
        <p:nvSpPr>
          <p:cNvPr id="15" name="Text 10"/>
          <p:cNvSpPr/>
          <p:nvPr/>
        </p:nvSpPr>
        <p:spPr>
          <a:xfrm>
            <a:off x="1188720" y="3346704"/>
            <a:ext cx="4480560" cy="658368"/>
          </a:xfrm>
          <a:prstGeom prst="rect">
            <a:avLst/>
          </a:prstGeom>
          <a:noFill/>
          <a:ln/>
        </p:spPr>
        <p:txBody>
          <a:bodyPr wrap="square" rtlCol="0" anchor="ctr">
            <a:normAutofit/>
          </a:bodyPr>
          <a:lstStyle/>
          <a:p>
            <a:pPr indent="0" marL="0">
              <a:lnSpc>
                <a:spcPts val="1350"/>
              </a:lnSpc>
              <a:buNone/>
            </a:pPr>
            <a:r>
              <a:rPr lang="en-US" sz="1100" dirty="0">
                <a:solidFill>
                  <a:srgbClr val="3D4C52"/>
                </a:solidFill>
                <a:latin typeface="Arial" pitchFamily="34" charset="0"/>
                <a:ea typeface="Arial" pitchFamily="34" charset="-122"/>
                <a:cs typeface="Arial" pitchFamily="34" charset="-120"/>
              </a:rPr>
              <a:t>Tahmine dayalı muhasebe: kesinleşmemiş işlemlerin görünür olması</a:t>
            </a:r>
            <a:endParaRPr lang="en-US" sz="1100" dirty="0"/>
          </a:p>
        </p:txBody>
      </p:sp>
      <p:sp>
        <p:nvSpPr>
          <p:cNvPr id="16" name="Shape 11"/>
          <p:cNvSpPr/>
          <p:nvPr/>
        </p:nvSpPr>
        <p:spPr>
          <a:xfrm>
            <a:off x="777240" y="4059936"/>
            <a:ext cx="292608" cy="292608"/>
          </a:xfrm>
          <a:prstGeom prst="ellipse">
            <a:avLst/>
          </a:prstGeom>
          <a:solidFill>
            <a:srgbClr val="FFFFFF"/>
          </a:solidFill>
          <a:ln/>
        </p:spPr>
      </p:sp>
      <p:pic>
        <p:nvPicPr>
          <p:cNvPr id="17" name="Image 3" descr="/tmp/claude-0/-home-user-Default/f7e81ef3-2f73-50cc-818d-26c445ecb8fe/scratchpad/cpeak/build/icons/check_teal.png">    </p:cNvPr>
          <p:cNvPicPr>
            <a:picLocks noChangeAspect="1"/>
          </p:cNvPicPr>
          <p:nvPr/>
        </p:nvPicPr>
        <p:blipFill>
          <a:blip r:embed="rId4"/>
          <a:stretch>
            <a:fillRect/>
          </a:stretch>
        </p:blipFill>
        <p:spPr>
          <a:xfrm>
            <a:off x="850392" y="4133088"/>
            <a:ext cx="146304" cy="146304"/>
          </a:xfrm>
          <a:prstGeom prst="rect">
            <a:avLst/>
          </a:prstGeom>
        </p:spPr>
      </p:pic>
      <p:sp>
        <p:nvSpPr>
          <p:cNvPr id="18" name="Text 12"/>
          <p:cNvSpPr/>
          <p:nvPr/>
        </p:nvSpPr>
        <p:spPr>
          <a:xfrm>
            <a:off x="1188720" y="3968496"/>
            <a:ext cx="4480560" cy="658368"/>
          </a:xfrm>
          <a:prstGeom prst="rect">
            <a:avLst/>
          </a:prstGeom>
          <a:noFill/>
          <a:ln/>
        </p:spPr>
        <p:txBody>
          <a:bodyPr wrap="square" rtlCol="0" anchor="ctr">
            <a:normAutofit/>
          </a:bodyPr>
          <a:lstStyle/>
          <a:p>
            <a:pPr indent="0" marL="0">
              <a:lnSpc>
                <a:spcPts val="1350"/>
              </a:lnSpc>
              <a:buNone/>
            </a:pPr>
            <a:r>
              <a:rPr lang="en-US" sz="1100" dirty="0">
                <a:solidFill>
                  <a:srgbClr val="3D4C52"/>
                </a:solidFill>
                <a:latin typeface="Arial" pitchFamily="34" charset="0"/>
                <a:ea typeface="Arial" pitchFamily="34" charset="-122"/>
                <a:cs typeface="Arial" pitchFamily="34" charset="-120"/>
              </a:rPr>
              <a:t>Joule: doğal dille sorgulama ve gezinme katmanı</a:t>
            </a:r>
            <a:endParaRPr lang="en-US" sz="1100" dirty="0"/>
          </a:p>
        </p:txBody>
      </p:sp>
      <p:sp>
        <p:nvSpPr>
          <p:cNvPr id="19" name="Shape 13"/>
          <p:cNvSpPr/>
          <p:nvPr/>
        </p:nvSpPr>
        <p:spPr>
          <a:xfrm>
            <a:off x="6263640" y="1463040"/>
            <a:ext cx="5440680" cy="3246120"/>
          </a:xfrm>
          <a:prstGeom prst="roundRect">
            <a:avLst>
              <a:gd name="adj" fmla="val 2254"/>
            </a:avLst>
          </a:prstGeom>
          <a:solidFill>
            <a:srgbClr val="EFF5F5"/>
          </a:solidFill>
          <a:ln/>
        </p:spPr>
      </p:sp>
      <p:sp>
        <p:nvSpPr>
          <p:cNvPr id="20" name="Shape 14"/>
          <p:cNvSpPr/>
          <p:nvPr/>
        </p:nvSpPr>
        <p:spPr>
          <a:xfrm>
            <a:off x="6263640" y="1463040"/>
            <a:ext cx="5440680" cy="548640"/>
          </a:xfrm>
          <a:prstGeom prst="rect">
            <a:avLst/>
          </a:prstGeom>
          <a:solidFill>
            <a:srgbClr val="003F82"/>
          </a:solidFill>
          <a:ln/>
        </p:spPr>
      </p:sp>
      <p:sp>
        <p:nvSpPr>
          <p:cNvPr id="21" name="Text 15"/>
          <p:cNvSpPr/>
          <p:nvPr/>
        </p:nvSpPr>
        <p:spPr>
          <a:xfrm>
            <a:off x="6537960" y="1463040"/>
            <a:ext cx="4892040" cy="548640"/>
          </a:xfrm>
          <a:prstGeom prst="rect">
            <a:avLst/>
          </a:prstGeom>
          <a:noFill/>
          <a:ln/>
        </p:spPr>
        <p:txBody>
          <a:bodyPr wrap="square" rtlCol="0" anchor="ctr">
            <a:normAutofit/>
          </a:bodyPr>
          <a:lstStyle/>
          <a:p>
            <a:pPr indent="0" marL="0">
              <a:buNone/>
            </a:pPr>
            <a:r>
              <a:rPr lang="en-US" sz="1450" b="1" dirty="0">
                <a:solidFill>
                  <a:srgbClr val="FFFFFF"/>
                </a:solidFill>
                <a:latin typeface="Arial" pitchFamily="34" charset="0"/>
                <a:ea typeface="Arial" pitchFamily="34" charset="-122"/>
                <a:cs typeface="Arial" pitchFamily="34" charset="-120"/>
              </a:rPr>
              <a:t>Bizim Çalışma Şeklimizde</a:t>
            </a:r>
            <a:endParaRPr lang="en-US" sz="1450" dirty="0"/>
          </a:p>
        </p:txBody>
      </p:sp>
      <p:sp>
        <p:nvSpPr>
          <p:cNvPr id="22" name="Shape 16"/>
          <p:cNvSpPr/>
          <p:nvPr/>
        </p:nvSpPr>
        <p:spPr>
          <a:xfrm>
            <a:off x="6537960" y="2194560"/>
            <a:ext cx="292608" cy="292608"/>
          </a:xfrm>
          <a:prstGeom prst="ellipse">
            <a:avLst/>
          </a:prstGeom>
          <a:solidFill>
            <a:srgbClr val="FFFFFF"/>
          </a:solidFill>
          <a:ln/>
        </p:spPr>
      </p:sp>
      <p:pic>
        <p:nvPicPr>
          <p:cNvPr id="23" name="Image 4" descr="/tmp/claude-0/-home-user-Default/f7e81ef3-2f73-50cc-818d-26c445ecb8fe/scratchpad/cpeak/build/icons/check_navy.png">    </p:cNvPr>
          <p:cNvPicPr>
            <a:picLocks noChangeAspect="1"/>
          </p:cNvPicPr>
          <p:nvPr/>
        </p:nvPicPr>
        <p:blipFill>
          <a:blip r:embed="rId5"/>
          <a:stretch>
            <a:fillRect/>
          </a:stretch>
        </p:blipFill>
        <p:spPr>
          <a:xfrm>
            <a:off x="6611112" y="2267712"/>
            <a:ext cx="146304" cy="146304"/>
          </a:xfrm>
          <a:prstGeom prst="rect">
            <a:avLst/>
          </a:prstGeom>
        </p:spPr>
      </p:pic>
      <p:sp>
        <p:nvSpPr>
          <p:cNvPr id="24" name="Text 17"/>
          <p:cNvSpPr/>
          <p:nvPr/>
        </p:nvSpPr>
        <p:spPr>
          <a:xfrm>
            <a:off x="6949440" y="2103120"/>
            <a:ext cx="4480560" cy="658368"/>
          </a:xfrm>
          <a:prstGeom prst="rect">
            <a:avLst/>
          </a:prstGeom>
          <a:noFill/>
          <a:ln/>
        </p:spPr>
        <p:txBody>
          <a:bodyPr wrap="square" rtlCol="0" anchor="ctr">
            <a:normAutofit/>
          </a:bodyPr>
          <a:lstStyle/>
          <a:p>
            <a:pPr indent="0" marL="0">
              <a:lnSpc>
                <a:spcPts val="1350"/>
              </a:lnSpc>
              <a:buNone/>
            </a:pPr>
            <a:r>
              <a:rPr lang="en-US" sz="1100" dirty="0">
                <a:solidFill>
                  <a:srgbClr val="3D4C52"/>
                </a:solidFill>
                <a:latin typeface="Arial" pitchFamily="34" charset="0"/>
                <a:ea typeface="Arial" pitchFamily="34" charset="-122"/>
                <a:cs typeface="Arial" pitchFamily="34" charset="-120"/>
              </a:rPr>
              <a:t>Özelleştirme envanteri ve kod etki analizi</a:t>
            </a:r>
            <a:endParaRPr lang="en-US" sz="1100" dirty="0"/>
          </a:p>
        </p:txBody>
      </p:sp>
      <p:sp>
        <p:nvSpPr>
          <p:cNvPr id="25" name="Shape 18"/>
          <p:cNvSpPr/>
          <p:nvPr/>
        </p:nvSpPr>
        <p:spPr>
          <a:xfrm>
            <a:off x="6537960" y="2816352"/>
            <a:ext cx="292608" cy="292608"/>
          </a:xfrm>
          <a:prstGeom prst="ellipse">
            <a:avLst/>
          </a:prstGeom>
          <a:solidFill>
            <a:srgbClr val="FFFFFF"/>
          </a:solidFill>
          <a:ln/>
        </p:spPr>
      </p:sp>
      <p:pic>
        <p:nvPicPr>
          <p:cNvPr id="26" name="Image 5" descr="/tmp/claude-0/-home-user-Default/f7e81ef3-2f73-50cc-818d-26c445ecb8fe/scratchpad/cpeak/build/icons/check_navy.png">    </p:cNvPr>
          <p:cNvPicPr>
            <a:picLocks noChangeAspect="1"/>
          </p:cNvPicPr>
          <p:nvPr/>
        </p:nvPicPr>
        <p:blipFill>
          <a:blip r:embed="rId6"/>
          <a:stretch>
            <a:fillRect/>
          </a:stretch>
        </p:blipFill>
        <p:spPr>
          <a:xfrm>
            <a:off x="6611112" y="2889504"/>
            <a:ext cx="146304" cy="146304"/>
          </a:xfrm>
          <a:prstGeom prst="rect">
            <a:avLst/>
          </a:prstGeom>
        </p:spPr>
      </p:pic>
      <p:sp>
        <p:nvSpPr>
          <p:cNvPr id="27" name="Text 19"/>
          <p:cNvSpPr/>
          <p:nvPr/>
        </p:nvSpPr>
        <p:spPr>
          <a:xfrm>
            <a:off x="6949440" y="2724912"/>
            <a:ext cx="4480560" cy="658368"/>
          </a:xfrm>
          <a:prstGeom prst="rect">
            <a:avLst/>
          </a:prstGeom>
          <a:noFill/>
          <a:ln/>
        </p:spPr>
        <p:txBody>
          <a:bodyPr wrap="square" rtlCol="0" anchor="ctr">
            <a:normAutofit/>
          </a:bodyPr>
          <a:lstStyle/>
          <a:p>
            <a:pPr indent="0" marL="0">
              <a:lnSpc>
                <a:spcPts val="1350"/>
              </a:lnSpc>
              <a:buNone/>
            </a:pPr>
            <a:r>
              <a:rPr lang="en-US" sz="1100" dirty="0">
                <a:solidFill>
                  <a:srgbClr val="3D4C52"/>
                </a:solidFill>
                <a:latin typeface="Arial" pitchFamily="34" charset="0"/>
                <a:ea typeface="Arial" pitchFamily="34" charset="-122"/>
                <a:cs typeface="Arial" pitchFamily="34" charset="-120"/>
              </a:rPr>
              <a:t>Test senaryolarının ilk taslağının üretilmesi</a:t>
            </a:r>
            <a:endParaRPr lang="en-US" sz="1100" dirty="0"/>
          </a:p>
        </p:txBody>
      </p:sp>
      <p:sp>
        <p:nvSpPr>
          <p:cNvPr id="28" name="Shape 20"/>
          <p:cNvSpPr/>
          <p:nvPr/>
        </p:nvSpPr>
        <p:spPr>
          <a:xfrm>
            <a:off x="6537960" y="3438144"/>
            <a:ext cx="292608" cy="292608"/>
          </a:xfrm>
          <a:prstGeom prst="ellipse">
            <a:avLst/>
          </a:prstGeom>
          <a:solidFill>
            <a:srgbClr val="FFFFFF"/>
          </a:solidFill>
          <a:ln/>
        </p:spPr>
      </p:sp>
      <p:pic>
        <p:nvPicPr>
          <p:cNvPr id="29" name="Image 6" descr="/tmp/claude-0/-home-user-Default/f7e81ef3-2f73-50cc-818d-26c445ecb8fe/scratchpad/cpeak/build/icons/check_navy.png">    </p:cNvPr>
          <p:cNvPicPr>
            <a:picLocks noChangeAspect="1"/>
          </p:cNvPicPr>
          <p:nvPr/>
        </p:nvPicPr>
        <p:blipFill>
          <a:blip r:embed="rId7"/>
          <a:stretch>
            <a:fillRect/>
          </a:stretch>
        </p:blipFill>
        <p:spPr>
          <a:xfrm>
            <a:off x="6611112" y="3511296"/>
            <a:ext cx="146304" cy="146304"/>
          </a:xfrm>
          <a:prstGeom prst="rect">
            <a:avLst/>
          </a:prstGeom>
        </p:spPr>
      </p:pic>
      <p:sp>
        <p:nvSpPr>
          <p:cNvPr id="30" name="Text 21"/>
          <p:cNvSpPr/>
          <p:nvPr/>
        </p:nvSpPr>
        <p:spPr>
          <a:xfrm>
            <a:off x="6949440" y="3346704"/>
            <a:ext cx="4480560" cy="658368"/>
          </a:xfrm>
          <a:prstGeom prst="rect">
            <a:avLst/>
          </a:prstGeom>
          <a:noFill/>
          <a:ln/>
        </p:spPr>
        <p:txBody>
          <a:bodyPr wrap="square" rtlCol="0" anchor="ctr">
            <a:normAutofit/>
          </a:bodyPr>
          <a:lstStyle/>
          <a:p>
            <a:pPr indent="0" marL="0">
              <a:lnSpc>
                <a:spcPts val="1350"/>
              </a:lnSpc>
              <a:buNone/>
            </a:pPr>
            <a:r>
              <a:rPr lang="en-US" sz="1100" dirty="0">
                <a:solidFill>
                  <a:srgbClr val="3D4C52"/>
                </a:solidFill>
                <a:latin typeface="Arial" pitchFamily="34" charset="0"/>
                <a:ea typeface="Arial" pitchFamily="34" charset="-122"/>
                <a:cs typeface="Arial" pitchFamily="34" charset="-120"/>
              </a:rPr>
              <a:t>Veri migrasyonu mutabakat kontrollerinin hazırlanması</a:t>
            </a:r>
            <a:endParaRPr lang="en-US" sz="1100" dirty="0"/>
          </a:p>
        </p:txBody>
      </p:sp>
      <p:sp>
        <p:nvSpPr>
          <p:cNvPr id="31" name="Shape 22"/>
          <p:cNvSpPr/>
          <p:nvPr/>
        </p:nvSpPr>
        <p:spPr>
          <a:xfrm>
            <a:off x="6537960" y="4059936"/>
            <a:ext cx="292608" cy="292608"/>
          </a:xfrm>
          <a:prstGeom prst="ellipse">
            <a:avLst/>
          </a:prstGeom>
          <a:solidFill>
            <a:srgbClr val="FFFFFF"/>
          </a:solidFill>
          <a:ln/>
        </p:spPr>
      </p:sp>
      <p:pic>
        <p:nvPicPr>
          <p:cNvPr id="32" name="Image 7" descr="/tmp/claude-0/-home-user-Default/f7e81ef3-2f73-50cc-818d-26c445ecb8fe/scratchpad/cpeak/build/icons/check_navy.png">    </p:cNvPr>
          <p:cNvPicPr>
            <a:picLocks noChangeAspect="1"/>
          </p:cNvPicPr>
          <p:nvPr/>
        </p:nvPicPr>
        <p:blipFill>
          <a:blip r:embed="rId8"/>
          <a:stretch>
            <a:fillRect/>
          </a:stretch>
        </p:blipFill>
        <p:spPr>
          <a:xfrm>
            <a:off x="6611112" y="4133088"/>
            <a:ext cx="146304" cy="146304"/>
          </a:xfrm>
          <a:prstGeom prst="rect">
            <a:avLst/>
          </a:prstGeom>
        </p:spPr>
      </p:pic>
      <p:sp>
        <p:nvSpPr>
          <p:cNvPr id="33" name="Text 23"/>
          <p:cNvSpPr/>
          <p:nvPr/>
        </p:nvSpPr>
        <p:spPr>
          <a:xfrm>
            <a:off x="6949440" y="3968496"/>
            <a:ext cx="4480560" cy="658368"/>
          </a:xfrm>
          <a:prstGeom prst="rect">
            <a:avLst/>
          </a:prstGeom>
          <a:noFill/>
          <a:ln/>
        </p:spPr>
        <p:txBody>
          <a:bodyPr wrap="square" rtlCol="0" anchor="ctr">
            <a:normAutofit/>
          </a:bodyPr>
          <a:lstStyle/>
          <a:p>
            <a:pPr indent="0" marL="0">
              <a:lnSpc>
                <a:spcPts val="1350"/>
              </a:lnSpc>
              <a:buNone/>
            </a:pPr>
            <a:r>
              <a:rPr lang="en-US" sz="1100" dirty="0">
                <a:solidFill>
                  <a:srgbClr val="3D4C52"/>
                </a:solidFill>
                <a:latin typeface="Arial" pitchFamily="34" charset="0"/>
                <a:ea typeface="Arial" pitchFamily="34" charset="-122"/>
                <a:cs typeface="Arial" pitchFamily="34" charset="-120"/>
              </a:rPr>
              <a:t>Yapılandırma dokümantasyonunun ilk sürümü</a:t>
            </a:r>
            <a:endParaRPr lang="en-US" sz="1100" dirty="0"/>
          </a:p>
        </p:txBody>
      </p:sp>
      <p:sp>
        <p:nvSpPr>
          <p:cNvPr id="34" name="Shape 24"/>
          <p:cNvSpPr/>
          <p:nvPr/>
        </p:nvSpPr>
        <p:spPr>
          <a:xfrm>
            <a:off x="502920" y="4892040"/>
            <a:ext cx="11201400" cy="1325880"/>
          </a:xfrm>
          <a:prstGeom prst="roundRect">
            <a:avLst>
              <a:gd name="adj" fmla="val 5517"/>
            </a:avLst>
          </a:prstGeom>
          <a:solidFill>
            <a:srgbClr val="0F383D"/>
          </a:solidFill>
          <a:ln/>
        </p:spPr>
      </p:sp>
      <p:sp>
        <p:nvSpPr>
          <p:cNvPr id="35" name="Shape 25"/>
          <p:cNvSpPr/>
          <p:nvPr/>
        </p:nvSpPr>
        <p:spPr>
          <a:xfrm>
            <a:off x="777240" y="5138928"/>
            <a:ext cx="548640" cy="548640"/>
          </a:xfrm>
          <a:prstGeom prst="ellipse">
            <a:avLst/>
          </a:prstGeom>
          <a:solidFill>
            <a:srgbClr val="17494E"/>
          </a:solidFill>
          <a:ln/>
        </p:spPr>
      </p:sp>
      <p:pic>
        <p:nvPicPr>
          <p:cNvPr id="36" name="Image 8" descr="/tmp/claude-0/-home-user-Default/f7e81ef3-2f73-50cc-818d-26c445ecb8fe/scratchpad/cpeak/build/icons/lock_white.png">    </p:cNvPr>
          <p:cNvPicPr>
            <a:picLocks noChangeAspect="1"/>
          </p:cNvPicPr>
          <p:nvPr/>
        </p:nvPicPr>
        <p:blipFill>
          <a:blip r:embed="rId9"/>
          <a:stretch>
            <a:fillRect/>
          </a:stretch>
        </p:blipFill>
        <p:spPr>
          <a:xfrm>
            <a:off x="914400" y="5276088"/>
            <a:ext cx="274320" cy="274320"/>
          </a:xfrm>
          <a:prstGeom prst="rect">
            <a:avLst/>
          </a:prstGeom>
        </p:spPr>
      </p:pic>
      <p:sp>
        <p:nvSpPr>
          <p:cNvPr id="37" name="Text 26"/>
          <p:cNvSpPr/>
          <p:nvPr/>
        </p:nvSpPr>
        <p:spPr>
          <a:xfrm>
            <a:off x="1508760" y="4956048"/>
            <a:ext cx="9966960" cy="1143000"/>
          </a:xfrm>
          <a:prstGeom prst="rect">
            <a:avLst/>
          </a:prstGeom>
          <a:noFill/>
          <a:ln/>
        </p:spPr>
        <p:txBody>
          <a:bodyPr wrap="square" rtlCol="0" anchor="ctr">
            <a:normAutofit/>
          </a:bodyPr>
          <a:lstStyle/>
          <a:p>
            <a:pPr indent="0" marL="0">
              <a:lnSpc>
                <a:spcPts val="1800"/>
              </a:lnSpc>
              <a:buNone/>
            </a:pPr>
            <a:r>
              <a:rPr lang="en-US" sz="1300" b="1" dirty="0">
                <a:solidFill>
                  <a:srgbClr val="FFFFFF"/>
                </a:solidFill>
                <a:latin typeface="Arial" pitchFamily="34" charset="0"/>
                <a:ea typeface="Arial" pitchFamily="34" charset="-122"/>
                <a:cs typeface="Arial" pitchFamily="34" charset="-120"/>
              </a:rPr>
              <a:t>Duruşumuz: müşteri verisi üzerinde çalışan her adım, önceden mutabık kalınan sınırlar içinde yürütülür ve finansal kayıt üreten hiçbir karar insan denetiminden geçmeden kesinleşmez.</a:t>
            </a:r>
            <a:endParaRPr lang="en-US" sz="1300" dirty="0"/>
          </a:p>
        </p:txBody>
      </p:sp>
      <p:sp>
        <p:nvSpPr>
          <p:cNvPr id="38" name="Text 27"/>
          <p:cNvSpPr/>
          <p:nvPr/>
        </p:nvSpPr>
        <p:spPr>
          <a:xfrm>
            <a:off x="502920" y="6492240"/>
            <a:ext cx="5486400" cy="256032"/>
          </a:xfrm>
          <a:prstGeom prst="rect">
            <a:avLst/>
          </a:prstGeom>
          <a:noFill/>
          <a:ln/>
        </p:spPr>
        <p:txBody>
          <a:bodyPr wrap="square" rtlCol="0" anchor="ctr"/>
          <a:lstStyle/>
          <a:p>
            <a:pPr algn="l" indent="0" marL="0">
              <a:buNone/>
            </a:pPr>
            <a:r>
              <a:rPr lang="en-US" sz="900" spc="150" kern="0" dirty="0">
                <a:solidFill>
                  <a:srgbClr val="6C7B80"/>
                </a:solidFill>
                <a:latin typeface="Arial" pitchFamily="34" charset="0"/>
                <a:ea typeface="Arial" pitchFamily="34" charset="-122"/>
                <a:cs typeface="Arial" pitchFamily="34" charset="-120"/>
              </a:rPr>
              <a:t>YAPAY ZEKA YAKLAŞIMI</a:t>
            </a:r>
            <a:endParaRPr lang="en-US" sz="900" dirty="0"/>
          </a:p>
        </p:txBody>
      </p:sp>
      <p:sp>
        <p:nvSpPr>
          <p:cNvPr id="39" name="Text 28"/>
          <p:cNvSpPr/>
          <p:nvPr/>
        </p:nvSpPr>
        <p:spPr>
          <a:xfrm>
            <a:off x="8945575" y="6492240"/>
            <a:ext cx="2743200" cy="256032"/>
          </a:xfrm>
          <a:prstGeom prst="rect">
            <a:avLst/>
          </a:prstGeom>
          <a:noFill/>
          <a:ln/>
        </p:spPr>
        <p:txBody>
          <a:bodyPr wrap="square" rtlCol="0" anchor="ctr"/>
          <a:lstStyle/>
          <a:p>
            <a:pPr algn="r" indent="0" marL="0">
              <a:buNone/>
            </a:pPr>
            <a:r>
              <a:rPr lang="en-US" sz="900" dirty="0">
                <a:solidFill>
                  <a:srgbClr val="6C7B80"/>
                </a:solidFill>
                <a:latin typeface="Arial" pitchFamily="34" charset="0"/>
                <a:ea typeface="Arial" pitchFamily="34" charset="-122"/>
                <a:cs typeface="Arial" pitchFamily="34" charset="-120"/>
              </a:rPr>
              <a:t>CPeak Consultancy</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365760"/>
            <a:ext cx="10515600" cy="292608"/>
          </a:xfrm>
          <a:prstGeom prst="rect">
            <a:avLst/>
          </a:prstGeom>
          <a:noFill/>
          <a:ln/>
        </p:spPr>
        <p:txBody>
          <a:bodyPr wrap="square" rtlCol="0" anchor="ctr"/>
          <a:lstStyle/>
          <a:p>
            <a:pPr indent="0" marL="0">
              <a:buNone/>
            </a:pPr>
            <a:r>
              <a:rPr lang="en-US" sz="1250" b="1" spc="200" kern="0" dirty="0">
                <a:solidFill>
                  <a:srgbClr val="11676A"/>
                </a:solidFill>
                <a:latin typeface="Arial" pitchFamily="34" charset="0"/>
                <a:ea typeface="Arial" pitchFamily="34" charset="-122"/>
                <a:cs typeface="Arial" pitchFamily="34" charset="-120"/>
              </a:rPr>
              <a:t>FARKIMIZ</a:t>
            </a:r>
            <a:endParaRPr lang="en-US" sz="1250" dirty="0"/>
          </a:p>
        </p:txBody>
      </p:sp>
      <p:sp>
        <p:nvSpPr>
          <p:cNvPr id="3" name="Text 1"/>
          <p:cNvSpPr/>
          <p:nvPr/>
        </p:nvSpPr>
        <p:spPr>
          <a:xfrm>
            <a:off x="502920" y="640080"/>
            <a:ext cx="11155680" cy="822960"/>
          </a:xfrm>
          <a:prstGeom prst="rect">
            <a:avLst/>
          </a:prstGeom>
          <a:noFill/>
          <a:ln/>
        </p:spPr>
        <p:txBody>
          <a:bodyPr wrap="square" rtlCol="0" anchor="ctr">
            <a:normAutofit/>
          </a:bodyPr>
          <a:lstStyle/>
          <a:p>
            <a:pPr indent="0" marL="0">
              <a:lnSpc>
                <a:spcPts val="3200"/>
              </a:lnSpc>
              <a:buNone/>
            </a:pPr>
            <a:r>
              <a:rPr lang="en-US" sz="2800" b="1" dirty="0">
                <a:solidFill>
                  <a:srgbClr val="16262C"/>
                </a:solidFill>
                <a:latin typeface="Arial" pitchFamily="34" charset="0"/>
                <a:ea typeface="Arial" pitchFamily="34" charset="-122"/>
                <a:cs typeface="Arial" pitchFamily="34" charset="-120"/>
              </a:rPr>
              <a:t>Projede kimin çalıştığı farkı belirler</a:t>
            </a:r>
            <a:endParaRPr lang="en-US" sz="2800" dirty="0"/>
          </a:p>
        </p:txBody>
      </p:sp>
      <p:sp>
        <p:nvSpPr>
          <p:cNvPr id="4" name="Shape 2"/>
          <p:cNvSpPr/>
          <p:nvPr/>
        </p:nvSpPr>
        <p:spPr>
          <a:xfrm>
            <a:off x="502920" y="1691640"/>
            <a:ext cx="5440680" cy="2057400"/>
          </a:xfrm>
          <a:prstGeom prst="roundRect">
            <a:avLst>
              <a:gd name="adj" fmla="val 3556"/>
            </a:avLst>
          </a:prstGeom>
          <a:solidFill>
            <a:srgbClr val="EFF5F5"/>
          </a:solidFill>
          <a:ln/>
        </p:spPr>
      </p:sp>
      <p:sp>
        <p:nvSpPr>
          <p:cNvPr id="5" name="Shape 3"/>
          <p:cNvSpPr/>
          <p:nvPr/>
        </p:nvSpPr>
        <p:spPr>
          <a:xfrm>
            <a:off x="777240" y="1965960"/>
            <a:ext cx="566928" cy="566928"/>
          </a:xfrm>
          <a:prstGeom prst="ellipse">
            <a:avLst/>
          </a:prstGeom>
          <a:solidFill>
            <a:srgbClr val="11676A"/>
          </a:solidFill>
          <a:ln/>
        </p:spPr>
      </p:sp>
      <p:pic>
        <p:nvPicPr>
          <p:cNvPr id="6" name="Image 0" descr="/tmp/claude-0/-home-user-Default/f7e81ef3-2f73-50cc-818d-26c445ecb8fe/scratchpad/cpeak/build/icons/landmark_white.png">    </p:cNvPr>
          <p:cNvPicPr>
            <a:picLocks noChangeAspect="1"/>
          </p:cNvPicPr>
          <p:nvPr/>
        </p:nvPicPr>
        <p:blipFill>
          <a:blip r:embed="rId1"/>
          <a:stretch>
            <a:fillRect/>
          </a:stretch>
        </p:blipFill>
        <p:spPr>
          <a:xfrm>
            <a:off x="918972" y="2107692"/>
            <a:ext cx="283464" cy="283464"/>
          </a:xfrm>
          <a:prstGeom prst="rect">
            <a:avLst/>
          </a:prstGeom>
        </p:spPr>
      </p:pic>
      <p:sp>
        <p:nvSpPr>
          <p:cNvPr id="7" name="Text 4"/>
          <p:cNvSpPr/>
          <p:nvPr/>
        </p:nvSpPr>
        <p:spPr>
          <a:xfrm>
            <a:off x="1554480" y="1874520"/>
            <a:ext cx="4160520" cy="731520"/>
          </a:xfrm>
          <a:prstGeom prst="rect">
            <a:avLst/>
          </a:prstGeom>
          <a:noFill/>
          <a:ln/>
        </p:spPr>
        <p:txBody>
          <a:bodyPr wrap="square" rtlCol="0" anchor="ctr">
            <a:normAutofit/>
          </a:bodyPr>
          <a:lstStyle/>
          <a:p>
            <a:pPr indent="0" marL="0">
              <a:lnSpc>
                <a:spcPts val="1600"/>
              </a:lnSpc>
              <a:buNone/>
            </a:pPr>
            <a:r>
              <a:rPr lang="en-US" sz="1400" b="1" dirty="0">
                <a:solidFill>
                  <a:srgbClr val="16262C"/>
                </a:solidFill>
                <a:latin typeface="Arial" pitchFamily="34" charset="0"/>
                <a:ea typeface="Arial" pitchFamily="34" charset="-122"/>
                <a:cs typeface="Arial" pitchFamily="34" charset="-120"/>
              </a:rPr>
              <a:t>Finans Modülünde Gerçek Derinlik</a:t>
            </a:r>
            <a:endParaRPr lang="en-US" sz="1400" dirty="0"/>
          </a:p>
        </p:txBody>
      </p:sp>
      <p:sp>
        <p:nvSpPr>
          <p:cNvPr id="8" name="Text 5"/>
          <p:cNvSpPr/>
          <p:nvPr/>
        </p:nvSpPr>
        <p:spPr>
          <a:xfrm>
            <a:off x="777240" y="2697480"/>
            <a:ext cx="4892040" cy="914400"/>
          </a:xfrm>
          <a:prstGeom prst="rect">
            <a:avLst/>
          </a:prstGeom>
          <a:noFill/>
          <a:ln/>
        </p:spPr>
        <p:txBody>
          <a:bodyPr wrap="square" rtlCol="0" anchor="ctr">
            <a:normAutofit/>
          </a:bodyPr>
          <a:lstStyle/>
          <a:p>
            <a:pPr indent="0" marL="0">
              <a:lnSpc>
                <a:spcPts val="1400"/>
              </a:lnSpc>
              <a:buNone/>
            </a:pPr>
            <a:r>
              <a:rPr lang="en-US" sz="1050" dirty="0">
                <a:solidFill>
                  <a:srgbClr val="3D4C52"/>
                </a:solidFill>
                <a:latin typeface="Arial" pitchFamily="34" charset="0"/>
                <a:ea typeface="Arial" pitchFamily="34" charset="-122"/>
                <a:cs typeface="Arial" pitchFamily="34" charset="-120"/>
              </a:rPr>
              <a:t>FI ve CO bizim için yan yetkinlik değil, ana uzmanlık alanımızdır. Geri dönüşü pahalı kararlarda deneyimli bir görüş alırsınız.</a:t>
            </a:r>
            <a:endParaRPr lang="en-US" sz="1050" dirty="0"/>
          </a:p>
        </p:txBody>
      </p:sp>
      <p:sp>
        <p:nvSpPr>
          <p:cNvPr id="9" name="Shape 6"/>
          <p:cNvSpPr/>
          <p:nvPr/>
        </p:nvSpPr>
        <p:spPr>
          <a:xfrm>
            <a:off x="6263640" y="1691640"/>
            <a:ext cx="5440680" cy="2057400"/>
          </a:xfrm>
          <a:prstGeom prst="roundRect">
            <a:avLst>
              <a:gd name="adj" fmla="val 3556"/>
            </a:avLst>
          </a:prstGeom>
          <a:solidFill>
            <a:srgbClr val="EFF5F5"/>
          </a:solidFill>
          <a:ln/>
        </p:spPr>
      </p:sp>
      <p:sp>
        <p:nvSpPr>
          <p:cNvPr id="10" name="Shape 7"/>
          <p:cNvSpPr/>
          <p:nvPr/>
        </p:nvSpPr>
        <p:spPr>
          <a:xfrm>
            <a:off x="6537960" y="1965960"/>
            <a:ext cx="566928" cy="566928"/>
          </a:xfrm>
          <a:prstGeom prst="ellipse">
            <a:avLst/>
          </a:prstGeom>
          <a:solidFill>
            <a:srgbClr val="11676A"/>
          </a:solidFill>
          <a:ln/>
        </p:spPr>
      </p:sp>
      <p:pic>
        <p:nvPicPr>
          <p:cNvPr id="11" name="Image 1" descr="/tmp/claude-0/-home-user-Default/f7e81ef3-2f73-50cc-818d-26c445ecb8fe/scratchpad/cpeak/build/icons/scale_white.png">    </p:cNvPr>
          <p:cNvPicPr>
            <a:picLocks noChangeAspect="1"/>
          </p:cNvPicPr>
          <p:nvPr/>
        </p:nvPicPr>
        <p:blipFill>
          <a:blip r:embed="rId2"/>
          <a:stretch>
            <a:fillRect/>
          </a:stretch>
        </p:blipFill>
        <p:spPr>
          <a:xfrm>
            <a:off x="6679692" y="2107692"/>
            <a:ext cx="283464" cy="283464"/>
          </a:xfrm>
          <a:prstGeom prst="rect">
            <a:avLst/>
          </a:prstGeom>
        </p:spPr>
      </p:pic>
      <p:sp>
        <p:nvSpPr>
          <p:cNvPr id="12" name="Text 8"/>
          <p:cNvSpPr/>
          <p:nvPr/>
        </p:nvSpPr>
        <p:spPr>
          <a:xfrm>
            <a:off x="7315200" y="1874520"/>
            <a:ext cx="4160520" cy="731520"/>
          </a:xfrm>
          <a:prstGeom prst="rect">
            <a:avLst/>
          </a:prstGeom>
          <a:noFill/>
          <a:ln/>
        </p:spPr>
        <p:txBody>
          <a:bodyPr wrap="square" rtlCol="0" anchor="ctr">
            <a:normAutofit/>
          </a:bodyPr>
          <a:lstStyle/>
          <a:p>
            <a:pPr indent="0" marL="0">
              <a:lnSpc>
                <a:spcPts val="1600"/>
              </a:lnSpc>
              <a:buNone/>
            </a:pPr>
            <a:r>
              <a:rPr lang="en-US" sz="1400" b="1" dirty="0">
                <a:solidFill>
                  <a:srgbClr val="16262C"/>
                </a:solidFill>
                <a:latin typeface="Arial" pitchFamily="34" charset="0"/>
                <a:ea typeface="Arial" pitchFamily="34" charset="-122"/>
                <a:cs typeface="Arial" pitchFamily="34" charset="-120"/>
              </a:rPr>
              <a:t>Bulut Modelinde Tarafsızlık</a:t>
            </a:r>
            <a:endParaRPr lang="en-US" sz="1400" dirty="0"/>
          </a:p>
        </p:txBody>
      </p:sp>
      <p:sp>
        <p:nvSpPr>
          <p:cNvPr id="13" name="Text 9"/>
          <p:cNvSpPr/>
          <p:nvPr/>
        </p:nvSpPr>
        <p:spPr>
          <a:xfrm>
            <a:off x="6537960" y="2697480"/>
            <a:ext cx="4892040" cy="914400"/>
          </a:xfrm>
          <a:prstGeom prst="rect">
            <a:avLst/>
          </a:prstGeom>
          <a:noFill/>
          <a:ln/>
        </p:spPr>
        <p:txBody>
          <a:bodyPr wrap="square" rtlCol="0" anchor="ctr">
            <a:normAutofit/>
          </a:bodyPr>
          <a:lstStyle/>
          <a:p>
            <a:pPr indent="0" marL="0">
              <a:lnSpc>
                <a:spcPts val="1400"/>
              </a:lnSpc>
              <a:buNone/>
            </a:pPr>
            <a:r>
              <a:rPr lang="en-US" sz="1050" dirty="0">
                <a:solidFill>
                  <a:srgbClr val="3D4C52"/>
                </a:solidFill>
                <a:latin typeface="Arial" pitchFamily="34" charset="0"/>
                <a:ea typeface="Arial" pitchFamily="34" charset="-122"/>
                <a:cs typeface="Arial" pitchFamily="34" charset="-120"/>
              </a:rPr>
              <a:t>Public Cloud ve Private Cloud arasındaki seçimde belirli bir modeli savunmuyoruz. Kararı siz verirsiniz.</a:t>
            </a:r>
            <a:endParaRPr lang="en-US" sz="1050" dirty="0"/>
          </a:p>
        </p:txBody>
      </p:sp>
      <p:sp>
        <p:nvSpPr>
          <p:cNvPr id="14" name="Shape 10"/>
          <p:cNvSpPr/>
          <p:nvPr/>
        </p:nvSpPr>
        <p:spPr>
          <a:xfrm>
            <a:off x="502920" y="4023360"/>
            <a:ext cx="5440680" cy="2057400"/>
          </a:xfrm>
          <a:prstGeom prst="roundRect">
            <a:avLst>
              <a:gd name="adj" fmla="val 3556"/>
            </a:avLst>
          </a:prstGeom>
          <a:solidFill>
            <a:srgbClr val="EFF5F5"/>
          </a:solidFill>
          <a:ln/>
        </p:spPr>
      </p:sp>
      <p:sp>
        <p:nvSpPr>
          <p:cNvPr id="15" name="Shape 11"/>
          <p:cNvSpPr/>
          <p:nvPr/>
        </p:nvSpPr>
        <p:spPr>
          <a:xfrm>
            <a:off x="777240" y="4297680"/>
            <a:ext cx="566928" cy="566928"/>
          </a:xfrm>
          <a:prstGeom prst="ellipse">
            <a:avLst/>
          </a:prstGeom>
          <a:solidFill>
            <a:srgbClr val="11676A"/>
          </a:solidFill>
          <a:ln/>
        </p:spPr>
      </p:sp>
      <p:pic>
        <p:nvPicPr>
          <p:cNvPr id="16" name="Image 2" descr="/tmp/claude-0/-home-user-Default/f7e81ef3-2f73-50cc-818d-26c445ecb8fe/scratchpad/cpeak/build/icons/robot_white.png">    </p:cNvPr>
          <p:cNvPicPr>
            <a:picLocks noChangeAspect="1"/>
          </p:cNvPicPr>
          <p:nvPr/>
        </p:nvPicPr>
        <p:blipFill>
          <a:blip r:embed="rId3"/>
          <a:stretch>
            <a:fillRect/>
          </a:stretch>
        </p:blipFill>
        <p:spPr>
          <a:xfrm>
            <a:off x="918972" y="4439412"/>
            <a:ext cx="283464" cy="283464"/>
          </a:xfrm>
          <a:prstGeom prst="rect">
            <a:avLst/>
          </a:prstGeom>
        </p:spPr>
      </p:pic>
      <p:sp>
        <p:nvSpPr>
          <p:cNvPr id="17" name="Text 12"/>
          <p:cNvSpPr/>
          <p:nvPr/>
        </p:nvSpPr>
        <p:spPr>
          <a:xfrm>
            <a:off x="1554480" y="4206240"/>
            <a:ext cx="4160520" cy="731520"/>
          </a:xfrm>
          <a:prstGeom prst="rect">
            <a:avLst/>
          </a:prstGeom>
          <a:noFill/>
          <a:ln/>
        </p:spPr>
        <p:txBody>
          <a:bodyPr wrap="square" rtlCol="0" anchor="ctr">
            <a:normAutofit/>
          </a:bodyPr>
          <a:lstStyle/>
          <a:p>
            <a:pPr indent="0" marL="0">
              <a:lnSpc>
                <a:spcPts val="1600"/>
              </a:lnSpc>
              <a:buNone/>
            </a:pPr>
            <a:r>
              <a:rPr lang="en-US" sz="1400" b="1" dirty="0">
                <a:solidFill>
                  <a:srgbClr val="16262C"/>
                </a:solidFill>
                <a:latin typeface="Arial" pitchFamily="34" charset="0"/>
                <a:ea typeface="Arial" pitchFamily="34" charset="-122"/>
                <a:cs typeface="Arial" pitchFamily="34" charset="-120"/>
              </a:rPr>
              <a:t>Yapay Zeka ile Hızlandırılmış Teslim</a:t>
            </a:r>
            <a:endParaRPr lang="en-US" sz="1400" dirty="0"/>
          </a:p>
        </p:txBody>
      </p:sp>
      <p:sp>
        <p:nvSpPr>
          <p:cNvPr id="18" name="Text 13"/>
          <p:cNvSpPr/>
          <p:nvPr/>
        </p:nvSpPr>
        <p:spPr>
          <a:xfrm>
            <a:off x="777240" y="5029200"/>
            <a:ext cx="4892040" cy="914400"/>
          </a:xfrm>
          <a:prstGeom prst="rect">
            <a:avLst/>
          </a:prstGeom>
          <a:noFill/>
          <a:ln/>
        </p:spPr>
        <p:txBody>
          <a:bodyPr wrap="square" rtlCol="0" anchor="ctr">
            <a:normAutofit/>
          </a:bodyPr>
          <a:lstStyle/>
          <a:p>
            <a:pPr indent="0" marL="0">
              <a:lnSpc>
                <a:spcPts val="1400"/>
              </a:lnSpc>
              <a:buNone/>
            </a:pPr>
            <a:r>
              <a:rPr lang="en-US" sz="1050" dirty="0">
                <a:solidFill>
                  <a:srgbClr val="3D4C52"/>
                </a:solidFill>
                <a:latin typeface="Arial" pitchFamily="34" charset="0"/>
                <a:ea typeface="Arial" pitchFamily="34" charset="-122"/>
                <a:cs typeface="Arial" pitchFamily="34" charset="-120"/>
              </a:rPr>
              <a:t>Analiz, dokümantasyon ve test üretimi gibi hacimli işlerde yapay zekadan yararlanıyoruz; bu hazırlık fazlarını kısaltıyor.</a:t>
            </a:r>
            <a:endParaRPr lang="en-US" sz="1050" dirty="0"/>
          </a:p>
        </p:txBody>
      </p:sp>
      <p:sp>
        <p:nvSpPr>
          <p:cNvPr id="19" name="Shape 14"/>
          <p:cNvSpPr/>
          <p:nvPr/>
        </p:nvSpPr>
        <p:spPr>
          <a:xfrm>
            <a:off x="6263640" y="4023360"/>
            <a:ext cx="5440680" cy="2057400"/>
          </a:xfrm>
          <a:prstGeom prst="roundRect">
            <a:avLst>
              <a:gd name="adj" fmla="val 3556"/>
            </a:avLst>
          </a:prstGeom>
          <a:solidFill>
            <a:srgbClr val="EFF5F5"/>
          </a:solidFill>
          <a:ln/>
        </p:spPr>
      </p:sp>
      <p:sp>
        <p:nvSpPr>
          <p:cNvPr id="20" name="Shape 15"/>
          <p:cNvSpPr/>
          <p:nvPr/>
        </p:nvSpPr>
        <p:spPr>
          <a:xfrm>
            <a:off x="6537960" y="4297680"/>
            <a:ext cx="566928" cy="566928"/>
          </a:xfrm>
          <a:prstGeom prst="ellipse">
            <a:avLst/>
          </a:prstGeom>
          <a:solidFill>
            <a:srgbClr val="11676A"/>
          </a:solidFill>
          <a:ln/>
        </p:spPr>
      </p:sp>
      <p:pic>
        <p:nvPicPr>
          <p:cNvPr id="21" name="Image 3" descr="/tmp/claude-0/-home-user-Default/f7e81ef3-2f73-50cc-818d-26c445ecb8fe/scratchpad/cpeak/build/icons/usertie_white.png">    </p:cNvPr>
          <p:cNvPicPr>
            <a:picLocks noChangeAspect="1"/>
          </p:cNvPicPr>
          <p:nvPr/>
        </p:nvPicPr>
        <p:blipFill>
          <a:blip r:embed="rId4"/>
          <a:stretch>
            <a:fillRect/>
          </a:stretch>
        </p:blipFill>
        <p:spPr>
          <a:xfrm>
            <a:off x="6679692" y="4439412"/>
            <a:ext cx="283464" cy="283464"/>
          </a:xfrm>
          <a:prstGeom prst="rect">
            <a:avLst/>
          </a:prstGeom>
        </p:spPr>
      </p:pic>
      <p:sp>
        <p:nvSpPr>
          <p:cNvPr id="22" name="Text 16"/>
          <p:cNvSpPr/>
          <p:nvPr/>
        </p:nvSpPr>
        <p:spPr>
          <a:xfrm>
            <a:off x="7315200" y="4206240"/>
            <a:ext cx="4160520" cy="731520"/>
          </a:xfrm>
          <a:prstGeom prst="rect">
            <a:avLst/>
          </a:prstGeom>
          <a:noFill/>
          <a:ln/>
        </p:spPr>
        <p:txBody>
          <a:bodyPr wrap="square" rtlCol="0" anchor="ctr">
            <a:normAutofit/>
          </a:bodyPr>
          <a:lstStyle/>
          <a:p>
            <a:pPr indent="0" marL="0">
              <a:lnSpc>
                <a:spcPts val="1600"/>
              </a:lnSpc>
              <a:buNone/>
            </a:pPr>
            <a:r>
              <a:rPr lang="en-US" sz="1400" b="1" dirty="0">
                <a:solidFill>
                  <a:srgbClr val="16262C"/>
                </a:solidFill>
                <a:latin typeface="Arial" pitchFamily="34" charset="0"/>
                <a:ea typeface="Arial" pitchFamily="34" charset="-122"/>
                <a:cs typeface="Arial" pitchFamily="34" charset="-120"/>
              </a:rPr>
              <a:t>Projede Kıdemli Danışman Çalışır</a:t>
            </a:r>
            <a:endParaRPr lang="en-US" sz="1400" dirty="0"/>
          </a:p>
        </p:txBody>
      </p:sp>
      <p:sp>
        <p:nvSpPr>
          <p:cNvPr id="23" name="Text 17"/>
          <p:cNvSpPr/>
          <p:nvPr/>
        </p:nvSpPr>
        <p:spPr>
          <a:xfrm>
            <a:off x="6537960" y="5029200"/>
            <a:ext cx="4892040" cy="914400"/>
          </a:xfrm>
          <a:prstGeom prst="rect">
            <a:avLst/>
          </a:prstGeom>
          <a:noFill/>
          <a:ln/>
        </p:spPr>
        <p:txBody>
          <a:bodyPr wrap="square" rtlCol="0" anchor="ctr">
            <a:normAutofit/>
          </a:bodyPr>
          <a:lstStyle/>
          <a:p>
            <a:pPr indent="0" marL="0">
              <a:lnSpc>
                <a:spcPts val="1400"/>
              </a:lnSpc>
              <a:buNone/>
            </a:pPr>
            <a:r>
              <a:rPr lang="en-US" sz="1050" dirty="0">
                <a:solidFill>
                  <a:srgbClr val="3D4C52"/>
                </a:solidFill>
                <a:latin typeface="Arial" pitchFamily="34" charset="0"/>
                <a:ea typeface="Arial" pitchFamily="34" charset="-122"/>
                <a:cs typeface="Arial" pitchFamily="34" charset="-120"/>
              </a:rPr>
              <a:t>Teklifte adı geçen kişiler projeye gelir. Kapsam büyüdüğünde ekibi büyütmek yerine işi fazlara böleriz.</a:t>
            </a:r>
            <a:endParaRPr lang="en-US" sz="1050" dirty="0"/>
          </a:p>
        </p:txBody>
      </p:sp>
      <p:sp>
        <p:nvSpPr>
          <p:cNvPr id="24" name="Text 18"/>
          <p:cNvSpPr/>
          <p:nvPr/>
        </p:nvSpPr>
        <p:spPr>
          <a:xfrm>
            <a:off x="502920" y="6492240"/>
            <a:ext cx="5486400" cy="256032"/>
          </a:xfrm>
          <a:prstGeom prst="rect">
            <a:avLst/>
          </a:prstGeom>
          <a:noFill/>
          <a:ln/>
        </p:spPr>
        <p:txBody>
          <a:bodyPr wrap="square" rtlCol="0" anchor="ctr"/>
          <a:lstStyle/>
          <a:p>
            <a:pPr algn="l" indent="0" marL="0">
              <a:buNone/>
            </a:pPr>
            <a:r>
              <a:rPr lang="en-US" sz="900" spc="150" kern="0" dirty="0">
                <a:solidFill>
                  <a:srgbClr val="6C7B80"/>
                </a:solidFill>
                <a:latin typeface="Arial" pitchFamily="34" charset="0"/>
                <a:ea typeface="Arial" pitchFamily="34" charset="-122"/>
                <a:cs typeface="Arial" pitchFamily="34" charset="-120"/>
              </a:rPr>
              <a:t>FARKIMIZ</a:t>
            </a:r>
            <a:endParaRPr lang="en-US" sz="900" dirty="0"/>
          </a:p>
        </p:txBody>
      </p:sp>
      <p:sp>
        <p:nvSpPr>
          <p:cNvPr id="25" name="Text 19"/>
          <p:cNvSpPr/>
          <p:nvPr/>
        </p:nvSpPr>
        <p:spPr>
          <a:xfrm>
            <a:off x="8945575" y="6492240"/>
            <a:ext cx="2743200" cy="256032"/>
          </a:xfrm>
          <a:prstGeom prst="rect">
            <a:avLst/>
          </a:prstGeom>
          <a:noFill/>
          <a:ln/>
        </p:spPr>
        <p:txBody>
          <a:bodyPr wrap="square" rtlCol="0" anchor="ctr"/>
          <a:lstStyle/>
          <a:p>
            <a:pPr algn="r" indent="0" marL="0">
              <a:buNone/>
            </a:pPr>
            <a:r>
              <a:rPr lang="en-US" sz="900" dirty="0">
                <a:solidFill>
                  <a:srgbClr val="6C7B80"/>
                </a:solidFill>
                <a:latin typeface="Arial" pitchFamily="34" charset="0"/>
                <a:ea typeface="Arial" pitchFamily="34" charset="-122"/>
                <a:cs typeface="Arial" pitchFamily="34" charset="-120"/>
              </a:rPr>
              <a:t>CPeak Consultancy</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365760"/>
            <a:ext cx="10515600" cy="292608"/>
          </a:xfrm>
          <a:prstGeom prst="rect">
            <a:avLst/>
          </a:prstGeom>
          <a:noFill/>
          <a:ln/>
        </p:spPr>
        <p:txBody>
          <a:bodyPr wrap="square" rtlCol="0" anchor="ctr"/>
          <a:lstStyle/>
          <a:p>
            <a:pPr indent="0" marL="0">
              <a:buNone/>
            </a:pPr>
            <a:r>
              <a:rPr lang="en-US" sz="1250" b="1" spc="200" kern="0" dirty="0">
                <a:solidFill>
                  <a:srgbClr val="11676A"/>
                </a:solidFill>
                <a:latin typeface="Arial" pitchFamily="34" charset="0"/>
                <a:ea typeface="Arial" pitchFamily="34" charset="-122"/>
                <a:cs typeface="Arial" pitchFamily="34" charset="-120"/>
              </a:rPr>
              <a:t>SINIRLARIMIZ</a:t>
            </a:r>
            <a:endParaRPr lang="en-US" sz="1250" dirty="0"/>
          </a:p>
        </p:txBody>
      </p:sp>
      <p:sp>
        <p:nvSpPr>
          <p:cNvPr id="3" name="Text 1"/>
          <p:cNvSpPr/>
          <p:nvPr/>
        </p:nvSpPr>
        <p:spPr>
          <a:xfrm>
            <a:off x="502920" y="640080"/>
            <a:ext cx="11155680" cy="822960"/>
          </a:xfrm>
          <a:prstGeom prst="rect">
            <a:avLst/>
          </a:prstGeom>
          <a:noFill/>
          <a:ln/>
        </p:spPr>
        <p:txBody>
          <a:bodyPr wrap="square" rtlCol="0" anchor="ctr">
            <a:normAutofit/>
          </a:bodyPr>
          <a:lstStyle/>
          <a:p>
            <a:pPr indent="0" marL="0">
              <a:lnSpc>
                <a:spcPts val="2912"/>
              </a:lnSpc>
              <a:buNone/>
            </a:pPr>
            <a:r>
              <a:rPr lang="en-US" sz="2600" b="1" dirty="0">
                <a:solidFill>
                  <a:srgbClr val="16262C"/>
                </a:solidFill>
                <a:latin typeface="Arial" pitchFamily="34" charset="0"/>
                <a:ea typeface="Arial" pitchFamily="34" charset="-122"/>
                <a:cs typeface="Arial" pitchFamily="34" charset="-120"/>
              </a:rPr>
              <a:t>Üstlenmediğimiz işler</a:t>
            </a:r>
            <a:endParaRPr lang="en-US" sz="2600" dirty="0"/>
          </a:p>
        </p:txBody>
      </p:sp>
      <p:sp>
        <p:nvSpPr>
          <p:cNvPr id="4" name="Text 2"/>
          <p:cNvSpPr/>
          <p:nvPr/>
        </p:nvSpPr>
        <p:spPr>
          <a:xfrm>
            <a:off x="502920" y="1371600"/>
            <a:ext cx="10058400" cy="365760"/>
          </a:xfrm>
          <a:prstGeom prst="rect">
            <a:avLst/>
          </a:prstGeom>
          <a:noFill/>
          <a:ln/>
        </p:spPr>
        <p:txBody>
          <a:bodyPr wrap="square" rtlCol="0" anchor="ctr"/>
          <a:lstStyle/>
          <a:p>
            <a:pPr indent="0" marL="0">
              <a:buNone/>
            </a:pPr>
            <a:r>
              <a:rPr lang="en-US" sz="1400" dirty="0">
                <a:solidFill>
                  <a:srgbClr val="6C7B80"/>
                </a:solidFill>
                <a:latin typeface="Arial" pitchFamily="34" charset="0"/>
                <a:ea typeface="Arial" pitchFamily="34" charset="-122"/>
                <a:cs typeface="Arial" pitchFamily="34" charset="-120"/>
              </a:rPr>
              <a:t>Neyi yapmadığımızı söylemek, ne yaptığımızı söylemek kadar önemlidir.</a:t>
            </a:r>
            <a:endParaRPr lang="en-US" sz="1400" dirty="0"/>
          </a:p>
        </p:txBody>
      </p:sp>
      <p:sp>
        <p:nvSpPr>
          <p:cNvPr id="5" name="Shape 3"/>
          <p:cNvSpPr/>
          <p:nvPr/>
        </p:nvSpPr>
        <p:spPr>
          <a:xfrm>
            <a:off x="502920" y="1965960"/>
            <a:ext cx="11201400" cy="868680"/>
          </a:xfrm>
          <a:prstGeom prst="roundRect">
            <a:avLst>
              <a:gd name="adj" fmla="val 8421"/>
            </a:avLst>
          </a:prstGeom>
          <a:solidFill>
            <a:srgbClr val="EFF5F5"/>
          </a:solidFill>
          <a:ln/>
        </p:spPr>
      </p:sp>
      <p:sp>
        <p:nvSpPr>
          <p:cNvPr id="6" name="Shape 4"/>
          <p:cNvSpPr/>
          <p:nvPr/>
        </p:nvSpPr>
        <p:spPr>
          <a:xfrm>
            <a:off x="731520" y="2148840"/>
            <a:ext cx="502920" cy="502920"/>
          </a:xfrm>
          <a:prstGeom prst="ellipse">
            <a:avLst/>
          </a:prstGeom>
          <a:solidFill>
            <a:srgbClr val="00285A"/>
          </a:solidFill>
          <a:ln/>
        </p:spPr>
      </p:sp>
      <p:pic>
        <p:nvPicPr>
          <p:cNvPr id="7" name="Image 0" descr="/tmp/claude-0/-home-user-Default/f7e81ef3-2f73-50cc-818d-26c445ecb8fe/scratchpad/cpeak/build/icons/ban_white.png">    </p:cNvPr>
          <p:cNvPicPr>
            <a:picLocks noChangeAspect="1"/>
          </p:cNvPicPr>
          <p:nvPr/>
        </p:nvPicPr>
        <p:blipFill>
          <a:blip r:embed="rId1"/>
          <a:stretch>
            <a:fillRect/>
          </a:stretch>
        </p:blipFill>
        <p:spPr>
          <a:xfrm>
            <a:off x="857250" y="2274570"/>
            <a:ext cx="251460" cy="251460"/>
          </a:xfrm>
          <a:prstGeom prst="rect">
            <a:avLst/>
          </a:prstGeom>
        </p:spPr>
      </p:pic>
      <p:sp>
        <p:nvSpPr>
          <p:cNvPr id="8" name="Text 5"/>
          <p:cNvSpPr/>
          <p:nvPr/>
        </p:nvSpPr>
        <p:spPr>
          <a:xfrm>
            <a:off x="1463040" y="1965960"/>
            <a:ext cx="9966960" cy="868680"/>
          </a:xfrm>
          <a:prstGeom prst="rect">
            <a:avLst/>
          </a:prstGeom>
          <a:noFill/>
          <a:ln/>
        </p:spPr>
        <p:txBody>
          <a:bodyPr wrap="square" rtlCol="0" anchor="ctr">
            <a:normAutofit/>
          </a:bodyPr>
          <a:lstStyle/>
          <a:p>
            <a:pPr indent="0" marL="0">
              <a:lnSpc>
                <a:spcPts val="1700"/>
              </a:lnSpc>
              <a:buNone/>
            </a:pPr>
            <a:r>
              <a:rPr lang="en-US" sz="1300" dirty="0">
                <a:solidFill>
                  <a:srgbClr val="3D4C52"/>
                </a:solidFill>
                <a:latin typeface="Arial" pitchFamily="34" charset="0"/>
                <a:ea typeface="Arial" pitchFamily="34" charset="-122"/>
                <a:cs typeface="Arial" pitchFamily="34" charset="-120"/>
              </a:rPr>
              <a:t>Uzmanlık alanımız dışındaki SAP modüllerinin ana sorumluluğu (lojistik, üretim planlama, İK gibi)</a:t>
            </a:r>
            <a:endParaRPr lang="en-US" sz="1300" dirty="0"/>
          </a:p>
        </p:txBody>
      </p:sp>
      <p:sp>
        <p:nvSpPr>
          <p:cNvPr id="9" name="Shape 6"/>
          <p:cNvSpPr/>
          <p:nvPr/>
        </p:nvSpPr>
        <p:spPr>
          <a:xfrm>
            <a:off x="502920" y="3017520"/>
            <a:ext cx="11201400" cy="868680"/>
          </a:xfrm>
          <a:prstGeom prst="roundRect">
            <a:avLst>
              <a:gd name="adj" fmla="val 8421"/>
            </a:avLst>
          </a:prstGeom>
          <a:solidFill>
            <a:srgbClr val="EFF5F5"/>
          </a:solidFill>
          <a:ln/>
        </p:spPr>
      </p:sp>
      <p:sp>
        <p:nvSpPr>
          <p:cNvPr id="10" name="Shape 7"/>
          <p:cNvSpPr/>
          <p:nvPr/>
        </p:nvSpPr>
        <p:spPr>
          <a:xfrm>
            <a:off x="731520" y="3200400"/>
            <a:ext cx="502920" cy="502920"/>
          </a:xfrm>
          <a:prstGeom prst="ellipse">
            <a:avLst/>
          </a:prstGeom>
          <a:solidFill>
            <a:srgbClr val="00285A"/>
          </a:solidFill>
          <a:ln/>
        </p:spPr>
      </p:sp>
      <p:pic>
        <p:nvPicPr>
          <p:cNvPr id="11" name="Image 1" descr="/tmp/claude-0/-home-user-Default/f7e81ef3-2f73-50cc-818d-26c445ecb8fe/scratchpad/cpeak/build/icons/ban_white.png">    </p:cNvPr>
          <p:cNvPicPr>
            <a:picLocks noChangeAspect="1"/>
          </p:cNvPicPr>
          <p:nvPr/>
        </p:nvPicPr>
        <p:blipFill>
          <a:blip r:embed="rId2"/>
          <a:stretch>
            <a:fillRect/>
          </a:stretch>
        </p:blipFill>
        <p:spPr>
          <a:xfrm>
            <a:off x="857250" y="3326130"/>
            <a:ext cx="251460" cy="251460"/>
          </a:xfrm>
          <a:prstGeom prst="rect">
            <a:avLst/>
          </a:prstGeom>
        </p:spPr>
      </p:pic>
      <p:sp>
        <p:nvSpPr>
          <p:cNvPr id="12" name="Text 8"/>
          <p:cNvSpPr/>
          <p:nvPr/>
        </p:nvSpPr>
        <p:spPr>
          <a:xfrm>
            <a:off x="1463040" y="3017520"/>
            <a:ext cx="9966960" cy="868680"/>
          </a:xfrm>
          <a:prstGeom prst="rect">
            <a:avLst/>
          </a:prstGeom>
          <a:noFill/>
          <a:ln/>
        </p:spPr>
        <p:txBody>
          <a:bodyPr wrap="square" rtlCol="0" anchor="ctr">
            <a:normAutofit/>
          </a:bodyPr>
          <a:lstStyle/>
          <a:p>
            <a:pPr indent="0" marL="0">
              <a:lnSpc>
                <a:spcPts val="1700"/>
              </a:lnSpc>
              <a:buNone/>
            </a:pPr>
            <a:r>
              <a:rPr lang="en-US" sz="1300" dirty="0">
                <a:solidFill>
                  <a:srgbClr val="3D4C52"/>
                </a:solidFill>
                <a:latin typeface="Arial" pitchFamily="34" charset="0"/>
                <a:ea typeface="Arial" pitchFamily="34" charset="-122"/>
                <a:cs typeface="Arial" pitchFamily="34" charset="-120"/>
              </a:rPr>
              <a:t>Yalnızca kaynak sağlama: proje yönetimi ya da mimari sorumluluk üstlenmeden danışman temini</a:t>
            </a:r>
            <a:endParaRPr lang="en-US" sz="1300" dirty="0"/>
          </a:p>
        </p:txBody>
      </p:sp>
      <p:sp>
        <p:nvSpPr>
          <p:cNvPr id="13" name="Shape 9"/>
          <p:cNvSpPr/>
          <p:nvPr/>
        </p:nvSpPr>
        <p:spPr>
          <a:xfrm>
            <a:off x="502920" y="4069080"/>
            <a:ext cx="11201400" cy="868680"/>
          </a:xfrm>
          <a:prstGeom prst="roundRect">
            <a:avLst>
              <a:gd name="adj" fmla="val 8421"/>
            </a:avLst>
          </a:prstGeom>
          <a:solidFill>
            <a:srgbClr val="EFF5F5"/>
          </a:solidFill>
          <a:ln/>
        </p:spPr>
      </p:sp>
      <p:sp>
        <p:nvSpPr>
          <p:cNvPr id="14" name="Shape 10"/>
          <p:cNvSpPr/>
          <p:nvPr/>
        </p:nvSpPr>
        <p:spPr>
          <a:xfrm>
            <a:off x="731520" y="4251960"/>
            <a:ext cx="502920" cy="502920"/>
          </a:xfrm>
          <a:prstGeom prst="ellipse">
            <a:avLst/>
          </a:prstGeom>
          <a:solidFill>
            <a:srgbClr val="00285A"/>
          </a:solidFill>
          <a:ln/>
        </p:spPr>
      </p:sp>
      <p:pic>
        <p:nvPicPr>
          <p:cNvPr id="15" name="Image 2" descr="/tmp/claude-0/-home-user-Default/f7e81ef3-2f73-50cc-818d-26c445ecb8fe/scratchpad/cpeak/build/icons/ban_white.png">    </p:cNvPr>
          <p:cNvPicPr>
            <a:picLocks noChangeAspect="1"/>
          </p:cNvPicPr>
          <p:nvPr/>
        </p:nvPicPr>
        <p:blipFill>
          <a:blip r:embed="rId3"/>
          <a:stretch>
            <a:fillRect/>
          </a:stretch>
        </p:blipFill>
        <p:spPr>
          <a:xfrm>
            <a:off x="857250" y="4377690"/>
            <a:ext cx="251460" cy="251460"/>
          </a:xfrm>
          <a:prstGeom prst="rect">
            <a:avLst/>
          </a:prstGeom>
        </p:spPr>
      </p:pic>
      <p:sp>
        <p:nvSpPr>
          <p:cNvPr id="16" name="Text 11"/>
          <p:cNvSpPr/>
          <p:nvPr/>
        </p:nvSpPr>
        <p:spPr>
          <a:xfrm>
            <a:off x="1463040" y="4069080"/>
            <a:ext cx="9966960" cy="868680"/>
          </a:xfrm>
          <a:prstGeom prst="rect">
            <a:avLst/>
          </a:prstGeom>
          <a:noFill/>
          <a:ln/>
        </p:spPr>
        <p:txBody>
          <a:bodyPr wrap="square" rtlCol="0" anchor="ctr">
            <a:normAutofit/>
          </a:bodyPr>
          <a:lstStyle/>
          <a:p>
            <a:pPr indent="0" marL="0">
              <a:lnSpc>
                <a:spcPts val="1700"/>
              </a:lnSpc>
              <a:buNone/>
            </a:pPr>
            <a:r>
              <a:rPr lang="en-US" sz="1300" dirty="0">
                <a:solidFill>
                  <a:srgbClr val="3D4C52"/>
                </a:solidFill>
                <a:latin typeface="Arial" pitchFamily="34" charset="0"/>
                <a:ea typeface="Arial" pitchFamily="34" charset="-122"/>
                <a:cs typeface="Arial" pitchFamily="34" charset="-120"/>
              </a:rPr>
              <a:t>Değerlendirme yapılmadan sabit fiyatla taahhüt edilen dönüşüm projeleri</a:t>
            </a:r>
            <a:endParaRPr lang="en-US" sz="1300" dirty="0"/>
          </a:p>
        </p:txBody>
      </p:sp>
      <p:sp>
        <p:nvSpPr>
          <p:cNvPr id="17" name="Shape 12"/>
          <p:cNvSpPr/>
          <p:nvPr/>
        </p:nvSpPr>
        <p:spPr>
          <a:xfrm>
            <a:off x="502920" y="5120640"/>
            <a:ext cx="11201400" cy="868680"/>
          </a:xfrm>
          <a:prstGeom prst="roundRect">
            <a:avLst>
              <a:gd name="adj" fmla="val 8421"/>
            </a:avLst>
          </a:prstGeom>
          <a:solidFill>
            <a:srgbClr val="EFF5F5"/>
          </a:solidFill>
          <a:ln/>
        </p:spPr>
      </p:sp>
      <p:sp>
        <p:nvSpPr>
          <p:cNvPr id="18" name="Shape 13"/>
          <p:cNvSpPr/>
          <p:nvPr/>
        </p:nvSpPr>
        <p:spPr>
          <a:xfrm>
            <a:off x="731520" y="5303520"/>
            <a:ext cx="502920" cy="502920"/>
          </a:xfrm>
          <a:prstGeom prst="ellipse">
            <a:avLst/>
          </a:prstGeom>
          <a:solidFill>
            <a:srgbClr val="00285A"/>
          </a:solidFill>
          <a:ln/>
        </p:spPr>
      </p:sp>
      <p:pic>
        <p:nvPicPr>
          <p:cNvPr id="19" name="Image 3" descr="/tmp/claude-0/-home-user-Default/f7e81ef3-2f73-50cc-818d-26c445ecb8fe/scratchpad/cpeak/build/icons/ban_white.png">    </p:cNvPr>
          <p:cNvPicPr>
            <a:picLocks noChangeAspect="1"/>
          </p:cNvPicPr>
          <p:nvPr/>
        </p:nvPicPr>
        <p:blipFill>
          <a:blip r:embed="rId4"/>
          <a:stretch>
            <a:fillRect/>
          </a:stretch>
        </p:blipFill>
        <p:spPr>
          <a:xfrm>
            <a:off x="857250" y="5429250"/>
            <a:ext cx="251460" cy="251460"/>
          </a:xfrm>
          <a:prstGeom prst="rect">
            <a:avLst/>
          </a:prstGeom>
        </p:spPr>
      </p:pic>
      <p:sp>
        <p:nvSpPr>
          <p:cNvPr id="20" name="Text 14"/>
          <p:cNvSpPr/>
          <p:nvPr/>
        </p:nvSpPr>
        <p:spPr>
          <a:xfrm>
            <a:off x="1463040" y="5120640"/>
            <a:ext cx="9966960" cy="868680"/>
          </a:xfrm>
          <a:prstGeom prst="rect">
            <a:avLst/>
          </a:prstGeom>
          <a:noFill/>
          <a:ln/>
        </p:spPr>
        <p:txBody>
          <a:bodyPr wrap="square" rtlCol="0" anchor="ctr">
            <a:normAutofit/>
          </a:bodyPr>
          <a:lstStyle/>
          <a:p>
            <a:pPr indent="0" marL="0">
              <a:lnSpc>
                <a:spcPts val="1700"/>
              </a:lnSpc>
              <a:buNone/>
            </a:pPr>
            <a:r>
              <a:rPr lang="en-US" sz="1300" dirty="0">
                <a:solidFill>
                  <a:srgbClr val="3D4C52"/>
                </a:solidFill>
                <a:latin typeface="Arial" pitchFamily="34" charset="0"/>
                <a:ea typeface="Arial" pitchFamily="34" charset="-122"/>
                <a:cs typeface="Arial" pitchFamily="34" charset="-120"/>
              </a:rPr>
              <a:t>Yazılım geliştirme ya da altyapı işletim hizmeti</a:t>
            </a:r>
            <a:endParaRPr lang="en-US" sz="1300" dirty="0"/>
          </a:p>
        </p:txBody>
      </p:sp>
      <p:sp>
        <p:nvSpPr>
          <p:cNvPr id="21" name="Text 15"/>
          <p:cNvSpPr/>
          <p:nvPr/>
        </p:nvSpPr>
        <p:spPr>
          <a:xfrm>
            <a:off x="502920" y="6492240"/>
            <a:ext cx="5486400" cy="256032"/>
          </a:xfrm>
          <a:prstGeom prst="rect">
            <a:avLst/>
          </a:prstGeom>
          <a:noFill/>
          <a:ln/>
        </p:spPr>
        <p:txBody>
          <a:bodyPr wrap="square" rtlCol="0" anchor="ctr"/>
          <a:lstStyle/>
          <a:p>
            <a:pPr algn="l" indent="0" marL="0">
              <a:buNone/>
            </a:pPr>
            <a:r>
              <a:rPr lang="en-US" sz="900" spc="150" kern="0" dirty="0">
                <a:solidFill>
                  <a:srgbClr val="6C7B80"/>
                </a:solidFill>
                <a:latin typeface="Arial" pitchFamily="34" charset="0"/>
                <a:ea typeface="Arial" pitchFamily="34" charset="-122"/>
                <a:cs typeface="Arial" pitchFamily="34" charset="-120"/>
              </a:rPr>
              <a:t>SINIRLARIMIZ</a:t>
            </a:r>
            <a:endParaRPr lang="en-US" sz="900" dirty="0"/>
          </a:p>
        </p:txBody>
      </p:sp>
      <p:sp>
        <p:nvSpPr>
          <p:cNvPr id="22" name="Text 16"/>
          <p:cNvSpPr/>
          <p:nvPr/>
        </p:nvSpPr>
        <p:spPr>
          <a:xfrm>
            <a:off x="8945575" y="6492240"/>
            <a:ext cx="2743200" cy="256032"/>
          </a:xfrm>
          <a:prstGeom prst="rect">
            <a:avLst/>
          </a:prstGeom>
          <a:noFill/>
          <a:ln/>
        </p:spPr>
        <p:txBody>
          <a:bodyPr wrap="square" rtlCol="0" anchor="ctr"/>
          <a:lstStyle/>
          <a:p>
            <a:pPr algn="r" indent="0" marL="0">
              <a:buNone/>
            </a:pPr>
            <a:r>
              <a:rPr lang="en-US" sz="900" dirty="0">
                <a:solidFill>
                  <a:srgbClr val="6C7B80"/>
                </a:solidFill>
                <a:latin typeface="Arial" pitchFamily="34" charset="0"/>
                <a:ea typeface="Arial" pitchFamily="34" charset="-122"/>
                <a:cs typeface="Arial" pitchFamily="34" charset="-120"/>
              </a:rPr>
              <a:t>CPeak Consultancy</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9052560" y="-1645920"/>
            <a:ext cx="5120640" cy="5120640"/>
          </a:xfrm>
          <a:prstGeom prst="ellipse">
            <a:avLst/>
          </a:prstGeom>
          <a:solidFill>
            <a:srgbClr val="11676A">
              <a:alpha val="22000"/>
            </a:srgbClr>
          </a:solidFill>
          <a:ln/>
        </p:spPr>
      </p:sp>
      <p:sp>
        <p:nvSpPr>
          <p:cNvPr id="3" name="Shape 1"/>
          <p:cNvSpPr/>
          <p:nvPr/>
        </p:nvSpPr>
        <p:spPr>
          <a:xfrm>
            <a:off x="-1463040" y="4572000"/>
            <a:ext cx="4023360" cy="4023360"/>
          </a:xfrm>
          <a:prstGeom prst="ellipse">
            <a:avLst/>
          </a:prstGeom>
          <a:solidFill>
            <a:srgbClr val="003F82">
              <a:alpha val="25000"/>
            </a:srgbClr>
          </a:solidFill>
          <a:ln/>
        </p:spPr>
      </p:sp>
      <p:sp>
        <p:nvSpPr>
          <p:cNvPr id="4" name="Shape 2"/>
          <p:cNvSpPr/>
          <p:nvPr/>
        </p:nvSpPr>
        <p:spPr>
          <a:xfrm>
            <a:off x="5592928" y="1737360"/>
            <a:ext cx="1005840" cy="1005840"/>
          </a:xfrm>
          <a:prstGeom prst="ellipse">
            <a:avLst/>
          </a:prstGeom>
          <a:solidFill>
            <a:srgbClr val="17494E"/>
          </a:solidFill>
          <a:ln/>
        </p:spPr>
      </p:sp>
      <p:pic>
        <p:nvPicPr>
          <p:cNvPr id="5" name="Image 0" descr="/tmp/claude-0/-home-user-Default/f7e81ef3-2f73-50cc-818d-26c445ecb8fe/scratchpad/cpeak/build/icons/handshake_white.png">    </p:cNvPr>
          <p:cNvPicPr>
            <a:picLocks noChangeAspect="1"/>
          </p:cNvPicPr>
          <p:nvPr/>
        </p:nvPicPr>
        <p:blipFill>
          <a:blip r:embed="rId1"/>
          <a:stretch>
            <a:fillRect/>
          </a:stretch>
        </p:blipFill>
        <p:spPr>
          <a:xfrm>
            <a:off x="5844388" y="1988820"/>
            <a:ext cx="502920" cy="502920"/>
          </a:xfrm>
          <a:prstGeom prst="rect">
            <a:avLst/>
          </a:prstGeom>
        </p:spPr>
      </p:pic>
      <p:sp>
        <p:nvSpPr>
          <p:cNvPr id="6" name="Text 3"/>
          <p:cNvSpPr/>
          <p:nvPr/>
        </p:nvSpPr>
        <p:spPr>
          <a:xfrm>
            <a:off x="822960" y="2971800"/>
            <a:ext cx="10515600" cy="777240"/>
          </a:xfrm>
          <a:prstGeom prst="rect">
            <a:avLst/>
          </a:prstGeom>
          <a:noFill/>
          <a:ln/>
        </p:spPr>
        <p:txBody>
          <a:bodyPr wrap="square" rtlCol="0" anchor="ctr">
            <a:normAutofit/>
          </a:bodyPr>
          <a:lstStyle/>
          <a:p>
            <a:pPr algn="ctr" indent="0" marL="0">
              <a:buNone/>
            </a:pPr>
            <a:r>
              <a:rPr lang="en-US" sz="2700" b="1" dirty="0">
                <a:solidFill>
                  <a:srgbClr val="FFFFFF"/>
                </a:solidFill>
                <a:latin typeface="Arial" pitchFamily="34" charset="0"/>
                <a:ea typeface="Arial" pitchFamily="34" charset="-122"/>
                <a:cs typeface="Arial" pitchFamily="34" charset="-120"/>
              </a:rPr>
              <a:t>Sonucu projede kimin çalıştığı belirler</a:t>
            </a:r>
            <a:endParaRPr lang="en-US" sz="2700" dirty="0"/>
          </a:p>
        </p:txBody>
      </p:sp>
      <p:sp>
        <p:nvSpPr>
          <p:cNvPr id="7" name="Text 4"/>
          <p:cNvSpPr/>
          <p:nvPr/>
        </p:nvSpPr>
        <p:spPr>
          <a:xfrm>
            <a:off x="1554480" y="3794760"/>
            <a:ext cx="9144000" cy="548640"/>
          </a:xfrm>
          <a:prstGeom prst="rect">
            <a:avLst/>
          </a:prstGeom>
          <a:noFill/>
          <a:ln/>
        </p:spPr>
        <p:txBody>
          <a:bodyPr wrap="square" rtlCol="0" anchor="ctr">
            <a:normAutofit/>
          </a:bodyPr>
          <a:lstStyle/>
          <a:p>
            <a:pPr algn="ctr" indent="0" marL="0">
              <a:buNone/>
            </a:pPr>
            <a:r>
              <a:rPr lang="en-US" sz="1500" dirty="0">
                <a:solidFill>
                  <a:srgbClr val="BFE0DF"/>
                </a:solidFill>
                <a:latin typeface="Arial" pitchFamily="34" charset="0"/>
                <a:ea typeface="Arial" pitchFamily="34" charset="-122"/>
                <a:cs typeface="Arial" pitchFamily="34" charset="-120"/>
              </a:rPr>
              <a:t>Finans modülünde derinlik, bulut mimarisinde tarafsızlık ve kıdemli bir kadronun fiilen çalıştığı bir ortaklık.</a:t>
            </a:r>
            <a:endParaRPr lang="en-US" sz="1500" dirty="0"/>
          </a:p>
        </p:txBody>
      </p:sp>
      <p:sp>
        <p:nvSpPr>
          <p:cNvPr id="8" name="Text 5"/>
          <p:cNvSpPr/>
          <p:nvPr/>
        </p:nvSpPr>
        <p:spPr>
          <a:xfrm>
            <a:off x="0" y="4892040"/>
            <a:ext cx="12191695" cy="4572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CPeak Consultancy</a:t>
            </a:r>
            <a:endParaRPr lang="en-US" sz="2000" dirty="0"/>
          </a:p>
        </p:txBody>
      </p:sp>
      <p:sp>
        <p:nvSpPr>
          <p:cNvPr id="9" name="Text 6"/>
          <p:cNvSpPr/>
          <p:nvPr/>
        </p:nvSpPr>
        <p:spPr>
          <a:xfrm>
            <a:off x="0" y="5349240"/>
            <a:ext cx="12191695" cy="274320"/>
          </a:xfrm>
          <a:prstGeom prst="rect">
            <a:avLst/>
          </a:prstGeom>
          <a:noFill/>
          <a:ln/>
        </p:spPr>
        <p:txBody>
          <a:bodyPr wrap="square" rtlCol="0" anchor="ctr"/>
          <a:lstStyle/>
          <a:p>
            <a:pPr algn="ctr" indent="0" marL="0">
              <a:buNone/>
            </a:pPr>
            <a:r>
              <a:rPr lang="en-US" sz="1100" spc="200" kern="0" dirty="0">
                <a:solidFill>
                  <a:srgbClr val="BFE0DF"/>
                </a:solidFill>
                <a:latin typeface="Arial" pitchFamily="34" charset="0"/>
                <a:ea typeface="Arial" pitchFamily="34" charset="-122"/>
                <a:cs typeface="Arial" pitchFamily="34" charset="-120"/>
              </a:rPr>
              <a:t>SAP FİNANS DANIŞMANLIĞI</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2026-09-05T20:05:18Z</dcterms:created>
  <dcterms:modified xsi:type="dcterms:W3CDTF">2026-09-05T20:05:18Z</dcterms:modified>
</cp:coreProperties>
</file>
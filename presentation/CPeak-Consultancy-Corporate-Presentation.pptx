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CPeak is an independent SAP consultancy specialising end-to-end in finance modules, cloud architecture and applied AI. Founded 2021, based in Istanbul, working across Türkiye, EMEA and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CPeak deliberately stays inside finance modules and cloud architecture rather than offering broad scope and subcontracting the difficult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business challenge: the decisions with the longest half-life — enterprise structure, conversion approach, cloud model — are taken at the point of least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CPeak’s expertise meets in three areas and each informs the others — this convergence, not any single module, is the positioning.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before recommending — the working principle that separates CPeak from advice given on interview evidence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Cloud-model neutrality is a genuine differentiator: CPeak does not advocate for Public or Private Cloud, it measures fit against standard scope and documents the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each closing on a defined deliverable. The gates are the point: scope is re-decided rather than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Connects capability to action to business outcome — three chains rather than a service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capability areas, reframed as the question a client arrives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treated as part of both the delivered system and the delivery method — with an explicit human-review boundary on anything that posts.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declined-work slide is a credibility instrument: it demonstrates the focus claimed earlier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engagement shapes: Assessment, Delivery, Expert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logos as published by CPeak. No client names, figures or outcome claims are attached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argument and contact. Response within one business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0"/>
        </a:solidFill>
      </p:bgPr>
    </p:bg>
    <p:spTree>
      <p:nvGrpSpPr>
        <p:cNvPr id="1" name=""/>
        <p:cNvGrpSpPr/>
        <p:nvPr/>
      </p:nvGrpSpPr>
      <p:grpSpPr>
        <a:xfrm>
          <a:off x="0" y="0"/>
          <a:ext cx="0" cy="0"/>
          <a:chOff x="0" y="0"/>
          <a:chExt cx="0" cy="0"/>
        </a:xfrm>
      </p:grpSpPr>
      <p:pic>
        <p:nvPicPr>
          <p:cNvPr id="2" name="Image 0" descr="/tmp/claude-0/-home-user-Default/6c313414-fc11-5a80-9cf8-49dad1a51f26/scratchpad/img/tex-dark.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Default/6c313414-fc11-5a80-9cf8-49dad1a51f26/scratchpad/img/logo-dark.png">    </p:cNvPr>
          <p:cNvPicPr>
            <a:picLocks noChangeAspect="1"/>
          </p:cNvPicPr>
          <p:nvPr/>
        </p:nvPicPr>
        <p:blipFill>
          <a:blip r:embed="rId2"/>
          <a:stretch>
            <a:fillRect/>
          </a:stretch>
        </p:blipFill>
        <p:spPr>
          <a:xfrm>
            <a:off x="777240" y="566928"/>
            <a:ext cx="2240280" cy="770839"/>
          </a:xfrm>
          <a:prstGeom prst="rect">
            <a:avLst/>
          </a:prstGeom>
        </p:spPr>
      </p:pic>
      <p:sp>
        <p:nvSpPr>
          <p:cNvPr id="4" name="Text 0"/>
          <p:cNvSpPr txBox="1"/>
          <p:nvPr/>
        </p:nvSpPr>
        <p:spPr>
          <a:xfrm>
            <a:off x="777240" y="2084832"/>
            <a:ext cx="8229600" cy="219456"/>
          </a:xfrm>
          <a:prstGeom prst="rect">
            <a:avLst/>
          </a:prstGeom>
          <a:noFill/>
          <a:ln/>
        </p:spPr>
        <p:txBody>
          <a:bodyPr wrap="square" lIns="0" tIns="0" rIns="0" bIns="0" rtlCol="0" anchor="ctr"/>
          <a:lstStyle/>
          <a:p>
            <a:pPr indent="0" marL="0">
              <a:buNone/>
            </a:pPr>
            <a:r>
              <a:rPr lang="en-US" sz="1000" spc="240" kern="0" dirty="0">
                <a:solidFill>
                  <a:srgbClr val="F5DCA4"/>
                </a:solidFill>
                <a:latin typeface="IBM Plex Mono" pitchFamily="34" charset="0"/>
                <a:ea typeface="IBM Plex Mono" pitchFamily="34" charset="-122"/>
                <a:cs typeface="IBM Plex Mono" pitchFamily="34" charset="-120"/>
              </a:rPr>
              <a:t>SAP FINANCE  ·  CLOUD ARCHITECTURE  ·  APPLIED AI</a:t>
            </a:r>
            <a:endParaRPr lang="en-US" sz="1000" dirty="0"/>
          </a:p>
        </p:txBody>
      </p:sp>
      <p:sp>
        <p:nvSpPr>
          <p:cNvPr id="5" name="Text 1"/>
          <p:cNvSpPr txBox="1"/>
          <p:nvPr/>
        </p:nvSpPr>
        <p:spPr>
          <a:xfrm>
            <a:off x="777240" y="2377440"/>
            <a:ext cx="8595360" cy="2011680"/>
          </a:xfrm>
          <a:prstGeom prst="rect">
            <a:avLst/>
          </a:prstGeom>
          <a:noFill/>
          <a:ln/>
        </p:spPr>
        <p:txBody>
          <a:bodyPr wrap="square" lIns="0" tIns="0" rIns="0" bIns="0" rtlCol="0" anchor="ctr"/>
          <a:lstStyle/>
          <a:p>
            <a:pPr indent="0" marL="0">
              <a:lnSpc>
                <a:spcPts val="5100"/>
              </a:lnSpc>
              <a:buNone/>
            </a:pPr>
            <a:r>
              <a:rPr lang="en-US" sz="4400" b="1" dirty="0">
                <a:solidFill>
                  <a:srgbClr val="FFFFFF"/>
                </a:solidFill>
                <a:latin typeface="Schibsted Grotesk" pitchFamily="34" charset="0"/>
                <a:ea typeface="Schibsted Grotesk" pitchFamily="34" charset="-122"/>
                <a:cs typeface="Schibsted Grotesk" pitchFamily="34" charset="-120"/>
              </a:rPr>
              <a:t>Finance is the</a:t>
            </a:r>
            <a:endParaRPr lang="en-US" sz="4400" dirty="0"/>
          </a:p>
          <a:p>
            <a:pPr indent="0" marL="0">
              <a:lnSpc>
                <a:spcPts val="5100"/>
              </a:lnSpc>
              <a:buNone/>
            </a:pPr>
            <a:r>
              <a:rPr lang="en-US" sz="4400" b="1" dirty="0">
                <a:solidFill>
                  <a:srgbClr val="FFFFFF"/>
                </a:solidFill>
                <a:latin typeface="Schibsted Grotesk" pitchFamily="34" charset="0"/>
                <a:ea typeface="Schibsted Grotesk" pitchFamily="34" charset="-122"/>
                <a:cs typeface="Schibsted Grotesk" pitchFamily="34" charset="-120"/>
              </a:rPr>
              <a:t>least forgiving</a:t>
            </a:r>
            <a:endParaRPr lang="en-US" sz="4400" dirty="0"/>
          </a:p>
          <a:p>
            <a:pPr indent="0" marL="0">
              <a:lnSpc>
                <a:spcPts val="5100"/>
              </a:lnSpc>
              <a:buNone/>
            </a:pPr>
            <a:r>
              <a:rPr lang="en-US" sz="4400" b="1" dirty="0">
                <a:solidFill>
                  <a:srgbClr val="FFFFFF"/>
                </a:solidFill>
                <a:latin typeface="Schibsted Grotesk" pitchFamily="34" charset="0"/>
                <a:ea typeface="Schibsted Grotesk" pitchFamily="34" charset="-122"/>
                <a:cs typeface="Schibsted Grotesk" pitchFamily="34" charset="-120"/>
              </a:rPr>
              <a:t>part of an ERP.</a:t>
            </a:r>
            <a:endParaRPr lang="en-US" sz="4400" dirty="0"/>
          </a:p>
        </p:txBody>
      </p:sp>
      <p:sp>
        <p:nvSpPr>
          <p:cNvPr id="6" name="Text 2"/>
          <p:cNvSpPr txBox="1"/>
          <p:nvPr/>
        </p:nvSpPr>
        <p:spPr>
          <a:xfrm>
            <a:off x="777240" y="4443984"/>
            <a:ext cx="6858000" cy="822960"/>
          </a:xfrm>
          <a:prstGeom prst="rect">
            <a:avLst/>
          </a:prstGeom>
          <a:noFill/>
          <a:ln/>
        </p:spPr>
        <p:txBody>
          <a:bodyPr wrap="square" lIns="0" tIns="0" rIns="0" bIns="0" rtlCol="0" anchor="ctr"/>
          <a:lstStyle/>
          <a:p>
            <a:pPr indent="0" marL="0">
              <a:lnSpc>
                <a:spcPts val="2400"/>
              </a:lnSpc>
              <a:buNone/>
            </a:pPr>
            <a:r>
              <a:rPr lang="en-US" sz="1450" dirty="0">
                <a:solidFill>
                  <a:srgbClr val="D2DDE6"/>
                </a:solidFill>
                <a:latin typeface="Inter" pitchFamily="34" charset="0"/>
                <a:ea typeface="Inter" pitchFamily="34" charset="-122"/>
                <a:cs typeface="Inter" pitchFamily="34" charset="-120"/>
              </a:rPr>
              <a:t>An independent consultancy, built narrow on purpose: the decisions that are most expensive to reverse are the ones we do ourselves.</a:t>
            </a:r>
            <a:endParaRPr lang="en-US" sz="1450" dirty="0"/>
          </a:p>
        </p:txBody>
      </p:sp>
      <p:sp>
        <p:nvSpPr>
          <p:cNvPr id="7" name="Shape 3"/>
          <p:cNvSpPr/>
          <p:nvPr/>
        </p:nvSpPr>
        <p:spPr>
          <a:xfrm>
            <a:off x="777240" y="5742432"/>
            <a:ext cx="10637215" cy="0"/>
          </a:xfrm>
          <a:prstGeom prst="line">
            <a:avLst/>
          </a:prstGeom>
          <a:noFill/>
          <a:ln w="9525">
            <a:solidFill>
              <a:srgbClr val="FFFFFF">
                <a:alpha val="24000"/>
              </a:srgbClr>
            </a:solidFill>
            <a:prstDash val="solid"/>
          </a:ln>
        </p:spPr>
      </p:sp>
      <p:sp>
        <p:nvSpPr>
          <p:cNvPr id="8" name="Text 4"/>
          <p:cNvSpPr txBox="1"/>
          <p:nvPr/>
        </p:nvSpPr>
        <p:spPr>
          <a:xfrm>
            <a:off x="777240" y="5907024"/>
            <a:ext cx="4206240" cy="237744"/>
          </a:xfrm>
          <a:prstGeom prst="rect">
            <a:avLst/>
          </a:prstGeom>
          <a:noFill/>
          <a:ln/>
        </p:spPr>
        <p:txBody>
          <a:bodyPr wrap="square" lIns="0" tIns="0" rIns="0" bIns="0" rtlCol="0" anchor="ctr"/>
          <a:lstStyle/>
          <a:p>
            <a:pPr indent="0" marL="0">
              <a:buNone/>
            </a:pPr>
            <a:r>
              <a:rPr lang="en-US" sz="900" spc="180" kern="0" dirty="0">
                <a:solidFill>
                  <a:srgbClr val="9DB0C0"/>
                </a:solidFill>
                <a:latin typeface="IBM Plex Mono" pitchFamily="34" charset="0"/>
                <a:ea typeface="IBM Plex Mono" pitchFamily="34" charset="-122"/>
                <a:cs typeface="IBM Plex Mono" pitchFamily="34" charset="-120"/>
              </a:rPr>
              <a:t>ISTANBUL</a:t>
            </a:r>
            <a:endParaRPr lang="en-US" sz="900" dirty="0"/>
          </a:p>
        </p:txBody>
      </p:sp>
      <p:sp>
        <p:nvSpPr>
          <p:cNvPr id="9" name="Text 5"/>
          <p:cNvSpPr txBox="1"/>
          <p:nvPr/>
        </p:nvSpPr>
        <p:spPr>
          <a:xfrm>
            <a:off x="3611880" y="5907024"/>
            <a:ext cx="4206240" cy="237744"/>
          </a:xfrm>
          <a:prstGeom prst="rect">
            <a:avLst/>
          </a:prstGeom>
          <a:noFill/>
          <a:ln/>
        </p:spPr>
        <p:txBody>
          <a:bodyPr wrap="square" lIns="0" tIns="0" rIns="0" bIns="0" rtlCol="0" anchor="ctr"/>
          <a:lstStyle/>
          <a:p>
            <a:pPr indent="0" marL="0">
              <a:buNone/>
            </a:pPr>
            <a:r>
              <a:rPr lang="en-US" sz="900" spc="180" kern="0" dirty="0">
                <a:solidFill>
                  <a:srgbClr val="9DB0C0"/>
                </a:solidFill>
                <a:latin typeface="IBM Plex Mono" pitchFamily="34" charset="0"/>
                <a:ea typeface="IBM Plex Mono" pitchFamily="34" charset="-122"/>
                <a:cs typeface="IBM Plex Mono" pitchFamily="34" charset="-120"/>
              </a:rPr>
              <a:t>TÜRKİYE · EMEA · UNITED STATES</a:t>
            </a:r>
            <a:endParaRPr lang="en-US" sz="900" dirty="0"/>
          </a:p>
        </p:txBody>
      </p:sp>
      <p:sp>
        <p:nvSpPr>
          <p:cNvPr id="10" name="Text 6"/>
          <p:cNvSpPr txBox="1"/>
          <p:nvPr/>
        </p:nvSpPr>
        <p:spPr>
          <a:xfrm>
            <a:off x="8001000" y="5907024"/>
            <a:ext cx="4206240" cy="237744"/>
          </a:xfrm>
          <a:prstGeom prst="rect">
            <a:avLst/>
          </a:prstGeom>
          <a:noFill/>
          <a:ln/>
        </p:spPr>
        <p:txBody>
          <a:bodyPr wrap="square" lIns="0" tIns="0" rIns="0" bIns="0" rtlCol="0" anchor="ctr"/>
          <a:lstStyle/>
          <a:p>
            <a:pPr indent="0" marL="0">
              <a:buNone/>
            </a:pPr>
            <a:r>
              <a:rPr lang="en-US" sz="900" spc="180" kern="0" dirty="0">
                <a:solidFill>
                  <a:srgbClr val="9DB0C0"/>
                </a:solidFill>
                <a:latin typeface="IBM Plex Mono" pitchFamily="34" charset="0"/>
                <a:ea typeface="IBM Plex Mono" pitchFamily="34" charset="-122"/>
                <a:cs typeface="IBM Plex Mono" pitchFamily="34" charset="-120"/>
              </a:rPr>
              <a:t>INDEPENDENT SINCE 2021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POSITIONING</a:t>
            </a:r>
            <a:endParaRPr lang="en-US" sz="950" dirty="0"/>
          </a:p>
        </p:txBody>
      </p:sp>
      <p:sp>
        <p:nvSpPr>
          <p:cNvPr id="3" name="Text 1"/>
          <p:cNvSpPr txBox="1"/>
          <p:nvPr/>
        </p:nvSpPr>
        <p:spPr>
          <a:xfrm>
            <a:off x="777240" y="960120"/>
            <a:ext cx="5486400" cy="1371600"/>
          </a:xfrm>
          <a:prstGeom prst="rect">
            <a:avLst/>
          </a:prstGeom>
          <a:noFill/>
          <a:ln/>
        </p:spPr>
        <p:txBody>
          <a:bodyPr wrap="square" lIns="0" tIns="0" rIns="0" bIns="0" rtlCol="0" anchor="t"/>
          <a:lstStyle/>
          <a:p>
            <a:pPr indent="0" marL="0">
              <a:lnSpc>
                <a:spcPts val="4408"/>
              </a:lnSpc>
              <a:buNone/>
            </a:pPr>
            <a:r>
              <a:rPr lang="en-US" sz="3800" b="1" dirty="0">
                <a:solidFill>
                  <a:srgbClr val="0E1620"/>
                </a:solidFill>
                <a:latin typeface="Schibsted Grotesk" pitchFamily="34" charset="0"/>
                <a:ea typeface="Schibsted Grotesk" pitchFamily="34" charset="-122"/>
                <a:cs typeface="Schibsted Grotesk" pitchFamily="34" charset="-120"/>
              </a:rPr>
              <a:t>Depth is a choice,</a:t>
            </a:r>
            <a:endParaRPr lang="en-US" sz="3800" dirty="0"/>
          </a:p>
          <a:p>
            <a:pPr indent="0" marL="0">
              <a:lnSpc>
                <a:spcPts val="4408"/>
              </a:lnSpc>
              <a:buNone/>
            </a:pPr>
            <a:r>
              <a:rPr lang="en-US" sz="3800" b="1" dirty="0">
                <a:solidFill>
                  <a:srgbClr val="0E1620"/>
                </a:solidFill>
                <a:latin typeface="Schibsted Grotesk" pitchFamily="34" charset="0"/>
                <a:ea typeface="Schibsted Grotesk" pitchFamily="34" charset="-122"/>
                <a:cs typeface="Schibsted Grotesk" pitchFamily="34" charset="-120"/>
              </a:rPr>
              <a:t>not a limitation.</a:t>
            </a:r>
            <a:endParaRPr lang="en-US" sz="38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02 / 14</a:t>
            </a:r>
            <a:endParaRPr lang="en-US" sz="800" dirty="0"/>
          </a:p>
        </p:txBody>
      </p:sp>
      <p:sp>
        <p:nvSpPr>
          <p:cNvPr id="7" name="Text 5"/>
          <p:cNvSpPr txBox="1"/>
          <p:nvPr/>
        </p:nvSpPr>
        <p:spPr>
          <a:xfrm>
            <a:off x="777240" y="2788920"/>
            <a:ext cx="4892040" cy="1371600"/>
          </a:xfrm>
          <a:prstGeom prst="rect">
            <a:avLst/>
          </a:prstGeom>
          <a:noFill/>
          <a:ln/>
        </p:spPr>
        <p:txBody>
          <a:bodyPr wrap="square" lIns="0" tIns="0" rIns="0" bIns="0" rtlCol="0" anchor="ctr"/>
          <a:lstStyle/>
          <a:p>
            <a:pPr indent="0" marL="0">
              <a:lnSpc>
                <a:spcPts val="2200"/>
              </a:lnSpc>
              <a:buNone/>
            </a:pPr>
            <a:r>
              <a:rPr lang="en-US" sz="1350" dirty="0">
                <a:solidFill>
                  <a:srgbClr val="4A5A67"/>
                </a:solidFill>
                <a:latin typeface="Inter" pitchFamily="34" charset="0"/>
                <a:ea typeface="Inter" pitchFamily="34" charset="-122"/>
                <a:cs typeface="Inter" pitchFamily="34" charset="-120"/>
              </a:rPr>
              <a:t>The common model in SAP consulting is to sell broad scope, then source a different specialist for each area. It reads well in a proposal — and it is how the most consequential finance decision ends up with the person who has seen it least often.</a:t>
            </a:r>
            <a:endParaRPr lang="en-US" sz="1350" dirty="0"/>
          </a:p>
        </p:txBody>
      </p:sp>
      <p:sp>
        <p:nvSpPr>
          <p:cNvPr id="8" name="Shape 6"/>
          <p:cNvSpPr/>
          <p:nvPr/>
        </p:nvSpPr>
        <p:spPr>
          <a:xfrm>
            <a:off x="777240" y="4434840"/>
            <a:ext cx="0" cy="914400"/>
          </a:xfrm>
          <a:prstGeom prst="line">
            <a:avLst/>
          </a:prstGeom>
          <a:noFill/>
          <a:ln w="25400">
            <a:solidFill>
              <a:srgbClr val="11676A"/>
            </a:solidFill>
            <a:prstDash val="solid"/>
          </a:ln>
        </p:spPr>
      </p:sp>
      <p:sp>
        <p:nvSpPr>
          <p:cNvPr id="9" name="Text 7"/>
          <p:cNvSpPr txBox="1"/>
          <p:nvPr/>
        </p:nvSpPr>
        <p:spPr>
          <a:xfrm>
            <a:off x="1033272" y="4434840"/>
            <a:ext cx="4617720" cy="914400"/>
          </a:xfrm>
          <a:prstGeom prst="rect">
            <a:avLst/>
          </a:prstGeom>
          <a:noFill/>
          <a:ln/>
        </p:spPr>
        <p:txBody>
          <a:bodyPr wrap="square" lIns="0" tIns="0" rIns="0" bIns="0" rtlCol="0" anchor="ctr"/>
          <a:lstStyle/>
          <a:p>
            <a:pPr indent="0" marL="0">
              <a:lnSpc>
                <a:spcPts val="2400"/>
              </a:lnSpc>
              <a:buNone/>
            </a:pPr>
            <a:r>
              <a:rPr lang="en-US" sz="1600" b="1" dirty="0">
                <a:solidFill>
                  <a:srgbClr val="11676A"/>
                </a:solidFill>
                <a:latin typeface="Schibsted Grotesk" pitchFamily="34" charset="0"/>
                <a:ea typeface="Schibsted Grotesk" pitchFamily="34" charset="-122"/>
                <a:cs typeface="Schibsted Grotesk" pitchFamily="34" charset="-120"/>
              </a:rPr>
              <a:t>If we take an engagement, it means we are not subcontracting the difficult part of it.</a:t>
            </a:r>
            <a:endParaRPr lang="en-US" sz="1600" dirty="0"/>
          </a:p>
        </p:txBody>
      </p:sp>
      <p:sp>
        <p:nvSpPr>
          <p:cNvPr id="10" name="Text 8"/>
          <p:cNvSpPr txBox="1"/>
          <p:nvPr/>
        </p:nvSpPr>
        <p:spPr>
          <a:xfrm>
            <a:off x="6400800" y="1234440"/>
            <a:ext cx="4434840" cy="219456"/>
          </a:xfrm>
          <a:prstGeom prst="rect">
            <a:avLst/>
          </a:prstGeom>
          <a:noFill/>
          <a:ln/>
        </p:spPr>
        <p:txBody>
          <a:bodyPr wrap="square" lIns="0" tIns="0" rIns="0" bIns="0" rtlCol="0" anchor="ctr"/>
          <a:lstStyle/>
          <a:p>
            <a:pPr indent="0" marL="0">
              <a:buNone/>
            </a:pPr>
            <a:r>
              <a:rPr lang="en-US" sz="900" spc="180" kern="0" dirty="0">
                <a:solidFill>
                  <a:srgbClr val="4A5A67"/>
                </a:solidFill>
                <a:latin typeface="IBM Plex Mono" pitchFamily="34" charset="0"/>
                <a:ea typeface="IBM Plex Mono" pitchFamily="34" charset="-122"/>
                <a:cs typeface="IBM Plex Mono" pitchFamily="34" charset="-120"/>
              </a:rPr>
              <a:t>THE USUAL SHAPE</a:t>
            </a:r>
            <a:endParaRPr lang="en-US" sz="900" dirty="0"/>
          </a:p>
        </p:txBody>
      </p:sp>
      <p:sp>
        <p:nvSpPr>
          <p:cNvPr id="11" name="Shape 9"/>
          <p:cNvSpPr/>
          <p:nvPr/>
        </p:nvSpPr>
        <p:spPr>
          <a:xfrm>
            <a:off x="6400800" y="1618488"/>
            <a:ext cx="4434840" cy="0"/>
          </a:xfrm>
          <a:prstGeom prst="line">
            <a:avLst/>
          </a:prstGeom>
          <a:noFill/>
          <a:ln w="12700">
            <a:solidFill>
              <a:srgbClr val="C9D6DE"/>
            </a:solidFill>
            <a:prstDash val="solid"/>
          </a:ln>
        </p:spPr>
      </p:sp>
      <p:sp>
        <p:nvSpPr>
          <p:cNvPr id="12" name="Text 10"/>
          <p:cNvSpPr txBox="1"/>
          <p:nvPr/>
        </p:nvSpPr>
        <p:spPr>
          <a:xfrm>
            <a:off x="6400800" y="2075688"/>
            <a:ext cx="4434840" cy="201168"/>
          </a:xfrm>
          <a:prstGeom prst="rect">
            <a:avLst/>
          </a:prstGeom>
          <a:noFill/>
          <a:ln/>
        </p:spPr>
        <p:txBody>
          <a:bodyPr wrap="square" lIns="0" tIns="0" rIns="0" bIns="0" rtlCol="0" anchor="ctr"/>
          <a:lstStyle/>
          <a:p>
            <a:pPr indent="0" marL="0">
              <a:buNone/>
            </a:pPr>
            <a:r>
              <a:rPr lang="en-US" sz="950" i="1" dirty="0">
                <a:solidFill>
                  <a:srgbClr val="4A5A67"/>
                </a:solidFill>
                <a:latin typeface="Inter" pitchFamily="34" charset="0"/>
                <a:ea typeface="Inter" pitchFamily="34" charset="-122"/>
                <a:cs typeface="Inter" pitchFamily="34" charset="-120"/>
              </a:rPr>
              <a:t>wide scope · borrowed depth</a:t>
            </a:r>
            <a:endParaRPr lang="en-US" sz="950" dirty="0"/>
          </a:p>
        </p:txBody>
      </p:sp>
      <p:sp>
        <p:nvSpPr>
          <p:cNvPr id="13" name="Shape 11"/>
          <p:cNvSpPr/>
          <p:nvPr/>
        </p:nvSpPr>
        <p:spPr>
          <a:xfrm>
            <a:off x="6400800" y="1618488"/>
            <a:ext cx="457200" cy="310896"/>
          </a:xfrm>
          <a:prstGeom prst="rect">
            <a:avLst/>
          </a:prstGeom>
          <a:solidFill>
            <a:srgbClr val="C9D6DE"/>
          </a:solidFill>
          <a:ln w="12700">
            <a:solidFill>
              <a:srgbClr val="C9D6DE"/>
            </a:solidFill>
            <a:prstDash val="solid"/>
          </a:ln>
        </p:spPr>
      </p:sp>
      <p:sp>
        <p:nvSpPr>
          <p:cNvPr id="14" name="Shape 12"/>
          <p:cNvSpPr/>
          <p:nvPr/>
        </p:nvSpPr>
        <p:spPr>
          <a:xfrm>
            <a:off x="7150608" y="1618488"/>
            <a:ext cx="457200" cy="310896"/>
          </a:xfrm>
          <a:prstGeom prst="rect">
            <a:avLst/>
          </a:prstGeom>
          <a:solidFill>
            <a:srgbClr val="C9D6DE"/>
          </a:solidFill>
          <a:ln w="12700">
            <a:solidFill>
              <a:srgbClr val="C9D6DE"/>
            </a:solidFill>
            <a:prstDash val="solid"/>
          </a:ln>
        </p:spPr>
      </p:sp>
      <p:sp>
        <p:nvSpPr>
          <p:cNvPr id="15" name="Shape 13"/>
          <p:cNvSpPr/>
          <p:nvPr/>
        </p:nvSpPr>
        <p:spPr>
          <a:xfrm>
            <a:off x="7900416" y="1618488"/>
            <a:ext cx="457200" cy="310896"/>
          </a:xfrm>
          <a:prstGeom prst="rect">
            <a:avLst/>
          </a:prstGeom>
          <a:solidFill>
            <a:srgbClr val="C9D6DE"/>
          </a:solidFill>
          <a:ln w="12700">
            <a:solidFill>
              <a:srgbClr val="C9D6DE"/>
            </a:solidFill>
            <a:prstDash val="solid"/>
          </a:ln>
        </p:spPr>
      </p:sp>
      <p:sp>
        <p:nvSpPr>
          <p:cNvPr id="16" name="Shape 14"/>
          <p:cNvSpPr/>
          <p:nvPr/>
        </p:nvSpPr>
        <p:spPr>
          <a:xfrm>
            <a:off x="8650224" y="1618488"/>
            <a:ext cx="457200" cy="310896"/>
          </a:xfrm>
          <a:prstGeom prst="rect">
            <a:avLst/>
          </a:prstGeom>
          <a:solidFill>
            <a:srgbClr val="C9D6DE"/>
          </a:solidFill>
          <a:ln w="12700">
            <a:solidFill>
              <a:srgbClr val="C9D6DE"/>
            </a:solidFill>
            <a:prstDash val="solid"/>
          </a:ln>
        </p:spPr>
      </p:sp>
      <p:sp>
        <p:nvSpPr>
          <p:cNvPr id="17" name="Shape 15"/>
          <p:cNvSpPr/>
          <p:nvPr/>
        </p:nvSpPr>
        <p:spPr>
          <a:xfrm>
            <a:off x="9400032" y="1618488"/>
            <a:ext cx="457200" cy="310896"/>
          </a:xfrm>
          <a:prstGeom prst="rect">
            <a:avLst/>
          </a:prstGeom>
          <a:solidFill>
            <a:srgbClr val="C9D6DE"/>
          </a:solidFill>
          <a:ln w="12700">
            <a:solidFill>
              <a:srgbClr val="C9D6DE"/>
            </a:solidFill>
            <a:prstDash val="solid"/>
          </a:ln>
        </p:spPr>
      </p:sp>
      <p:sp>
        <p:nvSpPr>
          <p:cNvPr id="18" name="Shape 16"/>
          <p:cNvSpPr/>
          <p:nvPr/>
        </p:nvSpPr>
        <p:spPr>
          <a:xfrm>
            <a:off x="10149840" y="1618488"/>
            <a:ext cx="457200" cy="310896"/>
          </a:xfrm>
          <a:prstGeom prst="rect">
            <a:avLst/>
          </a:prstGeom>
          <a:solidFill>
            <a:srgbClr val="C9D6DE"/>
          </a:solidFill>
          <a:ln w="12700">
            <a:solidFill>
              <a:srgbClr val="C9D6DE"/>
            </a:solidFill>
            <a:prstDash val="solid"/>
          </a:ln>
        </p:spPr>
      </p:sp>
      <p:sp>
        <p:nvSpPr>
          <p:cNvPr id="19" name="Text 17"/>
          <p:cNvSpPr txBox="1"/>
          <p:nvPr/>
        </p:nvSpPr>
        <p:spPr>
          <a:xfrm>
            <a:off x="6400800" y="2651760"/>
            <a:ext cx="4434840" cy="219456"/>
          </a:xfrm>
          <a:prstGeom prst="rect">
            <a:avLst/>
          </a:prstGeom>
          <a:noFill/>
          <a:ln/>
        </p:spPr>
        <p:txBody>
          <a:bodyPr wrap="square" lIns="0" tIns="0" rIns="0" bIns="0" rtlCol="0" anchor="ctr"/>
          <a:lstStyle/>
          <a:p>
            <a:pPr indent="0" marL="0">
              <a:buNone/>
            </a:pPr>
            <a:r>
              <a:rPr lang="en-US" sz="900" spc="180" kern="0" dirty="0">
                <a:solidFill>
                  <a:srgbClr val="11676A"/>
                </a:solidFill>
                <a:latin typeface="IBM Plex Mono" pitchFamily="34" charset="0"/>
                <a:ea typeface="IBM Plex Mono" pitchFamily="34" charset="-122"/>
                <a:cs typeface="IBM Plex Mono" pitchFamily="34" charset="-120"/>
              </a:rPr>
              <a:t>OURS</a:t>
            </a:r>
            <a:endParaRPr lang="en-US" sz="900" dirty="0"/>
          </a:p>
        </p:txBody>
      </p:sp>
      <p:sp>
        <p:nvSpPr>
          <p:cNvPr id="20" name="Shape 18"/>
          <p:cNvSpPr/>
          <p:nvPr/>
        </p:nvSpPr>
        <p:spPr>
          <a:xfrm>
            <a:off x="6400800" y="3035808"/>
            <a:ext cx="4434840" cy="0"/>
          </a:xfrm>
          <a:prstGeom prst="line">
            <a:avLst/>
          </a:prstGeom>
          <a:noFill/>
          <a:ln w="12700">
            <a:solidFill>
              <a:srgbClr val="C9D6DE"/>
            </a:solidFill>
            <a:prstDash val="solid"/>
          </a:ln>
        </p:spPr>
      </p:sp>
      <p:sp>
        <p:nvSpPr>
          <p:cNvPr id="21" name="Shape 19"/>
          <p:cNvSpPr/>
          <p:nvPr/>
        </p:nvSpPr>
        <p:spPr>
          <a:xfrm>
            <a:off x="6400800" y="3035808"/>
            <a:ext cx="1207008" cy="2788920"/>
          </a:xfrm>
          <a:prstGeom prst="rect">
            <a:avLst/>
          </a:prstGeom>
          <a:solidFill>
            <a:srgbClr val="11676A"/>
          </a:solidFill>
          <a:ln w="12700">
            <a:solidFill>
              <a:srgbClr val="11676A"/>
            </a:solidFill>
            <a:prstDash val="solid"/>
          </a:ln>
        </p:spPr>
      </p:sp>
      <p:sp>
        <p:nvSpPr>
          <p:cNvPr id="22" name="Text 20"/>
          <p:cNvSpPr txBox="1"/>
          <p:nvPr/>
        </p:nvSpPr>
        <p:spPr>
          <a:xfrm>
            <a:off x="6400800" y="2651760"/>
            <a:ext cx="4434840" cy="219456"/>
          </a:xfrm>
          <a:prstGeom prst="rect">
            <a:avLst/>
          </a:prstGeom>
          <a:noFill/>
          <a:ln/>
        </p:spPr>
        <p:txBody>
          <a:bodyPr wrap="square" lIns="0" tIns="0" rIns="0" bIns="0" rtlCol="0" anchor="ctr"/>
          <a:lstStyle/>
          <a:p>
            <a:pPr algn="r" indent="0" marL="0">
              <a:buNone/>
            </a:pPr>
            <a:r>
              <a:rPr lang="en-US" sz="950" i="1" dirty="0">
                <a:solidFill>
                  <a:srgbClr val="4A5A67"/>
                </a:solidFill>
                <a:latin typeface="Inter" pitchFamily="34" charset="0"/>
                <a:ea typeface="Inter" pitchFamily="34" charset="-122"/>
                <a:cs typeface="Inter" pitchFamily="34" charset="-120"/>
              </a:rPr>
              <a:t>narrow scope · owned depth</a:t>
            </a:r>
            <a:endParaRPr lang="en-US" sz="950" dirty="0"/>
          </a:p>
        </p:txBody>
      </p:sp>
      <p:sp>
        <p:nvSpPr>
          <p:cNvPr id="23" name="Shape 21"/>
          <p:cNvSpPr/>
          <p:nvPr/>
        </p:nvSpPr>
        <p:spPr>
          <a:xfrm>
            <a:off x="7607808" y="3310128"/>
            <a:ext cx="201168" cy="0"/>
          </a:xfrm>
          <a:prstGeom prst="line">
            <a:avLst/>
          </a:prstGeom>
          <a:noFill/>
          <a:ln w="12700">
            <a:solidFill>
              <a:srgbClr val="11676A"/>
            </a:solidFill>
            <a:prstDash val="solid"/>
          </a:ln>
        </p:spPr>
      </p:sp>
      <p:sp>
        <p:nvSpPr>
          <p:cNvPr id="24" name="Shape 22"/>
          <p:cNvSpPr/>
          <p:nvPr/>
        </p:nvSpPr>
        <p:spPr>
          <a:xfrm>
            <a:off x="7566660" y="3268980"/>
            <a:ext cx="82296" cy="82296"/>
          </a:xfrm>
          <a:prstGeom prst="ellipse">
            <a:avLst/>
          </a:prstGeom>
          <a:solidFill>
            <a:srgbClr val="11676A"/>
          </a:solidFill>
          <a:ln w="12700">
            <a:solidFill>
              <a:srgbClr val="11676A"/>
            </a:solidFill>
            <a:prstDash val="solid"/>
          </a:ln>
        </p:spPr>
      </p:sp>
      <p:sp>
        <p:nvSpPr>
          <p:cNvPr id="25" name="Text 23"/>
          <p:cNvSpPr txBox="1"/>
          <p:nvPr/>
        </p:nvSpPr>
        <p:spPr>
          <a:xfrm>
            <a:off x="7936992" y="3186684"/>
            <a:ext cx="2926080" cy="274320"/>
          </a:xfrm>
          <a:prstGeom prst="rect">
            <a:avLst/>
          </a:prstGeom>
          <a:noFill/>
          <a:ln/>
        </p:spPr>
        <p:txBody>
          <a:bodyPr wrap="square" lIns="0" tIns="0" rIns="0" bIns="0" rtlCol="0" anchor="ctr"/>
          <a:lstStyle/>
          <a:p>
            <a:pPr indent="0" marL="0">
              <a:buNone/>
            </a:pPr>
            <a:r>
              <a:rPr lang="en-US" sz="1000" dirty="0">
                <a:solidFill>
                  <a:srgbClr val="0E1620"/>
                </a:solidFill>
                <a:latin typeface="Inter" pitchFamily="34" charset="0"/>
                <a:ea typeface="Inter" pitchFamily="34" charset="-122"/>
                <a:cs typeface="Inter" pitchFamily="34" charset="-120"/>
              </a:rPr>
              <a:t>Enterprise structure and chart of accounts</a:t>
            </a:r>
            <a:endParaRPr lang="en-US" sz="1000" dirty="0"/>
          </a:p>
        </p:txBody>
      </p:sp>
      <p:sp>
        <p:nvSpPr>
          <p:cNvPr id="26" name="Shape 24"/>
          <p:cNvSpPr/>
          <p:nvPr/>
        </p:nvSpPr>
        <p:spPr>
          <a:xfrm>
            <a:off x="7607808" y="3813048"/>
            <a:ext cx="201168" cy="0"/>
          </a:xfrm>
          <a:prstGeom prst="line">
            <a:avLst/>
          </a:prstGeom>
          <a:noFill/>
          <a:ln w="12700">
            <a:solidFill>
              <a:srgbClr val="11676A"/>
            </a:solidFill>
            <a:prstDash val="solid"/>
          </a:ln>
        </p:spPr>
      </p:sp>
      <p:sp>
        <p:nvSpPr>
          <p:cNvPr id="27" name="Shape 25"/>
          <p:cNvSpPr/>
          <p:nvPr/>
        </p:nvSpPr>
        <p:spPr>
          <a:xfrm>
            <a:off x="7566660" y="3771900"/>
            <a:ext cx="82296" cy="82296"/>
          </a:xfrm>
          <a:prstGeom prst="ellipse">
            <a:avLst/>
          </a:prstGeom>
          <a:solidFill>
            <a:srgbClr val="11676A"/>
          </a:solidFill>
          <a:ln w="12700">
            <a:solidFill>
              <a:srgbClr val="11676A"/>
            </a:solidFill>
            <a:prstDash val="solid"/>
          </a:ln>
        </p:spPr>
      </p:sp>
      <p:sp>
        <p:nvSpPr>
          <p:cNvPr id="28" name="Text 26"/>
          <p:cNvSpPr txBox="1"/>
          <p:nvPr/>
        </p:nvSpPr>
        <p:spPr>
          <a:xfrm>
            <a:off x="7936992" y="3689604"/>
            <a:ext cx="2926080" cy="274320"/>
          </a:xfrm>
          <a:prstGeom prst="rect">
            <a:avLst/>
          </a:prstGeom>
          <a:noFill/>
          <a:ln/>
        </p:spPr>
        <p:txBody>
          <a:bodyPr wrap="square" lIns="0" tIns="0" rIns="0" bIns="0" rtlCol="0" anchor="ctr"/>
          <a:lstStyle/>
          <a:p>
            <a:pPr indent="0" marL="0">
              <a:buNone/>
            </a:pPr>
            <a:r>
              <a:rPr lang="en-US" sz="1000" dirty="0">
                <a:solidFill>
                  <a:srgbClr val="0E1620"/>
                </a:solidFill>
                <a:latin typeface="Inter" pitchFamily="34" charset="0"/>
                <a:ea typeface="Inter" pitchFamily="34" charset="-122"/>
                <a:cs typeface="Inter" pitchFamily="34" charset="-120"/>
              </a:rPr>
              <a:t>Controlling, margin and project accounting</a:t>
            </a:r>
            <a:endParaRPr lang="en-US" sz="1000" dirty="0"/>
          </a:p>
        </p:txBody>
      </p:sp>
      <p:sp>
        <p:nvSpPr>
          <p:cNvPr id="29" name="Shape 27"/>
          <p:cNvSpPr/>
          <p:nvPr/>
        </p:nvSpPr>
        <p:spPr>
          <a:xfrm>
            <a:off x="7607808" y="4315968"/>
            <a:ext cx="201168" cy="0"/>
          </a:xfrm>
          <a:prstGeom prst="line">
            <a:avLst/>
          </a:prstGeom>
          <a:noFill/>
          <a:ln w="12700">
            <a:solidFill>
              <a:srgbClr val="11676A"/>
            </a:solidFill>
            <a:prstDash val="solid"/>
          </a:ln>
        </p:spPr>
      </p:sp>
      <p:sp>
        <p:nvSpPr>
          <p:cNvPr id="30" name="Shape 28"/>
          <p:cNvSpPr/>
          <p:nvPr/>
        </p:nvSpPr>
        <p:spPr>
          <a:xfrm>
            <a:off x="7566660" y="4274820"/>
            <a:ext cx="82296" cy="82296"/>
          </a:xfrm>
          <a:prstGeom prst="ellipse">
            <a:avLst/>
          </a:prstGeom>
          <a:solidFill>
            <a:srgbClr val="11676A"/>
          </a:solidFill>
          <a:ln w="12700">
            <a:solidFill>
              <a:srgbClr val="11676A"/>
            </a:solidFill>
            <a:prstDash val="solid"/>
          </a:ln>
        </p:spPr>
      </p:sp>
      <p:sp>
        <p:nvSpPr>
          <p:cNvPr id="31" name="Text 29"/>
          <p:cNvSpPr txBox="1"/>
          <p:nvPr/>
        </p:nvSpPr>
        <p:spPr>
          <a:xfrm>
            <a:off x="7936992" y="4192524"/>
            <a:ext cx="2926080" cy="274320"/>
          </a:xfrm>
          <a:prstGeom prst="rect">
            <a:avLst/>
          </a:prstGeom>
          <a:noFill/>
          <a:ln/>
        </p:spPr>
        <p:txBody>
          <a:bodyPr wrap="square" lIns="0" tIns="0" rIns="0" bIns="0" rtlCol="0" anchor="ctr"/>
          <a:lstStyle/>
          <a:p>
            <a:pPr indent="0" marL="0">
              <a:buNone/>
            </a:pPr>
            <a:r>
              <a:rPr lang="en-US" sz="1000" dirty="0">
                <a:solidFill>
                  <a:srgbClr val="0E1620"/>
                </a:solidFill>
                <a:latin typeface="Inter" pitchFamily="34" charset="0"/>
                <a:ea typeface="Inter" pitchFamily="34" charset="-122"/>
                <a:cs typeface="Inter" pitchFamily="34" charset="-120"/>
              </a:rPr>
              <a:t>The close, rebuilt as parallel steps</a:t>
            </a:r>
            <a:endParaRPr lang="en-US" sz="1000" dirty="0"/>
          </a:p>
        </p:txBody>
      </p:sp>
      <p:sp>
        <p:nvSpPr>
          <p:cNvPr id="32" name="Shape 30"/>
          <p:cNvSpPr/>
          <p:nvPr/>
        </p:nvSpPr>
        <p:spPr>
          <a:xfrm>
            <a:off x="7607808" y="4818888"/>
            <a:ext cx="201168" cy="0"/>
          </a:xfrm>
          <a:prstGeom prst="line">
            <a:avLst/>
          </a:prstGeom>
          <a:noFill/>
          <a:ln w="12700">
            <a:solidFill>
              <a:srgbClr val="11676A"/>
            </a:solidFill>
            <a:prstDash val="solid"/>
          </a:ln>
        </p:spPr>
      </p:sp>
      <p:sp>
        <p:nvSpPr>
          <p:cNvPr id="33" name="Shape 31"/>
          <p:cNvSpPr/>
          <p:nvPr/>
        </p:nvSpPr>
        <p:spPr>
          <a:xfrm>
            <a:off x="7566660" y="4777740"/>
            <a:ext cx="82296" cy="82296"/>
          </a:xfrm>
          <a:prstGeom prst="ellipse">
            <a:avLst/>
          </a:prstGeom>
          <a:solidFill>
            <a:srgbClr val="11676A"/>
          </a:solidFill>
          <a:ln w="12700">
            <a:solidFill>
              <a:srgbClr val="11676A"/>
            </a:solidFill>
            <a:prstDash val="solid"/>
          </a:ln>
        </p:spPr>
      </p:sp>
      <p:sp>
        <p:nvSpPr>
          <p:cNvPr id="34" name="Text 32"/>
          <p:cNvSpPr txBox="1"/>
          <p:nvPr/>
        </p:nvSpPr>
        <p:spPr>
          <a:xfrm>
            <a:off x="7936992" y="4695444"/>
            <a:ext cx="2926080" cy="274320"/>
          </a:xfrm>
          <a:prstGeom prst="rect">
            <a:avLst/>
          </a:prstGeom>
          <a:noFill/>
          <a:ln/>
        </p:spPr>
        <p:txBody>
          <a:bodyPr wrap="square" lIns="0" tIns="0" rIns="0" bIns="0" rtlCol="0" anchor="ctr"/>
          <a:lstStyle/>
          <a:p>
            <a:pPr indent="0" marL="0">
              <a:buNone/>
            </a:pPr>
            <a:r>
              <a:rPr lang="en-US" sz="1000" dirty="0">
                <a:solidFill>
                  <a:srgbClr val="0E1620"/>
                </a:solidFill>
                <a:latin typeface="Inter" pitchFamily="34" charset="0"/>
                <a:ea typeface="Inter" pitchFamily="34" charset="-122"/>
                <a:cs typeface="Inter" pitchFamily="34" charset="-120"/>
              </a:rPr>
              <a:t>Cloud model, measured not advocated</a:t>
            </a:r>
            <a:endParaRPr lang="en-US" sz="1000" dirty="0"/>
          </a:p>
        </p:txBody>
      </p:sp>
      <p:sp>
        <p:nvSpPr>
          <p:cNvPr id="35" name="Shape 33"/>
          <p:cNvSpPr/>
          <p:nvPr/>
        </p:nvSpPr>
        <p:spPr>
          <a:xfrm>
            <a:off x="7607808" y="5321808"/>
            <a:ext cx="201168" cy="0"/>
          </a:xfrm>
          <a:prstGeom prst="line">
            <a:avLst/>
          </a:prstGeom>
          <a:noFill/>
          <a:ln w="12700">
            <a:solidFill>
              <a:srgbClr val="11676A"/>
            </a:solidFill>
            <a:prstDash val="solid"/>
          </a:ln>
        </p:spPr>
      </p:sp>
      <p:sp>
        <p:nvSpPr>
          <p:cNvPr id="36" name="Shape 34"/>
          <p:cNvSpPr/>
          <p:nvPr/>
        </p:nvSpPr>
        <p:spPr>
          <a:xfrm>
            <a:off x="7566660" y="5280660"/>
            <a:ext cx="82296" cy="82296"/>
          </a:xfrm>
          <a:prstGeom prst="ellipse">
            <a:avLst/>
          </a:prstGeom>
          <a:solidFill>
            <a:srgbClr val="11676A"/>
          </a:solidFill>
          <a:ln w="12700">
            <a:solidFill>
              <a:srgbClr val="11676A"/>
            </a:solidFill>
            <a:prstDash val="solid"/>
          </a:ln>
        </p:spPr>
      </p:sp>
      <p:sp>
        <p:nvSpPr>
          <p:cNvPr id="37" name="Text 35"/>
          <p:cNvSpPr txBox="1"/>
          <p:nvPr/>
        </p:nvSpPr>
        <p:spPr>
          <a:xfrm>
            <a:off x="7936992" y="5198364"/>
            <a:ext cx="2926080" cy="274320"/>
          </a:xfrm>
          <a:prstGeom prst="rect">
            <a:avLst/>
          </a:prstGeom>
          <a:noFill/>
          <a:ln/>
        </p:spPr>
        <p:txBody>
          <a:bodyPr wrap="square" lIns="0" tIns="0" rIns="0" bIns="0" rtlCol="0" anchor="ctr"/>
          <a:lstStyle/>
          <a:p>
            <a:pPr indent="0" marL="0">
              <a:buNone/>
            </a:pPr>
            <a:r>
              <a:rPr lang="en-US" sz="1000" dirty="0">
                <a:solidFill>
                  <a:srgbClr val="0E1620"/>
                </a:solidFill>
                <a:latin typeface="Inter" pitchFamily="34" charset="0"/>
                <a:ea typeface="Inter" pitchFamily="34" charset="-122"/>
                <a:cs typeface="Inter" pitchFamily="34" charset="-120"/>
              </a:rPr>
              <a:t>Automation calibrated on your own data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620"/>
        </a:solidFill>
      </p:bgPr>
    </p:bg>
    <p:spTree>
      <p:nvGrpSpPr>
        <p:cNvPr id="1" name=""/>
        <p:cNvGrpSpPr/>
        <p:nvPr/>
      </p:nvGrpSpPr>
      <p:grpSpPr>
        <a:xfrm>
          <a:off x="0" y="0"/>
          <a:ext cx="0" cy="0"/>
          <a:chOff x="0" y="0"/>
          <a:chExt cx="0" cy="0"/>
        </a:xfrm>
      </p:grpSpPr>
      <p:pic>
        <p:nvPicPr>
          <p:cNvPr id="2" name="Image 0" descr="/tmp/claude-0/-home-user-Default/6c313414-fc11-5a80-9cf8-49dad1a51f26/scratchpad/img/tex-dark.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F5DCA4"/>
                </a:solidFill>
                <a:latin typeface="IBM Plex Mono" pitchFamily="34" charset="0"/>
                <a:ea typeface="IBM Plex Mono" pitchFamily="34" charset="-122"/>
                <a:cs typeface="IBM Plex Mono" pitchFamily="34" charset="-120"/>
              </a:rPr>
              <a:t>THE PROBLEM WE ARE HIRED INTO</a:t>
            </a:r>
            <a:endParaRPr lang="en-US" sz="950" dirty="0"/>
          </a:p>
        </p:txBody>
      </p:sp>
      <p:sp>
        <p:nvSpPr>
          <p:cNvPr id="4" name="Text 1"/>
          <p:cNvSpPr txBox="1"/>
          <p:nvPr/>
        </p:nvSpPr>
        <p:spPr>
          <a:xfrm>
            <a:off x="777240" y="960120"/>
            <a:ext cx="5943600" cy="1371600"/>
          </a:xfrm>
          <a:prstGeom prst="rect">
            <a:avLst/>
          </a:prstGeom>
          <a:noFill/>
          <a:ln/>
        </p:spPr>
        <p:txBody>
          <a:bodyPr wrap="square" lIns="0" tIns="0" rIns="0" bIns="0" rtlCol="0" anchor="t"/>
          <a:lstStyle/>
          <a:p>
            <a:pPr indent="0" marL="0">
              <a:lnSpc>
                <a:spcPts val="3480"/>
              </a:lnSpc>
              <a:buNone/>
            </a:pPr>
            <a:r>
              <a:rPr lang="en-US" sz="3000" b="1" dirty="0">
                <a:solidFill>
                  <a:srgbClr val="FFFFFF"/>
                </a:solidFill>
                <a:latin typeface="Schibsted Grotesk" pitchFamily="34" charset="0"/>
                <a:ea typeface="Schibsted Grotesk" pitchFamily="34" charset="-122"/>
                <a:cs typeface="Schibsted Grotesk" pitchFamily="34" charset="-120"/>
              </a:rPr>
              <a:t>The most expensive decisions</a:t>
            </a:r>
            <a:endParaRPr lang="en-US" sz="3000" dirty="0"/>
          </a:p>
          <a:p>
            <a:pPr indent="0" marL="0">
              <a:lnSpc>
                <a:spcPts val="3480"/>
              </a:lnSpc>
              <a:buNone/>
            </a:pPr>
            <a:r>
              <a:rPr lang="en-US" sz="3000" b="1" dirty="0">
                <a:solidFill>
                  <a:srgbClr val="FFFFFF"/>
                </a:solidFill>
                <a:latin typeface="Schibsted Grotesk" pitchFamily="34" charset="0"/>
                <a:ea typeface="Schibsted Grotesk" pitchFamily="34" charset="-122"/>
                <a:cs typeface="Schibsted Grotesk" pitchFamily="34" charset="-120"/>
              </a:rPr>
              <a:t>are taken first — when</a:t>
            </a:r>
            <a:endParaRPr lang="en-US" sz="3000" dirty="0"/>
          </a:p>
          <a:p>
            <a:pPr indent="0" marL="0">
              <a:lnSpc>
                <a:spcPts val="3480"/>
              </a:lnSpc>
              <a:buNone/>
            </a:pPr>
            <a:r>
              <a:rPr lang="en-US" sz="3000" b="1" dirty="0">
                <a:solidFill>
                  <a:srgbClr val="FFFFFF"/>
                </a:solidFill>
                <a:latin typeface="Schibsted Grotesk" pitchFamily="34" charset="0"/>
                <a:ea typeface="Schibsted Grotesk" pitchFamily="34" charset="-122"/>
                <a:cs typeface="Schibsted Grotesk" pitchFamily="34" charset="-120"/>
              </a:rPr>
              <a:t>the least is known.</a:t>
            </a:r>
            <a:endParaRPr lang="en-US" sz="3000" dirty="0"/>
          </a:p>
        </p:txBody>
      </p:sp>
      <p:sp>
        <p:nvSpPr>
          <p:cNvPr id="5" name="Shape 2"/>
          <p:cNvSpPr/>
          <p:nvPr/>
        </p:nvSpPr>
        <p:spPr>
          <a:xfrm>
            <a:off x="777240" y="6272784"/>
            <a:ext cx="10637215" cy="0"/>
          </a:xfrm>
          <a:prstGeom prst="line">
            <a:avLst/>
          </a:prstGeom>
          <a:noFill/>
          <a:ln w="9525">
            <a:solidFill>
              <a:srgbClr val="FFFFFF">
                <a:alpha val="22000"/>
              </a:srgbClr>
            </a:solidFill>
            <a:prstDash val="solid"/>
          </a:ln>
        </p:spPr>
      </p:sp>
      <p:sp>
        <p:nvSpPr>
          <p:cNvPr id="6"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9DB0C0"/>
                </a:solidFill>
                <a:latin typeface="IBM Plex Mono" pitchFamily="34" charset="0"/>
                <a:ea typeface="IBM Plex Mono" pitchFamily="34" charset="-122"/>
                <a:cs typeface="IBM Plex Mono" pitchFamily="34" charset="-120"/>
              </a:rPr>
              <a:t>CPEAK CONSULTANCY</a:t>
            </a:r>
            <a:endParaRPr lang="en-US" sz="800" dirty="0"/>
          </a:p>
        </p:txBody>
      </p:sp>
      <p:sp>
        <p:nvSpPr>
          <p:cNvPr id="7"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9DB0C0"/>
                </a:solidFill>
                <a:latin typeface="IBM Plex Mono" pitchFamily="34" charset="0"/>
                <a:ea typeface="IBM Plex Mono" pitchFamily="34" charset="-122"/>
                <a:cs typeface="IBM Plex Mono" pitchFamily="34" charset="-120"/>
              </a:rPr>
              <a:t>03 / 14</a:t>
            </a:r>
            <a:endParaRPr lang="en-US" sz="800" dirty="0"/>
          </a:p>
        </p:txBody>
      </p:sp>
      <p:sp>
        <p:nvSpPr>
          <p:cNvPr id="8" name="Text 5"/>
          <p:cNvSpPr txBox="1"/>
          <p:nvPr/>
        </p:nvSpPr>
        <p:spPr>
          <a:xfrm>
            <a:off x="777240" y="2999232"/>
            <a:ext cx="4846320" cy="1005840"/>
          </a:xfrm>
          <a:prstGeom prst="rect">
            <a:avLst/>
          </a:prstGeom>
          <a:noFill/>
          <a:ln/>
        </p:spPr>
        <p:txBody>
          <a:bodyPr wrap="square" lIns="0" tIns="0" rIns="0" bIns="0" rtlCol="0" anchor="ctr"/>
          <a:lstStyle/>
          <a:p>
            <a:pPr indent="0" marL="0">
              <a:lnSpc>
                <a:spcPts val="2100"/>
              </a:lnSpc>
              <a:buNone/>
            </a:pPr>
            <a:r>
              <a:rPr lang="en-US" sz="1300" dirty="0">
                <a:solidFill>
                  <a:srgbClr val="D2DDE6"/>
                </a:solidFill>
                <a:latin typeface="Inter" pitchFamily="34" charset="0"/>
                <a:ea typeface="Inter" pitchFamily="34" charset="-122"/>
                <a:cs typeface="Inter" pitchFamily="34" charset="-120"/>
              </a:rPr>
              <a:t>Enterprise structure. Conversion route. Cloud model. Each is settled in the opening weeks of a programme and paid for over the decade that follows.</a:t>
            </a:r>
            <a:endParaRPr lang="en-US" sz="1300" dirty="0"/>
          </a:p>
        </p:txBody>
      </p:sp>
      <p:sp>
        <p:nvSpPr>
          <p:cNvPr id="9" name="Shape 6"/>
          <p:cNvSpPr/>
          <p:nvPr/>
        </p:nvSpPr>
        <p:spPr>
          <a:xfrm>
            <a:off x="777240" y="4224528"/>
            <a:ext cx="0" cy="914400"/>
          </a:xfrm>
          <a:prstGeom prst="line">
            <a:avLst/>
          </a:prstGeom>
          <a:noFill/>
          <a:ln w="25400">
            <a:solidFill>
              <a:srgbClr val="E8B33A"/>
            </a:solidFill>
            <a:prstDash val="solid"/>
          </a:ln>
        </p:spPr>
      </p:sp>
      <p:sp>
        <p:nvSpPr>
          <p:cNvPr id="10" name="Text 7"/>
          <p:cNvSpPr txBox="1"/>
          <p:nvPr/>
        </p:nvSpPr>
        <p:spPr>
          <a:xfrm>
            <a:off x="1033272" y="4224528"/>
            <a:ext cx="4572000" cy="914400"/>
          </a:xfrm>
          <a:prstGeom prst="rect">
            <a:avLst/>
          </a:prstGeom>
          <a:noFill/>
          <a:ln/>
        </p:spPr>
        <p:txBody>
          <a:bodyPr wrap="square" lIns="0" tIns="0" rIns="0" bIns="0" rtlCol="0" anchor="ctr"/>
          <a:lstStyle/>
          <a:p>
            <a:pPr indent="0" marL="0">
              <a:lnSpc>
                <a:spcPts val="2200"/>
              </a:lnSpc>
              <a:buNone/>
            </a:pPr>
            <a:r>
              <a:rPr lang="en-US" sz="1500" b="1" dirty="0">
                <a:solidFill>
                  <a:srgbClr val="F5DCA4"/>
                </a:solidFill>
                <a:latin typeface="Schibsted Grotesk" pitchFamily="34" charset="0"/>
                <a:ea typeface="Schibsted Grotesk" pitchFamily="34" charset="-122"/>
                <a:cs typeface="Schibsted Grotesk" pitchFamily="34" charset="-120"/>
              </a:rPr>
              <a:t>Advice given without measurement is a guess — and the cost of that guess falls to you.</a:t>
            </a:r>
            <a:endParaRPr lang="en-US" sz="1500" dirty="0"/>
          </a:p>
        </p:txBody>
      </p:sp>
      <p:sp>
        <p:nvSpPr>
          <p:cNvPr id="11" name="Text 8"/>
          <p:cNvSpPr txBox="1"/>
          <p:nvPr/>
        </p:nvSpPr>
        <p:spPr>
          <a:xfrm>
            <a:off x="6784848" y="1417320"/>
            <a:ext cx="4480560" cy="219456"/>
          </a:xfrm>
          <a:prstGeom prst="rect">
            <a:avLst/>
          </a:prstGeom>
          <a:noFill/>
          <a:ln/>
        </p:spPr>
        <p:txBody>
          <a:bodyPr wrap="square" lIns="0" tIns="0" rIns="0" bIns="0" rtlCol="0" anchor="ctr"/>
          <a:lstStyle/>
          <a:p>
            <a:pPr indent="0" marL="0">
              <a:buNone/>
            </a:pPr>
            <a:r>
              <a:rPr lang="en-US" sz="900" spc="180" kern="0" dirty="0">
                <a:solidFill>
                  <a:srgbClr val="9DB0C0"/>
                </a:solidFill>
                <a:latin typeface="IBM Plex Mono" pitchFamily="34" charset="0"/>
                <a:ea typeface="IBM Plex Mono" pitchFamily="34" charset="-122"/>
                <a:cs typeface="IBM Plex Mono" pitchFamily="34" charset="-120"/>
              </a:rPr>
              <a:t>COST OF REVERSING THE DECISION</a:t>
            </a:r>
            <a:endParaRPr lang="en-US" sz="900" dirty="0"/>
          </a:p>
        </p:txBody>
      </p:sp>
      <p:sp>
        <p:nvSpPr>
          <p:cNvPr id="12" name="Shape 9"/>
          <p:cNvSpPr/>
          <p:nvPr/>
        </p:nvSpPr>
        <p:spPr>
          <a:xfrm>
            <a:off x="6784848" y="4809744"/>
            <a:ext cx="841248" cy="384048"/>
          </a:xfrm>
          <a:prstGeom prst="rect">
            <a:avLst/>
          </a:prstGeom>
          <a:solidFill>
            <a:srgbClr val="11676A">
              <a:alpha val="92000"/>
            </a:srgbClr>
          </a:solidFill>
          <a:ln w="12700">
            <a:solidFill>
              <a:srgbClr val="333333"/>
            </a:solidFill>
            <a:prstDash val="solid"/>
          </a:ln>
        </p:spPr>
      </p:sp>
      <p:sp>
        <p:nvSpPr>
          <p:cNvPr id="13" name="Text 10"/>
          <p:cNvSpPr txBox="1"/>
          <p:nvPr/>
        </p:nvSpPr>
        <p:spPr>
          <a:xfrm>
            <a:off x="6583680" y="5321808"/>
            <a:ext cx="1243584" cy="219456"/>
          </a:xfrm>
          <a:prstGeom prst="rect">
            <a:avLst/>
          </a:prstGeom>
          <a:noFill/>
          <a:ln/>
        </p:spPr>
        <p:txBody>
          <a:bodyPr wrap="square" lIns="0" tIns="0" rIns="0" bIns="0" rtlCol="0" anchor="ctr"/>
          <a:lstStyle/>
          <a:p>
            <a:pPr algn="ctr" indent="0" marL="0">
              <a:buNone/>
            </a:pPr>
            <a:r>
              <a:rPr lang="en-US" sz="780" spc="90" kern="0" dirty="0">
                <a:solidFill>
                  <a:srgbClr val="9DB0C0"/>
                </a:solidFill>
                <a:latin typeface="IBM Plex Mono" pitchFamily="34" charset="0"/>
                <a:ea typeface="IBM Plex Mono" pitchFamily="34" charset="-122"/>
                <a:cs typeface="IBM Plex Mono" pitchFamily="34" charset="-120"/>
              </a:rPr>
              <a:t>DESIGN</a:t>
            </a:r>
            <a:endParaRPr lang="en-US" sz="780" dirty="0"/>
          </a:p>
        </p:txBody>
      </p:sp>
      <p:sp>
        <p:nvSpPr>
          <p:cNvPr id="14" name="Shape 11"/>
          <p:cNvSpPr/>
          <p:nvPr/>
        </p:nvSpPr>
        <p:spPr>
          <a:xfrm>
            <a:off x="7973568" y="4142232"/>
            <a:ext cx="841248" cy="1051560"/>
          </a:xfrm>
          <a:prstGeom prst="rect">
            <a:avLst/>
          </a:prstGeom>
          <a:solidFill>
            <a:srgbClr val="11676A">
              <a:alpha val="92000"/>
            </a:srgbClr>
          </a:solidFill>
          <a:ln w="12700">
            <a:solidFill>
              <a:srgbClr val="333333"/>
            </a:solidFill>
            <a:prstDash val="solid"/>
          </a:ln>
        </p:spPr>
      </p:sp>
      <p:sp>
        <p:nvSpPr>
          <p:cNvPr id="15" name="Text 12"/>
          <p:cNvSpPr txBox="1"/>
          <p:nvPr/>
        </p:nvSpPr>
        <p:spPr>
          <a:xfrm>
            <a:off x="7772400" y="5321808"/>
            <a:ext cx="1243584" cy="219456"/>
          </a:xfrm>
          <a:prstGeom prst="rect">
            <a:avLst/>
          </a:prstGeom>
          <a:noFill/>
          <a:ln/>
        </p:spPr>
        <p:txBody>
          <a:bodyPr wrap="square" lIns="0" tIns="0" rIns="0" bIns="0" rtlCol="0" anchor="ctr"/>
          <a:lstStyle/>
          <a:p>
            <a:pPr algn="ctr" indent="0" marL="0">
              <a:buNone/>
            </a:pPr>
            <a:r>
              <a:rPr lang="en-US" sz="780" spc="90" kern="0" dirty="0">
                <a:solidFill>
                  <a:srgbClr val="9DB0C0"/>
                </a:solidFill>
                <a:latin typeface="IBM Plex Mono" pitchFamily="34" charset="0"/>
                <a:ea typeface="IBM Plex Mono" pitchFamily="34" charset="-122"/>
                <a:cs typeface="IBM Plex Mono" pitchFamily="34" charset="-120"/>
              </a:rPr>
              <a:t>BUILD</a:t>
            </a:r>
            <a:endParaRPr lang="en-US" sz="780" dirty="0"/>
          </a:p>
        </p:txBody>
      </p:sp>
      <p:sp>
        <p:nvSpPr>
          <p:cNvPr id="16" name="Shape 13"/>
          <p:cNvSpPr/>
          <p:nvPr/>
        </p:nvSpPr>
        <p:spPr>
          <a:xfrm>
            <a:off x="9162288" y="3227832"/>
            <a:ext cx="841248" cy="1965960"/>
          </a:xfrm>
          <a:prstGeom prst="rect">
            <a:avLst/>
          </a:prstGeom>
          <a:solidFill>
            <a:srgbClr val="11676A">
              <a:alpha val="92000"/>
            </a:srgbClr>
          </a:solidFill>
          <a:ln w="12700">
            <a:solidFill>
              <a:srgbClr val="333333"/>
            </a:solidFill>
            <a:prstDash val="solid"/>
          </a:ln>
        </p:spPr>
      </p:sp>
      <p:sp>
        <p:nvSpPr>
          <p:cNvPr id="17" name="Text 14"/>
          <p:cNvSpPr txBox="1"/>
          <p:nvPr/>
        </p:nvSpPr>
        <p:spPr>
          <a:xfrm>
            <a:off x="8961120" y="5321808"/>
            <a:ext cx="1243584" cy="219456"/>
          </a:xfrm>
          <a:prstGeom prst="rect">
            <a:avLst/>
          </a:prstGeom>
          <a:noFill/>
          <a:ln/>
        </p:spPr>
        <p:txBody>
          <a:bodyPr wrap="square" lIns="0" tIns="0" rIns="0" bIns="0" rtlCol="0" anchor="ctr"/>
          <a:lstStyle/>
          <a:p>
            <a:pPr algn="ctr" indent="0" marL="0">
              <a:buNone/>
            </a:pPr>
            <a:r>
              <a:rPr lang="en-US" sz="780" spc="90" kern="0" dirty="0">
                <a:solidFill>
                  <a:srgbClr val="9DB0C0"/>
                </a:solidFill>
                <a:latin typeface="IBM Plex Mono" pitchFamily="34" charset="0"/>
                <a:ea typeface="IBM Plex Mono" pitchFamily="34" charset="-122"/>
                <a:cs typeface="IBM Plex Mono" pitchFamily="34" charset="-120"/>
              </a:rPr>
              <a:t>TEST</a:t>
            </a:r>
            <a:endParaRPr lang="en-US" sz="780" dirty="0"/>
          </a:p>
        </p:txBody>
      </p:sp>
      <p:sp>
        <p:nvSpPr>
          <p:cNvPr id="18" name="Shape 15"/>
          <p:cNvSpPr/>
          <p:nvPr/>
        </p:nvSpPr>
        <p:spPr>
          <a:xfrm>
            <a:off x="10351008" y="2176272"/>
            <a:ext cx="841248" cy="3017520"/>
          </a:xfrm>
          <a:prstGeom prst="rect">
            <a:avLst/>
          </a:prstGeom>
          <a:solidFill>
            <a:srgbClr val="E8B33A"/>
          </a:solidFill>
          <a:ln w="12700">
            <a:solidFill>
              <a:srgbClr val="333333"/>
            </a:solidFill>
            <a:prstDash val="solid"/>
          </a:ln>
        </p:spPr>
      </p:sp>
      <p:sp>
        <p:nvSpPr>
          <p:cNvPr id="19" name="Text 16"/>
          <p:cNvSpPr txBox="1"/>
          <p:nvPr/>
        </p:nvSpPr>
        <p:spPr>
          <a:xfrm>
            <a:off x="10149840" y="5321808"/>
            <a:ext cx="1243584" cy="219456"/>
          </a:xfrm>
          <a:prstGeom prst="rect">
            <a:avLst/>
          </a:prstGeom>
          <a:noFill/>
          <a:ln/>
        </p:spPr>
        <p:txBody>
          <a:bodyPr wrap="square" lIns="0" tIns="0" rIns="0" bIns="0" rtlCol="0" anchor="ctr"/>
          <a:lstStyle/>
          <a:p>
            <a:pPr algn="ctr" indent="0" marL="0">
              <a:buNone/>
            </a:pPr>
            <a:r>
              <a:rPr lang="en-US" sz="780" spc="90" kern="0" dirty="0">
                <a:solidFill>
                  <a:srgbClr val="9DB0C0"/>
                </a:solidFill>
                <a:latin typeface="IBM Plex Mono" pitchFamily="34" charset="0"/>
                <a:ea typeface="IBM Plex Mono" pitchFamily="34" charset="-122"/>
                <a:cs typeface="IBM Plex Mono" pitchFamily="34" charset="-120"/>
              </a:rPr>
              <a:t>IN OPERATION</a:t>
            </a:r>
            <a:endParaRPr lang="en-US" sz="780" dirty="0"/>
          </a:p>
        </p:txBody>
      </p:sp>
      <p:sp>
        <p:nvSpPr>
          <p:cNvPr id="20" name="Shape 17"/>
          <p:cNvSpPr/>
          <p:nvPr/>
        </p:nvSpPr>
        <p:spPr>
          <a:xfrm>
            <a:off x="6647688" y="5193792"/>
            <a:ext cx="4681728" cy="0"/>
          </a:xfrm>
          <a:prstGeom prst="line">
            <a:avLst/>
          </a:prstGeom>
          <a:noFill/>
          <a:ln w="12700">
            <a:solidFill>
              <a:srgbClr val="FFFFFF">
                <a:alpha val="38000"/>
              </a:srgbClr>
            </a:solidFill>
            <a:prstDash val="solid"/>
          </a:ln>
        </p:spPr>
      </p:sp>
      <p:sp>
        <p:nvSpPr>
          <p:cNvPr id="21" name="Shape 18"/>
          <p:cNvSpPr/>
          <p:nvPr/>
        </p:nvSpPr>
        <p:spPr>
          <a:xfrm>
            <a:off x="7136892" y="4448556"/>
            <a:ext cx="137160" cy="137160"/>
          </a:xfrm>
          <a:prstGeom prst="ellipse">
            <a:avLst/>
          </a:prstGeom>
          <a:solidFill>
            <a:srgbClr val="E8B33A"/>
          </a:solidFill>
          <a:ln w="12700">
            <a:solidFill>
              <a:srgbClr val="E8B33A"/>
            </a:solidFill>
            <a:prstDash val="solid"/>
          </a:ln>
        </p:spPr>
      </p:sp>
      <p:sp>
        <p:nvSpPr>
          <p:cNvPr id="22" name="Shape 19"/>
          <p:cNvSpPr/>
          <p:nvPr/>
        </p:nvSpPr>
        <p:spPr>
          <a:xfrm>
            <a:off x="7205472" y="4585716"/>
            <a:ext cx="0" cy="141732"/>
          </a:xfrm>
          <a:prstGeom prst="line">
            <a:avLst/>
          </a:prstGeom>
          <a:noFill/>
          <a:ln w="12700">
            <a:solidFill>
              <a:srgbClr val="E8B33A"/>
            </a:solidFill>
            <a:prstDash val="solid"/>
          </a:ln>
        </p:spPr>
      </p:sp>
      <p:sp>
        <p:nvSpPr>
          <p:cNvPr id="23" name="Text 20"/>
          <p:cNvSpPr txBox="1"/>
          <p:nvPr/>
        </p:nvSpPr>
        <p:spPr>
          <a:xfrm>
            <a:off x="6428232" y="4224528"/>
            <a:ext cx="1554480" cy="219456"/>
          </a:xfrm>
          <a:prstGeom prst="rect">
            <a:avLst/>
          </a:prstGeom>
          <a:noFill/>
          <a:ln/>
        </p:spPr>
        <p:txBody>
          <a:bodyPr wrap="square" lIns="0" tIns="0" rIns="0" bIns="0" rtlCol="0" anchor="ctr"/>
          <a:lstStyle/>
          <a:p>
            <a:pPr algn="ctr" indent="0" marL="0">
              <a:buNone/>
            </a:pPr>
            <a:r>
              <a:rPr lang="en-US" sz="1000" i="1" dirty="0">
                <a:solidFill>
                  <a:srgbClr val="F5DCA4"/>
                </a:solidFill>
                <a:latin typeface="Inter" pitchFamily="34" charset="0"/>
                <a:ea typeface="Inter" pitchFamily="34" charset="-122"/>
                <a:cs typeface="Inter" pitchFamily="34" charset="-120"/>
              </a:rPr>
              <a:t>decided here</a:t>
            </a:r>
            <a:endParaRPr lang="en-US" sz="1000" dirty="0"/>
          </a:p>
        </p:txBody>
      </p:sp>
      <p:sp>
        <p:nvSpPr>
          <p:cNvPr id="24" name="Text 21"/>
          <p:cNvSpPr txBox="1"/>
          <p:nvPr/>
        </p:nvSpPr>
        <p:spPr>
          <a:xfrm>
            <a:off x="9966960" y="1865376"/>
            <a:ext cx="1645920" cy="219456"/>
          </a:xfrm>
          <a:prstGeom prst="rect">
            <a:avLst/>
          </a:prstGeom>
          <a:noFill/>
          <a:ln/>
        </p:spPr>
        <p:txBody>
          <a:bodyPr wrap="square" lIns="0" tIns="0" rIns="0" bIns="0" rtlCol="0" anchor="ctr"/>
          <a:lstStyle/>
          <a:p>
            <a:pPr algn="ctr" indent="0" marL="0">
              <a:buNone/>
            </a:pPr>
            <a:r>
              <a:rPr lang="en-US" sz="1000" i="1" dirty="0">
                <a:solidFill>
                  <a:srgbClr val="F5DCA4"/>
                </a:solidFill>
                <a:latin typeface="Inter" pitchFamily="34" charset="0"/>
                <a:ea typeface="Inter" pitchFamily="34" charset="-122"/>
                <a:cs typeface="Inter" pitchFamily="34" charset="-120"/>
              </a:rPr>
              <a:t>paid for here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WHERE WE STAND</a:t>
            </a:r>
            <a:endParaRPr lang="en-US" sz="950" dirty="0"/>
          </a:p>
        </p:txBody>
      </p:sp>
      <p:sp>
        <p:nvSpPr>
          <p:cNvPr id="3" name="Text 1"/>
          <p:cNvSpPr txBox="1"/>
          <p:nvPr/>
        </p:nvSpPr>
        <p:spPr>
          <a:xfrm>
            <a:off x="777240" y="960120"/>
            <a:ext cx="8046720" cy="1371600"/>
          </a:xfrm>
          <a:prstGeom prst="rect">
            <a:avLst/>
          </a:prstGeom>
          <a:noFill/>
          <a:ln/>
        </p:spPr>
        <p:txBody>
          <a:bodyPr wrap="square" lIns="0" tIns="0" rIns="0" bIns="0" rtlCol="0" anchor="t"/>
          <a:lstStyle/>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Three disciplines that only</a:t>
            </a:r>
            <a:endParaRPr lang="en-US" sz="3400" dirty="0"/>
          </a:p>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make sense together.</a:t>
            </a:r>
            <a:endParaRPr lang="en-US" sz="34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04 / 14</a:t>
            </a:r>
            <a:endParaRPr lang="en-US" sz="800" dirty="0"/>
          </a:p>
        </p:txBody>
      </p:sp>
      <p:sp>
        <p:nvSpPr>
          <p:cNvPr id="7" name="Shape 5"/>
          <p:cNvSpPr/>
          <p:nvPr/>
        </p:nvSpPr>
        <p:spPr>
          <a:xfrm>
            <a:off x="777240" y="2670048"/>
            <a:ext cx="137160" cy="137160"/>
          </a:xfrm>
          <a:prstGeom prst="ellipse">
            <a:avLst/>
          </a:prstGeom>
          <a:solidFill>
            <a:srgbClr val="11676A"/>
          </a:solidFill>
          <a:ln w="12700">
            <a:solidFill>
              <a:srgbClr val="11676A"/>
            </a:solidFill>
            <a:prstDash val="solid"/>
          </a:ln>
        </p:spPr>
      </p:sp>
      <p:sp>
        <p:nvSpPr>
          <p:cNvPr id="8" name="Text 6"/>
          <p:cNvSpPr txBox="1"/>
          <p:nvPr/>
        </p:nvSpPr>
        <p:spPr>
          <a:xfrm>
            <a:off x="1069848" y="2624328"/>
            <a:ext cx="2834640" cy="237744"/>
          </a:xfrm>
          <a:prstGeom prst="rect">
            <a:avLst/>
          </a:prstGeom>
          <a:noFill/>
          <a:ln/>
        </p:spPr>
        <p:txBody>
          <a:bodyPr wrap="square" lIns="0" tIns="0" rIns="0" bIns="0" rtlCol="0" anchor="ctr"/>
          <a:lstStyle/>
          <a:p>
            <a:pPr indent="0" marL="0">
              <a:buNone/>
            </a:pPr>
            <a:r>
              <a:rPr lang="en-US" sz="900" spc="160" kern="0" dirty="0">
                <a:solidFill>
                  <a:srgbClr val="11676A"/>
                </a:solidFill>
                <a:latin typeface="IBM Plex Mono" pitchFamily="34" charset="0"/>
                <a:ea typeface="IBM Plex Mono" pitchFamily="34" charset="-122"/>
                <a:cs typeface="IBM Plex Mono" pitchFamily="34" charset="-120"/>
              </a:rPr>
              <a:t>THE FINANCE PROCESS</a:t>
            </a:r>
            <a:endParaRPr lang="en-US" sz="900" dirty="0"/>
          </a:p>
        </p:txBody>
      </p:sp>
      <p:sp>
        <p:nvSpPr>
          <p:cNvPr id="9" name="Text 7"/>
          <p:cNvSpPr txBox="1"/>
          <p:nvPr/>
        </p:nvSpPr>
        <p:spPr>
          <a:xfrm>
            <a:off x="777240" y="3054096"/>
            <a:ext cx="3127248" cy="603504"/>
          </a:xfrm>
          <a:prstGeom prst="rect">
            <a:avLst/>
          </a:prstGeom>
          <a:noFill/>
          <a:ln/>
        </p:spPr>
        <p:txBody>
          <a:bodyPr wrap="square" lIns="0" tIns="0" rIns="0" bIns="0" rtlCol="0" anchor="ctr"/>
          <a:lstStyle/>
          <a:p>
            <a:pPr indent="0" marL="0">
              <a:lnSpc>
                <a:spcPts val="2000"/>
              </a:lnSpc>
              <a:buNone/>
            </a:pPr>
            <a:r>
              <a:rPr lang="en-US" sz="1500" b="1" dirty="0">
                <a:solidFill>
                  <a:srgbClr val="0E1620"/>
                </a:solidFill>
                <a:latin typeface="Schibsted Grotesk" pitchFamily="34" charset="0"/>
                <a:ea typeface="Schibsted Grotesk" pitchFamily="34" charset="-122"/>
                <a:cs typeface="Schibsted Grotesk" pitchFamily="34" charset="-120"/>
              </a:rPr>
              <a:t>How the business actually closes its books</a:t>
            </a:r>
            <a:endParaRPr lang="en-US" sz="1500" dirty="0"/>
          </a:p>
        </p:txBody>
      </p:sp>
      <p:sp>
        <p:nvSpPr>
          <p:cNvPr id="10" name="Text 8"/>
          <p:cNvSpPr txBox="1"/>
          <p:nvPr/>
        </p:nvSpPr>
        <p:spPr>
          <a:xfrm>
            <a:off x="777240" y="3749040"/>
            <a:ext cx="2990088" cy="914400"/>
          </a:xfrm>
          <a:prstGeom prst="rect">
            <a:avLst/>
          </a:prstGeom>
          <a:noFill/>
          <a:ln/>
        </p:spPr>
        <p:txBody>
          <a:bodyPr wrap="square" lIns="0" tIns="0" rIns="0" bIns="0" rtlCol="0" anchor="ctr"/>
          <a:lstStyle/>
          <a:p>
            <a:pPr indent="0" marL="0">
              <a:lnSpc>
                <a:spcPts val="1700"/>
              </a:lnSpc>
              <a:buNone/>
            </a:pPr>
            <a:r>
              <a:rPr lang="en-US" sz="1100" dirty="0">
                <a:solidFill>
                  <a:srgbClr val="4A5A67"/>
                </a:solidFill>
                <a:latin typeface="Inter" pitchFamily="34" charset="0"/>
                <a:ea typeface="Inter" pitchFamily="34" charset="-122"/>
                <a:cs typeface="Inter" pitchFamily="34" charset="-120"/>
              </a:rPr>
              <a:t>FI, CO, PA and PS — enterprise structure, chart of accounts, costing, margin and the close calendar.</a:t>
            </a:r>
            <a:endParaRPr lang="en-US" sz="1100" dirty="0"/>
          </a:p>
        </p:txBody>
      </p:sp>
      <p:sp>
        <p:nvSpPr>
          <p:cNvPr id="11" name="Shape 9"/>
          <p:cNvSpPr/>
          <p:nvPr/>
        </p:nvSpPr>
        <p:spPr>
          <a:xfrm>
            <a:off x="845820" y="4809744"/>
            <a:ext cx="0" cy="274320"/>
          </a:xfrm>
          <a:prstGeom prst="line">
            <a:avLst/>
          </a:prstGeom>
          <a:noFill/>
          <a:ln w="12700">
            <a:solidFill>
              <a:srgbClr val="C9D6DE"/>
            </a:solidFill>
            <a:prstDash val="solid"/>
          </a:ln>
        </p:spPr>
      </p:sp>
      <p:sp>
        <p:nvSpPr>
          <p:cNvPr id="12" name="Shape 10"/>
          <p:cNvSpPr/>
          <p:nvPr/>
        </p:nvSpPr>
        <p:spPr>
          <a:xfrm>
            <a:off x="4526280" y="2670048"/>
            <a:ext cx="137160" cy="137160"/>
          </a:xfrm>
          <a:prstGeom prst="ellipse">
            <a:avLst/>
          </a:prstGeom>
          <a:solidFill>
            <a:srgbClr val="11676A"/>
          </a:solidFill>
          <a:ln w="12700">
            <a:solidFill>
              <a:srgbClr val="11676A"/>
            </a:solidFill>
            <a:prstDash val="solid"/>
          </a:ln>
        </p:spPr>
      </p:sp>
      <p:sp>
        <p:nvSpPr>
          <p:cNvPr id="13" name="Text 11"/>
          <p:cNvSpPr txBox="1"/>
          <p:nvPr/>
        </p:nvSpPr>
        <p:spPr>
          <a:xfrm>
            <a:off x="4818888" y="2624328"/>
            <a:ext cx="2834640" cy="237744"/>
          </a:xfrm>
          <a:prstGeom prst="rect">
            <a:avLst/>
          </a:prstGeom>
          <a:noFill/>
          <a:ln/>
        </p:spPr>
        <p:txBody>
          <a:bodyPr wrap="square" lIns="0" tIns="0" rIns="0" bIns="0" rtlCol="0" anchor="ctr"/>
          <a:lstStyle/>
          <a:p>
            <a:pPr indent="0" marL="0">
              <a:buNone/>
            </a:pPr>
            <a:r>
              <a:rPr lang="en-US" sz="900" spc="160" kern="0" dirty="0">
                <a:solidFill>
                  <a:srgbClr val="11676A"/>
                </a:solidFill>
                <a:latin typeface="IBM Plex Mono" pitchFamily="34" charset="0"/>
                <a:ea typeface="IBM Plex Mono" pitchFamily="34" charset="-122"/>
                <a:cs typeface="IBM Plex Mono" pitchFamily="34" charset="-120"/>
              </a:rPr>
              <a:t>THE PLATFORM</a:t>
            </a:r>
            <a:endParaRPr lang="en-US" sz="900" dirty="0"/>
          </a:p>
        </p:txBody>
      </p:sp>
      <p:sp>
        <p:nvSpPr>
          <p:cNvPr id="14" name="Text 12"/>
          <p:cNvSpPr txBox="1"/>
          <p:nvPr/>
        </p:nvSpPr>
        <p:spPr>
          <a:xfrm>
            <a:off x="4526280" y="3054096"/>
            <a:ext cx="3127248" cy="603504"/>
          </a:xfrm>
          <a:prstGeom prst="rect">
            <a:avLst/>
          </a:prstGeom>
          <a:noFill/>
          <a:ln/>
        </p:spPr>
        <p:txBody>
          <a:bodyPr wrap="square" lIns="0" tIns="0" rIns="0" bIns="0" rtlCol="0" anchor="ctr"/>
          <a:lstStyle/>
          <a:p>
            <a:pPr indent="0" marL="0">
              <a:lnSpc>
                <a:spcPts val="2000"/>
              </a:lnSpc>
              <a:buNone/>
            </a:pPr>
            <a:r>
              <a:rPr lang="en-US" sz="1500" b="1" dirty="0">
                <a:solidFill>
                  <a:srgbClr val="0E1620"/>
                </a:solidFill>
                <a:latin typeface="Schibsted Grotesk" pitchFamily="34" charset="0"/>
                <a:ea typeface="Schibsted Grotesk" pitchFamily="34" charset="-122"/>
                <a:cs typeface="Schibsted Grotesk" pitchFamily="34" charset="-120"/>
              </a:rPr>
              <a:t>The ground the process has to run on</a:t>
            </a:r>
            <a:endParaRPr lang="en-US" sz="1500" dirty="0"/>
          </a:p>
        </p:txBody>
      </p:sp>
      <p:sp>
        <p:nvSpPr>
          <p:cNvPr id="15" name="Text 13"/>
          <p:cNvSpPr txBox="1"/>
          <p:nvPr/>
        </p:nvSpPr>
        <p:spPr>
          <a:xfrm>
            <a:off x="4526280" y="3749040"/>
            <a:ext cx="2990088" cy="914400"/>
          </a:xfrm>
          <a:prstGeom prst="rect">
            <a:avLst/>
          </a:prstGeom>
          <a:noFill/>
          <a:ln/>
        </p:spPr>
        <p:txBody>
          <a:bodyPr wrap="square" lIns="0" tIns="0" rIns="0" bIns="0" rtlCol="0" anchor="ctr"/>
          <a:lstStyle/>
          <a:p>
            <a:pPr indent="0" marL="0">
              <a:lnSpc>
                <a:spcPts val="1700"/>
              </a:lnSpc>
              <a:buNone/>
            </a:pPr>
            <a:r>
              <a:rPr lang="en-US" sz="1100" dirty="0">
                <a:solidFill>
                  <a:srgbClr val="4A5A67"/>
                </a:solidFill>
                <a:latin typeface="Inter" pitchFamily="34" charset="0"/>
                <a:ea typeface="Inter" pitchFamily="34" charset="-122"/>
                <a:cs typeface="Inter" pitchFamily="34" charset="-120"/>
              </a:rPr>
              <a:t>ECC, S/4HANA on-premise, Cloud ERP Private Edition and Public Edition — compared, not advocated.</a:t>
            </a:r>
            <a:endParaRPr lang="en-US" sz="1100" dirty="0"/>
          </a:p>
        </p:txBody>
      </p:sp>
      <p:sp>
        <p:nvSpPr>
          <p:cNvPr id="16" name="Shape 14"/>
          <p:cNvSpPr/>
          <p:nvPr/>
        </p:nvSpPr>
        <p:spPr>
          <a:xfrm>
            <a:off x="4594860" y="4809744"/>
            <a:ext cx="0" cy="274320"/>
          </a:xfrm>
          <a:prstGeom prst="line">
            <a:avLst/>
          </a:prstGeom>
          <a:noFill/>
          <a:ln w="12700">
            <a:solidFill>
              <a:srgbClr val="C9D6DE"/>
            </a:solidFill>
            <a:prstDash val="solid"/>
          </a:ln>
        </p:spPr>
      </p:sp>
      <p:sp>
        <p:nvSpPr>
          <p:cNvPr id="17" name="Shape 15"/>
          <p:cNvSpPr/>
          <p:nvPr/>
        </p:nvSpPr>
        <p:spPr>
          <a:xfrm>
            <a:off x="8275320" y="2670048"/>
            <a:ext cx="137160" cy="137160"/>
          </a:xfrm>
          <a:prstGeom prst="ellipse">
            <a:avLst/>
          </a:prstGeom>
          <a:solidFill>
            <a:srgbClr val="11676A"/>
          </a:solidFill>
          <a:ln w="12700">
            <a:solidFill>
              <a:srgbClr val="11676A"/>
            </a:solidFill>
            <a:prstDash val="solid"/>
          </a:ln>
        </p:spPr>
      </p:sp>
      <p:sp>
        <p:nvSpPr>
          <p:cNvPr id="18" name="Text 16"/>
          <p:cNvSpPr txBox="1"/>
          <p:nvPr/>
        </p:nvSpPr>
        <p:spPr>
          <a:xfrm>
            <a:off x="8567928" y="2624328"/>
            <a:ext cx="2834640" cy="237744"/>
          </a:xfrm>
          <a:prstGeom prst="rect">
            <a:avLst/>
          </a:prstGeom>
          <a:noFill/>
          <a:ln/>
        </p:spPr>
        <p:txBody>
          <a:bodyPr wrap="square" lIns="0" tIns="0" rIns="0" bIns="0" rtlCol="0" anchor="ctr"/>
          <a:lstStyle/>
          <a:p>
            <a:pPr indent="0" marL="0">
              <a:buNone/>
            </a:pPr>
            <a:r>
              <a:rPr lang="en-US" sz="900" spc="160" kern="0" dirty="0">
                <a:solidFill>
                  <a:srgbClr val="11676A"/>
                </a:solidFill>
                <a:latin typeface="IBM Plex Mono" pitchFamily="34" charset="0"/>
                <a:ea typeface="IBM Plex Mono" pitchFamily="34" charset="-122"/>
                <a:cs typeface="IBM Plex Mono" pitchFamily="34" charset="-120"/>
              </a:rPr>
              <a:t>THE AUTOMATION</a:t>
            </a:r>
            <a:endParaRPr lang="en-US" sz="900" dirty="0"/>
          </a:p>
        </p:txBody>
      </p:sp>
      <p:sp>
        <p:nvSpPr>
          <p:cNvPr id="19" name="Text 17"/>
          <p:cNvSpPr txBox="1"/>
          <p:nvPr/>
        </p:nvSpPr>
        <p:spPr>
          <a:xfrm>
            <a:off x="8275320" y="3054096"/>
            <a:ext cx="3127248" cy="603504"/>
          </a:xfrm>
          <a:prstGeom prst="rect">
            <a:avLst/>
          </a:prstGeom>
          <a:noFill/>
          <a:ln/>
        </p:spPr>
        <p:txBody>
          <a:bodyPr wrap="square" lIns="0" tIns="0" rIns="0" bIns="0" rtlCol="0" anchor="ctr"/>
          <a:lstStyle/>
          <a:p>
            <a:pPr indent="0" marL="0">
              <a:lnSpc>
                <a:spcPts val="2000"/>
              </a:lnSpc>
              <a:buNone/>
            </a:pPr>
            <a:r>
              <a:rPr lang="en-US" sz="1500" b="1" dirty="0">
                <a:solidFill>
                  <a:srgbClr val="0E1620"/>
                </a:solidFill>
                <a:latin typeface="Schibsted Grotesk" pitchFamily="34" charset="0"/>
                <a:ea typeface="Schibsted Grotesk" pitchFamily="34" charset="-122"/>
                <a:cs typeface="Schibsted Grotesk" pitchFamily="34" charset="-120"/>
              </a:rPr>
              <a:t>What can safely stop being done by hand</a:t>
            </a:r>
            <a:endParaRPr lang="en-US" sz="1500" dirty="0"/>
          </a:p>
        </p:txBody>
      </p:sp>
      <p:sp>
        <p:nvSpPr>
          <p:cNvPr id="20" name="Text 18"/>
          <p:cNvSpPr txBox="1"/>
          <p:nvPr/>
        </p:nvSpPr>
        <p:spPr>
          <a:xfrm>
            <a:off x="8275320" y="3749040"/>
            <a:ext cx="2990088" cy="914400"/>
          </a:xfrm>
          <a:prstGeom prst="rect">
            <a:avLst/>
          </a:prstGeom>
          <a:noFill/>
          <a:ln/>
        </p:spPr>
        <p:txBody>
          <a:bodyPr wrap="square" lIns="0" tIns="0" rIns="0" bIns="0" rtlCol="0" anchor="ctr"/>
          <a:lstStyle/>
          <a:p>
            <a:pPr indent="0" marL="0">
              <a:lnSpc>
                <a:spcPts val="1700"/>
              </a:lnSpc>
              <a:buNone/>
            </a:pPr>
            <a:r>
              <a:rPr lang="en-US" sz="1100" dirty="0">
                <a:solidFill>
                  <a:srgbClr val="4A5A67"/>
                </a:solidFill>
                <a:latin typeface="Inter" pitchFamily="34" charset="0"/>
                <a:ea typeface="Inter" pitchFamily="34" charset="-122"/>
                <a:cs typeface="Inter" pitchFamily="34" charset="-120"/>
              </a:rPr>
              <a:t>SAP’s embedded AI in matching, anomaly detection and predictive accounting — measured before enabling.</a:t>
            </a:r>
            <a:endParaRPr lang="en-US" sz="1100" dirty="0"/>
          </a:p>
        </p:txBody>
      </p:sp>
      <p:sp>
        <p:nvSpPr>
          <p:cNvPr id="21" name="Shape 19"/>
          <p:cNvSpPr/>
          <p:nvPr/>
        </p:nvSpPr>
        <p:spPr>
          <a:xfrm>
            <a:off x="8343900" y="4809744"/>
            <a:ext cx="0" cy="274320"/>
          </a:xfrm>
          <a:prstGeom prst="line">
            <a:avLst/>
          </a:prstGeom>
          <a:noFill/>
          <a:ln w="12700">
            <a:solidFill>
              <a:srgbClr val="C9D6DE"/>
            </a:solidFill>
            <a:prstDash val="solid"/>
          </a:ln>
        </p:spPr>
      </p:sp>
      <p:sp>
        <p:nvSpPr>
          <p:cNvPr id="22" name="Shape 20"/>
          <p:cNvSpPr/>
          <p:nvPr/>
        </p:nvSpPr>
        <p:spPr>
          <a:xfrm>
            <a:off x="845820" y="5084064"/>
            <a:ext cx="7498080" cy="0"/>
          </a:xfrm>
          <a:prstGeom prst="line">
            <a:avLst/>
          </a:prstGeom>
          <a:noFill/>
          <a:ln w="12700">
            <a:solidFill>
              <a:srgbClr val="C9D6DE"/>
            </a:solidFill>
            <a:prstDash val="solid"/>
          </a:ln>
        </p:spPr>
      </p:sp>
      <p:sp>
        <p:nvSpPr>
          <p:cNvPr id="23" name="Shape 21"/>
          <p:cNvSpPr/>
          <p:nvPr/>
        </p:nvSpPr>
        <p:spPr>
          <a:xfrm>
            <a:off x="6095848" y="5084064"/>
            <a:ext cx="0" cy="274320"/>
          </a:xfrm>
          <a:prstGeom prst="line">
            <a:avLst/>
          </a:prstGeom>
          <a:noFill/>
          <a:ln w="15875">
            <a:solidFill>
              <a:srgbClr val="11676A"/>
            </a:solidFill>
            <a:prstDash val="solid"/>
          </a:ln>
        </p:spPr>
      </p:sp>
      <p:sp>
        <p:nvSpPr>
          <p:cNvPr id="24" name="Shape 22"/>
          <p:cNvSpPr/>
          <p:nvPr/>
        </p:nvSpPr>
        <p:spPr>
          <a:xfrm>
            <a:off x="3306928" y="5358384"/>
            <a:ext cx="5577840" cy="566928"/>
          </a:xfrm>
          <a:prstGeom prst="rect">
            <a:avLst/>
          </a:prstGeom>
          <a:solidFill>
            <a:srgbClr val="11676A"/>
          </a:solidFill>
          <a:ln w="12700">
            <a:solidFill>
              <a:srgbClr val="333333"/>
            </a:solidFill>
            <a:prstDash val="solid"/>
          </a:ln>
        </p:spPr>
      </p:sp>
      <p:sp>
        <p:nvSpPr>
          <p:cNvPr id="25" name="Text 23"/>
          <p:cNvSpPr txBox="1"/>
          <p:nvPr/>
        </p:nvSpPr>
        <p:spPr>
          <a:xfrm>
            <a:off x="3306928" y="5358384"/>
            <a:ext cx="5577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Schibsted Grotesk" pitchFamily="34" charset="0"/>
                <a:ea typeface="Schibsted Grotesk" pitchFamily="34" charset="-122"/>
                <a:cs typeface="Schibsted Grotesk" pitchFamily="34" charset="-120"/>
              </a:rPr>
              <a:t>A decision that still looks right in year three</a:t>
            </a:r>
            <a:endParaRPr lang="en-US" sz="1500" dirty="0"/>
          </a:p>
        </p:txBody>
      </p:sp>
      <p:sp>
        <p:nvSpPr>
          <p:cNvPr id="26" name="Text 24"/>
          <p:cNvSpPr txBox="1"/>
          <p:nvPr/>
        </p:nvSpPr>
        <p:spPr>
          <a:xfrm>
            <a:off x="777240" y="2157984"/>
            <a:ext cx="9509760" cy="292608"/>
          </a:xfrm>
          <a:prstGeom prst="rect">
            <a:avLst/>
          </a:prstGeom>
          <a:noFill/>
          <a:ln/>
        </p:spPr>
        <p:txBody>
          <a:bodyPr wrap="square" lIns="0" tIns="0" rIns="0" bIns="0" rtlCol="0" anchor="ctr"/>
          <a:lstStyle/>
          <a:p>
            <a:pPr indent="0" marL="0">
              <a:buNone/>
            </a:pPr>
            <a:r>
              <a:rPr lang="en-US" sz="1250" i="1" dirty="0">
                <a:solidFill>
                  <a:srgbClr val="4A5A67"/>
                </a:solidFill>
                <a:latin typeface="Inter" pitchFamily="34" charset="0"/>
                <a:ea typeface="Inter" pitchFamily="34" charset="-122"/>
                <a:cs typeface="Inter" pitchFamily="34" charset="-120"/>
              </a:rPr>
              <a:t>Most SAP problems are not module problems. They sit in the seams between these three.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OPERATING PRINCIPLE</a:t>
            </a:r>
            <a:endParaRPr lang="en-US" sz="950" dirty="0"/>
          </a:p>
        </p:txBody>
      </p:sp>
      <p:sp>
        <p:nvSpPr>
          <p:cNvPr id="3" name="Text 1"/>
          <p:cNvSpPr txBox="1"/>
          <p:nvPr/>
        </p:nvSpPr>
        <p:spPr>
          <a:xfrm>
            <a:off x="777240" y="960120"/>
            <a:ext cx="8412480" cy="1371600"/>
          </a:xfrm>
          <a:prstGeom prst="rect">
            <a:avLst/>
          </a:prstGeom>
          <a:noFill/>
          <a:ln/>
        </p:spPr>
        <p:txBody>
          <a:bodyPr wrap="square" lIns="0" tIns="0" rIns="0" bIns="0" rtlCol="0" anchor="t"/>
          <a:lstStyle/>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We read the system before we</a:t>
            </a:r>
            <a:endParaRPr lang="en-US" sz="3600" dirty="0"/>
          </a:p>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recommend anything.</a:t>
            </a:r>
            <a:endParaRPr lang="en-US" sz="36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05 / 14</a:t>
            </a:r>
            <a:endParaRPr lang="en-US" sz="800" dirty="0"/>
          </a:p>
        </p:txBody>
      </p:sp>
      <p:sp>
        <p:nvSpPr>
          <p:cNvPr id="7" name="Text 5"/>
          <p:cNvSpPr txBox="1"/>
          <p:nvPr/>
        </p:nvSpPr>
        <p:spPr>
          <a:xfrm>
            <a:off x="777240" y="2359152"/>
            <a:ext cx="5852160" cy="219456"/>
          </a:xfrm>
          <a:prstGeom prst="rect">
            <a:avLst/>
          </a:prstGeom>
          <a:noFill/>
          <a:ln/>
        </p:spPr>
        <p:txBody>
          <a:bodyPr wrap="square" lIns="0" tIns="0" rIns="0" bIns="0" rtlCol="0" anchor="ctr"/>
          <a:lstStyle/>
          <a:p>
            <a:pPr indent="0" marL="0">
              <a:buNone/>
            </a:pPr>
            <a:r>
              <a:rPr lang="en-US" sz="850" spc="160" kern="0" dirty="0">
                <a:solidFill>
                  <a:srgbClr val="4A5A67"/>
                </a:solidFill>
                <a:latin typeface="IBM Plex Mono" pitchFamily="34" charset="0"/>
                <a:ea typeface="IBM Plex Mono" pitchFamily="34" charset="-122"/>
                <a:cs typeface="IBM Plex Mono" pitchFamily="34" charset="-120"/>
              </a:rPr>
              <a:t>THE PROCESS AS DESCRIBED</a:t>
            </a:r>
            <a:endParaRPr lang="en-US" sz="850" dirty="0"/>
          </a:p>
        </p:txBody>
      </p:sp>
      <p:sp>
        <p:nvSpPr>
          <p:cNvPr id="8" name="Shape 6"/>
          <p:cNvSpPr/>
          <p:nvPr/>
        </p:nvSpPr>
        <p:spPr>
          <a:xfrm>
            <a:off x="777240" y="2743200"/>
            <a:ext cx="5852160" cy="0"/>
          </a:xfrm>
          <a:prstGeom prst="line">
            <a:avLst/>
          </a:prstGeom>
          <a:noFill/>
          <a:ln w="28575">
            <a:solidFill>
              <a:srgbClr val="C9D6DE"/>
            </a:solidFill>
            <a:prstDash val="solid"/>
          </a:ln>
        </p:spPr>
      </p:sp>
      <p:sp>
        <p:nvSpPr>
          <p:cNvPr id="9" name="Shape 7"/>
          <p:cNvSpPr/>
          <p:nvPr/>
        </p:nvSpPr>
        <p:spPr>
          <a:xfrm>
            <a:off x="731520" y="2697480"/>
            <a:ext cx="91440" cy="91440"/>
          </a:xfrm>
          <a:prstGeom prst="ellipse">
            <a:avLst/>
          </a:prstGeom>
          <a:solidFill>
            <a:srgbClr val="C9D6DE"/>
          </a:solidFill>
          <a:ln w="12700">
            <a:solidFill>
              <a:srgbClr val="C9D6DE"/>
            </a:solidFill>
            <a:prstDash val="solid"/>
          </a:ln>
        </p:spPr>
      </p:sp>
      <p:sp>
        <p:nvSpPr>
          <p:cNvPr id="10" name="Shape 8"/>
          <p:cNvSpPr/>
          <p:nvPr/>
        </p:nvSpPr>
        <p:spPr>
          <a:xfrm>
            <a:off x="2194560" y="2697480"/>
            <a:ext cx="91440" cy="91440"/>
          </a:xfrm>
          <a:prstGeom prst="ellipse">
            <a:avLst/>
          </a:prstGeom>
          <a:solidFill>
            <a:srgbClr val="C9D6DE"/>
          </a:solidFill>
          <a:ln w="12700">
            <a:solidFill>
              <a:srgbClr val="C9D6DE"/>
            </a:solidFill>
            <a:prstDash val="solid"/>
          </a:ln>
        </p:spPr>
      </p:sp>
      <p:sp>
        <p:nvSpPr>
          <p:cNvPr id="11" name="Shape 9"/>
          <p:cNvSpPr/>
          <p:nvPr/>
        </p:nvSpPr>
        <p:spPr>
          <a:xfrm>
            <a:off x="3657600" y="2697480"/>
            <a:ext cx="91440" cy="91440"/>
          </a:xfrm>
          <a:prstGeom prst="ellipse">
            <a:avLst/>
          </a:prstGeom>
          <a:solidFill>
            <a:srgbClr val="C9D6DE"/>
          </a:solidFill>
          <a:ln w="12700">
            <a:solidFill>
              <a:srgbClr val="C9D6DE"/>
            </a:solidFill>
            <a:prstDash val="solid"/>
          </a:ln>
        </p:spPr>
      </p:sp>
      <p:sp>
        <p:nvSpPr>
          <p:cNvPr id="12" name="Shape 10"/>
          <p:cNvSpPr/>
          <p:nvPr/>
        </p:nvSpPr>
        <p:spPr>
          <a:xfrm>
            <a:off x="5120640" y="2697480"/>
            <a:ext cx="91440" cy="91440"/>
          </a:xfrm>
          <a:prstGeom prst="ellipse">
            <a:avLst/>
          </a:prstGeom>
          <a:solidFill>
            <a:srgbClr val="C9D6DE"/>
          </a:solidFill>
          <a:ln w="12700">
            <a:solidFill>
              <a:srgbClr val="C9D6DE"/>
            </a:solidFill>
            <a:prstDash val="solid"/>
          </a:ln>
        </p:spPr>
      </p:sp>
      <p:sp>
        <p:nvSpPr>
          <p:cNvPr id="13" name="Shape 11"/>
          <p:cNvSpPr/>
          <p:nvPr/>
        </p:nvSpPr>
        <p:spPr>
          <a:xfrm>
            <a:off x="6583680" y="2697480"/>
            <a:ext cx="91440" cy="91440"/>
          </a:xfrm>
          <a:prstGeom prst="ellipse">
            <a:avLst/>
          </a:prstGeom>
          <a:solidFill>
            <a:srgbClr val="C9D6DE"/>
          </a:solidFill>
          <a:ln w="12700">
            <a:solidFill>
              <a:srgbClr val="C9D6DE"/>
            </a:solidFill>
            <a:prstDash val="solid"/>
          </a:ln>
        </p:spPr>
      </p:sp>
      <p:sp>
        <p:nvSpPr>
          <p:cNvPr id="14" name="Shape 12"/>
          <p:cNvSpPr/>
          <p:nvPr/>
        </p:nvSpPr>
        <p:spPr>
          <a:xfrm>
            <a:off x="777240" y="2743200"/>
            <a:ext cx="936346" cy="384048"/>
          </a:xfrm>
          <a:prstGeom prst="line">
            <a:avLst/>
          </a:prstGeom>
          <a:noFill/>
          <a:ln w="28575">
            <a:solidFill>
              <a:srgbClr val="11676A"/>
            </a:solidFill>
            <a:prstDash val="solid"/>
          </a:ln>
        </p:spPr>
      </p:sp>
      <p:sp>
        <p:nvSpPr>
          <p:cNvPr id="15" name="Shape 13"/>
          <p:cNvSpPr/>
          <p:nvPr/>
        </p:nvSpPr>
        <p:spPr>
          <a:xfrm flipV="1">
            <a:off x="1713586" y="2962656"/>
            <a:ext cx="819302" cy="164592"/>
          </a:xfrm>
          <a:prstGeom prst="line">
            <a:avLst/>
          </a:prstGeom>
          <a:noFill/>
          <a:ln w="28575">
            <a:solidFill>
              <a:srgbClr val="11676A"/>
            </a:solidFill>
            <a:prstDash val="solid"/>
          </a:ln>
        </p:spPr>
      </p:sp>
      <p:sp>
        <p:nvSpPr>
          <p:cNvPr id="16" name="Shape 14"/>
          <p:cNvSpPr/>
          <p:nvPr/>
        </p:nvSpPr>
        <p:spPr>
          <a:xfrm>
            <a:off x="2532888" y="2962656"/>
            <a:ext cx="877824" cy="566928"/>
          </a:xfrm>
          <a:prstGeom prst="line">
            <a:avLst/>
          </a:prstGeom>
          <a:noFill/>
          <a:ln w="28575">
            <a:solidFill>
              <a:srgbClr val="11676A"/>
            </a:solidFill>
            <a:prstDash val="solid"/>
          </a:ln>
        </p:spPr>
      </p:sp>
      <p:sp>
        <p:nvSpPr>
          <p:cNvPr id="17" name="Shape 15"/>
          <p:cNvSpPr/>
          <p:nvPr/>
        </p:nvSpPr>
        <p:spPr>
          <a:xfrm flipV="1">
            <a:off x="3410712" y="3310128"/>
            <a:ext cx="877824" cy="219456"/>
          </a:xfrm>
          <a:prstGeom prst="line">
            <a:avLst/>
          </a:prstGeom>
          <a:noFill/>
          <a:ln w="28575">
            <a:solidFill>
              <a:srgbClr val="11676A"/>
            </a:solidFill>
            <a:prstDash val="solid"/>
          </a:ln>
        </p:spPr>
      </p:sp>
      <p:sp>
        <p:nvSpPr>
          <p:cNvPr id="18" name="Shape 16"/>
          <p:cNvSpPr/>
          <p:nvPr/>
        </p:nvSpPr>
        <p:spPr>
          <a:xfrm>
            <a:off x="4288536" y="3310128"/>
            <a:ext cx="936346" cy="512064"/>
          </a:xfrm>
          <a:prstGeom prst="line">
            <a:avLst/>
          </a:prstGeom>
          <a:noFill/>
          <a:ln w="28575">
            <a:solidFill>
              <a:srgbClr val="11676A"/>
            </a:solidFill>
            <a:prstDash val="solid"/>
          </a:ln>
        </p:spPr>
      </p:sp>
      <p:sp>
        <p:nvSpPr>
          <p:cNvPr id="19" name="Shape 17"/>
          <p:cNvSpPr/>
          <p:nvPr/>
        </p:nvSpPr>
        <p:spPr>
          <a:xfrm flipV="1">
            <a:off x="5224882" y="3621024"/>
            <a:ext cx="702259" cy="201168"/>
          </a:xfrm>
          <a:prstGeom prst="line">
            <a:avLst/>
          </a:prstGeom>
          <a:noFill/>
          <a:ln w="28575">
            <a:solidFill>
              <a:srgbClr val="11676A"/>
            </a:solidFill>
            <a:prstDash val="solid"/>
          </a:ln>
        </p:spPr>
      </p:sp>
      <p:sp>
        <p:nvSpPr>
          <p:cNvPr id="20" name="Shape 18"/>
          <p:cNvSpPr/>
          <p:nvPr/>
        </p:nvSpPr>
        <p:spPr>
          <a:xfrm>
            <a:off x="5927141" y="3621024"/>
            <a:ext cx="702259" cy="347472"/>
          </a:xfrm>
          <a:prstGeom prst="line">
            <a:avLst/>
          </a:prstGeom>
          <a:noFill/>
          <a:ln w="28575">
            <a:solidFill>
              <a:srgbClr val="11676A"/>
            </a:solidFill>
            <a:prstDash val="solid"/>
          </a:ln>
        </p:spPr>
      </p:sp>
      <p:sp>
        <p:nvSpPr>
          <p:cNvPr id="21" name="Shape 19"/>
          <p:cNvSpPr/>
          <p:nvPr/>
        </p:nvSpPr>
        <p:spPr>
          <a:xfrm>
            <a:off x="731520" y="2697480"/>
            <a:ext cx="91440" cy="91440"/>
          </a:xfrm>
          <a:prstGeom prst="ellipse">
            <a:avLst/>
          </a:prstGeom>
          <a:solidFill>
            <a:srgbClr val="11676A"/>
          </a:solidFill>
          <a:ln w="12700">
            <a:solidFill>
              <a:srgbClr val="11676A"/>
            </a:solidFill>
            <a:prstDash val="solid"/>
          </a:ln>
        </p:spPr>
      </p:sp>
      <p:sp>
        <p:nvSpPr>
          <p:cNvPr id="22" name="Shape 20"/>
          <p:cNvSpPr/>
          <p:nvPr/>
        </p:nvSpPr>
        <p:spPr>
          <a:xfrm>
            <a:off x="1667866" y="3081528"/>
            <a:ext cx="91440" cy="91440"/>
          </a:xfrm>
          <a:prstGeom prst="ellipse">
            <a:avLst/>
          </a:prstGeom>
          <a:solidFill>
            <a:srgbClr val="11676A"/>
          </a:solidFill>
          <a:ln w="12700">
            <a:solidFill>
              <a:srgbClr val="11676A"/>
            </a:solidFill>
            <a:prstDash val="solid"/>
          </a:ln>
        </p:spPr>
      </p:sp>
      <p:sp>
        <p:nvSpPr>
          <p:cNvPr id="23" name="Shape 21"/>
          <p:cNvSpPr/>
          <p:nvPr/>
        </p:nvSpPr>
        <p:spPr>
          <a:xfrm>
            <a:off x="2487168" y="2916936"/>
            <a:ext cx="91440" cy="91440"/>
          </a:xfrm>
          <a:prstGeom prst="ellipse">
            <a:avLst/>
          </a:prstGeom>
          <a:solidFill>
            <a:srgbClr val="11676A"/>
          </a:solidFill>
          <a:ln w="12700">
            <a:solidFill>
              <a:srgbClr val="11676A"/>
            </a:solidFill>
            <a:prstDash val="solid"/>
          </a:ln>
        </p:spPr>
      </p:sp>
      <p:sp>
        <p:nvSpPr>
          <p:cNvPr id="24" name="Shape 22"/>
          <p:cNvSpPr/>
          <p:nvPr/>
        </p:nvSpPr>
        <p:spPr>
          <a:xfrm>
            <a:off x="3364992" y="3483864"/>
            <a:ext cx="91440" cy="91440"/>
          </a:xfrm>
          <a:prstGeom prst="ellipse">
            <a:avLst/>
          </a:prstGeom>
          <a:solidFill>
            <a:srgbClr val="11676A"/>
          </a:solidFill>
          <a:ln w="12700">
            <a:solidFill>
              <a:srgbClr val="11676A"/>
            </a:solidFill>
            <a:prstDash val="solid"/>
          </a:ln>
        </p:spPr>
      </p:sp>
      <p:sp>
        <p:nvSpPr>
          <p:cNvPr id="25" name="Shape 23"/>
          <p:cNvSpPr/>
          <p:nvPr/>
        </p:nvSpPr>
        <p:spPr>
          <a:xfrm>
            <a:off x="4242816" y="3264408"/>
            <a:ext cx="91440" cy="91440"/>
          </a:xfrm>
          <a:prstGeom prst="ellipse">
            <a:avLst/>
          </a:prstGeom>
          <a:solidFill>
            <a:srgbClr val="11676A"/>
          </a:solidFill>
          <a:ln w="12700">
            <a:solidFill>
              <a:srgbClr val="11676A"/>
            </a:solidFill>
            <a:prstDash val="solid"/>
          </a:ln>
        </p:spPr>
      </p:sp>
      <p:sp>
        <p:nvSpPr>
          <p:cNvPr id="26" name="Shape 24"/>
          <p:cNvSpPr/>
          <p:nvPr/>
        </p:nvSpPr>
        <p:spPr>
          <a:xfrm>
            <a:off x="5179162" y="3776472"/>
            <a:ext cx="91440" cy="91440"/>
          </a:xfrm>
          <a:prstGeom prst="ellipse">
            <a:avLst/>
          </a:prstGeom>
          <a:solidFill>
            <a:srgbClr val="11676A"/>
          </a:solidFill>
          <a:ln w="12700">
            <a:solidFill>
              <a:srgbClr val="11676A"/>
            </a:solidFill>
            <a:prstDash val="solid"/>
          </a:ln>
        </p:spPr>
      </p:sp>
      <p:sp>
        <p:nvSpPr>
          <p:cNvPr id="27" name="Shape 25"/>
          <p:cNvSpPr/>
          <p:nvPr/>
        </p:nvSpPr>
        <p:spPr>
          <a:xfrm>
            <a:off x="5881421" y="3575304"/>
            <a:ext cx="91440" cy="91440"/>
          </a:xfrm>
          <a:prstGeom prst="ellipse">
            <a:avLst/>
          </a:prstGeom>
          <a:solidFill>
            <a:srgbClr val="11676A"/>
          </a:solidFill>
          <a:ln w="12700">
            <a:solidFill>
              <a:srgbClr val="11676A"/>
            </a:solidFill>
            <a:prstDash val="solid"/>
          </a:ln>
        </p:spPr>
      </p:sp>
      <p:sp>
        <p:nvSpPr>
          <p:cNvPr id="28" name="Shape 26"/>
          <p:cNvSpPr/>
          <p:nvPr/>
        </p:nvSpPr>
        <p:spPr>
          <a:xfrm>
            <a:off x="6583680" y="3922776"/>
            <a:ext cx="91440" cy="91440"/>
          </a:xfrm>
          <a:prstGeom prst="ellipse">
            <a:avLst/>
          </a:prstGeom>
          <a:solidFill>
            <a:srgbClr val="11676A"/>
          </a:solidFill>
          <a:ln w="12700">
            <a:solidFill>
              <a:srgbClr val="11676A"/>
            </a:solidFill>
            <a:prstDash val="solid"/>
          </a:ln>
        </p:spPr>
      </p:sp>
      <p:sp>
        <p:nvSpPr>
          <p:cNvPr id="29" name="Text 27"/>
          <p:cNvSpPr txBox="1"/>
          <p:nvPr/>
        </p:nvSpPr>
        <p:spPr>
          <a:xfrm>
            <a:off x="4251960" y="4114800"/>
            <a:ext cx="2377440" cy="219456"/>
          </a:xfrm>
          <a:prstGeom prst="rect">
            <a:avLst/>
          </a:prstGeom>
          <a:noFill/>
          <a:ln/>
        </p:spPr>
        <p:txBody>
          <a:bodyPr wrap="square" lIns="0" tIns="0" rIns="0" bIns="0" rtlCol="0" anchor="ctr"/>
          <a:lstStyle/>
          <a:p>
            <a:pPr algn="r" indent="0" marL="0">
              <a:buNone/>
            </a:pPr>
            <a:r>
              <a:rPr lang="en-US" sz="850" spc="160" kern="0" dirty="0">
                <a:solidFill>
                  <a:srgbClr val="11676A"/>
                </a:solidFill>
                <a:latin typeface="IBM Plex Mono" pitchFamily="34" charset="0"/>
                <a:ea typeface="IBM Plex Mono" pitchFamily="34" charset="-122"/>
                <a:cs typeface="IBM Plex Mono" pitchFamily="34" charset="-120"/>
              </a:rPr>
              <a:t>THE PROCESS AS EXECUTED</a:t>
            </a:r>
            <a:endParaRPr lang="en-US" sz="850" dirty="0"/>
          </a:p>
        </p:txBody>
      </p:sp>
      <p:sp>
        <p:nvSpPr>
          <p:cNvPr id="30" name="Shape 28"/>
          <p:cNvSpPr/>
          <p:nvPr/>
        </p:nvSpPr>
        <p:spPr>
          <a:xfrm>
            <a:off x="3410712" y="2743200"/>
            <a:ext cx="0" cy="786384"/>
          </a:xfrm>
          <a:prstGeom prst="line">
            <a:avLst/>
          </a:prstGeom>
          <a:noFill/>
          <a:ln w="19050">
            <a:solidFill>
              <a:srgbClr val="E8B33A"/>
            </a:solidFill>
            <a:prstDash val="solid"/>
          </a:ln>
        </p:spPr>
      </p:sp>
      <p:sp>
        <p:nvSpPr>
          <p:cNvPr id="31" name="Shape 29"/>
          <p:cNvSpPr/>
          <p:nvPr/>
        </p:nvSpPr>
        <p:spPr>
          <a:xfrm>
            <a:off x="3369564" y="3488436"/>
            <a:ext cx="82296" cy="82296"/>
          </a:xfrm>
          <a:prstGeom prst="ellipse">
            <a:avLst/>
          </a:prstGeom>
          <a:solidFill>
            <a:srgbClr val="E8B33A"/>
          </a:solidFill>
          <a:ln w="12700">
            <a:solidFill>
              <a:srgbClr val="333333"/>
            </a:solidFill>
            <a:prstDash val="solid"/>
          </a:ln>
        </p:spPr>
      </p:sp>
      <p:sp>
        <p:nvSpPr>
          <p:cNvPr id="32" name="Text 30"/>
          <p:cNvSpPr txBox="1"/>
          <p:nvPr/>
        </p:nvSpPr>
        <p:spPr>
          <a:xfrm>
            <a:off x="3557016" y="2871216"/>
            <a:ext cx="2011680" cy="420624"/>
          </a:xfrm>
          <a:prstGeom prst="rect">
            <a:avLst/>
          </a:prstGeom>
          <a:noFill/>
          <a:ln/>
        </p:spPr>
        <p:txBody>
          <a:bodyPr wrap="square" lIns="0" tIns="0" rIns="0" bIns="0" rtlCol="0" anchor="ctr"/>
          <a:lstStyle/>
          <a:p>
            <a:pPr indent="0" marL="0">
              <a:lnSpc>
                <a:spcPts val="1500"/>
              </a:lnSpc>
              <a:buNone/>
            </a:pPr>
            <a:r>
              <a:rPr lang="en-US" sz="1050" i="1" dirty="0">
                <a:solidFill>
                  <a:srgbClr val="0E1620"/>
                </a:solidFill>
                <a:latin typeface="Inter" pitchFamily="34" charset="0"/>
                <a:ea typeface="Inter" pitchFamily="34" charset="-122"/>
                <a:cs typeface="Inter" pitchFamily="34" charset="-120"/>
              </a:rPr>
              <a:t>the gap is where</a:t>
            </a:r>
            <a:endParaRPr lang="en-US" sz="1050" dirty="0"/>
          </a:p>
          <a:p>
            <a:pPr indent="0" marL="0">
              <a:lnSpc>
                <a:spcPts val="1500"/>
              </a:lnSpc>
              <a:buNone/>
            </a:pPr>
            <a:r>
              <a:rPr lang="en-US" sz="1050" i="1" dirty="0">
                <a:solidFill>
                  <a:srgbClr val="0E1620"/>
                </a:solidFill>
                <a:latin typeface="Inter" pitchFamily="34" charset="0"/>
                <a:ea typeface="Inter" pitchFamily="34" charset="-122"/>
                <a:cs typeface="Inter" pitchFamily="34" charset="-120"/>
              </a:rPr>
              <a:t>the findings are</a:t>
            </a:r>
            <a:endParaRPr lang="en-US" sz="1050" dirty="0"/>
          </a:p>
        </p:txBody>
      </p:sp>
      <p:sp>
        <p:nvSpPr>
          <p:cNvPr id="33" name="Text 31"/>
          <p:cNvSpPr txBox="1"/>
          <p:nvPr/>
        </p:nvSpPr>
        <p:spPr>
          <a:xfrm>
            <a:off x="7360920" y="2395728"/>
            <a:ext cx="4023360" cy="822960"/>
          </a:xfrm>
          <a:prstGeom prst="rect">
            <a:avLst/>
          </a:prstGeom>
          <a:noFill/>
          <a:ln/>
        </p:spPr>
        <p:txBody>
          <a:bodyPr wrap="square" lIns="0" tIns="0" rIns="0" bIns="0" rtlCol="0" anchor="ctr"/>
          <a:lstStyle/>
          <a:p>
            <a:pPr indent="0" marL="0">
              <a:lnSpc>
                <a:spcPts val="2100"/>
              </a:lnSpc>
              <a:buNone/>
            </a:pPr>
            <a:r>
              <a:rPr lang="en-US" sz="1500" b="1" dirty="0">
                <a:solidFill>
                  <a:srgbClr val="0E1620"/>
                </a:solidFill>
                <a:latin typeface="Schibsted Grotesk" pitchFamily="34" charset="0"/>
                <a:ea typeface="Schibsted Grotesk" pitchFamily="34" charset="-122"/>
                <a:cs typeface="Schibsted Grotesk" pitchFamily="34" charset="-120"/>
              </a:rPr>
              <a:t>Usage statistics. Data quality. Custom code inventory. Close durations measured step by step.</a:t>
            </a:r>
            <a:endParaRPr lang="en-US" sz="1500" dirty="0"/>
          </a:p>
        </p:txBody>
      </p:sp>
      <p:sp>
        <p:nvSpPr>
          <p:cNvPr id="34" name="Text 32"/>
          <p:cNvSpPr txBox="1"/>
          <p:nvPr/>
        </p:nvSpPr>
        <p:spPr>
          <a:xfrm>
            <a:off x="7360920" y="3364992"/>
            <a:ext cx="4023360" cy="1280160"/>
          </a:xfrm>
          <a:prstGeom prst="rect">
            <a:avLst/>
          </a:prstGeom>
          <a:noFill/>
          <a:ln/>
        </p:spPr>
        <p:txBody>
          <a:bodyPr wrap="square" lIns="0" tIns="0" rIns="0" bIns="0" rtlCol="0" anchor="ctr"/>
          <a:lstStyle/>
          <a:p>
            <a:pPr indent="0" marL="0">
              <a:lnSpc>
                <a:spcPts val="1850"/>
              </a:lnSpc>
              <a:buNone/>
            </a:pPr>
            <a:r>
              <a:rPr lang="en-US" sz="1150" dirty="0">
                <a:solidFill>
                  <a:srgbClr val="4A5A67"/>
                </a:solidFill>
                <a:latin typeface="Inter" pitchFamily="34" charset="0"/>
                <a:ea typeface="Inter" pitchFamily="34" charset="-122"/>
                <a:cs typeface="Inter" pitchFamily="34" charset="-120"/>
              </a:rPr>
              <a:t>Every recommendation starts from what the system is doing, not from what the process documentation says it does. The distance between the two is not a detail — in most landscapes it is the problem itself.</a:t>
            </a:r>
            <a:endParaRPr lang="en-US" sz="1150" dirty="0"/>
          </a:p>
        </p:txBody>
      </p:sp>
      <p:sp>
        <p:nvSpPr>
          <p:cNvPr id="35" name="Shape 33"/>
          <p:cNvSpPr/>
          <p:nvPr/>
        </p:nvSpPr>
        <p:spPr>
          <a:xfrm>
            <a:off x="7360920" y="4828032"/>
            <a:ext cx="4023360" cy="0"/>
          </a:xfrm>
          <a:prstGeom prst="line">
            <a:avLst/>
          </a:prstGeom>
          <a:noFill/>
          <a:ln w="12700">
            <a:solidFill>
              <a:srgbClr val="C9D6DE"/>
            </a:solidFill>
            <a:prstDash val="solid"/>
          </a:ln>
        </p:spPr>
      </p:sp>
      <p:sp>
        <p:nvSpPr>
          <p:cNvPr id="36" name="Text 34"/>
          <p:cNvSpPr txBox="1"/>
          <p:nvPr/>
        </p:nvSpPr>
        <p:spPr>
          <a:xfrm>
            <a:off x="7360920" y="4974336"/>
            <a:ext cx="3017520" cy="402336"/>
          </a:xfrm>
          <a:prstGeom prst="rect">
            <a:avLst/>
          </a:prstGeom>
          <a:noFill/>
          <a:ln/>
        </p:spPr>
        <p:txBody>
          <a:bodyPr wrap="square" lIns="0" tIns="0" rIns="0" bIns="0" rtlCol="0" anchor="ctr"/>
          <a:lstStyle/>
          <a:p>
            <a:pPr indent="0" marL="0">
              <a:lnSpc>
                <a:spcPts val="1500"/>
              </a:lnSpc>
              <a:buNone/>
            </a:pPr>
            <a:r>
              <a:rPr lang="en-US" sz="1050" dirty="0">
                <a:solidFill>
                  <a:srgbClr val="4A5A67"/>
                </a:solidFill>
                <a:latin typeface="Inter" pitchFamily="34" charset="0"/>
                <a:ea typeface="Inter" pitchFamily="34" charset="-122"/>
                <a:cs typeface="Inter" pitchFamily="34" charset="-120"/>
              </a:rPr>
              <a:t>Nearly every engagement opens with an assessment</a:t>
            </a:r>
            <a:endParaRPr lang="en-US" sz="1050" dirty="0"/>
          </a:p>
        </p:txBody>
      </p:sp>
      <p:sp>
        <p:nvSpPr>
          <p:cNvPr id="37" name="Text 35"/>
          <p:cNvSpPr txBox="1"/>
          <p:nvPr/>
        </p:nvSpPr>
        <p:spPr>
          <a:xfrm>
            <a:off x="10378440" y="4937760"/>
            <a:ext cx="1005840" cy="566928"/>
          </a:xfrm>
          <a:prstGeom prst="rect">
            <a:avLst/>
          </a:prstGeom>
          <a:noFill/>
          <a:ln/>
        </p:spPr>
        <p:txBody>
          <a:bodyPr wrap="square" lIns="0" tIns="0" rIns="0" bIns="0" rtlCol="0" anchor="ctr"/>
          <a:lstStyle/>
          <a:p>
            <a:pPr algn="r" indent="0" marL="0">
              <a:lnSpc>
                <a:spcPts val="1500"/>
              </a:lnSpc>
              <a:buNone/>
            </a:pPr>
            <a:r>
              <a:rPr lang="en-US" sz="1200" dirty="0">
                <a:solidFill>
                  <a:srgbClr val="11676A"/>
                </a:solidFill>
                <a:latin typeface="IBM Plex Mono" pitchFamily="34" charset="0"/>
                <a:ea typeface="IBM Plex Mono" pitchFamily="34" charset="-122"/>
                <a:cs typeface="IBM Plex Mono" pitchFamily="34" charset="-120"/>
              </a:rPr>
              <a:t>2–6</a:t>
            </a:r>
            <a:endParaRPr lang="en-US" sz="1200" dirty="0"/>
          </a:p>
          <a:p>
            <a:pPr algn="r" indent="0" marL="0">
              <a:lnSpc>
                <a:spcPts val="1500"/>
              </a:lnSpc>
              <a:buNone/>
            </a:pPr>
            <a:r>
              <a:rPr lang="en-US" sz="1200" dirty="0">
                <a:solidFill>
                  <a:srgbClr val="11676A"/>
                </a:solidFill>
                <a:latin typeface="IBM Plex Mono" pitchFamily="34" charset="0"/>
                <a:ea typeface="IBM Plex Mono" pitchFamily="34" charset="-122"/>
                <a:cs typeface="IBM Plex Mono" pitchFamily="34" charset="-120"/>
              </a:rPr>
              <a:t>WEEKS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F82"/>
        </a:solidFill>
      </p:bgPr>
    </p:bg>
    <p:spTree>
      <p:nvGrpSpPr>
        <p:cNvPr id="1" name=""/>
        <p:cNvGrpSpPr/>
        <p:nvPr/>
      </p:nvGrpSpPr>
      <p:grpSpPr>
        <a:xfrm>
          <a:off x="0" y="0"/>
          <a:ext cx="0" cy="0"/>
          <a:chOff x="0" y="0"/>
          <a:chExt cx="0" cy="0"/>
        </a:xfrm>
      </p:grpSpPr>
      <p:pic>
        <p:nvPicPr>
          <p:cNvPr id="2" name="Image 0" descr="/tmp/claude-0/-home-user-Default/6c313414-fc11-5a80-9cf8-49dad1a51f26/scratchpad/img/tex-dark.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F5DCA4"/>
                </a:solidFill>
                <a:latin typeface="IBM Plex Mono" pitchFamily="34" charset="0"/>
                <a:ea typeface="IBM Plex Mono" pitchFamily="34" charset="-122"/>
                <a:cs typeface="IBM Plex Mono" pitchFamily="34" charset="-120"/>
              </a:rPr>
              <a:t>THE DECISION WE WILL NOT MAKE FOR YOU</a:t>
            </a:r>
            <a:endParaRPr lang="en-US" sz="950" dirty="0"/>
          </a:p>
        </p:txBody>
      </p:sp>
      <p:sp>
        <p:nvSpPr>
          <p:cNvPr id="4" name="Text 1"/>
          <p:cNvSpPr txBox="1"/>
          <p:nvPr/>
        </p:nvSpPr>
        <p:spPr>
          <a:xfrm>
            <a:off x="777240" y="960120"/>
            <a:ext cx="9601200" cy="1371600"/>
          </a:xfrm>
          <a:prstGeom prst="rect">
            <a:avLst/>
          </a:prstGeom>
          <a:noFill/>
          <a:ln/>
        </p:spPr>
        <p:txBody>
          <a:bodyPr wrap="square" lIns="0" tIns="0" rIns="0" bIns="0" rtlCol="0" anchor="t"/>
          <a:lstStyle/>
          <a:p>
            <a:pPr indent="0" marL="0">
              <a:lnSpc>
                <a:spcPts val="3944"/>
              </a:lnSpc>
              <a:buNone/>
            </a:pPr>
            <a:r>
              <a:rPr lang="en-US" sz="3400" b="1" dirty="0">
                <a:solidFill>
                  <a:srgbClr val="FFFFFF"/>
                </a:solidFill>
                <a:latin typeface="Schibsted Grotesk" pitchFamily="34" charset="0"/>
                <a:ea typeface="Schibsted Grotesk" pitchFamily="34" charset="-122"/>
                <a:cs typeface="Schibsted Grotesk" pitchFamily="34" charset="-120"/>
              </a:rPr>
              <a:t>We do not sell a cloud model.</a:t>
            </a:r>
            <a:endParaRPr lang="en-US" sz="3400" dirty="0"/>
          </a:p>
          <a:p>
            <a:pPr indent="0" marL="0">
              <a:lnSpc>
                <a:spcPts val="3944"/>
              </a:lnSpc>
              <a:buNone/>
            </a:pPr>
            <a:r>
              <a:rPr lang="en-US" sz="3400" b="1" dirty="0">
                <a:solidFill>
                  <a:srgbClr val="FFFFFF"/>
                </a:solidFill>
                <a:latin typeface="Schibsted Grotesk" pitchFamily="34" charset="0"/>
                <a:ea typeface="Schibsted Grotesk" pitchFamily="34" charset="-122"/>
                <a:cs typeface="Schibsted Grotesk" pitchFamily="34" charset="-120"/>
              </a:rPr>
              <a:t>We measure which one you are.</a:t>
            </a:r>
            <a:endParaRPr lang="en-US" sz="3400" dirty="0"/>
          </a:p>
        </p:txBody>
      </p:sp>
      <p:sp>
        <p:nvSpPr>
          <p:cNvPr id="5" name="Shape 2"/>
          <p:cNvSpPr/>
          <p:nvPr/>
        </p:nvSpPr>
        <p:spPr>
          <a:xfrm>
            <a:off x="777240" y="6272784"/>
            <a:ext cx="10637215" cy="0"/>
          </a:xfrm>
          <a:prstGeom prst="line">
            <a:avLst/>
          </a:prstGeom>
          <a:noFill/>
          <a:ln w="9525">
            <a:solidFill>
              <a:srgbClr val="FFFFFF">
                <a:alpha val="22000"/>
              </a:srgbClr>
            </a:solidFill>
            <a:prstDash val="solid"/>
          </a:ln>
        </p:spPr>
      </p:sp>
      <p:sp>
        <p:nvSpPr>
          <p:cNvPr id="6"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9DB0C0"/>
                </a:solidFill>
                <a:latin typeface="IBM Plex Mono" pitchFamily="34" charset="0"/>
                <a:ea typeface="IBM Plex Mono" pitchFamily="34" charset="-122"/>
                <a:cs typeface="IBM Plex Mono" pitchFamily="34" charset="-120"/>
              </a:rPr>
              <a:t>CPEAK CONSULTANCY</a:t>
            </a:r>
            <a:endParaRPr lang="en-US" sz="800" dirty="0"/>
          </a:p>
        </p:txBody>
      </p:sp>
      <p:sp>
        <p:nvSpPr>
          <p:cNvPr id="7"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9DB0C0"/>
                </a:solidFill>
                <a:latin typeface="IBM Plex Mono" pitchFamily="34" charset="0"/>
                <a:ea typeface="IBM Plex Mono" pitchFamily="34" charset="-122"/>
                <a:cs typeface="IBM Plex Mono" pitchFamily="34" charset="-120"/>
              </a:rPr>
              <a:t>06 / 14</a:t>
            </a:r>
            <a:endParaRPr lang="en-US" sz="800" dirty="0"/>
          </a:p>
        </p:txBody>
      </p:sp>
      <p:sp>
        <p:nvSpPr>
          <p:cNvPr id="8" name="Text 5"/>
          <p:cNvSpPr txBox="1"/>
          <p:nvPr/>
        </p:nvSpPr>
        <p:spPr>
          <a:xfrm>
            <a:off x="777240" y="2615184"/>
            <a:ext cx="4297680" cy="237744"/>
          </a:xfrm>
          <a:prstGeom prst="rect">
            <a:avLst/>
          </a:prstGeom>
          <a:noFill/>
          <a:ln/>
        </p:spPr>
        <p:txBody>
          <a:bodyPr wrap="square" lIns="0" tIns="0" rIns="0" bIns="0" rtlCol="0" anchor="ctr"/>
          <a:lstStyle/>
          <a:p>
            <a:pPr indent="0" marL="0">
              <a:buNone/>
            </a:pPr>
            <a:r>
              <a:rPr lang="en-US" sz="950" spc="190" kern="0" dirty="0">
                <a:solidFill>
                  <a:srgbClr val="F5DCA4"/>
                </a:solidFill>
                <a:latin typeface="IBM Plex Mono" pitchFamily="34" charset="0"/>
                <a:ea typeface="IBM Plex Mono" pitchFamily="34" charset="-122"/>
                <a:cs typeface="IBM Plex Mono" pitchFamily="34" charset="-120"/>
              </a:rPr>
              <a:t>PUBLIC CLOUD</a:t>
            </a:r>
            <a:endParaRPr lang="en-US" sz="950" dirty="0"/>
          </a:p>
        </p:txBody>
      </p:sp>
      <p:sp>
        <p:nvSpPr>
          <p:cNvPr id="9" name="Shape 6"/>
          <p:cNvSpPr/>
          <p:nvPr/>
        </p:nvSpPr>
        <p:spPr>
          <a:xfrm>
            <a:off x="777240" y="2980944"/>
            <a:ext cx="4297680" cy="0"/>
          </a:xfrm>
          <a:prstGeom prst="line">
            <a:avLst/>
          </a:prstGeom>
          <a:noFill/>
          <a:ln w="12700">
            <a:solidFill>
              <a:srgbClr val="FFFFFF">
                <a:alpha val="38000"/>
              </a:srgbClr>
            </a:solidFill>
            <a:prstDash val="solid"/>
          </a:ln>
        </p:spPr>
      </p:sp>
      <p:sp>
        <p:nvSpPr>
          <p:cNvPr id="10" name="Text 7"/>
          <p:cNvSpPr txBox="1"/>
          <p:nvPr/>
        </p:nvSpPr>
        <p:spPr>
          <a:xfrm>
            <a:off x="777240" y="31455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Schibsted Grotesk" pitchFamily="34" charset="0"/>
                <a:ea typeface="Schibsted Grotesk" pitchFamily="34" charset="-122"/>
                <a:cs typeface="Schibsted Grotesk" pitchFamily="34" charset="-120"/>
              </a:rPr>
              <a:t>You adopt the standard.</a:t>
            </a:r>
            <a:endParaRPr lang="en-US" sz="1900" dirty="0"/>
          </a:p>
        </p:txBody>
      </p:sp>
      <p:sp>
        <p:nvSpPr>
          <p:cNvPr id="11" name="Text 8"/>
          <p:cNvSpPr txBox="1"/>
          <p:nvPr/>
        </p:nvSpPr>
        <p:spPr>
          <a:xfrm>
            <a:off x="777240" y="3639312"/>
            <a:ext cx="4114800" cy="914400"/>
          </a:xfrm>
          <a:prstGeom prst="rect">
            <a:avLst/>
          </a:prstGeom>
          <a:noFill/>
          <a:ln/>
        </p:spPr>
        <p:txBody>
          <a:bodyPr wrap="square" lIns="0" tIns="0" rIns="0" bIns="0" rtlCol="0" anchor="ctr"/>
          <a:lstStyle/>
          <a:p>
            <a:pPr indent="0" marL="0">
              <a:lnSpc>
                <a:spcPts val="1850"/>
              </a:lnSpc>
              <a:buNone/>
            </a:pPr>
            <a:r>
              <a:rPr lang="en-US" sz="1150" dirty="0">
                <a:solidFill>
                  <a:srgbClr val="D2DDE6"/>
                </a:solidFill>
                <a:latin typeface="Inter" pitchFamily="34" charset="0"/>
                <a:ea typeface="Inter" pitchFamily="34" charset="-122"/>
                <a:cs typeface="Inter" pitchFamily="34" charset="-120"/>
              </a:rPr>
              <a:t>Speed, a predictable run cost and upgrades you do not manage — in exchange for a core that cannot be modified.</a:t>
            </a:r>
            <a:endParaRPr lang="en-US" sz="1150" dirty="0"/>
          </a:p>
        </p:txBody>
      </p:sp>
      <p:sp>
        <p:nvSpPr>
          <p:cNvPr id="12" name="Text 9"/>
          <p:cNvSpPr txBox="1"/>
          <p:nvPr/>
        </p:nvSpPr>
        <p:spPr>
          <a:xfrm>
            <a:off x="777240" y="4553712"/>
            <a:ext cx="4297680" cy="329184"/>
          </a:xfrm>
          <a:prstGeom prst="rect">
            <a:avLst/>
          </a:prstGeom>
          <a:noFill/>
          <a:ln/>
        </p:spPr>
        <p:txBody>
          <a:bodyPr wrap="square" lIns="0" tIns="0" rIns="0" bIns="0" rtlCol="0" anchor="ctr"/>
          <a:lstStyle/>
          <a:p>
            <a:pPr indent="0" marL="0">
              <a:buNone/>
            </a:pPr>
            <a:r>
              <a:rPr lang="en-US" sz="1300" dirty="0">
                <a:solidFill>
                  <a:srgbClr val="F5DCA4"/>
                </a:solidFill>
                <a:latin typeface="IBM Plex Mono" pitchFamily="34" charset="0"/>
                <a:ea typeface="IBM Plex Mono" pitchFamily="34" charset="-122"/>
                <a:cs typeface="IBM Plex Mono" pitchFamily="34" charset="-120"/>
              </a:rPr>
              <a:t>3–5 months</a:t>
            </a:r>
            <a:endParaRPr lang="en-US" sz="1300" dirty="0"/>
          </a:p>
        </p:txBody>
      </p:sp>
      <p:sp>
        <p:nvSpPr>
          <p:cNvPr id="13" name="Text 10"/>
          <p:cNvSpPr txBox="1"/>
          <p:nvPr/>
        </p:nvSpPr>
        <p:spPr>
          <a:xfrm>
            <a:off x="777240" y="4901184"/>
            <a:ext cx="4297680" cy="219456"/>
          </a:xfrm>
          <a:prstGeom prst="rect">
            <a:avLst/>
          </a:prstGeom>
          <a:noFill/>
          <a:ln/>
        </p:spPr>
        <p:txBody>
          <a:bodyPr wrap="square" lIns="0" tIns="0" rIns="0" bIns="0" rtlCol="0" anchor="ctr"/>
          <a:lstStyle/>
          <a:p>
            <a:pPr indent="0" marL="0">
              <a:buNone/>
            </a:pPr>
            <a:r>
              <a:rPr lang="en-US" sz="950" i="1" dirty="0">
                <a:solidFill>
                  <a:srgbClr val="9DB0C0"/>
                </a:solidFill>
                <a:latin typeface="Inter" pitchFamily="34" charset="0"/>
                <a:ea typeface="Inter" pitchFamily="34" charset="-122"/>
                <a:cs typeface="Inter" pitchFamily="34" charset="-120"/>
              </a:rPr>
              <a:t>single-country finance deployment</a:t>
            </a:r>
            <a:endParaRPr lang="en-US" sz="950" dirty="0"/>
          </a:p>
        </p:txBody>
      </p:sp>
      <p:sp>
        <p:nvSpPr>
          <p:cNvPr id="14" name="Text 11"/>
          <p:cNvSpPr txBox="1"/>
          <p:nvPr/>
        </p:nvSpPr>
        <p:spPr>
          <a:xfrm>
            <a:off x="7116775" y="2615184"/>
            <a:ext cx="4297680" cy="237744"/>
          </a:xfrm>
          <a:prstGeom prst="rect">
            <a:avLst/>
          </a:prstGeom>
          <a:noFill/>
          <a:ln/>
        </p:spPr>
        <p:txBody>
          <a:bodyPr wrap="square" lIns="0" tIns="0" rIns="0" bIns="0" rtlCol="0" anchor="ctr"/>
          <a:lstStyle/>
          <a:p>
            <a:pPr indent="0" marL="0">
              <a:buNone/>
            </a:pPr>
            <a:r>
              <a:rPr lang="en-US" sz="950" spc="190" kern="0" dirty="0">
                <a:solidFill>
                  <a:srgbClr val="F5DCA4"/>
                </a:solidFill>
                <a:latin typeface="IBM Plex Mono" pitchFamily="34" charset="0"/>
                <a:ea typeface="IBM Plex Mono" pitchFamily="34" charset="-122"/>
                <a:cs typeface="IBM Plex Mono" pitchFamily="34" charset="-120"/>
              </a:rPr>
              <a:t>PRIVATE CLOUD</a:t>
            </a:r>
            <a:endParaRPr lang="en-US" sz="950" dirty="0"/>
          </a:p>
        </p:txBody>
      </p:sp>
      <p:sp>
        <p:nvSpPr>
          <p:cNvPr id="15" name="Shape 12"/>
          <p:cNvSpPr/>
          <p:nvPr/>
        </p:nvSpPr>
        <p:spPr>
          <a:xfrm>
            <a:off x="7116775" y="2980944"/>
            <a:ext cx="4297680" cy="0"/>
          </a:xfrm>
          <a:prstGeom prst="line">
            <a:avLst/>
          </a:prstGeom>
          <a:noFill/>
          <a:ln w="12700">
            <a:solidFill>
              <a:srgbClr val="FFFFFF">
                <a:alpha val="38000"/>
              </a:srgbClr>
            </a:solidFill>
            <a:prstDash val="solid"/>
          </a:ln>
        </p:spPr>
      </p:sp>
      <p:sp>
        <p:nvSpPr>
          <p:cNvPr id="16" name="Text 13"/>
          <p:cNvSpPr txBox="1"/>
          <p:nvPr/>
        </p:nvSpPr>
        <p:spPr>
          <a:xfrm>
            <a:off x="7116775" y="31455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Schibsted Grotesk" pitchFamily="34" charset="0"/>
                <a:ea typeface="Schibsted Grotesk" pitchFamily="34" charset="-122"/>
                <a:cs typeface="Schibsted Grotesk" pitchFamily="34" charset="-120"/>
              </a:rPr>
              <a:t>You keep your process logic.</a:t>
            </a:r>
            <a:endParaRPr lang="en-US" sz="1900" dirty="0"/>
          </a:p>
        </p:txBody>
      </p:sp>
      <p:sp>
        <p:nvSpPr>
          <p:cNvPr id="17" name="Text 14"/>
          <p:cNvSpPr txBox="1"/>
          <p:nvPr/>
        </p:nvSpPr>
        <p:spPr>
          <a:xfrm>
            <a:off x="7116775" y="3639312"/>
            <a:ext cx="4114800" cy="914400"/>
          </a:xfrm>
          <a:prstGeom prst="rect">
            <a:avLst/>
          </a:prstGeom>
          <a:noFill/>
          <a:ln/>
        </p:spPr>
        <p:txBody>
          <a:bodyPr wrap="square" lIns="0" tIns="0" rIns="0" bIns="0" rtlCol="0" anchor="ctr"/>
          <a:lstStyle/>
          <a:p>
            <a:pPr indent="0" marL="0">
              <a:lnSpc>
                <a:spcPts val="1850"/>
              </a:lnSpc>
              <a:buNone/>
            </a:pPr>
            <a:r>
              <a:rPr lang="en-US" sz="1150" dirty="0">
                <a:solidFill>
                  <a:srgbClr val="D2DDE6"/>
                </a:solidFill>
                <a:latin typeface="Inter" pitchFamily="34" charset="0"/>
                <a:ea typeface="Inter" pitchFamily="34" charset="-122"/>
                <a:cs typeface="Inter" pitchFamily="34" charset="-120"/>
              </a:rPr>
              <a:t>Flexibility, including your own developments — in exchange for more responsibility and a longer implementation.</a:t>
            </a:r>
            <a:endParaRPr lang="en-US" sz="1150" dirty="0"/>
          </a:p>
        </p:txBody>
      </p:sp>
      <p:sp>
        <p:nvSpPr>
          <p:cNvPr id="18" name="Text 15"/>
          <p:cNvSpPr txBox="1"/>
          <p:nvPr/>
        </p:nvSpPr>
        <p:spPr>
          <a:xfrm>
            <a:off x="7116775" y="4553712"/>
            <a:ext cx="4297680" cy="329184"/>
          </a:xfrm>
          <a:prstGeom prst="rect">
            <a:avLst/>
          </a:prstGeom>
          <a:noFill/>
          <a:ln/>
        </p:spPr>
        <p:txBody>
          <a:bodyPr wrap="square" lIns="0" tIns="0" rIns="0" bIns="0" rtlCol="0" anchor="ctr"/>
          <a:lstStyle/>
          <a:p>
            <a:pPr indent="0" marL="0">
              <a:buNone/>
            </a:pPr>
            <a:r>
              <a:rPr lang="en-US" sz="1300" dirty="0">
                <a:solidFill>
                  <a:srgbClr val="F5DCA4"/>
                </a:solidFill>
                <a:latin typeface="IBM Plex Mono" pitchFamily="34" charset="0"/>
                <a:ea typeface="IBM Plex Mono" pitchFamily="34" charset="-122"/>
                <a:cs typeface="IBM Plex Mono" pitchFamily="34" charset="-120"/>
              </a:rPr>
              <a:t>7–14 months</a:t>
            </a:r>
            <a:endParaRPr lang="en-US" sz="1300" dirty="0"/>
          </a:p>
        </p:txBody>
      </p:sp>
      <p:sp>
        <p:nvSpPr>
          <p:cNvPr id="19" name="Text 16"/>
          <p:cNvSpPr txBox="1"/>
          <p:nvPr/>
        </p:nvSpPr>
        <p:spPr>
          <a:xfrm>
            <a:off x="7116775" y="4901184"/>
            <a:ext cx="4297680" cy="219456"/>
          </a:xfrm>
          <a:prstGeom prst="rect">
            <a:avLst/>
          </a:prstGeom>
          <a:noFill/>
          <a:ln/>
        </p:spPr>
        <p:txBody>
          <a:bodyPr wrap="square" lIns="0" tIns="0" rIns="0" bIns="0" rtlCol="0" anchor="ctr"/>
          <a:lstStyle/>
          <a:p>
            <a:pPr indent="0" marL="0">
              <a:buNone/>
            </a:pPr>
            <a:r>
              <a:rPr lang="en-US" sz="950" i="1" dirty="0">
                <a:solidFill>
                  <a:srgbClr val="9DB0C0"/>
                </a:solidFill>
                <a:latin typeface="Inter" pitchFamily="34" charset="0"/>
                <a:ea typeface="Inter" pitchFamily="34" charset="-122"/>
                <a:cs typeface="Inter" pitchFamily="34" charset="-120"/>
              </a:rPr>
              <a:t>depending on scope and inherited landscape</a:t>
            </a:r>
            <a:endParaRPr lang="en-US" sz="950" dirty="0"/>
          </a:p>
        </p:txBody>
      </p:sp>
      <p:sp>
        <p:nvSpPr>
          <p:cNvPr id="20" name="Shape 17"/>
          <p:cNvSpPr/>
          <p:nvPr/>
        </p:nvSpPr>
        <p:spPr>
          <a:xfrm>
            <a:off x="6095848" y="2569464"/>
            <a:ext cx="0" cy="2743200"/>
          </a:xfrm>
          <a:prstGeom prst="line">
            <a:avLst/>
          </a:prstGeom>
          <a:noFill/>
          <a:ln w="12700">
            <a:solidFill>
              <a:srgbClr val="FFFFFF">
                <a:alpha val="38000"/>
              </a:srgbClr>
            </a:solidFill>
            <a:prstDash val="solid"/>
          </a:ln>
        </p:spPr>
      </p:sp>
      <p:sp>
        <p:nvSpPr>
          <p:cNvPr id="21" name="Shape 18"/>
          <p:cNvSpPr/>
          <p:nvPr/>
        </p:nvSpPr>
        <p:spPr>
          <a:xfrm>
            <a:off x="5528920" y="3657600"/>
            <a:ext cx="1133856" cy="384048"/>
          </a:xfrm>
          <a:prstGeom prst="rect">
            <a:avLst/>
          </a:prstGeom>
          <a:solidFill>
            <a:srgbClr val="003F82"/>
          </a:solidFill>
          <a:ln w="12700">
            <a:solidFill>
              <a:srgbClr val="333333"/>
            </a:solidFill>
            <a:prstDash val="solid"/>
          </a:ln>
        </p:spPr>
      </p:sp>
      <p:sp>
        <p:nvSpPr>
          <p:cNvPr id="22" name="Text 19"/>
          <p:cNvSpPr txBox="1"/>
          <p:nvPr/>
        </p:nvSpPr>
        <p:spPr>
          <a:xfrm>
            <a:off x="5528920" y="3657600"/>
            <a:ext cx="1133856" cy="384048"/>
          </a:xfrm>
          <a:prstGeom prst="rect">
            <a:avLst/>
          </a:prstGeom>
          <a:noFill/>
          <a:ln/>
        </p:spPr>
        <p:txBody>
          <a:bodyPr wrap="square" lIns="0" tIns="0" rIns="0" bIns="0" rtlCol="0" anchor="ctr"/>
          <a:lstStyle/>
          <a:p>
            <a:pPr algn="ctr" indent="0" marL="0">
              <a:buNone/>
            </a:pPr>
            <a:r>
              <a:rPr lang="en-US" sz="900" spc="140" kern="0" dirty="0">
                <a:solidFill>
                  <a:srgbClr val="E8B33A"/>
                </a:solidFill>
                <a:latin typeface="IBM Plex Mono" pitchFamily="34" charset="0"/>
                <a:ea typeface="IBM Plex Mono" pitchFamily="34" charset="-122"/>
                <a:cs typeface="IBM Plex Mono" pitchFamily="34" charset="-120"/>
              </a:rPr>
              <a:t>THE TRADE</a:t>
            </a:r>
            <a:endParaRPr lang="en-US" sz="900" dirty="0"/>
          </a:p>
        </p:txBody>
      </p:sp>
      <p:sp>
        <p:nvSpPr>
          <p:cNvPr id="23" name="Text 20"/>
          <p:cNvSpPr txBox="1"/>
          <p:nvPr/>
        </p:nvSpPr>
        <p:spPr>
          <a:xfrm>
            <a:off x="777240" y="5486400"/>
            <a:ext cx="10241280" cy="658368"/>
          </a:xfrm>
          <a:prstGeom prst="rect">
            <a:avLst/>
          </a:prstGeom>
          <a:noFill/>
          <a:ln/>
        </p:spPr>
        <p:txBody>
          <a:bodyPr wrap="square" lIns="0" tIns="0" rIns="0" bIns="0" rtlCol="0" anchor="ctr"/>
          <a:lstStyle/>
          <a:p>
            <a:pPr indent="0" marL="0">
              <a:lnSpc>
                <a:spcPts val="1800"/>
              </a:lnSpc>
              <a:buNone/>
            </a:pPr>
            <a:r>
              <a:rPr lang="en-US" sz="1150" dirty="0">
                <a:solidFill>
                  <a:srgbClr val="D2DDE6"/>
                </a:solidFill>
                <a:latin typeface="Inter" pitchFamily="34" charset="0"/>
                <a:ea typeface="Inter" pitchFamily="34" charset="-122"/>
                <a:cs typeface="Inter" pitchFamily="34" charset="-120"/>
              </a:rPr>
              <a:t>Neither is the advanced version of the other. We compare your processes against standard scope item by item, put both costs and both constraints side by side, and leave the reasoning on paper. The decision stays yours — and the right moment to take it is before signing.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HOW THE WORK MOVES</a:t>
            </a:r>
            <a:endParaRPr lang="en-US" sz="950" dirty="0"/>
          </a:p>
        </p:txBody>
      </p:sp>
      <p:sp>
        <p:nvSpPr>
          <p:cNvPr id="3" name="Text 1"/>
          <p:cNvSpPr txBox="1"/>
          <p:nvPr/>
        </p:nvSpPr>
        <p:spPr>
          <a:xfrm>
            <a:off x="777240" y="960120"/>
            <a:ext cx="6400800" cy="1371600"/>
          </a:xfrm>
          <a:prstGeom prst="rect">
            <a:avLst/>
          </a:prstGeom>
          <a:noFill/>
          <a:ln/>
        </p:spPr>
        <p:txBody>
          <a:bodyPr wrap="square" lIns="0" tIns="0" rIns="0" bIns="0" rtlCol="0" anchor="t"/>
          <a:lstStyle/>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Nothing starts until the</a:t>
            </a:r>
            <a:endParaRPr lang="en-US" sz="3600" dirty="0"/>
          </a:p>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last thing has closed.</a:t>
            </a:r>
            <a:endParaRPr lang="en-US" sz="36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07 / 14</a:t>
            </a:r>
            <a:endParaRPr lang="en-US" sz="800" dirty="0"/>
          </a:p>
        </p:txBody>
      </p:sp>
      <p:sp>
        <p:nvSpPr>
          <p:cNvPr id="7" name="Text 5"/>
          <p:cNvSpPr txBox="1"/>
          <p:nvPr/>
        </p:nvSpPr>
        <p:spPr>
          <a:xfrm>
            <a:off x="6949440" y="1078992"/>
            <a:ext cx="4434840" cy="1097280"/>
          </a:xfrm>
          <a:prstGeom prst="rect">
            <a:avLst/>
          </a:prstGeom>
          <a:noFill/>
          <a:ln/>
        </p:spPr>
        <p:txBody>
          <a:bodyPr wrap="square" lIns="0" tIns="0" rIns="0" bIns="0" rtlCol="0" anchor="ctr"/>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What each stage delivers is agreed before it begins, and the decision to continue is taken again at every gate. That is what stops a programme collapsing under its own weight.</a:t>
            </a:r>
            <a:endParaRPr lang="en-US" sz="1150" dirty="0"/>
          </a:p>
        </p:txBody>
      </p:sp>
      <p:sp>
        <p:nvSpPr>
          <p:cNvPr id="8" name="Shape 6"/>
          <p:cNvSpPr/>
          <p:nvPr/>
        </p:nvSpPr>
        <p:spPr>
          <a:xfrm>
            <a:off x="777240" y="2788920"/>
            <a:ext cx="10637215" cy="0"/>
          </a:xfrm>
          <a:prstGeom prst="line">
            <a:avLst/>
          </a:prstGeom>
          <a:noFill/>
          <a:ln w="12700">
            <a:solidFill>
              <a:srgbClr val="C9D6DE"/>
            </a:solidFill>
            <a:prstDash val="solid"/>
          </a:ln>
        </p:spPr>
      </p:sp>
      <p:sp>
        <p:nvSpPr>
          <p:cNvPr id="9" name="Shape 7"/>
          <p:cNvSpPr/>
          <p:nvPr/>
        </p:nvSpPr>
        <p:spPr>
          <a:xfrm>
            <a:off x="777240" y="2734056"/>
            <a:ext cx="109728" cy="109728"/>
          </a:xfrm>
          <a:prstGeom prst="ellipse">
            <a:avLst/>
          </a:prstGeom>
          <a:solidFill>
            <a:srgbClr val="11676A"/>
          </a:solidFill>
          <a:ln w="12700">
            <a:solidFill>
              <a:srgbClr val="11676A"/>
            </a:solidFill>
            <a:prstDash val="solid"/>
          </a:ln>
        </p:spPr>
      </p:sp>
      <p:sp>
        <p:nvSpPr>
          <p:cNvPr id="10" name="Text 8"/>
          <p:cNvSpPr txBox="1"/>
          <p:nvPr/>
        </p:nvSpPr>
        <p:spPr>
          <a:xfrm>
            <a:off x="777240" y="3008376"/>
            <a:ext cx="2395728" cy="274320"/>
          </a:xfrm>
          <a:prstGeom prst="rect">
            <a:avLst/>
          </a:prstGeom>
          <a:noFill/>
          <a:ln/>
        </p:spPr>
        <p:txBody>
          <a:bodyPr wrap="square" lIns="0" tIns="0" rIns="0" bIns="0" rtlCol="0" anchor="ctr"/>
          <a:lstStyle/>
          <a:p>
            <a:pPr indent="0" marL="0">
              <a:buNone/>
            </a:pPr>
            <a:r>
              <a:rPr lang="en-US" sz="1300" dirty="0">
                <a:solidFill>
                  <a:srgbClr val="11676A"/>
                </a:solidFill>
                <a:latin typeface="IBM Plex Mono" pitchFamily="34" charset="0"/>
                <a:ea typeface="IBM Plex Mono" pitchFamily="34" charset="-122"/>
                <a:cs typeface="IBM Plex Mono" pitchFamily="34" charset="-120"/>
              </a:rPr>
              <a:t>01</a:t>
            </a:r>
            <a:endParaRPr lang="en-US" sz="1300" dirty="0"/>
          </a:p>
        </p:txBody>
      </p:sp>
      <p:sp>
        <p:nvSpPr>
          <p:cNvPr id="11" name="Text 9"/>
          <p:cNvSpPr txBox="1"/>
          <p:nvPr/>
        </p:nvSpPr>
        <p:spPr>
          <a:xfrm>
            <a:off x="777240" y="3337560"/>
            <a:ext cx="2395728" cy="566928"/>
          </a:xfrm>
          <a:prstGeom prst="rect">
            <a:avLst/>
          </a:prstGeom>
          <a:noFill/>
          <a:ln/>
        </p:spPr>
        <p:txBody>
          <a:bodyPr wrap="square" lIns="0" tIns="0" rIns="0" bIns="0" rtlCol="0" anchor="b"/>
          <a:lstStyle/>
          <a:p>
            <a:pPr indent="0" marL="0">
              <a:lnSpc>
                <a:spcPts val="2200"/>
              </a:lnSpc>
              <a:buNone/>
            </a:pPr>
            <a:r>
              <a:rPr lang="en-US" sz="1700" b="1" dirty="0">
                <a:solidFill>
                  <a:srgbClr val="0E1620"/>
                </a:solidFill>
                <a:latin typeface="Schibsted Grotesk" pitchFamily="34" charset="0"/>
                <a:ea typeface="Schibsted Grotesk" pitchFamily="34" charset="-122"/>
                <a:cs typeface="Schibsted Grotesk" pitchFamily="34" charset="-120"/>
              </a:rPr>
              <a:t>Assessment</a:t>
            </a:r>
            <a:endParaRPr lang="en-US" sz="1700" dirty="0"/>
          </a:p>
        </p:txBody>
      </p:sp>
      <p:sp>
        <p:nvSpPr>
          <p:cNvPr id="12" name="Text 10"/>
          <p:cNvSpPr txBox="1"/>
          <p:nvPr/>
        </p:nvSpPr>
        <p:spPr>
          <a:xfrm>
            <a:off x="777240" y="4032504"/>
            <a:ext cx="2286000" cy="914400"/>
          </a:xfrm>
          <a:prstGeom prst="rect">
            <a:avLst/>
          </a:prstGeom>
          <a:noFill/>
          <a:ln/>
        </p:spPr>
        <p:txBody>
          <a:bodyPr wrap="square" lIns="0" tIns="0" rIns="0" bIns="0" rtlCol="0" anchor="ctr"/>
          <a:lstStyle/>
          <a:p>
            <a:pPr indent="0" marL="0">
              <a:lnSpc>
                <a:spcPts val="1650"/>
              </a:lnSpc>
              <a:buNone/>
            </a:pPr>
            <a:r>
              <a:rPr lang="en-US" sz="1050" dirty="0">
                <a:solidFill>
                  <a:srgbClr val="4A5A67"/>
                </a:solidFill>
                <a:latin typeface="Inter" pitchFamily="34" charset="0"/>
                <a:ea typeface="Inter" pitchFamily="34" charset="-122"/>
                <a:cs typeface="Inter" pitchFamily="34" charset="-120"/>
              </a:rPr>
              <a:t>Diagnostic report with prioritised findings, read from system data</a:t>
            </a:r>
            <a:endParaRPr lang="en-US" sz="1050" dirty="0"/>
          </a:p>
        </p:txBody>
      </p:sp>
      <p:sp>
        <p:nvSpPr>
          <p:cNvPr id="13" name="Shape 11"/>
          <p:cNvSpPr/>
          <p:nvPr/>
        </p:nvSpPr>
        <p:spPr>
          <a:xfrm>
            <a:off x="777240" y="5020056"/>
            <a:ext cx="2121408" cy="0"/>
          </a:xfrm>
          <a:prstGeom prst="line">
            <a:avLst/>
          </a:prstGeom>
          <a:noFill/>
          <a:ln w="12700">
            <a:solidFill>
              <a:srgbClr val="C9D6DE"/>
            </a:solidFill>
            <a:prstDash val="solid"/>
          </a:ln>
        </p:spPr>
      </p:sp>
      <p:sp>
        <p:nvSpPr>
          <p:cNvPr id="14" name="Text 12"/>
          <p:cNvSpPr txBox="1"/>
          <p:nvPr/>
        </p:nvSpPr>
        <p:spPr>
          <a:xfrm>
            <a:off x="777240" y="5129784"/>
            <a:ext cx="2395728" cy="237744"/>
          </a:xfrm>
          <a:prstGeom prst="rect">
            <a:avLst/>
          </a:prstGeom>
          <a:noFill/>
          <a:ln/>
        </p:spPr>
        <p:txBody>
          <a:bodyPr wrap="square" lIns="0" tIns="0" rIns="0" bIns="0" rtlCol="0" anchor="ctr"/>
          <a:lstStyle/>
          <a:p>
            <a:pPr indent="0" marL="0">
              <a:buNone/>
            </a:pPr>
            <a:r>
              <a:rPr lang="en-US" sz="1000" dirty="0">
                <a:solidFill>
                  <a:srgbClr val="0E1620"/>
                </a:solidFill>
                <a:latin typeface="IBM Plex Mono" pitchFamily="34" charset="0"/>
                <a:ea typeface="IBM Plex Mono" pitchFamily="34" charset="-122"/>
                <a:cs typeface="IBM Plex Mono" pitchFamily="34" charset="-120"/>
              </a:rPr>
              <a:t>2–6 weeks</a:t>
            </a:r>
            <a:endParaRPr lang="en-US" sz="1000" dirty="0"/>
          </a:p>
        </p:txBody>
      </p:sp>
      <p:sp>
        <p:nvSpPr>
          <p:cNvPr id="15" name="Shape 13"/>
          <p:cNvSpPr/>
          <p:nvPr/>
        </p:nvSpPr>
        <p:spPr>
          <a:xfrm>
            <a:off x="3346704" y="2642616"/>
            <a:ext cx="0" cy="292608"/>
          </a:xfrm>
          <a:prstGeom prst="line">
            <a:avLst/>
          </a:prstGeom>
          <a:noFill/>
          <a:ln w="19050">
            <a:solidFill>
              <a:srgbClr val="E8B33A"/>
            </a:solidFill>
            <a:prstDash val="solid"/>
          </a:ln>
        </p:spPr>
      </p:sp>
      <p:sp>
        <p:nvSpPr>
          <p:cNvPr id="16" name="Text 14"/>
          <p:cNvSpPr txBox="1"/>
          <p:nvPr/>
        </p:nvSpPr>
        <p:spPr>
          <a:xfrm>
            <a:off x="2889504" y="2331720"/>
            <a:ext cx="914400" cy="201168"/>
          </a:xfrm>
          <a:prstGeom prst="rect">
            <a:avLst/>
          </a:prstGeom>
          <a:noFill/>
          <a:ln/>
        </p:spPr>
        <p:txBody>
          <a:bodyPr wrap="square" lIns="0" tIns="0" rIns="0" bIns="0" rtlCol="0" anchor="ctr"/>
          <a:lstStyle/>
          <a:p>
            <a:pPr algn="ctr" indent="0" marL="0">
              <a:buNone/>
            </a:pPr>
            <a:r>
              <a:rPr lang="en-US" sz="750" spc="110" kern="0" dirty="0">
                <a:solidFill>
                  <a:srgbClr val="4A5A67"/>
                </a:solidFill>
                <a:latin typeface="IBM Plex Mono" pitchFamily="34" charset="0"/>
                <a:ea typeface="IBM Plex Mono" pitchFamily="34" charset="-122"/>
                <a:cs typeface="IBM Plex Mono" pitchFamily="34" charset="-120"/>
              </a:rPr>
              <a:t>GATE</a:t>
            </a:r>
            <a:endParaRPr lang="en-US" sz="750" dirty="0"/>
          </a:p>
        </p:txBody>
      </p:sp>
      <p:sp>
        <p:nvSpPr>
          <p:cNvPr id="17" name="Shape 15"/>
          <p:cNvSpPr/>
          <p:nvPr/>
        </p:nvSpPr>
        <p:spPr>
          <a:xfrm>
            <a:off x="3520440" y="2734056"/>
            <a:ext cx="109728" cy="109728"/>
          </a:xfrm>
          <a:prstGeom prst="ellipse">
            <a:avLst/>
          </a:prstGeom>
          <a:solidFill>
            <a:srgbClr val="11676A"/>
          </a:solidFill>
          <a:ln w="12700">
            <a:solidFill>
              <a:srgbClr val="11676A"/>
            </a:solidFill>
            <a:prstDash val="solid"/>
          </a:ln>
        </p:spPr>
      </p:sp>
      <p:sp>
        <p:nvSpPr>
          <p:cNvPr id="18" name="Text 16"/>
          <p:cNvSpPr txBox="1"/>
          <p:nvPr/>
        </p:nvSpPr>
        <p:spPr>
          <a:xfrm>
            <a:off x="3520440" y="3008376"/>
            <a:ext cx="2395728" cy="274320"/>
          </a:xfrm>
          <a:prstGeom prst="rect">
            <a:avLst/>
          </a:prstGeom>
          <a:noFill/>
          <a:ln/>
        </p:spPr>
        <p:txBody>
          <a:bodyPr wrap="square" lIns="0" tIns="0" rIns="0" bIns="0" rtlCol="0" anchor="ctr"/>
          <a:lstStyle/>
          <a:p>
            <a:pPr indent="0" marL="0">
              <a:buNone/>
            </a:pPr>
            <a:r>
              <a:rPr lang="en-US" sz="1300" dirty="0">
                <a:solidFill>
                  <a:srgbClr val="11676A"/>
                </a:solidFill>
                <a:latin typeface="IBM Plex Mono" pitchFamily="34" charset="0"/>
                <a:ea typeface="IBM Plex Mono" pitchFamily="34" charset="-122"/>
                <a:cs typeface="IBM Plex Mono" pitchFamily="34" charset="-120"/>
              </a:rPr>
              <a:t>02</a:t>
            </a:r>
            <a:endParaRPr lang="en-US" sz="1300" dirty="0"/>
          </a:p>
        </p:txBody>
      </p:sp>
      <p:sp>
        <p:nvSpPr>
          <p:cNvPr id="19" name="Text 17"/>
          <p:cNvSpPr txBox="1"/>
          <p:nvPr/>
        </p:nvSpPr>
        <p:spPr>
          <a:xfrm>
            <a:off x="3520440" y="3337560"/>
            <a:ext cx="2395728" cy="566928"/>
          </a:xfrm>
          <a:prstGeom prst="rect">
            <a:avLst/>
          </a:prstGeom>
          <a:noFill/>
          <a:ln/>
        </p:spPr>
        <p:txBody>
          <a:bodyPr wrap="square" lIns="0" tIns="0" rIns="0" bIns="0" rtlCol="0" anchor="b"/>
          <a:lstStyle/>
          <a:p>
            <a:pPr indent="0" marL="0">
              <a:lnSpc>
                <a:spcPts val="2200"/>
              </a:lnSpc>
              <a:buNone/>
            </a:pPr>
            <a:r>
              <a:rPr lang="en-US" sz="1700" b="1" dirty="0">
                <a:solidFill>
                  <a:srgbClr val="0E1620"/>
                </a:solidFill>
                <a:latin typeface="Schibsted Grotesk" pitchFamily="34" charset="0"/>
                <a:ea typeface="Schibsted Grotesk" pitchFamily="34" charset="-122"/>
                <a:cs typeface="Schibsted Grotesk" pitchFamily="34" charset="-120"/>
              </a:rPr>
              <a:t>Architecture</a:t>
            </a:r>
            <a:endParaRPr lang="en-US" sz="1700" dirty="0"/>
          </a:p>
          <a:p>
            <a:pPr indent="0" marL="0">
              <a:lnSpc>
                <a:spcPts val="2200"/>
              </a:lnSpc>
              <a:buNone/>
            </a:pPr>
            <a:r>
              <a:rPr lang="en-US" sz="1700" b="1" dirty="0">
                <a:solidFill>
                  <a:srgbClr val="0E1620"/>
                </a:solidFill>
                <a:latin typeface="Schibsted Grotesk" pitchFamily="34" charset="0"/>
                <a:ea typeface="Schibsted Grotesk" pitchFamily="34" charset="-122"/>
                <a:cs typeface="Schibsted Grotesk" pitchFamily="34" charset="-120"/>
              </a:rPr>
              <a:t>and roadmap</a:t>
            </a:r>
            <a:endParaRPr lang="en-US" sz="1700" dirty="0"/>
          </a:p>
        </p:txBody>
      </p:sp>
      <p:sp>
        <p:nvSpPr>
          <p:cNvPr id="20" name="Text 18"/>
          <p:cNvSpPr txBox="1"/>
          <p:nvPr/>
        </p:nvSpPr>
        <p:spPr>
          <a:xfrm>
            <a:off x="3520440" y="4032504"/>
            <a:ext cx="2286000" cy="914400"/>
          </a:xfrm>
          <a:prstGeom prst="rect">
            <a:avLst/>
          </a:prstGeom>
          <a:noFill/>
          <a:ln/>
        </p:spPr>
        <p:txBody>
          <a:bodyPr wrap="square" lIns="0" tIns="0" rIns="0" bIns="0" rtlCol="0" anchor="ctr"/>
          <a:lstStyle/>
          <a:p>
            <a:pPr indent="0" marL="0">
              <a:lnSpc>
                <a:spcPts val="1650"/>
              </a:lnSpc>
              <a:buNone/>
            </a:pPr>
            <a:r>
              <a:rPr lang="en-US" sz="1050" dirty="0">
                <a:solidFill>
                  <a:srgbClr val="4A5A67"/>
                </a:solidFill>
                <a:latin typeface="Inter" pitchFamily="34" charset="0"/>
                <a:ea typeface="Inter" pitchFamily="34" charset="-122"/>
                <a:cs typeface="Inter" pitchFamily="34" charset="-120"/>
              </a:rPr>
              <a:t>Target architecture and a phased roadmap, options costed side by side</a:t>
            </a:r>
            <a:endParaRPr lang="en-US" sz="1050" dirty="0"/>
          </a:p>
        </p:txBody>
      </p:sp>
      <p:sp>
        <p:nvSpPr>
          <p:cNvPr id="21" name="Shape 19"/>
          <p:cNvSpPr/>
          <p:nvPr/>
        </p:nvSpPr>
        <p:spPr>
          <a:xfrm>
            <a:off x="3520440" y="5020056"/>
            <a:ext cx="2121408" cy="0"/>
          </a:xfrm>
          <a:prstGeom prst="line">
            <a:avLst/>
          </a:prstGeom>
          <a:noFill/>
          <a:ln w="12700">
            <a:solidFill>
              <a:srgbClr val="C9D6DE"/>
            </a:solidFill>
            <a:prstDash val="solid"/>
          </a:ln>
        </p:spPr>
      </p:sp>
      <p:sp>
        <p:nvSpPr>
          <p:cNvPr id="22" name="Text 20"/>
          <p:cNvSpPr txBox="1"/>
          <p:nvPr/>
        </p:nvSpPr>
        <p:spPr>
          <a:xfrm>
            <a:off x="3520440" y="5129784"/>
            <a:ext cx="2395728" cy="237744"/>
          </a:xfrm>
          <a:prstGeom prst="rect">
            <a:avLst/>
          </a:prstGeom>
          <a:noFill/>
          <a:ln/>
        </p:spPr>
        <p:txBody>
          <a:bodyPr wrap="square" lIns="0" tIns="0" rIns="0" bIns="0" rtlCol="0" anchor="ctr"/>
          <a:lstStyle/>
          <a:p>
            <a:pPr indent="0" marL="0">
              <a:buNone/>
            </a:pPr>
            <a:r>
              <a:rPr lang="en-US" sz="1000" dirty="0">
                <a:solidFill>
                  <a:srgbClr val="0E1620"/>
                </a:solidFill>
                <a:latin typeface="IBM Plex Mono" pitchFamily="34" charset="0"/>
                <a:ea typeface="IBM Plex Mono" pitchFamily="34" charset="-122"/>
                <a:cs typeface="IBM Plex Mono" pitchFamily="34" charset="-120"/>
              </a:rPr>
              <a:t>3–6 weeks</a:t>
            </a:r>
            <a:endParaRPr lang="en-US" sz="1000" dirty="0"/>
          </a:p>
        </p:txBody>
      </p:sp>
      <p:sp>
        <p:nvSpPr>
          <p:cNvPr id="23" name="Shape 21"/>
          <p:cNvSpPr/>
          <p:nvPr/>
        </p:nvSpPr>
        <p:spPr>
          <a:xfrm>
            <a:off x="6089904" y="2642616"/>
            <a:ext cx="0" cy="292608"/>
          </a:xfrm>
          <a:prstGeom prst="line">
            <a:avLst/>
          </a:prstGeom>
          <a:noFill/>
          <a:ln w="19050">
            <a:solidFill>
              <a:srgbClr val="E8B33A"/>
            </a:solidFill>
            <a:prstDash val="solid"/>
          </a:ln>
        </p:spPr>
      </p:sp>
      <p:sp>
        <p:nvSpPr>
          <p:cNvPr id="24" name="Text 22"/>
          <p:cNvSpPr txBox="1"/>
          <p:nvPr/>
        </p:nvSpPr>
        <p:spPr>
          <a:xfrm>
            <a:off x="5632704" y="2331720"/>
            <a:ext cx="914400" cy="201168"/>
          </a:xfrm>
          <a:prstGeom prst="rect">
            <a:avLst/>
          </a:prstGeom>
          <a:noFill/>
          <a:ln/>
        </p:spPr>
        <p:txBody>
          <a:bodyPr wrap="square" lIns="0" tIns="0" rIns="0" bIns="0" rtlCol="0" anchor="ctr"/>
          <a:lstStyle/>
          <a:p>
            <a:pPr algn="ctr" indent="0" marL="0">
              <a:buNone/>
            </a:pPr>
            <a:r>
              <a:rPr lang="en-US" sz="750" spc="110" kern="0" dirty="0">
                <a:solidFill>
                  <a:srgbClr val="4A5A67"/>
                </a:solidFill>
                <a:latin typeface="IBM Plex Mono" pitchFamily="34" charset="0"/>
                <a:ea typeface="IBM Plex Mono" pitchFamily="34" charset="-122"/>
                <a:cs typeface="IBM Plex Mono" pitchFamily="34" charset="-120"/>
              </a:rPr>
              <a:t>GATE</a:t>
            </a:r>
            <a:endParaRPr lang="en-US" sz="750" dirty="0"/>
          </a:p>
        </p:txBody>
      </p:sp>
      <p:sp>
        <p:nvSpPr>
          <p:cNvPr id="25" name="Shape 23"/>
          <p:cNvSpPr/>
          <p:nvPr/>
        </p:nvSpPr>
        <p:spPr>
          <a:xfrm>
            <a:off x="6263640" y="2734056"/>
            <a:ext cx="109728" cy="109728"/>
          </a:xfrm>
          <a:prstGeom prst="ellipse">
            <a:avLst/>
          </a:prstGeom>
          <a:solidFill>
            <a:srgbClr val="11676A"/>
          </a:solidFill>
          <a:ln w="12700">
            <a:solidFill>
              <a:srgbClr val="11676A"/>
            </a:solidFill>
            <a:prstDash val="solid"/>
          </a:ln>
        </p:spPr>
      </p:sp>
      <p:sp>
        <p:nvSpPr>
          <p:cNvPr id="26" name="Text 24"/>
          <p:cNvSpPr txBox="1"/>
          <p:nvPr/>
        </p:nvSpPr>
        <p:spPr>
          <a:xfrm>
            <a:off x="6263640" y="3008376"/>
            <a:ext cx="2395728" cy="274320"/>
          </a:xfrm>
          <a:prstGeom prst="rect">
            <a:avLst/>
          </a:prstGeom>
          <a:noFill/>
          <a:ln/>
        </p:spPr>
        <p:txBody>
          <a:bodyPr wrap="square" lIns="0" tIns="0" rIns="0" bIns="0" rtlCol="0" anchor="ctr"/>
          <a:lstStyle/>
          <a:p>
            <a:pPr indent="0" marL="0">
              <a:buNone/>
            </a:pPr>
            <a:r>
              <a:rPr lang="en-US" sz="1300" dirty="0">
                <a:solidFill>
                  <a:srgbClr val="11676A"/>
                </a:solidFill>
                <a:latin typeface="IBM Plex Mono" pitchFamily="34" charset="0"/>
                <a:ea typeface="IBM Plex Mono" pitchFamily="34" charset="-122"/>
                <a:cs typeface="IBM Plex Mono" pitchFamily="34" charset="-120"/>
              </a:rPr>
              <a:t>03</a:t>
            </a:r>
            <a:endParaRPr lang="en-US" sz="1300" dirty="0"/>
          </a:p>
        </p:txBody>
      </p:sp>
      <p:sp>
        <p:nvSpPr>
          <p:cNvPr id="27" name="Text 25"/>
          <p:cNvSpPr txBox="1"/>
          <p:nvPr/>
        </p:nvSpPr>
        <p:spPr>
          <a:xfrm>
            <a:off x="6263640" y="3337560"/>
            <a:ext cx="2395728" cy="566928"/>
          </a:xfrm>
          <a:prstGeom prst="rect">
            <a:avLst/>
          </a:prstGeom>
          <a:noFill/>
          <a:ln/>
        </p:spPr>
        <p:txBody>
          <a:bodyPr wrap="square" lIns="0" tIns="0" rIns="0" bIns="0" rtlCol="0" anchor="b"/>
          <a:lstStyle/>
          <a:p>
            <a:pPr indent="0" marL="0">
              <a:lnSpc>
                <a:spcPts val="2200"/>
              </a:lnSpc>
              <a:buNone/>
            </a:pPr>
            <a:r>
              <a:rPr lang="en-US" sz="1700" b="1" dirty="0">
                <a:solidFill>
                  <a:srgbClr val="0E1620"/>
                </a:solidFill>
                <a:latin typeface="Schibsted Grotesk" pitchFamily="34" charset="0"/>
                <a:ea typeface="Schibsted Grotesk" pitchFamily="34" charset="-122"/>
                <a:cs typeface="Schibsted Grotesk" pitchFamily="34" charset="-120"/>
              </a:rPr>
              <a:t>Delivery</a:t>
            </a:r>
            <a:endParaRPr lang="en-US" sz="1700" dirty="0"/>
          </a:p>
        </p:txBody>
      </p:sp>
      <p:sp>
        <p:nvSpPr>
          <p:cNvPr id="28" name="Text 26"/>
          <p:cNvSpPr txBox="1"/>
          <p:nvPr/>
        </p:nvSpPr>
        <p:spPr>
          <a:xfrm>
            <a:off x="6263640" y="4032504"/>
            <a:ext cx="2286000" cy="914400"/>
          </a:xfrm>
          <a:prstGeom prst="rect">
            <a:avLst/>
          </a:prstGeom>
          <a:noFill/>
          <a:ln/>
        </p:spPr>
        <p:txBody>
          <a:bodyPr wrap="square" lIns="0" tIns="0" rIns="0" bIns="0" rtlCol="0" anchor="ctr"/>
          <a:lstStyle/>
          <a:p>
            <a:pPr indent="0" marL="0">
              <a:lnSpc>
                <a:spcPts val="1650"/>
              </a:lnSpc>
              <a:buNone/>
            </a:pPr>
            <a:r>
              <a:rPr lang="en-US" sz="1050" dirty="0">
                <a:solidFill>
                  <a:srgbClr val="4A5A67"/>
                </a:solidFill>
                <a:latin typeface="Inter" pitchFamily="34" charset="0"/>
                <a:ea typeface="Inter" pitchFamily="34" charset="-122"/>
                <a:cs typeface="Inter" pitchFamily="34" charset="-120"/>
              </a:rPr>
              <a:t>Working system, test records and an hour-by-hour cutover plan</a:t>
            </a:r>
            <a:endParaRPr lang="en-US" sz="1050" dirty="0"/>
          </a:p>
        </p:txBody>
      </p:sp>
      <p:sp>
        <p:nvSpPr>
          <p:cNvPr id="29" name="Shape 27"/>
          <p:cNvSpPr/>
          <p:nvPr/>
        </p:nvSpPr>
        <p:spPr>
          <a:xfrm>
            <a:off x="6263640" y="5020056"/>
            <a:ext cx="2121408" cy="0"/>
          </a:xfrm>
          <a:prstGeom prst="line">
            <a:avLst/>
          </a:prstGeom>
          <a:noFill/>
          <a:ln w="12700">
            <a:solidFill>
              <a:srgbClr val="C9D6DE"/>
            </a:solidFill>
            <a:prstDash val="solid"/>
          </a:ln>
        </p:spPr>
      </p:sp>
      <p:sp>
        <p:nvSpPr>
          <p:cNvPr id="30" name="Text 28"/>
          <p:cNvSpPr txBox="1"/>
          <p:nvPr/>
        </p:nvSpPr>
        <p:spPr>
          <a:xfrm>
            <a:off x="6263640" y="5129784"/>
            <a:ext cx="2395728" cy="237744"/>
          </a:xfrm>
          <a:prstGeom prst="rect">
            <a:avLst/>
          </a:prstGeom>
          <a:noFill/>
          <a:ln/>
        </p:spPr>
        <p:txBody>
          <a:bodyPr wrap="square" lIns="0" tIns="0" rIns="0" bIns="0" rtlCol="0" anchor="ctr"/>
          <a:lstStyle/>
          <a:p>
            <a:pPr indent="0" marL="0">
              <a:buNone/>
            </a:pPr>
            <a:r>
              <a:rPr lang="en-US" sz="1000" dirty="0">
                <a:solidFill>
                  <a:srgbClr val="0E1620"/>
                </a:solidFill>
                <a:latin typeface="IBM Plex Mono" pitchFamily="34" charset="0"/>
                <a:ea typeface="IBM Plex Mono" pitchFamily="34" charset="-122"/>
                <a:cs typeface="IBM Plex Mono" pitchFamily="34" charset="-120"/>
              </a:rPr>
              <a:t>3–14 months</a:t>
            </a:r>
            <a:endParaRPr lang="en-US" sz="1000" dirty="0"/>
          </a:p>
        </p:txBody>
      </p:sp>
      <p:sp>
        <p:nvSpPr>
          <p:cNvPr id="31" name="Shape 29"/>
          <p:cNvSpPr/>
          <p:nvPr/>
        </p:nvSpPr>
        <p:spPr>
          <a:xfrm>
            <a:off x="8833104" y="2642616"/>
            <a:ext cx="0" cy="292608"/>
          </a:xfrm>
          <a:prstGeom prst="line">
            <a:avLst/>
          </a:prstGeom>
          <a:noFill/>
          <a:ln w="19050">
            <a:solidFill>
              <a:srgbClr val="E8B33A"/>
            </a:solidFill>
            <a:prstDash val="solid"/>
          </a:ln>
        </p:spPr>
      </p:sp>
      <p:sp>
        <p:nvSpPr>
          <p:cNvPr id="32" name="Text 30"/>
          <p:cNvSpPr txBox="1"/>
          <p:nvPr/>
        </p:nvSpPr>
        <p:spPr>
          <a:xfrm>
            <a:off x="8375904" y="2331720"/>
            <a:ext cx="914400" cy="201168"/>
          </a:xfrm>
          <a:prstGeom prst="rect">
            <a:avLst/>
          </a:prstGeom>
          <a:noFill/>
          <a:ln/>
        </p:spPr>
        <p:txBody>
          <a:bodyPr wrap="square" lIns="0" tIns="0" rIns="0" bIns="0" rtlCol="0" anchor="ctr"/>
          <a:lstStyle/>
          <a:p>
            <a:pPr algn="ctr" indent="0" marL="0">
              <a:buNone/>
            </a:pPr>
            <a:r>
              <a:rPr lang="en-US" sz="750" spc="110" kern="0" dirty="0">
                <a:solidFill>
                  <a:srgbClr val="4A5A67"/>
                </a:solidFill>
                <a:latin typeface="IBM Plex Mono" pitchFamily="34" charset="0"/>
                <a:ea typeface="IBM Plex Mono" pitchFamily="34" charset="-122"/>
                <a:cs typeface="IBM Plex Mono" pitchFamily="34" charset="-120"/>
              </a:rPr>
              <a:t>GATE</a:t>
            </a:r>
            <a:endParaRPr lang="en-US" sz="750" dirty="0"/>
          </a:p>
        </p:txBody>
      </p:sp>
      <p:sp>
        <p:nvSpPr>
          <p:cNvPr id="33" name="Shape 31"/>
          <p:cNvSpPr/>
          <p:nvPr/>
        </p:nvSpPr>
        <p:spPr>
          <a:xfrm>
            <a:off x="9006840" y="2734056"/>
            <a:ext cx="109728" cy="109728"/>
          </a:xfrm>
          <a:prstGeom prst="ellipse">
            <a:avLst/>
          </a:prstGeom>
          <a:solidFill>
            <a:srgbClr val="11676A"/>
          </a:solidFill>
          <a:ln w="12700">
            <a:solidFill>
              <a:srgbClr val="11676A"/>
            </a:solidFill>
            <a:prstDash val="solid"/>
          </a:ln>
        </p:spPr>
      </p:sp>
      <p:sp>
        <p:nvSpPr>
          <p:cNvPr id="34" name="Text 32"/>
          <p:cNvSpPr txBox="1"/>
          <p:nvPr/>
        </p:nvSpPr>
        <p:spPr>
          <a:xfrm>
            <a:off x="9006840" y="3008376"/>
            <a:ext cx="2395728" cy="274320"/>
          </a:xfrm>
          <a:prstGeom prst="rect">
            <a:avLst/>
          </a:prstGeom>
          <a:noFill/>
          <a:ln/>
        </p:spPr>
        <p:txBody>
          <a:bodyPr wrap="square" lIns="0" tIns="0" rIns="0" bIns="0" rtlCol="0" anchor="ctr"/>
          <a:lstStyle/>
          <a:p>
            <a:pPr indent="0" marL="0">
              <a:buNone/>
            </a:pPr>
            <a:r>
              <a:rPr lang="en-US" sz="1300" dirty="0">
                <a:solidFill>
                  <a:srgbClr val="11676A"/>
                </a:solidFill>
                <a:latin typeface="IBM Plex Mono" pitchFamily="34" charset="0"/>
                <a:ea typeface="IBM Plex Mono" pitchFamily="34" charset="-122"/>
                <a:cs typeface="IBM Plex Mono" pitchFamily="34" charset="-120"/>
              </a:rPr>
              <a:t>04</a:t>
            </a:r>
            <a:endParaRPr lang="en-US" sz="1300" dirty="0"/>
          </a:p>
        </p:txBody>
      </p:sp>
      <p:sp>
        <p:nvSpPr>
          <p:cNvPr id="35" name="Text 33"/>
          <p:cNvSpPr txBox="1"/>
          <p:nvPr/>
        </p:nvSpPr>
        <p:spPr>
          <a:xfrm>
            <a:off x="9006840" y="3337560"/>
            <a:ext cx="2395728" cy="566928"/>
          </a:xfrm>
          <a:prstGeom prst="rect">
            <a:avLst/>
          </a:prstGeom>
          <a:noFill/>
          <a:ln/>
        </p:spPr>
        <p:txBody>
          <a:bodyPr wrap="square" lIns="0" tIns="0" rIns="0" bIns="0" rtlCol="0" anchor="b"/>
          <a:lstStyle/>
          <a:p>
            <a:pPr indent="0" marL="0">
              <a:lnSpc>
                <a:spcPts val="2200"/>
              </a:lnSpc>
              <a:buNone/>
            </a:pPr>
            <a:r>
              <a:rPr lang="en-US" sz="1700" b="1" dirty="0">
                <a:solidFill>
                  <a:srgbClr val="0E1620"/>
                </a:solidFill>
                <a:latin typeface="Schibsted Grotesk" pitchFamily="34" charset="0"/>
                <a:ea typeface="Schibsted Grotesk" pitchFamily="34" charset="-122"/>
                <a:cs typeface="Schibsted Grotesk" pitchFamily="34" charset="-120"/>
              </a:rPr>
              <a:t>Hypercare</a:t>
            </a:r>
            <a:endParaRPr lang="en-US" sz="1700" dirty="0"/>
          </a:p>
        </p:txBody>
      </p:sp>
      <p:sp>
        <p:nvSpPr>
          <p:cNvPr id="36" name="Text 34"/>
          <p:cNvSpPr txBox="1"/>
          <p:nvPr/>
        </p:nvSpPr>
        <p:spPr>
          <a:xfrm>
            <a:off x="9006840" y="4032504"/>
            <a:ext cx="2286000" cy="914400"/>
          </a:xfrm>
          <a:prstGeom prst="rect">
            <a:avLst/>
          </a:prstGeom>
          <a:noFill/>
          <a:ln/>
        </p:spPr>
        <p:txBody>
          <a:bodyPr wrap="square" lIns="0" tIns="0" rIns="0" bIns="0" rtlCol="0" anchor="ctr"/>
          <a:lstStyle/>
          <a:p>
            <a:pPr indent="0" marL="0">
              <a:lnSpc>
                <a:spcPts val="1650"/>
              </a:lnSpc>
              <a:buNone/>
            </a:pPr>
            <a:r>
              <a:rPr lang="en-US" sz="1050" dirty="0">
                <a:solidFill>
                  <a:srgbClr val="4A5A67"/>
                </a:solidFill>
                <a:latin typeface="Inter" pitchFamily="34" charset="0"/>
                <a:ea typeface="Inter" pitchFamily="34" charset="-122"/>
                <a:cs typeface="Inter" pitchFamily="34" charset="-120"/>
              </a:rPr>
              <a:t>The first close run alongside your team, plus an improvement backlog</a:t>
            </a:r>
            <a:endParaRPr lang="en-US" sz="1050" dirty="0"/>
          </a:p>
        </p:txBody>
      </p:sp>
      <p:sp>
        <p:nvSpPr>
          <p:cNvPr id="37" name="Shape 35"/>
          <p:cNvSpPr/>
          <p:nvPr/>
        </p:nvSpPr>
        <p:spPr>
          <a:xfrm>
            <a:off x="9006840" y="5020056"/>
            <a:ext cx="2121408" cy="0"/>
          </a:xfrm>
          <a:prstGeom prst="line">
            <a:avLst/>
          </a:prstGeom>
          <a:noFill/>
          <a:ln w="12700">
            <a:solidFill>
              <a:srgbClr val="C9D6DE"/>
            </a:solidFill>
            <a:prstDash val="solid"/>
          </a:ln>
        </p:spPr>
      </p:sp>
      <p:sp>
        <p:nvSpPr>
          <p:cNvPr id="38" name="Text 36"/>
          <p:cNvSpPr txBox="1"/>
          <p:nvPr/>
        </p:nvSpPr>
        <p:spPr>
          <a:xfrm>
            <a:off x="9006840" y="5129784"/>
            <a:ext cx="2395728" cy="237744"/>
          </a:xfrm>
          <a:prstGeom prst="rect">
            <a:avLst/>
          </a:prstGeom>
          <a:noFill/>
          <a:ln/>
        </p:spPr>
        <p:txBody>
          <a:bodyPr wrap="square" lIns="0" tIns="0" rIns="0" bIns="0" rtlCol="0" anchor="ctr"/>
          <a:lstStyle/>
          <a:p>
            <a:pPr indent="0" marL="0">
              <a:buNone/>
            </a:pPr>
            <a:r>
              <a:rPr lang="en-US" sz="1000" dirty="0">
                <a:solidFill>
                  <a:srgbClr val="0E1620"/>
                </a:solidFill>
                <a:latin typeface="IBM Plex Mono" pitchFamily="34" charset="0"/>
                <a:ea typeface="IBM Plex Mono" pitchFamily="34" charset="-122"/>
                <a:cs typeface="IBM Plex Mono" pitchFamily="34" charset="-120"/>
              </a:rPr>
              <a:t>4–12 weeks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WHERE THE VALUE SHOWS UP</a:t>
            </a:r>
            <a:endParaRPr lang="en-US" sz="950" dirty="0"/>
          </a:p>
        </p:txBody>
      </p:sp>
      <p:sp>
        <p:nvSpPr>
          <p:cNvPr id="3" name="Text 1"/>
          <p:cNvSpPr txBox="1"/>
          <p:nvPr/>
        </p:nvSpPr>
        <p:spPr>
          <a:xfrm>
            <a:off x="777240" y="960120"/>
            <a:ext cx="6400800" cy="1371600"/>
          </a:xfrm>
          <a:prstGeom prst="rect">
            <a:avLst/>
          </a:prstGeom>
          <a:noFill/>
          <a:ln/>
        </p:spPr>
        <p:txBody>
          <a:bodyPr wrap="square" lIns="0" tIns="0" rIns="0" bIns="0" rtlCol="0" anchor="t"/>
          <a:lstStyle/>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Expertise is only worth</a:t>
            </a:r>
            <a:endParaRPr lang="en-US" sz="3600" dirty="0"/>
          </a:p>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what it changes.</a:t>
            </a:r>
            <a:endParaRPr lang="en-US" sz="36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08 / 14</a:t>
            </a:r>
            <a:endParaRPr lang="en-US" sz="800" dirty="0"/>
          </a:p>
        </p:txBody>
      </p:sp>
      <p:sp>
        <p:nvSpPr>
          <p:cNvPr id="7" name="Text 5"/>
          <p:cNvSpPr txBox="1"/>
          <p:nvPr/>
        </p:nvSpPr>
        <p:spPr>
          <a:xfrm>
            <a:off x="777240" y="2633472"/>
            <a:ext cx="3246120" cy="219456"/>
          </a:xfrm>
          <a:prstGeom prst="rect">
            <a:avLst/>
          </a:prstGeom>
          <a:noFill/>
          <a:ln/>
        </p:spPr>
        <p:txBody>
          <a:bodyPr wrap="square" lIns="0" tIns="0" rIns="0" bIns="0" rtlCol="0" anchor="ctr"/>
          <a:lstStyle/>
          <a:p>
            <a:pPr indent="0" marL="0">
              <a:buNone/>
            </a:pPr>
            <a:r>
              <a:rPr lang="en-US" sz="850" spc="170" kern="0" dirty="0">
                <a:solidFill>
                  <a:srgbClr val="4A5A67"/>
                </a:solidFill>
                <a:latin typeface="IBM Plex Mono" pitchFamily="34" charset="0"/>
                <a:ea typeface="IBM Plex Mono" pitchFamily="34" charset="-122"/>
                <a:cs typeface="IBM Plex Mono" pitchFamily="34" charset="-120"/>
              </a:rPr>
              <a:t>WHAT WE BRING</a:t>
            </a:r>
            <a:endParaRPr lang="en-US" sz="850" dirty="0"/>
          </a:p>
        </p:txBody>
      </p:sp>
      <p:sp>
        <p:nvSpPr>
          <p:cNvPr id="8" name="Text 6"/>
          <p:cNvSpPr txBox="1"/>
          <p:nvPr/>
        </p:nvSpPr>
        <p:spPr>
          <a:xfrm>
            <a:off x="4480560" y="2633472"/>
            <a:ext cx="3246120" cy="219456"/>
          </a:xfrm>
          <a:prstGeom prst="rect">
            <a:avLst/>
          </a:prstGeom>
          <a:noFill/>
          <a:ln/>
        </p:spPr>
        <p:txBody>
          <a:bodyPr wrap="square" lIns="0" tIns="0" rIns="0" bIns="0" rtlCol="0" anchor="ctr"/>
          <a:lstStyle/>
          <a:p>
            <a:pPr indent="0" marL="0">
              <a:buNone/>
            </a:pPr>
            <a:r>
              <a:rPr lang="en-US" sz="850" spc="170" kern="0" dirty="0">
                <a:solidFill>
                  <a:srgbClr val="4A5A67"/>
                </a:solidFill>
                <a:latin typeface="IBM Plex Mono" pitchFamily="34" charset="0"/>
                <a:ea typeface="IBM Plex Mono" pitchFamily="34" charset="-122"/>
                <a:cs typeface="IBM Plex Mono" pitchFamily="34" charset="-120"/>
              </a:rPr>
              <a:t>WHAT WE DO WITH IT</a:t>
            </a:r>
            <a:endParaRPr lang="en-US" sz="850" dirty="0"/>
          </a:p>
        </p:txBody>
      </p:sp>
      <p:sp>
        <p:nvSpPr>
          <p:cNvPr id="9" name="Text 7"/>
          <p:cNvSpPr txBox="1"/>
          <p:nvPr/>
        </p:nvSpPr>
        <p:spPr>
          <a:xfrm>
            <a:off x="8183880" y="2633472"/>
            <a:ext cx="3200400" cy="219456"/>
          </a:xfrm>
          <a:prstGeom prst="rect">
            <a:avLst/>
          </a:prstGeom>
          <a:noFill/>
          <a:ln/>
        </p:spPr>
        <p:txBody>
          <a:bodyPr wrap="square" lIns="0" tIns="0" rIns="0" bIns="0" rtlCol="0" anchor="ctr"/>
          <a:lstStyle/>
          <a:p>
            <a:pPr indent="0" marL="0">
              <a:buNone/>
            </a:pPr>
            <a:r>
              <a:rPr lang="en-US" sz="850" spc="170" kern="0" dirty="0">
                <a:solidFill>
                  <a:srgbClr val="11676A"/>
                </a:solidFill>
                <a:latin typeface="IBM Plex Mono" pitchFamily="34" charset="0"/>
                <a:ea typeface="IBM Plex Mono" pitchFamily="34" charset="-122"/>
                <a:cs typeface="IBM Plex Mono" pitchFamily="34" charset="-120"/>
              </a:rPr>
              <a:t>WHAT CHANGES FOR YOU</a:t>
            </a:r>
            <a:endParaRPr lang="en-US" sz="850" dirty="0"/>
          </a:p>
        </p:txBody>
      </p:sp>
      <p:sp>
        <p:nvSpPr>
          <p:cNvPr id="10" name="Shape 8"/>
          <p:cNvSpPr/>
          <p:nvPr/>
        </p:nvSpPr>
        <p:spPr>
          <a:xfrm>
            <a:off x="777240" y="2944368"/>
            <a:ext cx="10637215" cy="0"/>
          </a:xfrm>
          <a:prstGeom prst="line">
            <a:avLst/>
          </a:prstGeom>
          <a:noFill/>
          <a:ln w="12700">
            <a:solidFill>
              <a:srgbClr val="C9D6DE"/>
            </a:solidFill>
            <a:prstDash val="solid"/>
          </a:ln>
        </p:spPr>
      </p:sp>
      <p:sp>
        <p:nvSpPr>
          <p:cNvPr id="11" name="Text 9"/>
          <p:cNvSpPr txBox="1"/>
          <p:nvPr/>
        </p:nvSpPr>
        <p:spPr>
          <a:xfrm>
            <a:off x="777240" y="3200400"/>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Depth in FI and CO, not breadth beside it</a:t>
            </a:r>
            <a:endParaRPr lang="en-US" sz="1150" dirty="0"/>
          </a:p>
        </p:txBody>
      </p:sp>
      <p:sp>
        <p:nvSpPr>
          <p:cNvPr id="12" name="Text 10"/>
          <p:cNvSpPr txBox="1"/>
          <p:nvPr/>
        </p:nvSpPr>
        <p:spPr>
          <a:xfrm>
            <a:off x="4480560" y="3200400"/>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Rebuild the close so steps run in parallel instead of waiting on each other</a:t>
            </a:r>
            <a:endParaRPr lang="en-US" sz="1150" dirty="0"/>
          </a:p>
        </p:txBody>
      </p:sp>
      <p:sp>
        <p:nvSpPr>
          <p:cNvPr id="13" name="Text 11"/>
          <p:cNvSpPr txBox="1"/>
          <p:nvPr/>
        </p:nvSpPr>
        <p:spPr>
          <a:xfrm>
            <a:off x="8183880" y="3200400"/>
            <a:ext cx="3063240" cy="786384"/>
          </a:xfrm>
          <a:prstGeom prst="rect">
            <a:avLst/>
          </a:prstGeom>
          <a:noFill/>
          <a:ln/>
        </p:spPr>
        <p:txBody>
          <a:bodyPr wrap="square" lIns="0" tIns="0" rIns="0" bIns="0" rtlCol="0" anchor="t"/>
          <a:lstStyle/>
          <a:p>
            <a:pPr indent="0" marL="0">
              <a:lnSpc>
                <a:spcPts val="1900"/>
              </a:lnSpc>
              <a:buNone/>
            </a:pPr>
            <a:r>
              <a:rPr lang="en-US" sz="1300" b="1" dirty="0">
                <a:solidFill>
                  <a:srgbClr val="0E1620"/>
                </a:solidFill>
                <a:latin typeface="Schibsted Grotesk" pitchFamily="34" charset="0"/>
                <a:ea typeface="Schibsted Grotesk" pitchFamily="34" charset="-122"/>
                <a:cs typeface="Schibsted Grotesk" pitchFamily="34" charset="-120"/>
              </a:rPr>
              <a:t>A close that is predictable, not merely shorter</a:t>
            </a:r>
            <a:endParaRPr lang="en-US" sz="1300" dirty="0"/>
          </a:p>
        </p:txBody>
      </p:sp>
      <p:sp>
        <p:nvSpPr>
          <p:cNvPr id="14" name="Shape 12"/>
          <p:cNvSpPr/>
          <p:nvPr/>
        </p:nvSpPr>
        <p:spPr>
          <a:xfrm>
            <a:off x="4201668" y="3305556"/>
            <a:ext cx="82296" cy="82296"/>
          </a:xfrm>
          <a:prstGeom prst="ellipse">
            <a:avLst/>
          </a:prstGeom>
          <a:solidFill>
            <a:srgbClr val="C9D6DE"/>
          </a:solidFill>
          <a:ln w="12700">
            <a:solidFill>
              <a:srgbClr val="C9D6DE"/>
            </a:solidFill>
            <a:prstDash val="solid"/>
          </a:ln>
        </p:spPr>
      </p:sp>
      <p:sp>
        <p:nvSpPr>
          <p:cNvPr id="15" name="Shape 13"/>
          <p:cNvSpPr/>
          <p:nvPr/>
        </p:nvSpPr>
        <p:spPr>
          <a:xfrm>
            <a:off x="7904988" y="3305556"/>
            <a:ext cx="82296" cy="82296"/>
          </a:xfrm>
          <a:prstGeom prst="ellipse">
            <a:avLst/>
          </a:prstGeom>
          <a:solidFill>
            <a:srgbClr val="11676A"/>
          </a:solidFill>
          <a:ln w="12700">
            <a:solidFill>
              <a:srgbClr val="11676A"/>
            </a:solidFill>
            <a:prstDash val="solid"/>
          </a:ln>
        </p:spPr>
      </p:sp>
      <p:sp>
        <p:nvSpPr>
          <p:cNvPr id="16" name="Shape 14"/>
          <p:cNvSpPr/>
          <p:nvPr/>
        </p:nvSpPr>
        <p:spPr>
          <a:xfrm>
            <a:off x="777240" y="4133088"/>
            <a:ext cx="10637215" cy="0"/>
          </a:xfrm>
          <a:prstGeom prst="line">
            <a:avLst/>
          </a:prstGeom>
          <a:noFill/>
          <a:ln w="12700">
            <a:solidFill>
              <a:srgbClr val="E2E9EE"/>
            </a:solidFill>
            <a:prstDash val="solid"/>
          </a:ln>
        </p:spPr>
      </p:sp>
      <p:sp>
        <p:nvSpPr>
          <p:cNvPr id="17" name="Text 15"/>
          <p:cNvSpPr txBox="1"/>
          <p:nvPr/>
        </p:nvSpPr>
        <p:spPr>
          <a:xfrm>
            <a:off x="777240" y="4261104"/>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A genuinely neutral read on the cloud models</a:t>
            </a:r>
            <a:endParaRPr lang="en-US" sz="1150" dirty="0"/>
          </a:p>
        </p:txBody>
      </p:sp>
      <p:sp>
        <p:nvSpPr>
          <p:cNvPr id="18" name="Text 16"/>
          <p:cNvSpPr txBox="1"/>
          <p:nvPr/>
        </p:nvSpPr>
        <p:spPr>
          <a:xfrm>
            <a:off x="4480560" y="4261104"/>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Compare your processes against standard scope, item by item, before the contract</a:t>
            </a:r>
            <a:endParaRPr lang="en-US" sz="1150" dirty="0"/>
          </a:p>
        </p:txBody>
      </p:sp>
      <p:sp>
        <p:nvSpPr>
          <p:cNvPr id="19" name="Text 17"/>
          <p:cNvSpPr txBox="1"/>
          <p:nvPr/>
        </p:nvSpPr>
        <p:spPr>
          <a:xfrm>
            <a:off x="8183880" y="4261104"/>
            <a:ext cx="3063240" cy="786384"/>
          </a:xfrm>
          <a:prstGeom prst="rect">
            <a:avLst/>
          </a:prstGeom>
          <a:noFill/>
          <a:ln/>
        </p:spPr>
        <p:txBody>
          <a:bodyPr wrap="square" lIns="0" tIns="0" rIns="0" bIns="0" rtlCol="0" anchor="t"/>
          <a:lstStyle/>
          <a:p>
            <a:pPr indent="0" marL="0">
              <a:lnSpc>
                <a:spcPts val="1900"/>
              </a:lnSpc>
              <a:buNone/>
            </a:pPr>
            <a:r>
              <a:rPr lang="en-US" sz="1300" b="1" dirty="0">
                <a:solidFill>
                  <a:srgbClr val="0E1620"/>
                </a:solidFill>
                <a:latin typeface="Schibsted Grotesk" pitchFamily="34" charset="0"/>
                <a:ea typeface="Schibsted Grotesk" pitchFamily="34" charset="-122"/>
                <a:cs typeface="Schibsted Grotesk" pitchFamily="34" charset="-120"/>
              </a:rPr>
              <a:t>A model decision that survives the middle of the project</a:t>
            </a:r>
            <a:endParaRPr lang="en-US" sz="1300" dirty="0"/>
          </a:p>
        </p:txBody>
      </p:sp>
      <p:sp>
        <p:nvSpPr>
          <p:cNvPr id="20" name="Shape 18"/>
          <p:cNvSpPr/>
          <p:nvPr/>
        </p:nvSpPr>
        <p:spPr>
          <a:xfrm>
            <a:off x="4201668" y="4366260"/>
            <a:ext cx="82296" cy="82296"/>
          </a:xfrm>
          <a:prstGeom prst="ellipse">
            <a:avLst/>
          </a:prstGeom>
          <a:solidFill>
            <a:srgbClr val="C9D6DE"/>
          </a:solidFill>
          <a:ln w="12700">
            <a:solidFill>
              <a:srgbClr val="C9D6DE"/>
            </a:solidFill>
            <a:prstDash val="solid"/>
          </a:ln>
        </p:spPr>
      </p:sp>
      <p:sp>
        <p:nvSpPr>
          <p:cNvPr id="21" name="Shape 19"/>
          <p:cNvSpPr/>
          <p:nvPr/>
        </p:nvSpPr>
        <p:spPr>
          <a:xfrm>
            <a:off x="7904988" y="4366260"/>
            <a:ext cx="82296" cy="82296"/>
          </a:xfrm>
          <a:prstGeom prst="ellipse">
            <a:avLst/>
          </a:prstGeom>
          <a:solidFill>
            <a:srgbClr val="11676A"/>
          </a:solidFill>
          <a:ln w="12700">
            <a:solidFill>
              <a:srgbClr val="11676A"/>
            </a:solidFill>
            <a:prstDash val="solid"/>
          </a:ln>
        </p:spPr>
      </p:sp>
      <p:sp>
        <p:nvSpPr>
          <p:cNvPr id="22" name="Shape 20"/>
          <p:cNvSpPr/>
          <p:nvPr/>
        </p:nvSpPr>
        <p:spPr>
          <a:xfrm>
            <a:off x="777240" y="5193792"/>
            <a:ext cx="10637215" cy="0"/>
          </a:xfrm>
          <a:prstGeom prst="line">
            <a:avLst/>
          </a:prstGeom>
          <a:noFill/>
          <a:ln w="12700">
            <a:solidFill>
              <a:srgbClr val="E2E9EE"/>
            </a:solidFill>
            <a:prstDash val="solid"/>
          </a:ln>
        </p:spPr>
      </p:sp>
      <p:sp>
        <p:nvSpPr>
          <p:cNvPr id="23" name="Text 21"/>
          <p:cNvSpPr txBox="1"/>
          <p:nvPr/>
        </p:nvSpPr>
        <p:spPr>
          <a:xfrm>
            <a:off x="777240" y="5321808"/>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AI put where the hours actually are</a:t>
            </a:r>
            <a:endParaRPr lang="en-US" sz="1150" dirty="0"/>
          </a:p>
        </p:txBody>
      </p:sp>
      <p:sp>
        <p:nvSpPr>
          <p:cNvPr id="24" name="Text 22"/>
          <p:cNvSpPr txBox="1"/>
          <p:nvPr/>
        </p:nvSpPr>
        <p:spPr>
          <a:xfrm>
            <a:off x="4480560" y="5321808"/>
            <a:ext cx="3108960" cy="786384"/>
          </a:xfrm>
          <a:prstGeom prst="rect">
            <a:avLst/>
          </a:prstGeom>
          <a:noFill/>
          <a:ln/>
        </p:spPr>
        <p:txBody>
          <a:bodyPr wrap="square" lIns="0" tIns="0" rIns="0" bIns="0" rtlCol="0" anchor="t"/>
          <a:lstStyle/>
          <a:p>
            <a:pPr indent="0" marL="0">
              <a:lnSpc>
                <a:spcPts val="1800"/>
              </a:lnSpc>
              <a:buNone/>
            </a:pPr>
            <a:r>
              <a:rPr lang="en-US" sz="1150" dirty="0">
                <a:solidFill>
                  <a:srgbClr val="4A5A67"/>
                </a:solidFill>
                <a:latin typeface="Inter" pitchFamily="34" charset="0"/>
                <a:ea typeface="Inter" pitchFamily="34" charset="-122"/>
                <a:cs typeface="Inter" pitchFamily="34" charset="-120"/>
              </a:rPr>
              <a:t>Calibrate matching thresholds against your own data and write the oversight rules down</a:t>
            </a:r>
            <a:endParaRPr lang="en-US" sz="1150" dirty="0"/>
          </a:p>
        </p:txBody>
      </p:sp>
      <p:sp>
        <p:nvSpPr>
          <p:cNvPr id="25" name="Text 23"/>
          <p:cNvSpPr txBox="1"/>
          <p:nvPr/>
        </p:nvSpPr>
        <p:spPr>
          <a:xfrm>
            <a:off x="8183880" y="5321808"/>
            <a:ext cx="3063240" cy="786384"/>
          </a:xfrm>
          <a:prstGeom prst="rect">
            <a:avLst/>
          </a:prstGeom>
          <a:noFill/>
          <a:ln/>
        </p:spPr>
        <p:txBody>
          <a:bodyPr wrap="square" lIns="0" tIns="0" rIns="0" bIns="0" rtlCol="0" anchor="t"/>
          <a:lstStyle/>
          <a:p>
            <a:pPr indent="0" marL="0">
              <a:lnSpc>
                <a:spcPts val="1900"/>
              </a:lnSpc>
              <a:buNone/>
            </a:pPr>
            <a:r>
              <a:rPr lang="en-US" sz="1300" b="1" dirty="0">
                <a:solidFill>
                  <a:srgbClr val="0E1620"/>
                </a:solidFill>
                <a:latin typeface="Schibsted Grotesk" pitchFamily="34" charset="0"/>
                <a:ea typeface="Schibsted Grotesk" pitchFamily="34" charset="-122"/>
                <a:cs typeface="Schibsted Grotesk" pitchFamily="34" charset="-120"/>
              </a:rPr>
              <a:t>The team moves from matching items to reviewing exceptions</a:t>
            </a:r>
            <a:endParaRPr lang="en-US" sz="1300" dirty="0"/>
          </a:p>
        </p:txBody>
      </p:sp>
      <p:sp>
        <p:nvSpPr>
          <p:cNvPr id="26" name="Shape 24"/>
          <p:cNvSpPr/>
          <p:nvPr/>
        </p:nvSpPr>
        <p:spPr>
          <a:xfrm>
            <a:off x="4201668" y="5426964"/>
            <a:ext cx="82296" cy="82296"/>
          </a:xfrm>
          <a:prstGeom prst="ellipse">
            <a:avLst/>
          </a:prstGeom>
          <a:solidFill>
            <a:srgbClr val="C9D6DE"/>
          </a:solidFill>
          <a:ln w="12700">
            <a:solidFill>
              <a:srgbClr val="C9D6DE"/>
            </a:solidFill>
            <a:prstDash val="solid"/>
          </a:ln>
        </p:spPr>
      </p:sp>
      <p:sp>
        <p:nvSpPr>
          <p:cNvPr id="27" name="Shape 25"/>
          <p:cNvSpPr/>
          <p:nvPr/>
        </p:nvSpPr>
        <p:spPr>
          <a:xfrm>
            <a:off x="7904988" y="5426964"/>
            <a:ext cx="82296" cy="82296"/>
          </a:xfrm>
          <a:prstGeom prst="ellipse">
            <a:avLst/>
          </a:prstGeom>
          <a:solidFill>
            <a:srgbClr val="11676A"/>
          </a:solidFill>
          <a:ln w="12700">
            <a:solidFill>
              <a:srgbClr val="11676A"/>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CAPABILITIES</a:t>
            </a:r>
            <a:endParaRPr lang="en-US" sz="950" dirty="0"/>
          </a:p>
        </p:txBody>
      </p:sp>
      <p:sp>
        <p:nvSpPr>
          <p:cNvPr id="3" name="Text 1"/>
          <p:cNvSpPr txBox="1"/>
          <p:nvPr/>
        </p:nvSpPr>
        <p:spPr>
          <a:xfrm>
            <a:off x="777240" y="896112"/>
            <a:ext cx="8686800" cy="1371600"/>
          </a:xfrm>
          <a:prstGeom prst="rect">
            <a:avLst/>
          </a:prstGeom>
          <a:noFill/>
          <a:ln/>
        </p:spPr>
        <p:txBody>
          <a:bodyPr wrap="square" lIns="0" tIns="0" rIns="0" bIns="0" rtlCol="0" anchor="t"/>
          <a:lstStyle/>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Organised around the question</a:t>
            </a:r>
            <a:endParaRPr lang="en-US" sz="3400" dirty="0"/>
          </a:p>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you are actually asking.</a:t>
            </a:r>
            <a:endParaRPr lang="en-US" sz="34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09 / 14</a:t>
            </a:r>
            <a:endParaRPr lang="en-US" sz="800" dirty="0"/>
          </a:p>
        </p:txBody>
      </p:sp>
      <p:sp>
        <p:nvSpPr>
          <p:cNvPr id="7" name="Shape 5"/>
          <p:cNvSpPr/>
          <p:nvPr/>
        </p:nvSpPr>
        <p:spPr>
          <a:xfrm>
            <a:off x="777240" y="2139696"/>
            <a:ext cx="10637215" cy="0"/>
          </a:xfrm>
          <a:prstGeom prst="line">
            <a:avLst/>
          </a:prstGeom>
          <a:noFill/>
          <a:ln w="12700">
            <a:solidFill>
              <a:srgbClr val="C9D6DE"/>
            </a:solidFill>
            <a:prstDash val="solid"/>
          </a:ln>
        </p:spPr>
      </p:sp>
      <p:sp>
        <p:nvSpPr>
          <p:cNvPr id="8" name="Shape 6"/>
          <p:cNvSpPr/>
          <p:nvPr/>
        </p:nvSpPr>
        <p:spPr>
          <a:xfrm>
            <a:off x="777240" y="2473452"/>
            <a:ext cx="100584" cy="100584"/>
          </a:xfrm>
          <a:prstGeom prst="ellipse">
            <a:avLst/>
          </a:prstGeom>
          <a:solidFill>
            <a:srgbClr val="11676A"/>
          </a:solidFill>
          <a:ln w="12700">
            <a:solidFill>
              <a:srgbClr val="11676A"/>
            </a:solidFill>
            <a:prstDash val="solid"/>
          </a:ln>
        </p:spPr>
      </p:sp>
      <p:sp>
        <p:nvSpPr>
          <p:cNvPr id="9" name="Text 7"/>
          <p:cNvSpPr txBox="1"/>
          <p:nvPr/>
        </p:nvSpPr>
        <p:spPr>
          <a:xfrm>
            <a:off x="1069848" y="2322576"/>
            <a:ext cx="4617720" cy="420624"/>
          </a:xfrm>
          <a:prstGeom prst="rect">
            <a:avLst/>
          </a:prstGeom>
          <a:noFill/>
          <a:ln/>
        </p:spPr>
        <p:txBody>
          <a:bodyPr wrap="square" lIns="0" tIns="0" rIns="0" bIns="0" rtlCol="0" anchor="ctr"/>
          <a:lstStyle/>
          <a:p>
            <a:pPr indent="0" marL="0">
              <a:buNone/>
            </a:pPr>
            <a:r>
              <a:rPr lang="en-US" sz="1500" b="1" dirty="0">
                <a:solidFill>
                  <a:srgbClr val="0E1620"/>
                </a:solidFill>
                <a:latin typeface="Schibsted Grotesk" pitchFamily="34" charset="0"/>
                <a:ea typeface="Schibsted Grotesk" pitchFamily="34" charset="-122"/>
                <a:cs typeface="Schibsted Grotesk" pitchFamily="34" charset="-120"/>
              </a:rPr>
              <a:t>Can we still trust our own numbers?</a:t>
            </a:r>
            <a:endParaRPr lang="en-US" sz="1500" dirty="0"/>
          </a:p>
        </p:txBody>
      </p:sp>
      <p:sp>
        <p:nvSpPr>
          <p:cNvPr id="10" name="Text 8"/>
          <p:cNvSpPr txBox="1"/>
          <p:nvPr/>
        </p:nvSpPr>
        <p:spPr>
          <a:xfrm>
            <a:off x="5897880" y="2368296"/>
            <a:ext cx="2651760" cy="219456"/>
          </a:xfrm>
          <a:prstGeom prst="rect">
            <a:avLst/>
          </a:prstGeom>
          <a:noFill/>
          <a:ln/>
        </p:spPr>
        <p:txBody>
          <a:bodyPr wrap="square" lIns="0" tIns="0" rIns="0" bIns="0" rtlCol="0" anchor="ctr"/>
          <a:lstStyle/>
          <a:p>
            <a:pPr indent="0" marL="0">
              <a:buNone/>
            </a:pPr>
            <a:r>
              <a:rPr lang="en-US" sz="850" spc="150" kern="0" dirty="0">
                <a:solidFill>
                  <a:srgbClr val="11676A"/>
                </a:solidFill>
                <a:latin typeface="IBM Plex Mono" pitchFamily="34" charset="0"/>
                <a:ea typeface="IBM Plex Mono" pitchFamily="34" charset="-122"/>
                <a:cs typeface="IBM Plex Mono" pitchFamily="34" charset="-120"/>
              </a:rPr>
              <a:t>SAP FINANCE MODULES</a:t>
            </a:r>
            <a:endParaRPr lang="en-US" sz="850" dirty="0"/>
          </a:p>
        </p:txBody>
      </p:sp>
      <p:sp>
        <p:nvSpPr>
          <p:cNvPr id="11" name="Text 9"/>
          <p:cNvSpPr txBox="1"/>
          <p:nvPr/>
        </p:nvSpPr>
        <p:spPr>
          <a:xfrm>
            <a:off x="5897880" y="2615184"/>
            <a:ext cx="5440680" cy="256032"/>
          </a:xfrm>
          <a:prstGeom prst="rect">
            <a:avLst/>
          </a:prstGeom>
          <a:noFill/>
          <a:ln/>
        </p:spPr>
        <p:txBody>
          <a:bodyPr wrap="square" lIns="0" tIns="0" rIns="0" bIns="0" rtlCol="0" anchor="ctr"/>
          <a:lstStyle/>
          <a:p>
            <a:pPr indent="0" marL="0">
              <a:buNone/>
            </a:pPr>
            <a:r>
              <a:rPr lang="en-US" sz="1050" dirty="0">
                <a:solidFill>
                  <a:srgbClr val="4A5A67"/>
                </a:solidFill>
                <a:latin typeface="Inter" pitchFamily="34" charset="0"/>
                <a:ea typeface="Inter" pitchFamily="34" charset="-122"/>
                <a:cs typeface="Inter" pitchFamily="34" charset="-120"/>
              </a:rPr>
              <a:t>FI, CO, PA and PS rebuilt as one process architecture, not five parallel ones.</a:t>
            </a:r>
            <a:endParaRPr lang="en-US" sz="1050" dirty="0"/>
          </a:p>
        </p:txBody>
      </p:sp>
      <p:sp>
        <p:nvSpPr>
          <p:cNvPr id="12" name="Shape 10"/>
          <p:cNvSpPr/>
          <p:nvPr/>
        </p:nvSpPr>
        <p:spPr>
          <a:xfrm>
            <a:off x="777240" y="2962656"/>
            <a:ext cx="10637215" cy="0"/>
          </a:xfrm>
          <a:prstGeom prst="line">
            <a:avLst/>
          </a:prstGeom>
          <a:noFill/>
          <a:ln w="12700">
            <a:solidFill>
              <a:srgbClr val="E2E9EE"/>
            </a:solidFill>
            <a:prstDash val="solid"/>
          </a:ln>
        </p:spPr>
      </p:sp>
      <p:sp>
        <p:nvSpPr>
          <p:cNvPr id="13" name="Shape 11"/>
          <p:cNvSpPr/>
          <p:nvPr/>
        </p:nvSpPr>
        <p:spPr>
          <a:xfrm>
            <a:off x="777240" y="3241548"/>
            <a:ext cx="100584" cy="100584"/>
          </a:xfrm>
          <a:prstGeom prst="ellipse">
            <a:avLst/>
          </a:prstGeom>
          <a:solidFill>
            <a:srgbClr val="11676A"/>
          </a:solidFill>
          <a:ln w="12700">
            <a:solidFill>
              <a:srgbClr val="11676A"/>
            </a:solidFill>
            <a:prstDash val="solid"/>
          </a:ln>
        </p:spPr>
      </p:sp>
      <p:sp>
        <p:nvSpPr>
          <p:cNvPr id="14" name="Text 12"/>
          <p:cNvSpPr txBox="1"/>
          <p:nvPr/>
        </p:nvSpPr>
        <p:spPr>
          <a:xfrm>
            <a:off x="1069848" y="3090672"/>
            <a:ext cx="4617720" cy="420624"/>
          </a:xfrm>
          <a:prstGeom prst="rect">
            <a:avLst/>
          </a:prstGeom>
          <a:noFill/>
          <a:ln/>
        </p:spPr>
        <p:txBody>
          <a:bodyPr wrap="square" lIns="0" tIns="0" rIns="0" bIns="0" rtlCol="0" anchor="ctr"/>
          <a:lstStyle/>
          <a:p>
            <a:pPr indent="0" marL="0">
              <a:buNone/>
            </a:pPr>
            <a:r>
              <a:rPr lang="en-US" sz="1500" b="1" dirty="0">
                <a:solidFill>
                  <a:srgbClr val="0E1620"/>
                </a:solidFill>
                <a:latin typeface="Schibsted Grotesk" pitchFamily="34" charset="0"/>
                <a:ea typeface="Schibsted Grotesk" pitchFamily="34" charset="-122"/>
                <a:cs typeface="Schibsted Grotesk" pitchFamily="34" charset="-120"/>
              </a:rPr>
              <a:t>Which road do we take to S/4HANA?</a:t>
            </a:r>
            <a:endParaRPr lang="en-US" sz="1500" dirty="0"/>
          </a:p>
        </p:txBody>
      </p:sp>
      <p:sp>
        <p:nvSpPr>
          <p:cNvPr id="15" name="Text 13"/>
          <p:cNvSpPr txBox="1"/>
          <p:nvPr/>
        </p:nvSpPr>
        <p:spPr>
          <a:xfrm>
            <a:off x="5897880" y="3136392"/>
            <a:ext cx="2651760" cy="219456"/>
          </a:xfrm>
          <a:prstGeom prst="rect">
            <a:avLst/>
          </a:prstGeom>
          <a:noFill/>
          <a:ln/>
        </p:spPr>
        <p:txBody>
          <a:bodyPr wrap="square" lIns="0" tIns="0" rIns="0" bIns="0" rtlCol="0" anchor="ctr"/>
          <a:lstStyle/>
          <a:p>
            <a:pPr indent="0" marL="0">
              <a:buNone/>
            </a:pPr>
            <a:r>
              <a:rPr lang="en-US" sz="850" spc="150" kern="0" dirty="0">
                <a:solidFill>
                  <a:srgbClr val="11676A"/>
                </a:solidFill>
                <a:latin typeface="IBM Plex Mono" pitchFamily="34" charset="0"/>
                <a:ea typeface="IBM Plex Mono" pitchFamily="34" charset="-122"/>
                <a:cs typeface="IBM Plex Mono" pitchFamily="34" charset="-120"/>
              </a:rPr>
              <a:t>S/4HANA TRANSFORMATION</a:t>
            </a:r>
            <a:endParaRPr lang="en-US" sz="850" dirty="0"/>
          </a:p>
        </p:txBody>
      </p:sp>
      <p:sp>
        <p:nvSpPr>
          <p:cNvPr id="16" name="Text 14"/>
          <p:cNvSpPr txBox="1"/>
          <p:nvPr/>
        </p:nvSpPr>
        <p:spPr>
          <a:xfrm>
            <a:off x="5897880" y="3383280"/>
            <a:ext cx="5440680" cy="256032"/>
          </a:xfrm>
          <a:prstGeom prst="rect">
            <a:avLst/>
          </a:prstGeom>
          <a:noFill/>
          <a:ln/>
        </p:spPr>
        <p:txBody>
          <a:bodyPr wrap="square" lIns="0" tIns="0" rIns="0" bIns="0" rtlCol="0" anchor="ctr"/>
          <a:lstStyle/>
          <a:p>
            <a:pPr indent="0" marL="0">
              <a:buNone/>
            </a:pPr>
            <a:r>
              <a:rPr lang="en-US" sz="1050" dirty="0">
                <a:solidFill>
                  <a:srgbClr val="4A5A67"/>
                </a:solidFill>
                <a:latin typeface="Inter" pitchFamily="34" charset="0"/>
                <a:ea typeface="Inter" pitchFamily="34" charset="-122"/>
                <a:cs typeface="Inter" pitchFamily="34" charset="-120"/>
              </a:rPr>
              <a:t>Brownfield, greenfield or selective transition — decided on evidence.</a:t>
            </a:r>
            <a:endParaRPr lang="en-US" sz="1050" dirty="0"/>
          </a:p>
        </p:txBody>
      </p:sp>
      <p:sp>
        <p:nvSpPr>
          <p:cNvPr id="17" name="Shape 15"/>
          <p:cNvSpPr/>
          <p:nvPr/>
        </p:nvSpPr>
        <p:spPr>
          <a:xfrm>
            <a:off x="777240" y="3730752"/>
            <a:ext cx="10637215" cy="0"/>
          </a:xfrm>
          <a:prstGeom prst="line">
            <a:avLst/>
          </a:prstGeom>
          <a:noFill/>
          <a:ln w="12700">
            <a:solidFill>
              <a:srgbClr val="E2E9EE"/>
            </a:solidFill>
            <a:prstDash val="solid"/>
          </a:ln>
        </p:spPr>
      </p:sp>
      <p:sp>
        <p:nvSpPr>
          <p:cNvPr id="18" name="Shape 16"/>
          <p:cNvSpPr/>
          <p:nvPr/>
        </p:nvSpPr>
        <p:spPr>
          <a:xfrm>
            <a:off x="777240" y="4009644"/>
            <a:ext cx="100584" cy="100584"/>
          </a:xfrm>
          <a:prstGeom prst="ellipse">
            <a:avLst/>
          </a:prstGeom>
          <a:solidFill>
            <a:srgbClr val="11676A"/>
          </a:solidFill>
          <a:ln w="12700">
            <a:solidFill>
              <a:srgbClr val="11676A"/>
            </a:solidFill>
            <a:prstDash val="solid"/>
          </a:ln>
        </p:spPr>
      </p:sp>
      <p:sp>
        <p:nvSpPr>
          <p:cNvPr id="19" name="Text 17"/>
          <p:cNvSpPr txBox="1"/>
          <p:nvPr/>
        </p:nvSpPr>
        <p:spPr>
          <a:xfrm>
            <a:off x="1069848" y="3858768"/>
            <a:ext cx="4617720" cy="420624"/>
          </a:xfrm>
          <a:prstGeom prst="rect">
            <a:avLst/>
          </a:prstGeom>
          <a:noFill/>
          <a:ln/>
        </p:spPr>
        <p:txBody>
          <a:bodyPr wrap="square" lIns="0" tIns="0" rIns="0" bIns="0" rtlCol="0" anchor="ctr"/>
          <a:lstStyle/>
          <a:p>
            <a:pPr indent="0" marL="0">
              <a:buNone/>
            </a:pPr>
            <a:r>
              <a:rPr lang="en-US" sz="1500" b="1" dirty="0">
                <a:solidFill>
                  <a:srgbClr val="0E1620"/>
                </a:solidFill>
                <a:latin typeface="Schibsted Grotesk" pitchFamily="34" charset="0"/>
                <a:ea typeface="Schibsted Grotesk" pitchFamily="34" charset="-122"/>
                <a:cs typeface="Schibsted Grotesk" pitchFamily="34" charset="-120"/>
              </a:rPr>
              <a:t>Is standard actually enough for us?</a:t>
            </a:r>
            <a:endParaRPr lang="en-US" sz="1500" dirty="0"/>
          </a:p>
        </p:txBody>
      </p:sp>
      <p:sp>
        <p:nvSpPr>
          <p:cNvPr id="20" name="Text 18"/>
          <p:cNvSpPr txBox="1"/>
          <p:nvPr/>
        </p:nvSpPr>
        <p:spPr>
          <a:xfrm>
            <a:off x="5897880" y="3904488"/>
            <a:ext cx="2651760" cy="219456"/>
          </a:xfrm>
          <a:prstGeom prst="rect">
            <a:avLst/>
          </a:prstGeom>
          <a:noFill/>
          <a:ln/>
        </p:spPr>
        <p:txBody>
          <a:bodyPr wrap="square" lIns="0" tIns="0" rIns="0" bIns="0" rtlCol="0" anchor="ctr"/>
          <a:lstStyle/>
          <a:p>
            <a:pPr indent="0" marL="0">
              <a:buNone/>
            </a:pPr>
            <a:r>
              <a:rPr lang="en-US" sz="850" spc="150" kern="0" dirty="0">
                <a:solidFill>
                  <a:srgbClr val="11676A"/>
                </a:solidFill>
                <a:latin typeface="IBM Plex Mono" pitchFamily="34" charset="0"/>
                <a:ea typeface="IBM Plex Mono" pitchFamily="34" charset="-122"/>
                <a:cs typeface="IBM Plex Mono" pitchFamily="34" charset="-120"/>
              </a:rPr>
              <a:t>SAP PUBLIC CLOUD</a:t>
            </a:r>
            <a:endParaRPr lang="en-US" sz="850" dirty="0"/>
          </a:p>
        </p:txBody>
      </p:sp>
      <p:sp>
        <p:nvSpPr>
          <p:cNvPr id="21" name="Text 19"/>
          <p:cNvSpPr txBox="1"/>
          <p:nvPr/>
        </p:nvSpPr>
        <p:spPr>
          <a:xfrm>
            <a:off x="5897880" y="4151376"/>
            <a:ext cx="5440680" cy="256032"/>
          </a:xfrm>
          <a:prstGeom prst="rect">
            <a:avLst/>
          </a:prstGeom>
          <a:noFill/>
          <a:ln/>
        </p:spPr>
        <p:txBody>
          <a:bodyPr wrap="square" lIns="0" tIns="0" rIns="0" bIns="0" rtlCol="0" anchor="ctr"/>
          <a:lstStyle/>
          <a:p>
            <a:pPr indent="0" marL="0">
              <a:buNone/>
            </a:pPr>
            <a:r>
              <a:rPr lang="en-US" sz="1050" dirty="0">
                <a:solidFill>
                  <a:srgbClr val="4A5A67"/>
                </a:solidFill>
                <a:latin typeface="Inter" pitchFamily="34" charset="0"/>
                <a:ea typeface="Inter" pitchFamily="34" charset="-122"/>
                <a:cs typeface="Inter" pitchFamily="34" charset="-120"/>
              </a:rPr>
              <a:t>How much of your process fits standard scope, established before you commit.</a:t>
            </a:r>
            <a:endParaRPr lang="en-US" sz="1050" dirty="0"/>
          </a:p>
        </p:txBody>
      </p:sp>
      <p:sp>
        <p:nvSpPr>
          <p:cNvPr id="22" name="Shape 20"/>
          <p:cNvSpPr/>
          <p:nvPr/>
        </p:nvSpPr>
        <p:spPr>
          <a:xfrm>
            <a:off x="777240" y="4498848"/>
            <a:ext cx="10637215" cy="0"/>
          </a:xfrm>
          <a:prstGeom prst="line">
            <a:avLst/>
          </a:prstGeom>
          <a:noFill/>
          <a:ln w="12700">
            <a:solidFill>
              <a:srgbClr val="E2E9EE"/>
            </a:solidFill>
            <a:prstDash val="solid"/>
          </a:ln>
        </p:spPr>
      </p:sp>
      <p:sp>
        <p:nvSpPr>
          <p:cNvPr id="23" name="Shape 21"/>
          <p:cNvSpPr/>
          <p:nvPr/>
        </p:nvSpPr>
        <p:spPr>
          <a:xfrm>
            <a:off x="777240" y="4777740"/>
            <a:ext cx="100584" cy="100584"/>
          </a:xfrm>
          <a:prstGeom prst="ellipse">
            <a:avLst/>
          </a:prstGeom>
          <a:solidFill>
            <a:srgbClr val="11676A"/>
          </a:solidFill>
          <a:ln w="12700">
            <a:solidFill>
              <a:srgbClr val="11676A"/>
            </a:solidFill>
            <a:prstDash val="solid"/>
          </a:ln>
        </p:spPr>
      </p:sp>
      <p:sp>
        <p:nvSpPr>
          <p:cNvPr id="24" name="Text 22"/>
          <p:cNvSpPr txBox="1"/>
          <p:nvPr/>
        </p:nvSpPr>
        <p:spPr>
          <a:xfrm>
            <a:off x="1069848" y="4626864"/>
            <a:ext cx="4617720" cy="420624"/>
          </a:xfrm>
          <a:prstGeom prst="rect">
            <a:avLst/>
          </a:prstGeom>
          <a:noFill/>
          <a:ln/>
        </p:spPr>
        <p:txBody>
          <a:bodyPr wrap="square" lIns="0" tIns="0" rIns="0" bIns="0" rtlCol="0" anchor="ctr"/>
          <a:lstStyle/>
          <a:p>
            <a:pPr indent="0" marL="0">
              <a:buNone/>
            </a:pPr>
            <a:r>
              <a:rPr lang="en-US" sz="1500" b="1" dirty="0">
                <a:solidFill>
                  <a:srgbClr val="0E1620"/>
                </a:solidFill>
                <a:latin typeface="Schibsted Grotesk" pitchFamily="34" charset="0"/>
                <a:ea typeface="Schibsted Grotesk" pitchFamily="34" charset="-122"/>
                <a:cs typeface="Schibsted Grotesk" pitchFamily="34" charset="-120"/>
              </a:rPr>
              <a:t>Can we go to cloud and keep our process?</a:t>
            </a:r>
            <a:endParaRPr lang="en-US" sz="1500" dirty="0"/>
          </a:p>
        </p:txBody>
      </p:sp>
      <p:sp>
        <p:nvSpPr>
          <p:cNvPr id="25" name="Text 23"/>
          <p:cNvSpPr txBox="1"/>
          <p:nvPr/>
        </p:nvSpPr>
        <p:spPr>
          <a:xfrm>
            <a:off x="5897880" y="4672584"/>
            <a:ext cx="2651760" cy="219456"/>
          </a:xfrm>
          <a:prstGeom prst="rect">
            <a:avLst/>
          </a:prstGeom>
          <a:noFill/>
          <a:ln/>
        </p:spPr>
        <p:txBody>
          <a:bodyPr wrap="square" lIns="0" tIns="0" rIns="0" bIns="0" rtlCol="0" anchor="ctr"/>
          <a:lstStyle/>
          <a:p>
            <a:pPr indent="0" marL="0">
              <a:buNone/>
            </a:pPr>
            <a:r>
              <a:rPr lang="en-US" sz="850" spc="150" kern="0" dirty="0">
                <a:solidFill>
                  <a:srgbClr val="11676A"/>
                </a:solidFill>
                <a:latin typeface="IBM Plex Mono" pitchFamily="34" charset="0"/>
                <a:ea typeface="IBM Plex Mono" pitchFamily="34" charset="-122"/>
                <a:cs typeface="IBM Plex Mono" pitchFamily="34" charset="-120"/>
              </a:rPr>
              <a:t>SAP PRIVATE CLOUD</a:t>
            </a:r>
            <a:endParaRPr lang="en-US" sz="850" dirty="0"/>
          </a:p>
        </p:txBody>
      </p:sp>
      <p:sp>
        <p:nvSpPr>
          <p:cNvPr id="26" name="Text 24"/>
          <p:cNvSpPr txBox="1"/>
          <p:nvPr/>
        </p:nvSpPr>
        <p:spPr>
          <a:xfrm>
            <a:off x="5897880" y="4919472"/>
            <a:ext cx="5440680" cy="256032"/>
          </a:xfrm>
          <a:prstGeom prst="rect">
            <a:avLst/>
          </a:prstGeom>
          <a:noFill/>
          <a:ln/>
        </p:spPr>
        <p:txBody>
          <a:bodyPr wrap="square" lIns="0" tIns="0" rIns="0" bIns="0" rtlCol="0" anchor="ctr"/>
          <a:lstStyle/>
          <a:p>
            <a:pPr indent="0" marL="0">
              <a:buNone/>
            </a:pPr>
            <a:r>
              <a:rPr lang="en-US" sz="1050" dirty="0">
                <a:solidFill>
                  <a:srgbClr val="4A5A67"/>
                </a:solidFill>
                <a:latin typeface="Inter" pitchFamily="34" charset="0"/>
                <a:ea typeface="Inter" pitchFamily="34" charset="-122"/>
                <a:cs typeface="Inter" pitchFamily="34" charset="-120"/>
              </a:rPr>
              <a:t>Architecture, migration and the boundaries a RISE contract leaves open.</a:t>
            </a:r>
            <a:endParaRPr lang="en-US" sz="1050" dirty="0"/>
          </a:p>
        </p:txBody>
      </p:sp>
      <p:sp>
        <p:nvSpPr>
          <p:cNvPr id="27" name="Shape 25"/>
          <p:cNvSpPr/>
          <p:nvPr/>
        </p:nvSpPr>
        <p:spPr>
          <a:xfrm>
            <a:off x="777240" y="5266944"/>
            <a:ext cx="10637215" cy="0"/>
          </a:xfrm>
          <a:prstGeom prst="line">
            <a:avLst/>
          </a:prstGeom>
          <a:noFill/>
          <a:ln w="12700">
            <a:solidFill>
              <a:srgbClr val="E2E9EE"/>
            </a:solidFill>
            <a:prstDash val="solid"/>
          </a:ln>
        </p:spPr>
      </p:sp>
      <p:sp>
        <p:nvSpPr>
          <p:cNvPr id="28" name="Shape 26"/>
          <p:cNvSpPr/>
          <p:nvPr/>
        </p:nvSpPr>
        <p:spPr>
          <a:xfrm>
            <a:off x="777240" y="5545836"/>
            <a:ext cx="100584" cy="100584"/>
          </a:xfrm>
          <a:prstGeom prst="ellipse">
            <a:avLst/>
          </a:prstGeom>
          <a:solidFill>
            <a:srgbClr val="11676A"/>
          </a:solidFill>
          <a:ln w="12700">
            <a:solidFill>
              <a:srgbClr val="11676A"/>
            </a:solidFill>
            <a:prstDash val="solid"/>
          </a:ln>
        </p:spPr>
      </p:sp>
      <p:sp>
        <p:nvSpPr>
          <p:cNvPr id="29" name="Text 27"/>
          <p:cNvSpPr txBox="1"/>
          <p:nvPr/>
        </p:nvSpPr>
        <p:spPr>
          <a:xfrm>
            <a:off x="1069848" y="5394960"/>
            <a:ext cx="4617720" cy="420624"/>
          </a:xfrm>
          <a:prstGeom prst="rect">
            <a:avLst/>
          </a:prstGeom>
          <a:noFill/>
          <a:ln/>
        </p:spPr>
        <p:txBody>
          <a:bodyPr wrap="square" lIns="0" tIns="0" rIns="0" bIns="0" rtlCol="0" anchor="ctr"/>
          <a:lstStyle/>
          <a:p>
            <a:pPr indent="0" marL="0">
              <a:buNone/>
            </a:pPr>
            <a:r>
              <a:rPr lang="en-US" sz="1500" b="1" dirty="0">
                <a:solidFill>
                  <a:srgbClr val="0E1620"/>
                </a:solidFill>
                <a:latin typeface="Schibsted Grotesk" pitchFamily="34" charset="0"/>
                <a:ea typeface="Schibsted Grotesk" pitchFamily="34" charset="-122"/>
                <a:cs typeface="Schibsted Grotesk" pitchFamily="34" charset="-120"/>
              </a:rPr>
              <a:t>Which of this AI is real for us?</a:t>
            </a:r>
            <a:endParaRPr lang="en-US" sz="1500" dirty="0"/>
          </a:p>
        </p:txBody>
      </p:sp>
      <p:sp>
        <p:nvSpPr>
          <p:cNvPr id="30" name="Text 28"/>
          <p:cNvSpPr txBox="1"/>
          <p:nvPr/>
        </p:nvSpPr>
        <p:spPr>
          <a:xfrm>
            <a:off x="5897880" y="5440680"/>
            <a:ext cx="2651760" cy="219456"/>
          </a:xfrm>
          <a:prstGeom prst="rect">
            <a:avLst/>
          </a:prstGeom>
          <a:noFill/>
          <a:ln/>
        </p:spPr>
        <p:txBody>
          <a:bodyPr wrap="square" lIns="0" tIns="0" rIns="0" bIns="0" rtlCol="0" anchor="ctr"/>
          <a:lstStyle/>
          <a:p>
            <a:pPr indent="0" marL="0">
              <a:buNone/>
            </a:pPr>
            <a:r>
              <a:rPr lang="en-US" sz="850" spc="150" kern="0" dirty="0">
                <a:solidFill>
                  <a:srgbClr val="11676A"/>
                </a:solidFill>
                <a:latin typeface="IBM Plex Mono" pitchFamily="34" charset="0"/>
                <a:ea typeface="IBM Plex Mono" pitchFamily="34" charset="-122"/>
                <a:cs typeface="IBM Plex Mono" pitchFamily="34" charset="-120"/>
              </a:rPr>
              <a:t>AI IN FINANCE</a:t>
            </a:r>
            <a:endParaRPr lang="en-US" sz="850" dirty="0"/>
          </a:p>
        </p:txBody>
      </p:sp>
      <p:sp>
        <p:nvSpPr>
          <p:cNvPr id="31" name="Text 29"/>
          <p:cNvSpPr txBox="1"/>
          <p:nvPr/>
        </p:nvSpPr>
        <p:spPr>
          <a:xfrm>
            <a:off x="5897880" y="5687568"/>
            <a:ext cx="5440680" cy="256032"/>
          </a:xfrm>
          <a:prstGeom prst="rect">
            <a:avLst/>
          </a:prstGeom>
          <a:noFill/>
          <a:ln/>
        </p:spPr>
        <p:txBody>
          <a:bodyPr wrap="square" lIns="0" tIns="0" rIns="0" bIns="0" rtlCol="0" anchor="ctr"/>
          <a:lstStyle/>
          <a:p>
            <a:pPr indent="0" marL="0">
              <a:buNone/>
            </a:pPr>
            <a:r>
              <a:rPr lang="en-US" sz="1050" dirty="0">
                <a:solidFill>
                  <a:srgbClr val="4A5A67"/>
                </a:solidFill>
                <a:latin typeface="Inter" pitchFamily="34" charset="0"/>
                <a:ea typeface="Inter" pitchFamily="34" charset="-122"/>
                <a:cs typeface="Inter" pitchFamily="34" charset="-120"/>
              </a:rPr>
              <a:t>The capabilities you have the data and the discipline to support — sequenced.</a:t>
            </a:r>
            <a:endParaRPr lang="en-US" sz="1050" dirty="0"/>
          </a:p>
        </p:txBody>
      </p:sp>
      <p:sp>
        <p:nvSpPr>
          <p:cNvPr id="32" name="Shape 30"/>
          <p:cNvSpPr/>
          <p:nvPr/>
        </p:nvSpPr>
        <p:spPr>
          <a:xfrm>
            <a:off x="777240" y="6035040"/>
            <a:ext cx="10637215" cy="0"/>
          </a:xfrm>
          <a:prstGeom prst="line">
            <a:avLst/>
          </a:prstGeom>
          <a:noFill/>
          <a:ln w="12700">
            <a:solidFill>
              <a:srgbClr val="C9D6DE"/>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676A"/>
        </a:solidFill>
      </p:bgPr>
    </p:bg>
    <p:spTree>
      <p:nvGrpSpPr>
        <p:cNvPr id="1" name=""/>
        <p:cNvGrpSpPr/>
        <p:nvPr/>
      </p:nvGrpSpPr>
      <p:grpSpPr>
        <a:xfrm>
          <a:off x="0" y="0"/>
          <a:ext cx="0" cy="0"/>
          <a:chOff x="0" y="0"/>
          <a:chExt cx="0" cy="0"/>
        </a:xfrm>
      </p:grpSpPr>
      <p:pic>
        <p:nvPicPr>
          <p:cNvPr id="2" name="Image 0" descr="/tmp/claude-0/-home-user-Default/6c313414-fc11-5a80-9cf8-49dad1a51f26/scratchpad/img/tex-amb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F5DCA4"/>
                </a:solidFill>
                <a:latin typeface="IBM Plex Mono" pitchFamily="34" charset="0"/>
                <a:ea typeface="IBM Plex Mono" pitchFamily="34" charset="-122"/>
                <a:cs typeface="IBM Plex Mono" pitchFamily="34" charset="-120"/>
              </a:rPr>
              <a:t>APPLIED AI</a:t>
            </a:r>
            <a:endParaRPr lang="en-US" sz="950" dirty="0"/>
          </a:p>
        </p:txBody>
      </p:sp>
      <p:sp>
        <p:nvSpPr>
          <p:cNvPr id="4" name="Text 1"/>
          <p:cNvSpPr txBox="1"/>
          <p:nvPr/>
        </p:nvSpPr>
        <p:spPr>
          <a:xfrm>
            <a:off x="777240" y="960120"/>
            <a:ext cx="9601200" cy="1371600"/>
          </a:xfrm>
          <a:prstGeom prst="rect">
            <a:avLst/>
          </a:prstGeom>
          <a:noFill/>
          <a:ln/>
        </p:spPr>
        <p:txBody>
          <a:bodyPr wrap="square" lIns="0" tIns="0" rIns="0" bIns="0" rtlCol="0" anchor="t"/>
          <a:lstStyle/>
          <a:p>
            <a:pPr indent="0" marL="0">
              <a:lnSpc>
                <a:spcPts val="3828"/>
              </a:lnSpc>
              <a:buNone/>
            </a:pPr>
            <a:r>
              <a:rPr lang="en-US" sz="3300" b="1" dirty="0">
                <a:solidFill>
                  <a:srgbClr val="FFFFFF"/>
                </a:solidFill>
                <a:latin typeface="Schibsted Grotesk" pitchFamily="34" charset="0"/>
                <a:ea typeface="Schibsted Grotesk" pitchFamily="34" charset="-122"/>
                <a:cs typeface="Schibsted Grotesk" pitchFamily="34" charset="-120"/>
              </a:rPr>
              <a:t>We use AI twice: inside your</a:t>
            </a:r>
            <a:endParaRPr lang="en-US" sz="3300" dirty="0"/>
          </a:p>
          <a:p>
            <a:pPr indent="0" marL="0">
              <a:lnSpc>
                <a:spcPts val="3828"/>
              </a:lnSpc>
              <a:buNone/>
            </a:pPr>
            <a:r>
              <a:rPr lang="en-US" sz="3300" b="1" dirty="0">
                <a:solidFill>
                  <a:srgbClr val="FFFFFF"/>
                </a:solidFill>
                <a:latin typeface="Schibsted Grotesk" pitchFamily="34" charset="0"/>
                <a:ea typeface="Schibsted Grotesk" pitchFamily="34" charset="-122"/>
                <a:cs typeface="Schibsted Grotesk" pitchFamily="34" charset="-120"/>
              </a:rPr>
              <a:t>processes, and inside our own.</a:t>
            </a:r>
            <a:endParaRPr lang="en-US" sz="3300" dirty="0"/>
          </a:p>
        </p:txBody>
      </p:sp>
      <p:sp>
        <p:nvSpPr>
          <p:cNvPr id="5" name="Shape 2"/>
          <p:cNvSpPr/>
          <p:nvPr/>
        </p:nvSpPr>
        <p:spPr>
          <a:xfrm>
            <a:off x="777240" y="6272784"/>
            <a:ext cx="10637215" cy="0"/>
          </a:xfrm>
          <a:prstGeom prst="line">
            <a:avLst/>
          </a:prstGeom>
          <a:noFill/>
          <a:ln w="9525">
            <a:solidFill>
              <a:srgbClr val="FFFFFF">
                <a:alpha val="22000"/>
              </a:srgbClr>
            </a:solidFill>
            <a:prstDash val="solid"/>
          </a:ln>
        </p:spPr>
      </p:sp>
      <p:sp>
        <p:nvSpPr>
          <p:cNvPr id="6"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9DB0C0"/>
                </a:solidFill>
                <a:latin typeface="IBM Plex Mono" pitchFamily="34" charset="0"/>
                <a:ea typeface="IBM Plex Mono" pitchFamily="34" charset="-122"/>
                <a:cs typeface="IBM Plex Mono" pitchFamily="34" charset="-120"/>
              </a:rPr>
              <a:t>CPEAK CONSULTANCY</a:t>
            </a:r>
            <a:endParaRPr lang="en-US" sz="800" dirty="0"/>
          </a:p>
        </p:txBody>
      </p:sp>
      <p:sp>
        <p:nvSpPr>
          <p:cNvPr id="7"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9DB0C0"/>
                </a:solidFill>
                <a:latin typeface="IBM Plex Mono" pitchFamily="34" charset="0"/>
                <a:ea typeface="IBM Plex Mono" pitchFamily="34" charset="-122"/>
                <a:cs typeface="IBM Plex Mono" pitchFamily="34" charset="-120"/>
              </a:rPr>
              <a:t>10 / 14</a:t>
            </a:r>
            <a:endParaRPr lang="en-US" sz="800" dirty="0"/>
          </a:p>
        </p:txBody>
      </p:sp>
      <p:sp>
        <p:nvSpPr>
          <p:cNvPr id="8" name="Text 5"/>
          <p:cNvSpPr txBox="1"/>
          <p:nvPr/>
        </p:nvSpPr>
        <p:spPr>
          <a:xfrm>
            <a:off x="777240" y="2340864"/>
            <a:ext cx="4754880" cy="237744"/>
          </a:xfrm>
          <a:prstGeom prst="rect">
            <a:avLst/>
          </a:prstGeom>
          <a:noFill/>
          <a:ln/>
        </p:spPr>
        <p:txBody>
          <a:bodyPr wrap="square" lIns="0" tIns="0" rIns="0" bIns="0" rtlCol="0" anchor="ctr"/>
          <a:lstStyle/>
          <a:p>
            <a:pPr indent="0" marL="0">
              <a:buNone/>
            </a:pPr>
            <a:r>
              <a:rPr lang="en-US" sz="900" spc="180" kern="0" dirty="0">
                <a:solidFill>
                  <a:srgbClr val="F5DCA4"/>
                </a:solidFill>
                <a:latin typeface="IBM Plex Mono" pitchFamily="34" charset="0"/>
                <a:ea typeface="IBM Plex Mono" pitchFamily="34" charset="-122"/>
                <a:cs typeface="IBM Plex Mono" pitchFamily="34" charset="-120"/>
              </a:rPr>
              <a:t>IN YOUR FINANCE PROCESSES</a:t>
            </a:r>
            <a:endParaRPr lang="en-US" sz="900" dirty="0"/>
          </a:p>
        </p:txBody>
      </p:sp>
      <p:sp>
        <p:nvSpPr>
          <p:cNvPr id="9" name="Text 6"/>
          <p:cNvSpPr txBox="1"/>
          <p:nvPr/>
        </p:nvSpPr>
        <p:spPr>
          <a:xfrm>
            <a:off x="777240" y="2651760"/>
            <a:ext cx="4754880" cy="347472"/>
          </a:xfrm>
          <a:prstGeom prst="rect">
            <a:avLst/>
          </a:prstGeom>
          <a:noFill/>
          <a:ln/>
        </p:spPr>
        <p:txBody>
          <a:bodyPr wrap="square" lIns="0" tIns="0" rIns="0" bIns="0" rtlCol="0" anchor="ctr"/>
          <a:lstStyle/>
          <a:p>
            <a:pPr indent="0" marL="0">
              <a:buNone/>
            </a:pPr>
            <a:r>
              <a:rPr lang="en-US" sz="1600" b="1" dirty="0">
                <a:solidFill>
                  <a:srgbClr val="FFFFFF"/>
                </a:solidFill>
                <a:latin typeface="Schibsted Grotesk" pitchFamily="34" charset="0"/>
                <a:ea typeface="Schibsted Grotesk" pitchFamily="34" charset="-122"/>
                <a:cs typeface="Schibsted Grotesk" pitchFamily="34" charset="-120"/>
              </a:rPr>
              <a:t>Embedded in SAP, not bought beside it</a:t>
            </a:r>
            <a:endParaRPr lang="en-US" sz="1600" dirty="0"/>
          </a:p>
        </p:txBody>
      </p:sp>
      <p:sp>
        <p:nvSpPr>
          <p:cNvPr id="10" name="Shape 7"/>
          <p:cNvSpPr/>
          <p:nvPr/>
        </p:nvSpPr>
        <p:spPr>
          <a:xfrm>
            <a:off x="777240" y="3127248"/>
            <a:ext cx="4754880" cy="0"/>
          </a:xfrm>
          <a:prstGeom prst="line">
            <a:avLst/>
          </a:prstGeom>
          <a:noFill/>
          <a:ln w="12700">
            <a:solidFill>
              <a:srgbClr val="FFFFFF">
                <a:alpha val="42000"/>
              </a:srgbClr>
            </a:solidFill>
            <a:prstDash val="solid"/>
          </a:ln>
        </p:spPr>
      </p:sp>
      <p:sp>
        <p:nvSpPr>
          <p:cNvPr id="11" name="Shape 8"/>
          <p:cNvSpPr/>
          <p:nvPr/>
        </p:nvSpPr>
        <p:spPr>
          <a:xfrm>
            <a:off x="777240" y="3319272"/>
            <a:ext cx="91440" cy="91440"/>
          </a:xfrm>
          <a:prstGeom prst="ellipse">
            <a:avLst/>
          </a:prstGeom>
          <a:solidFill>
            <a:srgbClr val="E8B33A"/>
          </a:solidFill>
          <a:ln w="12700">
            <a:solidFill>
              <a:srgbClr val="E8B33A"/>
            </a:solidFill>
            <a:prstDash val="solid"/>
          </a:ln>
        </p:spPr>
      </p:sp>
      <p:sp>
        <p:nvSpPr>
          <p:cNvPr id="12" name="Text 9"/>
          <p:cNvSpPr txBox="1"/>
          <p:nvPr/>
        </p:nvSpPr>
        <p:spPr>
          <a:xfrm>
            <a:off x="1051560" y="325526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Intelligent matching — bank and open items cleared from learned clearing behaviour</a:t>
            </a:r>
            <a:endParaRPr lang="en-US" sz="1100" dirty="0"/>
          </a:p>
        </p:txBody>
      </p:sp>
      <p:sp>
        <p:nvSpPr>
          <p:cNvPr id="13" name="Shape 10"/>
          <p:cNvSpPr/>
          <p:nvPr/>
        </p:nvSpPr>
        <p:spPr>
          <a:xfrm>
            <a:off x="777240" y="3959352"/>
            <a:ext cx="91440" cy="91440"/>
          </a:xfrm>
          <a:prstGeom prst="ellipse">
            <a:avLst/>
          </a:prstGeom>
          <a:solidFill>
            <a:srgbClr val="E8B33A"/>
          </a:solidFill>
          <a:ln w="12700">
            <a:solidFill>
              <a:srgbClr val="E8B33A"/>
            </a:solidFill>
            <a:prstDash val="solid"/>
          </a:ln>
        </p:spPr>
      </p:sp>
      <p:sp>
        <p:nvSpPr>
          <p:cNvPr id="14" name="Text 11"/>
          <p:cNvSpPr txBox="1"/>
          <p:nvPr/>
        </p:nvSpPr>
        <p:spPr>
          <a:xfrm>
            <a:off x="1051560" y="389534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Anomaly detection — unusual postings flagged before the close rather than after</a:t>
            </a:r>
            <a:endParaRPr lang="en-US" sz="1100" dirty="0"/>
          </a:p>
        </p:txBody>
      </p:sp>
      <p:sp>
        <p:nvSpPr>
          <p:cNvPr id="15" name="Shape 12"/>
          <p:cNvSpPr/>
          <p:nvPr/>
        </p:nvSpPr>
        <p:spPr>
          <a:xfrm>
            <a:off x="777240" y="4599432"/>
            <a:ext cx="91440" cy="91440"/>
          </a:xfrm>
          <a:prstGeom prst="ellipse">
            <a:avLst/>
          </a:prstGeom>
          <a:solidFill>
            <a:srgbClr val="E8B33A"/>
          </a:solidFill>
          <a:ln w="12700">
            <a:solidFill>
              <a:srgbClr val="E8B33A"/>
            </a:solidFill>
            <a:prstDash val="solid"/>
          </a:ln>
        </p:spPr>
      </p:sp>
      <p:sp>
        <p:nvSpPr>
          <p:cNvPr id="16" name="Text 13"/>
          <p:cNvSpPr txBox="1"/>
          <p:nvPr/>
        </p:nvSpPr>
        <p:spPr>
          <a:xfrm>
            <a:off x="1051560" y="453542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Predictive accounting — the effect of not-yet-final transactions visible during the period</a:t>
            </a:r>
            <a:endParaRPr lang="en-US" sz="1100" dirty="0"/>
          </a:p>
        </p:txBody>
      </p:sp>
      <p:sp>
        <p:nvSpPr>
          <p:cNvPr id="17" name="Shape 14"/>
          <p:cNvSpPr/>
          <p:nvPr/>
        </p:nvSpPr>
        <p:spPr>
          <a:xfrm>
            <a:off x="777240" y="5239512"/>
            <a:ext cx="91440" cy="91440"/>
          </a:xfrm>
          <a:prstGeom prst="ellipse">
            <a:avLst/>
          </a:prstGeom>
          <a:solidFill>
            <a:srgbClr val="E8B33A"/>
          </a:solidFill>
          <a:ln w="12700">
            <a:solidFill>
              <a:srgbClr val="E8B33A"/>
            </a:solidFill>
            <a:prstDash val="solid"/>
          </a:ln>
        </p:spPr>
      </p:sp>
      <p:sp>
        <p:nvSpPr>
          <p:cNvPr id="18" name="Text 15"/>
          <p:cNvSpPr txBox="1"/>
          <p:nvPr/>
        </p:nvSpPr>
        <p:spPr>
          <a:xfrm>
            <a:off x="1051560" y="517550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Joule — a natural-language layer for querying and navigation</a:t>
            </a:r>
            <a:endParaRPr lang="en-US" sz="1100" dirty="0"/>
          </a:p>
        </p:txBody>
      </p:sp>
      <p:sp>
        <p:nvSpPr>
          <p:cNvPr id="19" name="Text 16"/>
          <p:cNvSpPr txBox="1"/>
          <p:nvPr/>
        </p:nvSpPr>
        <p:spPr>
          <a:xfrm>
            <a:off x="6659575" y="2340864"/>
            <a:ext cx="4754880" cy="237744"/>
          </a:xfrm>
          <a:prstGeom prst="rect">
            <a:avLst/>
          </a:prstGeom>
          <a:noFill/>
          <a:ln/>
        </p:spPr>
        <p:txBody>
          <a:bodyPr wrap="square" lIns="0" tIns="0" rIns="0" bIns="0" rtlCol="0" anchor="ctr"/>
          <a:lstStyle/>
          <a:p>
            <a:pPr indent="0" marL="0">
              <a:buNone/>
            </a:pPr>
            <a:r>
              <a:rPr lang="en-US" sz="900" spc="180" kern="0" dirty="0">
                <a:solidFill>
                  <a:srgbClr val="F5DCA4"/>
                </a:solidFill>
                <a:latin typeface="IBM Plex Mono" pitchFamily="34" charset="0"/>
                <a:ea typeface="IBM Plex Mono" pitchFamily="34" charset="-122"/>
                <a:cs typeface="IBM Plex Mono" pitchFamily="34" charset="-120"/>
              </a:rPr>
              <a:t>IN HOW WE DELIVER</a:t>
            </a:r>
            <a:endParaRPr lang="en-US" sz="900" dirty="0"/>
          </a:p>
        </p:txBody>
      </p:sp>
      <p:sp>
        <p:nvSpPr>
          <p:cNvPr id="20" name="Text 17"/>
          <p:cNvSpPr txBox="1"/>
          <p:nvPr/>
        </p:nvSpPr>
        <p:spPr>
          <a:xfrm>
            <a:off x="6659575" y="2651760"/>
            <a:ext cx="4754880" cy="347472"/>
          </a:xfrm>
          <a:prstGeom prst="rect">
            <a:avLst/>
          </a:prstGeom>
          <a:noFill/>
          <a:ln/>
        </p:spPr>
        <p:txBody>
          <a:bodyPr wrap="square" lIns="0" tIns="0" rIns="0" bIns="0" rtlCol="0" anchor="ctr"/>
          <a:lstStyle/>
          <a:p>
            <a:pPr indent="0" marL="0">
              <a:buNone/>
            </a:pPr>
            <a:r>
              <a:rPr lang="en-US" sz="1600" b="1" dirty="0">
                <a:solidFill>
                  <a:srgbClr val="FFFFFF"/>
                </a:solidFill>
                <a:latin typeface="Schibsted Grotesk" pitchFamily="34" charset="0"/>
                <a:ea typeface="Schibsted Grotesk" pitchFamily="34" charset="-122"/>
                <a:cs typeface="Schibsted Grotesk" pitchFamily="34" charset="-120"/>
              </a:rPr>
              <a:t>Applied to volume work, not judgement</a:t>
            </a:r>
            <a:endParaRPr lang="en-US" sz="1600" dirty="0"/>
          </a:p>
        </p:txBody>
      </p:sp>
      <p:sp>
        <p:nvSpPr>
          <p:cNvPr id="21" name="Shape 18"/>
          <p:cNvSpPr/>
          <p:nvPr/>
        </p:nvSpPr>
        <p:spPr>
          <a:xfrm>
            <a:off x="6659575" y="3127248"/>
            <a:ext cx="4754880" cy="0"/>
          </a:xfrm>
          <a:prstGeom prst="line">
            <a:avLst/>
          </a:prstGeom>
          <a:noFill/>
          <a:ln w="12700">
            <a:solidFill>
              <a:srgbClr val="FFFFFF">
                <a:alpha val="42000"/>
              </a:srgbClr>
            </a:solidFill>
            <a:prstDash val="solid"/>
          </a:ln>
        </p:spPr>
      </p:sp>
      <p:sp>
        <p:nvSpPr>
          <p:cNvPr id="22" name="Shape 19"/>
          <p:cNvSpPr/>
          <p:nvPr/>
        </p:nvSpPr>
        <p:spPr>
          <a:xfrm>
            <a:off x="6659575" y="3319272"/>
            <a:ext cx="91440" cy="91440"/>
          </a:xfrm>
          <a:prstGeom prst="ellipse">
            <a:avLst/>
          </a:prstGeom>
          <a:solidFill>
            <a:srgbClr val="E8B33A"/>
          </a:solidFill>
          <a:ln w="12700">
            <a:solidFill>
              <a:srgbClr val="E8B33A"/>
            </a:solidFill>
            <a:prstDash val="solid"/>
          </a:ln>
        </p:spPr>
      </p:sp>
      <p:sp>
        <p:nvSpPr>
          <p:cNvPr id="23" name="Text 20"/>
          <p:cNvSpPr txBox="1"/>
          <p:nvPr/>
        </p:nvSpPr>
        <p:spPr>
          <a:xfrm>
            <a:off x="6933895" y="325526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Custom code inventory and impact analysis</a:t>
            </a:r>
            <a:endParaRPr lang="en-US" sz="1100" dirty="0"/>
          </a:p>
        </p:txBody>
      </p:sp>
      <p:sp>
        <p:nvSpPr>
          <p:cNvPr id="24" name="Shape 21"/>
          <p:cNvSpPr/>
          <p:nvPr/>
        </p:nvSpPr>
        <p:spPr>
          <a:xfrm>
            <a:off x="6659575" y="3959352"/>
            <a:ext cx="91440" cy="91440"/>
          </a:xfrm>
          <a:prstGeom prst="ellipse">
            <a:avLst/>
          </a:prstGeom>
          <a:solidFill>
            <a:srgbClr val="E8B33A"/>
          </a:solidFill>
          <a:ln w="12700">
            <a:solidFill>
              <a:srgbClr val="E8B33A"/>
            </a:solidFill>
            <a:prstDash val="solid"/>
          </a:ln>
        </p:spPr>
      </p:sp>
      <p:sp>
        <p:nvSpPr>
          <p:cNvPr id="25" name="Text 22"/>
          <p:cNvSpPr txBox="1"/>
          <p:nvPr/>
        </p:nvSpPr>
        <p:spPr>
          <a:xfrm>
            <a:off x="6933895" y="389534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First drafts of test scenarios</a:t>
            </a:r>
            <a:endParaRPr lang="en-US" sz="1100" dirty="0"/>
          </a:p>
        </p:txBody>
      </p:sp>
      <p:sp>
        <p:nvSpPr>
          <p:cNvPr id="26" name="Shape 23"/>
          <p:cNvSpPr/>
          <p:nvPr/>
        </p:nvSpPr>
        <p:spPr>
          <a:xfrm>
            <a:off x="6659575" y="4599432"/>
            <a:ext cx="91440" cy="91440"/>
          </a:xfrm>
          <a:prstGeom prst="ellipse">
            <a:avLst/>
          </a:prstGeom>
          <a:solidFill>
            <a:srgbClr val="E8B33A"/>
          </a:solidFill>
          <a:ln w="12700">
            <a:solidFill>
              <a:srgbClr val="E8B33A"/>
            </a:solidFill>
            <a:prstDash val="solid"/>
          </a:ln>
        </p:spPr>
      </p:sp>
      <p:sp>
        <p:nvSpPr>
          <p:cNvPr id="27" name="Text 24"/>
          <p:cNvSpPr txBox="1"/>
          <p:nvPr/>
        </p:nvSpPr>
        <p:spPr>
          <a:xfrm>
            <a:off x="6933895" y="453542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Preparation of migration reconciliation checks</a:t>
            </a:r>
            <a:endParaRPr lang="en-US" sz="1100" dirty="0"/>
          </a:p>
        </p:txBody>
      </p:sp>
      <p:sp>
        <p:nvSpPr>
          <p:cNvPr id="28" name="Shape 25"/>
          <p:cNvSpPr/>
          <p:nvPr/>
        </p:nvSpPr>
        <p:spPr>
          <a:xfrm>
            <a:off x="6659575" y="5239512"/>
            <a:ext cx="91440" cy="91440"/>
          </a:xfrm>
          <a:prstGeom prst="ellipse">
            <a:avLst/>
          </a:prstGeom>
          <a:solidFill>
            <a:srgbClr val="E8B33A"/>
          </a:solidFill>
          <a:ln w="12700">
            <a:solidFill>
              <a:srgbClr val="E8B33A"/>
            </a:solidFill>
            <a:prstDash val="solid"/>
          </a:ln>
        </p:spPr>
      </p:sp>
      <p:sp>
        <p:nvSpPr>
          <p:cNvPr id="29" name="Text 26"/>
          <p:cNvSpPr txBox="1"/>
          <p:nvPr/>
        </p:nvSpPr>
        <p:spPr>
          <a:xfrm>
            <a:off x="6933895" y="5175504"/>
            <a:ext cx="4480560" cy="566928"/>
          </a:xfrm>
          <a:prstGeom prst="rect">
            <a:avLst/>
          </a:prstGeom>
          <a:noFill/>
          <a:ln/>
        </p:spPr>
        <p:txBody>
          <a:bodyPr wrap="square" lIns="0" tIns="0" rIns="0" bIns="0" rtlCol="0" anchor="t"/>
          <a:lstStyle/>
          <a:p>
            <a:pPr indent="0" marL="0">
              <a:lnSpc>
                <a:spcPts val="1700"/>
              </a:lnSpc>
              <a:buNone/>
            </a:pPr>
            <a:r>
              <a:rPr lang="en-US" sz="1100" dirty="0">
                <a:solidFill>
                  <a:srgbClr val="FFFFFF"/>
                </a:solidFill>
                <a:latin typeface="Inter" pitchFamily="34" charset="0"/>
                <a:ea typeface="Inter" pitchFamily="34" charset="-122"/>
                <a:cs typeface="Inter" pitchFamily="34" charset="-120"/>
              </a:rPr>
              <a:t>Initial versions of configuration documentation</a:t>
            </a:r>
            <a:endParaRPr lang="en-US" sz="1100" dirty="0"/>
          </a:p>
        </p:txBody>
      </p:sp>
      <p:sp>
        <p:nvSpPr>
          <p:cNvPr id="30" name="Shape 27"/>
          <p:cNvSpPr/>
          <p:nvPr/>
        </p:nvSpPr>
        <p:spPr>
          <a:xfrm>
            <a:off x="777240" y="5669280"/>
            <a:ext cx="10637215" cy="0"/>
          </a:xfrm>
          <a:prstGeom prst="line">
            <a:avLst/>
          </a:prstGeom>
          <a:noFill/>
          <a:ln w="12700">
            <a:solidFill>
              <a:srgbClr val="FFFFFF">
                <a:alpha val="42000"/>
              </a:srgbClr>
            </a:solidFill>
            <a:prstDash val="solid"/>
          </a:ln>
        </p:spPr>
      </p:sp>
      <p:sp>
        <p:nvSpPr>
          <p:cNvPr id="31" name="Text 28"/>
          <p:cNvSpPr txBox="1"/>
          <p:nvPr/>
        </p:nvSpPr>
        <p:spPr>
          <a:xfrm>
            <a:off x="777240" y="5797296"/>
            <a:ext cx="10515600" cy="310896"/>
          </a:xfrm>
          <a:prstGeom prst="rect">
            <a:avLst/>
          </a:prstGeom>
          <a:noFill/>
          <a:ln/>
        </p:spPr>
        <p:txBody>
          <a:bodyPr wrap="square" lIns="0" tIns="0" rIns="0" bIns="0" rtlCol="0" anchor="ctr"/>
          <a:lstStyle/>
          <a:p>
            <a:pPr indent="0" marL="0">
              <a:buNone/>
            </a:pPr>
            <a:r>
              <a:rPr lang="en-US" sz="1300" b="1" dirty="0">
                <a:solidFill>
                  <a:srgbClr val="F5DCA4"/>
                </a:solidFill>
                <a:latin typeface="Schibsted Grotesk" pitchFamily="34" charset="0"/>
                <a:ea typeface="Schibsted Grotesk" pitchFamily="34" charset="-122"/>
                <a:cs typeface="Schibsted Grotesk" pitchFamily="34" charset="-120"/>
              </a:rPr>
              <a:t>No decision that produces a financial posting is finalised without human review — that one is not negotiable.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BOUNDARIES</a:t>
            </a:r>
            <a:endParaRPr lang="en-US" sz="950" dirty="0"/>
          </a:p>
        </p:txBody>
      </p:sp>
      <p:sp>
        <p:nvSpPr>
          <p:cNvPr id="3" name="Text 1"/>
          <p:cNvSpPr txBox="1"/>
          <p:nvPr/>
        </p:nvSpPr>
        <p:spPr>
          <a:xfrm>
            <a:off x="777240" y="960120"/>
            <a:ext cx="5852160" cy="1371600"/>
          </a:xfrm>
          <a:prstGeom prst="rect">
            <a:avLst/>
          </a:prstGeom>
          <a:noFill/>
          <a:ln/>
        </p:spPr>
        <p:txBody>
          <a:bodyPr wrap="square" lIns="0" tIns="0" rIns="0" bIns="0" rtlCol="0" anchor="t"/>
          <a:lstStyle/>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A specialism is defined</a:t>
            </a:r>
            <a:endParaRPr lang="en-US" sz="3600" dirty="0"/>
          </a:p>
          <a:p>
            <a:pPr indent="0" marL="0">
              <a:lnSpc>
                <a:spcPts val="4176"/>
              </a:lnSpc>
              <a:buNone/>
            </a:pPr>
            <a:r>
              <a:rPr lang="en-US" sz="3600" b="1" dirty="0">
                <a:solidFill>
                  <a:srgbClr val="0E1620"/>
                </a:solidFill>
                <a:latin typeface="Schibsted Grotesk" pitchFamily="34" charset="0"/>
                <a:ea typeface="Schibsted Grotesk" pitchFamily="34" charset="-122"/>
                <a:cs typeface="Schibsted Grotesk" pitchFamily="34" charset="-120"/>
              </a:rPr>
              <a:t>by what it excludes.</a:t>
            </a:r>
            <a:endParaRPr lang="en-US" sz="36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11 / 14</a:t>
            </a:r>
            <a:endParaRPr lang="en-US" sz="800" dirty="0"/>
          </a:p>
        </p:txBody>
      </p:sp>
      <p:sp>
        <p:nvSpPr>
          <p:cNvPr id="7" name="Text 5"/>
          <p:cNvSpPr txBox="1"/>
          <p:nvPr/>
        </p:nvSpPr>
        <p:spPr>
          <a:xfrm>
            <a:off x="777240" y="2706624"/>
            <a:ext cx="4572000" cy="914400"/>
          </a:xfrm>
          <a:prstGeom prst="rect">
            <a:avLst/>
          </a:prstGeom>
          <a:noFill/>
          <a:ln/>
        </p:spPr>
        <p:txBody>
          <a:bodyPr wrap="square" lIns="0" tIns="0" rIns="0" bIns="0" rtlCol="0" anchor="ctr"/>
          <a:lstStyle/>
          <a:p>
            <a:pPr indent="0" marL="0">
              <a:lnSpc>
                <a:spcPts val="2000"/>
              </a:lnSpc>
              <a:buNone/>
            </a:pPr>
            <a:r>
              <a:rPr lang="en-US" sz="1250" dirty="0">
                <a:solidFill>
                  <a:srgbClr val="4A5A67"/>
                </a:solidFill>
                <a:latin typeface="Inter" pitchFamily="34" charset="0"/>
                <a:ea typeface="Inter" pitchFamily="34" charset="-122"/>
                <a:cs typeface="Inter" pitchFamily="34" charset="-120"/>
              </a:rPr>
              <a:t>Saying what we do not do matters as much as saying what we do. We turn the following down, because we do not believe we are the right party for it.</a:t>
            </a:r>
            <a:endParaRPr lang="en-US" sz="1250" dirty="0"/>
          </a:p>
        </p:txBody>
      </p:sp>
      <p:sp>
        <p:nvSpPr>
          <p:cNvPr id="8" name="Shape 6"/>
          <p:cNvSpPr/>
          <p:nvPr/>
        </p:nvSpPr>
        <p:spPr>
          <a:xfrm>
            <a:off x="777240" y="4041648"/>
            <a:ext cx="0" cy="914400"/>
          </a:xfrm>
          <a:prstGeom prst="line">
            <a:avLst/>
          </a:prstGeom>
          <a:noFill/>
          <a:ln w="25400">
            <a:solidFill>
              <a:srgbClr val="11676A"/>
            </a:solidFill>
            <a:prstDash val="solid"/>
          </a:ln>
        </p:spPr>
      </p:sp>
      <p:sp>
        <p:nvSpPr>
          <p:cNvPr id="9" name="Text 7"/>
          <p:cNvSpPr txBox="1"/>
          <p:nvPr/>
        </p:nvSpPr>
        <p:spPr>
          <a:xfrm>
            <a:off x="1033272" y="4041648"/>
            <a:ext cx="4343400" cy="914400"/>
          </a:xfrm>
          <a:prstGeom prst="rect">
            <a:avLst/>
          </a:prstGeom>
          <a:noFill/>
          <a:ln/>
        </p:spPr>
        <p:txBody>
          <a:bodyPr wrap="square" lIns="0" tIns="0" rIns="0" bIns="0" rtlCol="0" anchor="ctr"/>
          <a:lstStyle/>
          <a:p>
            <a:pPr indent="0" marL="0">
              <a:lnSpc>
                <a:spcPts val="2200"/>
              </a:lnSpc>
              <a:buNone/>
            </a:pPr>
            <a:r>
              <a:rPr lang="en-US" sz="1500" b="1" dirty="0">
                <a:solidFill>
                  <a:srgbClr val="11676A"/>
                </a:solidFill>
                <a:latin typeface="Schibsted Grotesk" pitchFamily="34" charset="0"/>
                <a:ea typeface="Schibsted Grotesk" pitchFamily="34" charset="-122"/>
                <a:cs typeface="Schibsted Grotesk" pitchFamily="34" charset="-120"/>
              </a:rPr>
              <a:t>It costs us work. It is also why the engagements we do take are ones we can finish.</a:t>
            </a:r>
            <a:endParaRPr lang="en-US" sz="1500" dirty="0"/>
          </a:p>
        </p:txBody>
      </p:sp>
      <p:sp>
        <p:nvSpPr>
          <p:cNvPr id="10" name="Shape 8"/>
          <p:cNvSpPr/>
          <p:nvPr/>
        </p:nvSpPr>
        <p:spPr>
          <a:xfrm>
            <a:off x="6035040" y="1874520"/>
            <a:ext cx="5379415" cy="0"/>
          </a:xfrm>
          <a:prstGeom prst="line">
            <a:avLst/>
          </a:prstGeom>
          <a:noFill/>
          <a:ln w="12700">
            <a:solidFill>
              <a:srgbClr val="C9D6DE"/>
            </a:solidFill>
            <a:prstDash val="solid"/>
          </a:ln>
        </p:spPr>
      </p:sp>
      <p:sp>
        <p:nvSpPr>
          <p:cNvPr id="11" name="Text 9"/>
          <p:cNvSpPr txBox="1"/>
          <p:nvPr/>
        </p:nvSpPr>
        <p:spPr>
          <a:xfrm>
            <a:off x="6035040" y="2020824"/>
            <a:ext cx="457200" cy="237744"/>
          </a:xfrm>
          <a:prstGeom prst="rect">
            <a:avLst/>
          </a:prstGeom>
          <a:noFill/>
          <a:ln/>
        </p:spPr>
        <p:txBody>
          <a:bodyPr wrap="square" lIns="0" tIns="0" rIns="0" bIns="0" rtlCol="0" anchor="ctr"/>
          <a:lstStyle/>
          <a:p>
            <a:pPr indent="0" marL="0">
              <a:buNone/>
            </a:pPr>
            <a:r>
              <a:rPr lang="en-US" sz="1000" dirty="0">
                <a:solidFill>
                  <a:srgbClr val="4A5A67"/>
                </a:solidFill>
                <a:latin typeface="IBM Plex Mono" pitchFamily="34" charset="0"/>
                <a:ea typeface="IBM Plex Mono" pitchFamily="34" charset="-122"/>
                <a:cs typeface="IBM Plex Mono" pitchFamily="34" charset="-120"/>
              </a:rPr>
              <a:t>01</a:t>
            </a:r>
            <a:endParaRPr lang="en-US" sz="1000" dirty="0"/>
          </a:p>
        </p:txBody>
      </p:sp>
      <p:sp>
        <p:nvSpPr>
          <p:cNvPr id="12" name="Text 10"/>
          <p:cNvSpPr txBox="1"/>
          <p:nvPr/>
        </p:nvSpPr>
        <p:spPr>
          <a:xfrm>
            <a:off x="6601968" y="2002536"/>
            <a:ext cx="4812487" cy="676656"/>
          </a:xfrm>
          <a:prstGeom prst="rect">
            <a:avLst/>
          </a:prstGeom>
          <a:noFill/>
          <a:ln/>
        </p:spPr>
        <p:txBody>
          <a:bodyPr wrap="square" lIns="0" tIns="0" rIns="0" bIns="0" rtlCol="0" anchor="ctr"/>
          <a:lstStyle/>
          <a:p>
            <a:pPr indent="0" marL="0">
              <a:lnSpc>
                <a:spcPts val="1900"/>
              </a:lnSpc>
              <a:buNone/>
            </a:pPr>
            <a:r>
              <a:rPr lang="en-US" sz="1200" dirty="0">
                <a:solidFill>
                  <a:srgbClr val="4A5A67"/>
                </a:solidFill>
                <a:latin typeface="Inter" pitchFamily="34" charset="0"/>
                <a:ea typeface="Inter" pitchFamily="34" charset="-122"/>
                <a:cs typeface="Inter" pitchFamily="34" charset="-120"/>
              </a:rPr>
              <a:t>Lead responsibility for SAP modules outside our specialism — logistics, production planning, HR</a:t>
            </a:r>
            <a:endParaRPr lang="en-US" sz="1200" dirty="0"/>
          </a:p>
        </p:txBody>
      </p:sp>
      <p:sp>
        <p:nvSpPr>
          <p:cNvPr id="13" name="Shape 11"/>
          <p:cNvSpPr/>
          <p:nvPr/>
        </p:nvSpPr>
        <p:spPr>
          <a:xfrm>
            <a:off x="6035040" y="2898648"/>
            <a:ext cx="5379415" cy="0"/>
          </a:xfrm>
          <a:prstGeom prst="line">
            <a:avLst/>
          </a:prstGeom>
          <a:noFill/>
          <a:ln w="12700">
            <a:solidFill>
              <a:srgbClr val="C9D6DE"/>
            </a:solidFill>
            <a:prstDash val="solid"/>
          </a:ln>
        </p:spPr>
      </p:sp>
      <p:sp>
        <p:nvSpPr>
          <p:cNvPr id="14" name="Text 12"/>
          <p:cNvSpPr txBox="1"/>
          <p:nvPr/>
        </p:nvSpPr>
        <p:spPr>
          <a:xfrm>
            <a:off x="6035040" y="3044952"/>
            <a:ext cx="457200" cy="237744"/>
          </a:xfrm>
          <a:prstGeom prst="rect">
            <a:avLst/>
          </a:prstGeom>
          <a:noFill/>
          <a:ln/>
        </p:spPr>
        <p:txBody>
          <a:bodyPr wrap="square" lIns="0" tIns="0" rIns="0" bIns="0" rtlCol="0" anchor="ctr"/>
          <a:lstStyle/>
          <a:p>
            <a:pPr indent="0" marL="0">
              <a:buNone/>
            </a:pPr>
            <a:r>
              <a:rPr lang="en-US" sz="1000" dirty="0">
                <a:solidFill>
                  <a:srgbClr val="4A5A67"/>
                </a:solidFill>
                <a:latin typeface="IBM Plex Mono" pitchFamily="34" charset="0"/>
                <a:ea typeface="IBM Plex Mono" pitchFamily="34" charset="-122"/>
                <a:cs typeface="IBM Plex Mono" pitchFamily="34" charset="-120"/>
              </a:rPr>
              <a:t>02</a:t>
            </a:r>
            <a:endParaRPr lang="en-US" sz="1000" dirty="0"/>
          </a:p>
        </p:txBody>
      </p:sp>
      <p:sp>
        <p:nvSpPr>
          <p:cNvPr id="15" name="Text 13"/>
          <p:cNvSpPr txBox="1"/>
          <p:nvPr/>
        </p:nvSpPr>
        <p:spPr>
          <a:xfrm>
            <a:off x="6601968" y="3026664"/>
            <a:ext cx="4812487" cy="676656"/>
          </a:xfrm>
          <a:prstGeom prst="rect">
            <a:avLst/>
          </a:prstGeom>
          <a:noFill/>
          <a:ln/>
        </p:spPr>
        <p:txBody>
          <a:bodyPr wrap="square" lIns="0" tIns="0" rIns="0" bIns="0" rtlCol="0" anchor="ctr"/>
          <a:lstStyle/>
          <a:p>
            <a:pPr indent="0" marL="0">
              <a:lnSpc>
                <a:spcPts val="1900"/>
              </a:lnSpc>
              <a:buNone/>
            </a:pPr>
            <a:r>
              <a:rPr lang="en-US" sz="1200" dirty="0">
                <a:solidFill>
                  <a:srgbClr val="4A5A67"/>
                </a:solidFill>
                <a:latin typeface="Inter" pitchFamily="34" charset="0"/>
                <a:ea typeface="Inter" pitchFamily="34" charset="-122"/>
                <a:cs typeface="Inter" pitchFamily="34" charset="-120"/>
              </a:rPr>
              <a:t>Staff augmentation: supplying capacity without architectural or delivery responsibility</a:t>
            </a:r>
            <a:endParaRPr lang="en-US" sz="1200" dirty="0"/>
          </a:p>
        </p:txBody>
      </p:sp>
      <p:sp>
        <p:nvSpPr>
          <p:cNvPr id="16" name="Shape 14"/>
          <p:cNvSpPr/>
          <p:nvPr/>
        </p:nvSpPr>
        <p:spPr>
          <a:xfrm>
            <a:off x="6035040" y="3922776"/>
            <a:ext cx="5379415" cy="0"/>
          </a:xfrm>
          <a:prstGeom prst="line">
            <a:avLst/>
          </a:prstGeom>
          <a:noFill/>
          <a:ln w="12700">
            <a:solidFill>
              <a:srgbClr val="C9D6DE"/>
            </a:solidFill>
            <a:prstDash val="solid"/>
          </a:ln>
        </p:spPr>
      </p:sp>
      <p:sp>
        <p:nvSpPr>
          <p:cNvPr id="17" name="Text 15"/>
          <p:cNvSpPr txBox="1"/>
          <p:nvPr/>
        </p:nvSpPr>
        <p:spPr>
          <a:xfrm>
            <a:off x="6035040" y="4069080"/>
            <a:ext cx="457200" cy="237744"/>
          </a:xfrm>
          <a:prstGeom prst="rect">
            <a:avLst/>
          </a:prstGeom>
          <a:noFill/>
          <a:ln/>
        </p:spPr>
        <p:txBody>
          <a:bodyPr wrap="square" lIns="0" tIns="0" rIns="0" bIns="0" rtlCol="0" anchor="ctr"/>
          <a:lstStyle/>
          <a:p>
            <a:pPr indent="0" marL="0">
              <a:buNone/>
            </a:pPr>
            <a:r>
              <a:rPr lang="en-US" sz="1000" dirty="0">
                <a:solidFill>
                  <a:srgbClr val="4A5A67"/>
                </a:solidFill>
                <a:latin typeface="IBM Plex Mono" pitchFamily="34" charset="0"/>
                <a:ea typeface="IBM Plex Mono" pitchFamily="34" charset="-122"/>
                <a:cs typeface="IBM Plex Mono" pitchFamily="34" charset="-120"/>
              </a:rPr>
              <a:t>03</a:t>
            </a:r>
            <a:endParaRPr lang="en-US" sz="1000" dirty="0"/>
          </a:p>
        </p:txBody>
      </p:sp>
      <p:sp>
        <p:nvSpPr>
          <p:cNvPr id="18" name="Text 16"/>
          <p:cNvSpPr txBox="1"/>
          <p:nvPr/>
        </p:nvSpPr>
        <p:spPr>
          <a:xfrm>
            <a:off x="6601968" y="4050792"/>
            <a:ext cx="4812487" cy="676656"/>
          </a:xfrm>
          <a:prstGeom prst="rect">
            <a:avLst/>
          </a:prstGeom>
          <a:noFill/>
          <a:ln/>
        </p:spPr>
        <p:txBody>
          <a:bodyPr wrap="square" lIns="0" tIns="0" rIns="0" bIns="0" rtlCol="0" anchor="ctr"/>
          <a:lstStyle/>
          <a:p>
            <a:pPr indent="0" marL="0">
              <a:lnSpc>
                <a:spcPts val="1900"/>
              </a:lnSpc>
              <a:buNone/>
            </a:pPr>
            <a:r>
              <a:rPr lang="en-US" sz="1200" dirty="0">
                <a:solidFill>
                  <a:srgbClr val="4A5A67"/>
                </a:solidFill>
                <a:latin typeface="Inter" pitchFamily="34" charset="0"/>
                <a:ea typeface="Inter" pitchFamily="34" charset="-122"/>
                <a:cs typeface="Inter" pitchFamily="34" charset="-120"/>
              </a:rPr>
              <a:t>Fixed-price transformation commitments made before an assessment has been done</a:t>
            </a:r>
            <a:endParaRPr lang="en-US" sz="1200" dirty="0"/>
          </a:p>
        </p:txBody>
      </p:sp>
      <p:sp>
        <p:nvSpPr>
          <p:cNvPr id="19" name="Shape 17"/>
          <p:cNvSpPr/>
          <p:nvPr/>
        </p:nvSpPr>
        <p:spPr>
          <a:xfrm>
            <a:off x="6035040" y="4946904"/>
            <a:ext cx="5379415" cy="0"/>
          </a:xfrm>
          <a:prstGeom prst="line">
            <a:avLst/>
          </a:prstGeom>
          <a:noFill/>
          <a:ln w="12700">
            <a:solidFill>
              <a:srgbClr val="C9D6DE"/>
            </a:solidFill>
            <a:prstDash val="solid"/>
          </a:ln>
        </p:spPr>
      </p:sp>
      <p:sp>
        <p:nvSpPr>
          <p:cNvPr id="20" name="Text 18"/>
          <p:cNvSpPr txBox="1"/>
          <p:nvPr/>
        </p:nvSpPr>
        <p:spPr>
          <a:xfrm>
            <a:off x="6035040" y="5093208"/>
            <a:ext cx="457200" cy="237744"/>
          </a:xfrm>
          <a:prstGeom prst="rect">
            <a:avLst/>
          </a:prstGeom>
          <a:noFill/>
          <a:ln/>
        </p:spPr>
        <p:txBody>
          <a:bodyPr wrap="square" lIns="0" tIns="0" rIns="0" bIns="0" rtlCol="0" anchor="ctr"/>
          <a:lstStyle/>
          <a:p>
            <a:pPr indent="0" marL="0">
              <a:buNone/>
            </a:pPr>
            <a:r>
              <a:rPr lang="en-US" sz="1000" dirty="0">
                <a:solidFill>
                  <a:srgbClr val="4A5A67"/>
                </a:solidFill>
                <a:latin typeface="IBM Plex Mono" pitchFamily="34" charset="0"/>
                <a:ea typeface="IBM Plex Mono" pitchFamily="34" charset="-122"/>
                <a:cs typeface="IBM Plex Mono" pitchFamily="34" charset="-120"/>
              </a:rPr>
              <a:t>04</a:t>
            </a:r>
            <a:endParaRPr lang="en-US" sz="1000" dirty="0"/>
          </a:p>
        </p:txBody>
      </p:sp>
      <p:sp>
        <p:nvSpPr>
          <p:cNvPr id="21" name="Text 19"/>
          <p:cNvSpPr txBox="1"/>
          <p:nvPr/>
        </p:nvSpPr>
        <p:spPr>
          <a:xfrm>
            <a:off x="6601968" y="5074920"/>
            <a:ext cx="4812487" cy="676656"/>
          </a:xfrm>
          <a:prstGeom prst="rect">
            <a:avLst/>
          </a:prstGeom>
          <a:noFill/>
          <a:ln/>
        </p:spPr>
        <p:txBody>
          <a:bodyPr wrap="square" lIns="0" tIns="0" rIns="0" bIns="0" rtlCol="0" anchor="ctr"/>
          <a:lstStyle/>
          <a:p>
            <a:pPr indent="0" marL="0">
              <a:lnSpc>
                <a:spcPts val="1900"/>
              </a:lnSpc>
              <a:buNone/>
            </a:pPr>
            <a:r>
              <a:rPr lang="en-US" sz="1200" dirty="0">
                <a:solidFill>
                  <a:srgbClr val="4A5A67"/>
                </a:solidFill>
                <a:latin typeface="Inter" pitchFamily="34" charset="0"/>
                <a:ea typeface="Inter" pitchFamily="34" charset="-122"/>
                <a:cs typeface="Inter" pitchFamily="34" charset="-120"/>
              </a:rPr>
              <a:t>Software development or infrastructure operations as a service</a:t>
            </a:r>
            <a:endParaRPr lang="en-US" sz="1200" dirty="0"/>
          </a:p>
        </p:txBody>
      </p:sp>
      <p:sp>
        <p:nvSpPr>
          <p:cNvPr id="22" name="Shape 20"/>
          <p:cNvSpPr/>
          <p:nvPr/>
        </p:nvSpPr>
        <p:spPr>
          <a:xfrm>
            <a:off x="6035040" y="5971032"/>
            <a:ext cx="5379415" cy="0"/>
          </a:xfrm>
          <a:prstGeom prst="line">
            <a:avLst/>
          </a:prstGeom>
          <a:noFill/>
          <a:ln w="12700">
            <a:solidFill>
              <a:srgbClr val="C9D6DE"/>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WAYS IN</a:t>
            </a:r>
            <a:endParaRPr lang="en-US" sz="950" dirty="0"/>
          </a:p>
        </p:txBody>
      </p:sp>
      <p:sp>
        <p:nvSpPr>
          <p:cNvPr id="3" name="Text 1"/>
          <p:cNvSpPr txBox="1"/>
          <p:nvPr/>
        </p:nvSpPr>
        <p:spPr>
          <a:xfrm>
            <a:off x="777240" y="960120"/>
            <a:ext cx="8686800" cy="1371600"/>
          </a:xfrm>
          <a:prstGeom prst="rect">
            <a:avLst/>
          </a:prstGeom>
          <a:noFill/>
          <a:ln/>
        </p:spPr>
        <p:txBody>
          <a:bodyPr wrap="square" lIns="0" tIns="0" rIns="0" bIns="0" rtlCol="0" anchor="t"/>
          <a:lstStyle/>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Three shapes. Which one fits</a:t>
            </a:r>
            <a:endParaRPr lang="en-US" sz="3400" dirty="0"/>
          </a:p>
          <a:p>
            <a:pPr indent="0" marL="0">
              <a:lnSpc>
                <a:spcPts val="3944"/>
              </a:lnSpc>
              <a:buNone/>
            </a:pPr>
            <a:r>
              <a:rPr lang="en-US" sz="3400" b="1" dirty="0">
                <a:solidFill>
                  <a:srgbClr val="0E1620"/>
                </a:solidFill>
                <a:latin typeface="Schibsted Grotesk" pitchFamily="34" charset="0"/>
                <a:ea typeface="Schibsted Grotesk" pitchFamily="34" charset="-122"/>
                <a:cs typeface="Schibsted Grotesk" pitchFamily="34" charset="-120"/>
              </a:rPr>
              <a:t>is clear in one conversation.</a:t>
            </a:r>
            <a:endParaRPr lang="en-US" sz="34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12 / 14</a:t>
            </a:r>
            <a:endParaRPr lang="en-US" sz="800" dirty="0"/>
          </a:p>
        </p:txBody>
      </p:sp>
      <p:sp>
        <p:nvSpPr>
          <p:cNvPr id="7" name="Shape 5"/>
          <p:cNvSpPr/>
          <p:nvPr/>
        </p:nvSpPr>
        <p:spPr>
          <a:xfrm>
            <a:off x="777240" y="2359152"/>
            <a:ext cx="3310128" cy="3364992"/>
          </a:xfrm>
          <a:prstGeom prst="rect">
            <a:avLst/>
          </a:prstGeom>
          <a:solidFill>
            <a:srgbClr val="FFFFFF"/>
          </a:solidFill>
          <a:ln w="9525">
            <a:solidFill>
              <a:srgbClr val="C9D6DE"/>
            </a:solidFill>
            <a:prstDash val="solid"/>
          </a:ln>
          <a:effectLst>
            <a:outerShdw sx="100000" sy="100000" kx="0" ky="0" algn="bl" rotWithShape="0" blurRad="177800" dist="38100" dir="5400000">
              <a:srgbClr val="0E1620">
                <a:alpha val="7000"/>
              </a:srgbClr>
            </a:outerShdw>
          </a:effectLst>
        </p:spPr>
      </p:sp>
      <p:sp>
        <p:nvSpPr>
          <p:cNvPr id="8" name="Shape 6"/>
          <p:cNvSpPr/>
          <p:nvPr/>
        </p:nvSpPr>
        <p:spPr>
          <a:xfrm>
            <a:off x="1129284" y="2766060"/>
            <a:ext cx="137160" cy="137160"/>
          </a:xfrm>
          <a:prstGeom prst="ellipse">
            <a:avLst/>
          </a:prstGeom>
          <a:solidFill>
            <a:srgbClr val="11676A"/>
          </a:solidFill>
          <a:ln w="12700">
            <a:solidFill>
              <a:srgbClr val="11676A"/>
            </a:solidFill>
            <a:prstDash val="solid"/>
          </a:ln>
        </p:spPr>
      </p:sp>
      <p:sp>
        <p:nvSpPr>
          <p:cNvPr id="9" name="Text 7"/>
          <p:cNvSpPr txBox="1"/>
          <p:nvPr/>
        </p:nvSpPr>
        <p:spPr>
          <a:xfrm>
            <a:off x="1197864" y="3035808"/>
            <a:ext cx="2468880" cy="384048"/>
          </a:xfrm>
          <a:prstGeom prst="rect">
            <a:avLst/>
          </a:prstGeom>
          <a:noFill/>
          <a:ln/>
        </p:spPr>
        <p:txBody>
          <a:bodyPr wrap="square" lIns="0" tIns="0" rIns="0" bIns="0" rtlCol="0" anchor="ctr"/>
          <a:lstStyle/>
          <a:p>
            <a:pPr indent="0" marL="0">
              <a:buNone/>
            </a:pPr>
            <a:r>
              <a:rPr lang="en-US" sz="1900" b="1" dirty="0">
                <a:solidFill>
                  <a:srgbClr val="0E1620"/>
                </a:solidFill>
                <a:latin typeface="Schibsted Grotesk" pitchFamily="34" charset="0"/>
                <a:ea typeface="Schibsted Grotesk" pitchFamily="34" charset="-122"/>
                <a:cs typeface="Schibsted Grotesk" pitchFamily="34" charset="-120"/>
              </a:rPr>
              <a:t>Assessment</a:t>
            </a:r>
            <a:endParaRPr lang="en-US" sz="1900" dirty="0"/>
          </a:p>
        </p:txBody>
      </p:sp>
      <p:sp>
        <p:nvSpPr>
          <p:cNvPr id="10" name="Text 8"/>
          <p:cNvSpPr txBox="1"/>
          <p:nvPr/>
        </p:nvSpPr>
        <p:spPr>
          <a:xfrm>
            <a:off x="1197864" y="3493008"/>
            <a:ext cx="2468880" cy="1280160"/>
          </a:xfrm>
          <a:prstGeom prst="rect">
            <a:avLst/>
          </a:prstGeom>
          <a:noFill/>
          <a:ln/>
        </p:spPr>
        <p:txBody>
          <a:bodyPr wrap="square" lIns="0" tIns="0" rIns="0" bIns="0" rtlCol="0" anchor="ctr"/>
          <a:lstStyle/>
          <a:p>
            <a:pPr indent="0" marL="0">
              <a:lnSpc>
                <a:spcPts val="1750"/>
              </a:lnSpc>
              <a:buNone/>
            </a:pPr>
            <a:r>
              <a:rPr lang="en-US" sz="1100" dirty="0">
                <a:solidFill>
                  <a:srgbClr val="4A5A67"/>
                </a:solidFill>
                <a:latin typeface="Inter" pitchFamily="34" charset="0"/>
                <a:ea typeface="Inter" pitchFamily="34" charset="-122"/>
                <a:cs typeface="Inter" pitchFamily="34" charset="-120"/>
              </a:rPr>
              <a:t>A decision has to be taken and the evidence for it is missing: conversion route, cloud model, or a health check on the landscape you run today.</a:t>
            </a:r>
            <a:endParaRPr lang="en-US" sz="1100" dirty="0"/>
          </a:p>
        </p:txBody>
      </p:sp>
      <p:sp>
        <p:nvSpPr>
          <p:cNvPr id="11" name="Shape 9"/>
          <p:cNvSpPr/>
          <p:nvPr/>
        </p:nvSpPr>
        <p:spPr>
          <a:xfrm>
            <a:off x="1197864" y="4846320"/>
            <a:ext cx="2468880" cy="0"/>
          </a:xfrm>
          <a:prstGeom prst="line">
            <a:avLst/>
          </a:prstGeom>
          <a:noFill/>
          <a:ln w="12700">
            <a:solidFill>
              <a:srgbClr val="E2E9EE"/>
            </a:solidFill>
            <a:prstDash val="solid"/>
          </a:ln>
        </p:spPr>
      </p:sp>
      <p:sp>
        <p:nvSpPr>
          <p:cNvPr id="12" name="Text 10"/>
          <p:cNvSpPr txBox="1"/>
          <p:nvPr/>
        </p:nvSpPr>
        <p:spPr>
          <a:xfrm>
            <a:off x="1197864" y="4974336"/>
            <a:ext cx="2468880" cy="475488"/>
          </a:xfrm>
          <a:prstGeom prst="rect">
            <a:avLst/>
          </a:prstGeom>
          <a:noFill/>
          <a:ln/>
        </p:spPr>
        <p:txBody>
          <a:bodyPr wrap="square" lIns="0" tIns="0" rIns="0" bIns="0" rtlCol="0" anchor="ctr"/>
          <a:lstStyle/>
          <a:p>
            <a:pPr indent="0" marL="0">
              <a:lnSpc>
                <a:spcPts val="1600"/>
              </a:lnSpc>
              <a:buNone/>
            </a:pPr>
            <a:r>
              <a:rPr lang="en-US" sz="1050" i="1" dirty="0">
                <a:solidFill>
                  <a:srgbClr val="0E1620"/>
                </a:solidFill>
                <a:latin typeface="Inter" pitchFamily="34" charset="0"/>
                <a:ea typeface="Inter" pitchFamily="34" charset="-122"/>
                <a:cs typeface="Inter" pitchFamily="34" charset="-120"/>
              </a:rPr>
              <a:t>You end it in a position to decide.</a:t>
            </a:r>
            <a:endParaRPr lang="en-US" sz="1050" dirty="0"/>
          </a:p>
        </p:txBody>
      </p:sp>
      <p:sp>
        <p:nvSpPr>
          <p:cNvPr id="13" name="Text 11"/>
          <p:cNvSpPr txBox="1"/>
          <p:nvPr/>
        </p:nvSpPr>
        <p:spPr>
          <a:xfrm>
            <a:off x="1197864" y="5431536"/>
            <a:ext cx="2468880" cy="256032"/>
          </a:xfrm>
          <a:prstGeom prst="rect">
            <a:avLst/>
          </a:prstGeom>
          <a:noFill/>
          <a:ln/>
        </p:spPr>
        <p:txBody>
          <a:bodyPr wrap="square" lIns="0" tIns="0" rIns="0" bIns="0" rtlCol="0" anchor="ctr"/>
          <a:lstStyle/>
          <a:p>
            <a:pPr algn="r" indent="0" marL="0">
              <a:buNone/>
            </a:pPr>
            <a:r>
              <a:rPr lang="en-US" sz="1050" dirty="0">
                <a:solidFill>
                  <a:srgbClr val="11676A"/>
                </a:solidFill>
                <a:latin typeface="IBM Plex Mono" pitchFamily="34" charset="0"/>
                <a:ea typeface="IBM Plex Mono" pitchFamily="34" charset="-122"/>
                <a:cs typeface="IBM Plex Mono" pitchFamily="34" charset="-120"/>
              </a:rPr>
              <a:t>2–6 weeks</a:t>
            </a:r>
            <a:endParaRPr lang="en-US" sz="1050" dirty="0"/>
          </a:p>
        </p:txBody>
      </p:sp>
      <p:sp>
        <p:nvSpPr>
          <p:cNvPr id="14" name="Shape 12"/>
          <p:cNvSpPr/>
          <p:nvPr/>
        </p:nvSpPr>
        <p:spPr>
          <a:xfrm>
            <a:off x="4471416" y="2359152"/>
            <a:ext cx="3310128" cy="3364992"/>
          </a:xfrm>
          <a:prstGeom prst="rect">
            <a:avLst/>
          </a:prstGeom>
          <a:solidFill>
            <a:srgbClr val="FFFFFF"/>
          </a:solidFill>
          <a:ln w="9525">
            <a:solidFill>
              <a:srgbClr val="C9D6DE"/>
            </a:solidFill>
            <a:prstDash val="solid"/>
          </a:ln>
          <a:effectLst>
            <a:outerShdw sx="100000" sy="100000" kx="0" ky="0" algn="bl" rotWithShape="0" blurRad="177800" dist="38100" dir="5400000">
              <a:srgbClr val="0E1620">
                <a:alpha val="7000"/>
              </a:srgbClr>
            </a:outerShdw>
          </a:effectLst>
        </p:spPr>
      </p:sp>
      <p:sp>
        <p:nvSpPr>
          <p:cNvPr id="15" name="Shape 13"/>
          <p:cNvSpPr/>
          <p:nvPr/>
        </p:nvSpPr>
        <p:spPr>
          <a:xfrm>
            <a:off x="4823460" y="2766060"/>
            <a:ext cx="137160" cy="137160"/>
          </a:xfrm>
          <a:prstGeom prst="ellipse">
            <a:avLst/>
          </a:prstGeom>
          <a:solidFill>
            <a:srgbClr val="11676A"/>
          </a:solidFill>
          <a:ln w="12700">
            <a:solidFill>
              <a:srgbClr val="11676A"/>
            </a:solidFill>
            <a:prstDash val="solid"/>
          </a:ln>
        </p:spPr>
      </p:sp>
      <p:sp>
        <p:nvSpPr>
          <p:cNvPr id="16" name="Text 14"/>
          <p:cNvSpPr txBox="1"/>
          <p:nvPr/>
        </p:nvSpPr>
        <p:spPr>
          <a:xfrm>
            <a:off x="4892040" y="3035808"/>
            <a:ext cx="2468880" cy="384048"/>
          </a:xfrm>
          <a:prstGeom prst="rect">
            <a:avLst/>
          </a:prstGeom>
          <a:noFill/>
          <a:ln/>
        </p:spPr>
        <p:txBody>
          <a:bodyPr wrap="square" lIns="0" tIns="0" rIns="0" bIns="0" rtlCol="0" anchor="ctr"/>
          <a:lstStyle/>
          <a:p>
            <a:pPr indent="0" marL="0">
              <a:buNone/>
            </a:pPr>
            <a:r>
              <a:rPr lang="en-US" sz="1900" b="1" dirty="0">
                <a:solidFill>
                  <a:srgbClr val="0E1620"/>
                </a:solidFill>
                <a:latin typeface="Schibsted Grotesk" pitchFamily="34" charset="0"/>
                <a:ea typeface="Schibsted Grotesk" pitchFamily="34" charset="-122"/>
                <a:cs typeface="Schibsted Grotesk" pitchFamily="34" charset="-120"/>
              </a:rPr>
              <a:t>Delivery</a:t>
            </a:r>
            <a:endParaRPr lang="en-US" sz="1900" dirty="0"/>
          </a:p>
        </p:txBody>
      </p:sp>
      <p:sp>
        <p:nvSpPr>
          <p:cNvPr id="17" name="Text 15"/>
          <p:cNvSpPr txBox="1"/>
          <p:nvPr/>
        </p:nvSpPr>
        <p:spPr>
          <a:xfrm>
            <a:off x="4892040" y="3493008"/>
            <a:ext cx="2468880" cy="1280160"/>
          </a:xfrm>
          <a:prstGeom prst="rect">
            <a:avLst/>
          </a:prstGeom>
          <a:noFill/>
          <a:ln/>
        </p:spPr>
        <p:txBody>
          <a:bodyPr wrap="square" lIns="0" tIns="0" rIns="0" bIns="0" rtlCol="0" anchor="ctr"/>
          <a:lstStyle/>
          <a:p>
            <a:pPr indent="0" marL="0">
              <a:lnSpc>
                <a:spcPts val="1750"/>
              </a:lnSpc>
              <a:buNone/>
            </a:pPr>
            <a:r>
              <a:rPr lang="en-US" sz="1100" dirty="0">
                <a:solidFill>
                  <a:srgbClr val="4A5A67"/>
                </a:solidFill>
                <a:latin typeface="Inter" pitchFamily="34" charset="0"/>
                <a:ea typeface="Inter" pitchFamily="34" charset="-122"/>
                <a:cs typeface="Inter" pitchFamily="34" charset="-120"/>
              </a:rPr>
              <a:t>The decision is taken and it needs building: a transformation, an implementation or a substantial redesign.</a:t>
            </a:r>
            <a:endParaRPr lang="en-US" sz="1100" dirty="0"/>
          </a:p>
        </p:txBody>
      </p:sp>
      <p:sp>
        <p:nvSpPr>
          <p:cNvPr id="18" name="Shape 16"/>
          <p:cNvSpPr/>
          <p:nvPr/>
        </p:nvSpPr>
        <p:spPr>
          <a:xfrm>
            <a:off x="4892040" y="4846320"/>
            <a:ext cx="2468880" cy="0"/>
          </a:xfrm>
          <a:prstGeom prst="line">
            <a:avLst/>
          </a:prstGeom>
          <a:noFill/>
          <a:ln w="12700">
            <a:solidFill>
              <a:srgbClr val="E2E9EE"/>
            </a:solidFill>
            <a:prstDash val="solid"/>
          </a:ln>
        </p:spPr>
      </p:sp>
      <p:sp>
        <p:nvSpPr>
          <p:cNvPr id="19" name="Text 17"/>
          <p:cNvSpPr txBox="1"/>
          <p:nvPr/>
        </p:nvSpPr>
        <p:spPr>
          <a:xfrm>
            <a:off x="4892040" y="4974336"/>
            <a:ext cx="2468880" cy="475488"/>
          </a:xfrm>
          <a:prstGeom prst="rect">
            <a:avLst/>
          </a:prstGeom>
          <a:noFill/>
          <a:ln/>
        </p:spPr>
        <p:txBody>
          <a:bodyPr wrap="square" lIns="0" tIns="0" rIns="0" bIns="0" rtlCol="0" anchor="ctr"/>
          <a:lstStyle/>
          <a:p>
            <a:pPr indent="0" marL="0">
              <a:lnSpc>
                <a:spcPts val="1600"/>
              </a:lnSpc>
              <a:buNone/>
            </a:pPr>
            <a:r>
              <a:rPr lang="en-US" sz="1050" i="1" dirty="0">
                <a:solidFill>
                  <a:srgbClr val="0E1620"/>
                </a:solidFill>
                <a:latin typeface="Inter" pitchFamily="34" charset="0"/>
                <a:ea typeface="Inter" pitchFamily="34" charset="-122"/>
                <a:cs typeface="Inter" pitchFamily="34" charset="-120"/>
              </a:rPr>
              <a:t>Phased plan, weekly reporting, cutover and hypercare included.</a:t>
            </a:r>
            <a:endParaRPr lang="en-US" sz="1050" dirty="0"/>
          </a:p>
        </p:txBody>
      </p:sp>
      <p:sp>
        <p:nvSpPr>
          <p:cNvPr id="20" name="Text 18"/>
          <p:cNvSpPr txBox="1"/>
          <p:nvPr/>
        </p:nvSpPr>
        <p:spPr>
          <a:xfrm>
            <a:off x="4892040" y="5431536"/>
            <a:ext cx="2468880" cy="256032"/>
          </a:xfrm>
          <a:prstGeom prst="rect">
            <a:avLst/>
          </a:prstGeom>
          <a:noFill/>
          <a:ln/>
        </p:spPr>
        <p:txBody>
          <a:bodyPr wrap="square" lIns="0" tIns="0" rIns="0" bIns="0" rtlCol="0" anchor="ctr"/>
          <a:lstStyle/>
          <a:p>
            <a:pPr algn="r" indent="0" marL="0">
              <a:buNone/>
            </a:pPr>
            <a:r>
              <a:rPr lang="en-US" sz="1050" dirty="0">
                <a:solidFill>
                  <a:srgbClr val="11676A"/>
                </a:solidFill>
                <a:latin typeface="IBM Plex Mono" pitchFamily="34" charset="0"/>
                <a:ea typeface="IBM Plex Mono" pitchFamily="34" charset="-122"/>
                <a:cs typeface="IBM Plex Mono" pitchFamily="34" charset="-120"/>
              </a:rPr>
              <a:t>3–14 months</a:t>
            </a:r>
            <a:endParaRPr lang="en-US" sz="1050" dirty="0"/>
          </a:p>
        </p:txBody>
      </p:sp>
      <p:sp>
        <p:nvSpPr>
          <p:cNvPr id="21" name="Shape 19"/>
          <p:cNvSpPr/>
          <p:nvPr/>
        </p:nvSpPr>
        <p:spPr>
          <a:xfrm>
            <a:off x="8165592" y="2359152"/>
            <a:ext cx="3310128" cy="3364992"/>
          </a:xfrm>
          <a:prstGeom prst="rect">
            <a:avLst/>
          </a:prstGeom>
          <a:solidFill>
            <a:srgbClr val="FFFFFF"/>
          </a:solidFill>
          <a:ln w="9525">
            <a:solidFill>
              <a:srgbClr val="C9D6DE"/>
            </a:solidFill>
            <a:prstDash val="solid"/>
          </a:ln>
          <a:effectLst>
            <a:outerShdw sx="100000" sy="100000" kx="0" ky="0" algn="bl" rotWithShape="0" blurRad="177800" dist="38100" dir="5400000">
              <a:srgbClr val="0E1620">
                <a:alpha val="7000"/>
              </a:srgbClr>
            </a:outerShdw>
          </a:effectLst>
        </p:spPr>
      </p:sp>
      <p:sp>
        <p:nvSpPr>
          <p:cNvPr id="22" name="Shape 20"/>
          <p:cNvSpPr/>
          <p:nvPr/>
        </p:nvSpPr>
        <p:spPr>
          <a:xfrm>
            <a:off x="8517636" y="2766060"/>
            <a:ext cx="137160" cy="137160"/>
          </a:xfrm>
          <a:prstGeom prst="ellipse">
            <a:avLst/>
          </a:prstGeom>
          <a:solidFill>
            <a:srgbClr val="11676A"/>
          </a:solidFill>
          <a:ln w="12700">
            <a:solidFill>
              <a:srgbClr val="11676A"/>
            </a:solidFill>
            <a:prstDash val="solid"/>
          </a:ln>
        </p:spPr>
      </p:sp>
      <p:sp>
        <p:nvSpPr>
          <p:cNvPr id="23" name="Text 21"/>
          <p:cNvSpPr txBox="1"/>
          <p:nvPr/>
        </p:nvSpPr>
        <p:spPr>
          <a:xfrm>
            <a:off x="8586216" y="3035808"/>
            <a:ext cx="2468880" cy="384048"/>
          </a:xfrm>
          <a:prstGeom prst="rect">
            <a:avLst/>
          </a:prstGeom>
          <a:noFill/>
          <a:ln/>
        </p:spPr>
        <p:txBody>
          <a:bodyPr wrap="square" lIns="0" tIns="0" rIns="0" bIns="0" rtlCol="0" anchor="ctr"/>
          <a:lstStyle/>
          <a:p>
            <a:pPr indent="0" marL="0">
              <a:buNone/>
            </a:pPr>
            <a:r>
              <a:rPr lang="en-US" sz="1900" b="1" dirty="0">
                <a:solidFill>
                  <a:srgbClr val="0E1620"/>
                </a:solidFill>
                <a:latin typeface="Schibsted Grotesk" pitchFamily="34" charset="0"/>
                <a:ea typeface="Schibsted Grotesk" pitchFamily="34" charset="-122"/>
                <a:cs typeface="Schibsted Grotesk" pitchFamily="34" charset="-120"/>
              </a:rPr>
              <a:t>Expert support</a:t>
            </a:r>
            <a:endParaRPr lang="en-US" sz="1900" dirty="0"/>
          </a:p>
        </p:txBody>
      </p:sp>
      <p:sp>
        <p:nvSpPr>
          <p:cNvPr id="24" name="Text 22"/>
          <p:cNvSpPr txBox="1"/>
          <p:nvPr/>
        </p:nvSpPr>
        <p:spPr>
          <a:xfrm>
            <a:off x="8586216" y="3493008"/>
            <a:ext cx="2468880" cy="1280160"/>
          </a:xfrm>
          <a:prstGeom prst="rect">
            <a:avLst/>
          </a:prstGeom>
          <a:noFill/>
          <a:ln/>
        </p:spPr>
        <p:txBody>
          <a:bodyPr wrap="square" lIns="0" tIns="0" rIns="0" bIns="0" rtlCol="0" anchor="ctr"/>
          <a:lstStyle/>
          <a:p>
            <a:pPr indent="0" marL="0">
              <a:lnSpc>
                <a:spcPts val="1750"/>
              </a:lnSpc>
              <a:buNone/>
            </a:pPr>
            <a:r>
              <a:rPr lang="en-US" sz="1100" dirty="0">
                <a:solidFill>
                  <a:srgbClr val="4A5A67"/>
                </a:solidFill>
                <a:latin typeface="Inter" pitchFamily="34" charset="0"/>
                <a:ea typeface="Inter" pitchFamily="34" charset="-122"/>
                <a:cs typeface="Inter" pitchFamily="34" charset="-120"/>
              </a:rPr>
              <a:t>Your team or another partner runs the programme and depth is needed in one place: a design review, a second opinion, one workstream.</a:t>
            </a:r>
            <a:endParaRPr lang="en-US" sz="1100" dirty="0"/>
          </a:p>
        </p:txBody>
      </p:sp>
      <p:sp>
        <p:nvSpPr>
          <p:cNvPr id="25" name="Shape 23"/>
          <p:cNvSpPr/>
          <p:nvPr/>
        </p:nvSpPr>
        <p:spPr>
          <a:xfrm>
            <a:off x="8586216" y="4846320"/>
            <a:ext cx="2468880" cy="0"/>
          </a:xfrm>
          <a:prstGeom prst="line">
            <a:avLst/>
          </a:prstGeom>
          <a:noFill/>
          <a:ln w="12700">
            <a:solidFill>
              <a:srgbClr val="E2E9EE"/>
            </a:solidFill>
            <a:prstDash val="solid"/>
          </a:ln>
        </p:spPr>
      </p:sp>
      <p:sp>
        <p:nvSpPr>
          <p:cNvPr id="26" name="Text 24"/>
          <p:cNvSpPr txBox="1"/>
          <p:nvPr/>
        </p:nvSpPr>
        <p:spPr>
          <a:xfrm>
            <a:off x="8586216" y="4974336"/>
            <a:ext cx="2468880" cy="475488"/>
          </a:xfrm>
          <a:prstGeom prst="rect">
            <a:avLst/>
          </a:prstGeom>
          <a:noFill/>
          <a:ln/>
        </p:spPr>
        <p:txBody>
          <a:bodyPr wrap="square" lIns="0" tIns="0" rIns="0" bIns="0" rtlCol="0" anchor="ctr"/>
          <a:lstStyle/>
          <a:p>
            <a:pPr indent="0" marL="0">
              <a:lnSpc>
                <a:spcPts val="1600"/>
              </a:lnSpc>
              <a:buNone/>
            </a:pPr>
            <a:r>
              <a:rPr lang="en-US" sz="1050" i="1" dirty="0">
                <a:solidFill>
                  <a:srgbClr val="0E1620"/>
                </a:solidFill>
                <a:latin typeface="Inter" pitchFamily="34" charset="0"/>
                <a:ea typeface="Inter" pitchFamily="34" charset="-122"/>
                <a:cs typeface="Inter" pitchFamily="34" charset="-120"/>
              </a:rPr>
              <a:t>Narrow scope, agreed output, not extended past its usefulness.</a:t>
            </a:r>
            <a:endParaRPr lang="en-US" sz="1050" dirty="0"/>
          </a:p>
        </p:txBody>
      </p:sp>
      <p:sp>
        <p:nvSpPr>
          <p:cNvPr id="27" name="Text 25"/>
          <p:cNvSpPr txBox="1"/>
          <p:nvPr/>
        </p:nvSpPr>
        <p:spPr>
          <a:xfrm>
            <a:off x="8586216" y="5431536"/>
            <a:ext cx="2468880" cy="256032"/>
          </a:xfrm>
          <a:prstGeom prst="rect">
            <a:avLst/>
          </a:prstGeom>
          <a:noFill/>
          <a:ln/>
        </p:spPr>
        <p:txBody>
          <a:bodyPr wrap="square" lIns="0" tIns="0" rIns="0" bIns="0" rtlCol="0" anchor="ctr"/>
          <a:lstStyle/>
          <a:p>
            <a:pPr algn="r" indent="0" marL="0">
              <a:buNone/>
            </a:pPr>
            <a:r>
              <a:rPr lang="en-US" sz="1050" dirty="0">
                <a:solidFill>
                  <a:srgbClr val="11676A"/>
                </a:solidFill>
                <a:latin typeface="IBM Plex Mono" pitchFamily="34" charset="0"/>
                <a:ea typeface="IBM Plex Mono" pitchFamily="34" charset="-122"/>
                <a:cs typeface="IBM Plex Mono" pitchFamily="34" charset="-120"/>
              </a:rPr>
              <a:t>Days to weeks</a:t>
            </a:r>
            <a:endParaRPr lang="en-US" sz="1050" dirty="0"/>
          </a:p>
        </p:txBody>
      </p:sp>
      <p:sp>
        <p:nvSpPr>
          <p:cNvPr id="28" name="Text 26"/>
          <p:cNvSpPr txBox="1"/>
          <p:nvPr/>
        </p:nvSpPr>
        <p:spPr>
          <a:xfrm>
            <a:off x="777240" y="5897880"/>
            <a:ext cx="10241280" cy="274320"/>
          </a:xfrm>
          <a:prstGeom prst="rect">
            <a:avLst/>
          </a:prstGeom>
          <a:noFill/>
          <a:ln/>
        </p:spPr>
        <p:txBody>
          <a:bodyPr wrap="square" lIns="0" tIns="0" rIns="0" bIns="0" rtlCol="0" anchor="ctr"/>
          <a:lstStyle/>
          <a:p>
            <a:pPr indent="0" marL="0">
              <a:buNone/>
            </a:pPr>
            <a:r>
              <a:rPr lang="en-US" sz="1200" i="1" dirty="0">
                <a:solidFill>
                  <a:srgbClr val="4A5A67"/>
                </a:solidFill>
                <a:latin typeface="Inter" pitchFamily="34" charset="0"/>
                <a:ea typeface="Inter" pitchFamily="34" charset="-122"/>
                <a:cs typeface="Inter" pitchFamily="34" charset="-120"/>
              </a:rPr>
              <a:t>Not every need calls for a full programme — and we say so when it does not.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7"/>
        </a:solidFill>
      </p:bgPr>
    </p:bg>
    <p:spTree>
      <p:nvGrpSpPr>
        <p:cNvPr id="1" name=""/>
        <p:cNvGrpSpPr/>
        <p:nvPr/>
      </p:nvGrpSpPr>
      <p:grpSpPr>
        <a:xfrm>
          <a:off x="0" y="0"/>
          <a:ext cx="0" cy="0"/>
          <a:chOff x="0" y="0"/>
          <a:chExt cx="0" cy="0"/>
        </a:xfrm>
      </p:grpSpPr>
      <p:sp>
        <p:nvSpPr>
          <p:cNvPr id="2"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11676A"/>
                </a:solidFill>
                <a:latin typeface="IBM Plex Mono" pitchFamily="34" charset="0"/>
                <a:ea typeface="IBM Plex Mono" pitchFamily="34" charset="-122"/>
                <a:cs typeface="IBM Plex Mono" pitchFamily="34" charset="-120"/>
              </a:rPr>
              <a:t>REFERENCES</a:t>
            </a:r>
            <a:endParaRPr lang="en-US" sz="950" dirty="0"/>
          </a:p>
        </p:txBody>
      </p:sp>
      <p:sp>
        <p:nvSpPr>
          <p:cNvPr id="3" name="Text 1"/>
          <p:cNvSpPr txBox="1"/>
          <p:nvPr/>
        </p:nvSpPr>
        <p:spPr>
          <a:xfrm>
            <a:off x="777240" y="960120"/>
            <a:ext cx="6583680" cy="1371600"/>
          </a:xfrm>
          <a:prstGeom prst="rect">
            <a:avLst/>
          </a:prstGeom>
          <a:noFill/>
          <a:ln/>
        </p:spPr>
        <p:txBody>
          <a:bodyPr wrap="square" lIns="0" tIns="0" rIns="0" bIns="0" rtlCol="0" anchor="t"/>
          <a:lstStyle/>
          <a:p>
            <a:pPr indent="0" marL="0">
              <a:lnSpc>
                <a:spcPts val="3828"/>
              </a:lnSpc>
              <a:buNone/>
            </a:pPr>
            <a:r>
              <a:rPr lang="en-US" sz="3300" b="1" dirty="0">
                <a:solidFill>
                  <a:srgbClr val="0E1620"/>
                </a:solidFill>
                <a:latin typeface="Schibsted Grotesk" pitchFamily="34" charset="0"/>
                <a:ea typeface="Schibsted Grotesk" pitchFamily="34" charset="-122"/>
                <a:cs typeface="Schibsted Grotesk" pitchFamily="34" charset="-120"/>
              </a:rPr>
              <a:t>The landscapes the</a:t>
            </a:r>
            <a:endParaRPr lang="en-US" sz="3300" dirty="0"/>
          </a:p>
          <a:p>
            <a:pPr indent="0" marL="0">
              <a:lnSpc>
                <a:spcPts val="3828"/>
              </a:lnSpc>
              <a:buNone/>
            </a:pPr>
            <a:r>
              <a:rPr lang="en-US" sz="3300" b="1" dirty="0">
                <a:solidFill>
                  <a:srgbClr val="0E1620"/>
                </a:solidFill>
                <a:latin typeface="Schibsted Grotesk" pitchFamily="34" charset="0"/>
                <a:ea typeface="Schibsted Grotesk" pitchFamily="34" charset="-122"/>
                <a:cs typeface="Schibsted Grotesk" pitchFamily="34" charset="-120"/>
              </a:rPr>
              <a:t>experience comes from.</a:t>
            </a:r>
            <a:endParaRPr lang="en-US" sz="3300" dirty="0"/>
          </a:p>
        </p:txBody>
      </p:sp>
      <p:sp>
        <p:nvSpPr>
          <p:cNvPr id="4" name="Shape 2"/>
          <p:cNvSpPr/>
          <p:nvPr/>
        </p:nvSpPr>
        <p:spPr>
          <a:xfrm>
            <a:off x="777240" y="6272784"/>
            <a:ext cx="10637215" cy="0"/>
          </a:xfrm>
          <a:prstGeom prst="line">
            <a:avLst/>
          </a:prstGeom>
          <a:noFill/>
          <a:ln w="9525">
            <a:solidFill>
              <a:srgbClr val="C9D6DE"/>
            </a:solidFill>
            <a:prstDash val="solid"/>
          </a:ln>
        </p:spPr>
      </p:sp>
      <p:sp>
        <p:nvSpPr>
          <p:cNvPr id="5" name="Text 3"/>
          <p:cNvSpPr txBox="1"/>
          <p:nvPr/>
        </p:nvSpPr>
        <p:spPr>
          <a:xfrm>
            <a:off x="777240" y="6382512"/>
            <a:ext cx="4572000" cy="201168"/>
          </a:xfrm>
          <a:prstGeom prst="rect">
            <a:avLst/>
          </a:prstGeom>
          <a:noFill/>
          <a:ln/>
        </p:spPr>
        <p:txBody>
          <a:bodyPr wrap="square" lIns="0" tIns="0" rIns="0" bIns="0" rtlCol="0" anchor="ctr"/>
          <a:lstStyle/>
          <a:p>
            <a:pPr indent="0" marL="0">
              <a:buNone/>
            </a:pPr>
            <a:r>
              <a:rPr lang="en-US" sz="800" spc="160" kern="0" dirty="0">
                <a:solidFill>
                  <a:srgbClr val="4A5A67"/>
                </a:solidFill>
                <a:latin typeface="IBM Plex Mono" pitchFamily="34" charset="0"/>
                <a:ea typeface="IBM Plex Mono" pitchFamily="34" charset="-122"/>
                <a:cs typeface="IBM Plex Mono" pitchFamily="34" charset="-120"/>
              </a:rPr>
              <a:t>CPEAK CONSULTANCY</a:t>
            </a:r>
            <a:endParaRPr lang="en-US" sz="800" dirty="0"/>
          </a:p>
        </p:txBody>
      </p:sp>
      <p:sp>
        <p:nvSpPr>
          <p:cNvPr id="6" name="Text 4"/>
          <p:cNvSpPr txBox="1"/>
          <p:nvPr/>
        </p:nvSpPr>
        <p:spPr>
          <a:xfrm>
            <a:off x="6842455" y="6382512"/>
            <a:ext cx="4572000" cy="201168"/>
          </a:xfrm>
          <a:prstGeom prst="rect">
            <a:avLst/>
          </a:prstGeom>
          <a:noFill/>
          <a:ln/>
        </p:spPr>
        <p:txBody>
          <a:bodyPr wrap="square" lIns="0" tIns="0" rIns="0" bIns="0" rtlCol="0" anchor="ctr"/>
          <a:lstStyle/>
          <a:p>
            <a:pPr algn="r" indent="0" marL="0">
              <a:buNone/>
            </a:pPr>
            <a:r>
              <a:rPr lang="en-US" sz="800" spc="160" kern="0" dirty="0">
                <a:solidFill>
                  <a:srgbClr val="4A5A67"/>
                </a:solidFill>
                <a:latin typeface="IBM Plex Mono" pitchFamily="34" charset="0"/>
                <a:ea typeface="IBM Plex Mono" pitchFamily="34" charset="-122"/>
                <a:cs typeface="IBM Plex Mono" pitchFamily="34" charset="-120"/>
              </a:rPr>
              <a:t>13 / 14</a:t>
            </a:r>
            <a:endParaRPr lang="en-US" sz="800" dirty="0"/>
          </a:p>
        </p:txBody>
      </p:sp>
      <p:sp>
        <p:nvSpPr>
          <p:cNvPr id="7" name="Text 5"/>
          <p:cNvSpPr txBox="1"/>
          <p:nvPr/>
        </p:nvSpPr>
        <p:spPr>
          <a:xfrm>
            <a:off x="7315200" y="1060704"/>
            <a:ext cx="4069080" cy="1280160"/>
          </a:xfrm>
          <a:prstGeom prst="rect">
            <a:avLst/>
          </a:prstGeom>
          <a:noFill/>
          <a:ln/>
        </p:spPr>
        <p:txBody>
          <a:bodyPr wrap="square" lIns="0" tIns="0" rIns="0" bIns="0" rtlCol="0" anchor="ctr"/>
          <a:lstStyle/>
          <a:p>
            <a:pPr indent="0" marL="0">
              <a:lnSpc>
                <a:spcPts val="1900"/>
              </a:lnSpc>
              <a:buNone/>
            </a:pPr>
            <a:r>
              <a:rPr lang="en-US" sz="1200" dirty="0">
                <a:solidFill>
                  <a:srgbClr val="4A5A67"/>
                </a:solidFill>
                <a:latin typeface="Inter" pitchFamily="34" charset="0"/>
                <a:ea typeface="Inter" pitchFamily="34" charset="-122"/>
                <a:cs typeface="Inter" pitchFamily="34" charset="-120"/>
              </a:rPr>
              <a:t>More than ten years of hands-on delivery across SAP finance modules and cloud architecture — in multi-entity groups, regulated industries and high-volume operations.</a:t>
            </a:r>
            <a:endParaRPr lang="en-US" sz="1200" dirty="0"/>
          </a:p>
        </p:txBody>
      </p:sp>
      <p:pic>
        <p:nvPicPr>
          <p:cNvPr id="8" name="Image 0" descr="/tmp/claude-0/-home-user-Default/6c313414-fc11-5a80-9cf8-49dad1a51f26/scratchpad/img/ref-mercedes-benz.png">    </p:cNvPr>
          <p:cNvPicPr>
            <a:picLocks noChangeAspect="1"/>
          </p:cNvPicPr>
          <p:nvPr/>
        </p:nvPicPr>
        <p:blipFill>
          <a:blip r:embed="rId1"/>
          <a:stretch>
            <a:fillRect/>
          </a:stretch>
        </p:blipFill>
        <p:spPr>
          <a:xfrm>
            <a:off x="932688" y="3042862"/>
            <a:ext cx="1463040" cy="369940"/>
          </a:xfrm>
          <a:prstGeom prst="rect">
            <a:avLst/>
          </a:prstGeom>
        </p:spPr>
      </p:pic>
      <p:pic>
        <p:nvPicPr>
          <p:cNvPr id="9" name="Image 1" descr="/tmp/claude-0/-home-user-Default/6c313414-fc11-5a80-9cf8-49dad1a51f26/scratchpad/img/ref-pwc.png">    </p:cNvPr>
          <p:cNvPicPr>
            <a:picLocks noChangeAspect="1"/>
          </p:cNvPicPr>
          <p:nvPr/>
        </p:nvPicPr>
        <p:blipFill>
          <a:blip r:embed="rId2"/>
          <a:stretch>
            <a:fillRect/>
          </a:stretch>
        </p:blipFill>
        <p:spPr>
          <a:xfrm>
            <a:off x="2964270" y="2944368"/>
            <a:ext cx="1167205" cy="566928"/>
          </a:xfrm>
          <a:prstGeom prst="rect">
            <a:avLst/>
          </a:prstGeom>
        </p:spPr>
      </p:pic>
      <p:pic>
        <p:nvPicPr>
          <p:cNvPr id="10" name="Image 2" descr="/tmp/claude-0/-home-user-Default/6c313414-fc11-5a80-9cf8-49dad1a51f26/scratchpad/img/ref-gsk.png">    </p:cNvPr>
          <p:cNvPicPr>
            <a:picLocks noChangeAspect="1"/>
          </p:cNvPicPr>
          <p:nvPr/>
        </p:nvPicPr>
        <p:blipFill>
          <a:blip r:embed="rId3"/>
          <a:stretch>
            <a:fillRect/>
          </a:stretch>
        </p:blipFill>
        <p:spPr>
          <a:xfrm>
            <a:off x="4700016" y="2996881"/>
            <a:ext cx="1463040" cy="461903"/>
          </a:xfrm>
          <a:prstGeom prst="rect">
            <a:avLst/>
          </a:prstGeom>
        </p:spPr>
      </p:pic>
      <p:pic>
        <p:nvPicPr>
          <p:cNvPr id="11" name="Image 3" descr="/tmp/claude-0/-home-user-Default/6c313414-fc11-5a80-9cf8-49dad1a51f26/scratchpad/img/ref-boehringer-ingelheim.png">    </p:cNvPr>
          <p:cNvPicPr>
            <a:picLocks noChangeAspect="1"/>
          </p:cNvPicPr>
          <p:nvPr/>
        </p:nvPicPr>
        <p:blipFill>
          <a:blip r:embed="rId4"/>
          <a:stretch>
            <a:fillRect/>
          </a:stretch>
        </p:blipFill>
        <p:spPr>
          <a:xfrm>
            <a:off x="6583680" y="3001977"/>
            <a:ext cx="1463040" cy="451710"/>
          </a:xfrm>
          <a:prstGeom prst="rect">
            <a:avLst/>
          </a:prstGeom>
        </p:spPr>
      </p:pic>
      <p:pic>
        <p:nvPicPr>
          <p:cNvPr id="12" name="Image 4" descr="/tmp/claude-0/-home-user-Default/6c313414-fc11-5a80-9cf8-49dad1a51f26/scratchpad/img/ref-beko.png">    </p:cNvPr>
          <p:cNvPicPr>
            <a:picLocks noChangeAspect="1"/>
          </p:cNvPicPr>
          <p:nvPr/>
        </p:nvPicPr>
        <p:blipFill>
          <a:blip r:embed="rId5"/>
          <a:stretch>
            <a:fillRect/>
          </a:stretch>
        </p:blipFill>
        <p:spPr>
          <a:xfrm>
            <a:off x="8701559" y="2944368"/>
            <a:ext cx="994611" cy="566928"/>
          </a:xfrm>
          <a:prstGeom prst="rect">
            <a:avLst/>
          </a:prstGeom>
        </p:spPr>
      </p:pic>
      <p:pic>
        <p:nvPicPr>
          <p:cNvPr id="13" name="Image 5" descr="/tmp/claude-0/-home-user-Default/6c313414-fc11-5a80-9cf8-49dad1a51f26/scratchpad/img/ref-enerjisa.png">    </p:cNvPr>
          <p:cNvPicPr>
            <a:picLocks noChangeAspect="1"/>
          </p:cNvPicPr>
          <p:nvPr/>
        </p:nvPicPr>
        <p:blipFill>
          <a:blip r:embed="rId6"/>
          <a:stretch>
            <a:fillRect/>
          </a:stretch>
        </p:blipFill>
        <p:spPr>
          <a:xfrm>
            <a:off x="10351008" y="3083334"/>
            <a:ext cx="1463040" cy="288996"/>
          </a:xfrm>
          <a:prstGeom prst="rect">
            <a:avLst/>
          </a:prstGeom>
        </p:spPr>
      </p:pic>
      <p:pic>
        <p:nvPicPr>
          <p:cNvPr id="14" name="Image 6" descr="/tmp/claude-0/-home-user-Default/6c313414-fc11-5a80-9cf8-49dad1a51f26/scratchpad/img/ref-wavin.png">    </p:cNvPr>
          <p:cNvPicPr>
            <a:picLocks noChangeAspect="1"/>
          </p:cNvPicPr>
          <p:nvPr/>
        </p:nvPicPr>
        <p:blipFill>
          <a:blip r:embed="rId7"/>
          <a:stretch>
            <a:fillRect/>
          </a:stretch>
        </p:blipFill>
        <p:spPr>
          <a:xfrm>
            <a:off x="932688" y="4257735"/>
            <a:ext cx="1463040" cy="354210"/>
          </a:xfrm>
          <a:prstGeom prst="rect">
            <a:avLst/>
          </a:prstGeom>
        </p:spPr>
      </p:pic>
      <p:pic>
        <p:nvPicPr>
          <p:cNvPr id="15" name="Image 7" descr="/tmp/claude-0/-home-user-Default/6c313414-fc11-5a80-9cf8-49dad1a51f26/scratchpad/img/ref-imerys.png">    </p:cNvPr>
          <p:cNvPicPr>
            <a:picLocks noChangeAspect="1"/>
          </p:cNvPicPr>
          <p:nvPr/>
        </p:nvPicPr>
        <p:blipFill>
          <a:blip r:embed="rId8"/>
          <a:stretch>
            <a:fillRect/>
          </a:stretch>
        </p:blipFill>
        <p:spPr>
          <a:xfrm>
            <a:off x="3106928" y="4151376"/>
            <a:ext cx="881888" cy="566928"/>
          </a:xfrm>
          <a:prstGeom prst="rect">
            <a:avLst/>
          </a:prstGeom>
        </p:spPr>
      </p:pic>
      <p:pic>
        <p:nvPicPr>
          <p:cNvPr id="16" name="Image 8" descr="/tmp/claude-0/-home-user-Default/6c313414-fc11-5a80-9cf8-49dad1a51f26/scratchpad/img/ref-flint.png">    </p:cNvPr>
          <p:cNvPicPr>
            <a:picLocks noChangeAspect="1"/>
          </p:cNvPicPr>
          <p:nvPr/>
        </p:nvPicPr>
        <p:blipFill>
          <a:blip r:embed="rId9"/>
          <a:stretch>
            <a:fillRect/>
          </a:stretch>
        </p:blipFill>
        <p:spPr>
          <a:xfrm>
            <a:off x="4700016" y="4290218"/>
            <a:ext cx="1463040" cy="289245"/>
          </a:xfrm>
          <a:prstGeom prst="rect">
            <a:avLst/>
          </a:prstGeom>
        </p:spPr>
      </p:pic>
      <p:pic>
        <p:nvPicPr>
          <p:cNvPr id="17" name="Image 9" descr="/tmp/claude-0/-home-user-Default/6c313414-fc11-5a80-9cf8-49dad1a51f26/scratchpad/img/ref-peri.png">    </p:cNvPr>
          <p:cNvPicPr>
            <a:picLocks noChangeAspect="1"/>
          </p:cNvPicPr>
          <p:nvPr/>
        </p:nvPicPr>
        <p:blipFill>
          <a:blip r:embed="rId10"/>
          <a:stretch>
            <a:fillRect/>
          </a:stretch>
        </p:blipFill>
        <p:spPr>
          <a:xfrm>
            <a:off x="6768164" y="4151376"/>
            <a:ext cx="1094072" cy="566928"/>
          </a:xfrm>
          <a:prstGeom prst="rect">
            <a:avLst/>
          </a:prstGeom>
        </p:spPr>
      </p:pic>
      <p:pic>
        <p:nvPicPr>
          <p:cNvPr id="18" name="Image 10" descr="/tmp/claude-0/-home-user-Default/6c313414-fc11-5a80-9cf8-49dad1a51f26/scratchpad/img/ref-hidromek.png">    </p:cNvPr>
          <p:cNvPicPr>
            <a:picLocks noChangeAspect="1"/>
          </p:cNvPicPr>
          <p:nvPr/>
        </p:nvPicPr>
        <p:blipFill>
          <a:blip r:embed="rId11"/>
          <a:stretch>
            <a:fillRect/>
          </a:stretch>
        </p:blipFill>
        <p:spPr>
          <a:xfrm>
            <a:off x="8467344" y="4339481"/>
            <a:ext cx="1463040" cy="190718"/>
          </a:xfrm>
          <a:prstGeom prst="rect">
            <a:avLst/>
          </a:prstGeom>
        </p:spPr>
      </p:pic>
      <p:pic>
        <p:nvPicPr>
          <p:cNvPr id="19" name="Image 11" descr="/tmp/claude-0/-home-user-Default/6c313414-fc11-5a80-9cf8-49dad1a51f26/scratchpad/img/ref-aydem.png">    </p:cNvPr>
          <p:cNvPicPr>
            <a:picLocks noChangeAspect="1"/>
          </p:cNvPicPr>
          <p:nvPr/>
        </p:nvPicPr>
        <p:blipFill>
          <a:blip r:embed="rId12"/>
          <a:stretch>
            <a:fillRect/>
          </a:stretch>
        </p:blipFill>
        <p:spPr>
          <a:xfrm>
            <a:off x="10618919" y="4151376"/>
            <a:ext cx="927219" cy="566928"/>
          </a:xfrm>
          <a:prstGeom prst="rect">
            <a:avLst/>
          </a:prstGeom>
        </p:spPr>
      </p:pic>
      <p:pic>
        <p:nvPicPr>
          <p:cNvPr id="20" name="Image 12" descr="/tmp/claude-0/-home-user-Default/6c313414-fc11-5a80-9cf8-49dad1a51f26/scratchpad/img/ref-nuh-cimento.png">    </p:cNvPr>
          <p:cNvPicPr>
            <a:picLocks noChangeAspect="1"/>
          </p:cNvPicPr>
          <p:nvPr/>
        </p:nvPicPr>
        <p:blipFill>
          <a:blip r:embed="rId13"/>
          <a:stretch>
            <a:fillRect/>
          </a:stretch>
        </p:blipFill>
        <p:spPr>
          <a:xfrm>
            <a:off x="1043484" y="5358384"/>
            <a:ext cx="1241448" cy="566928"/>
          </a:xfrm>
          <a:prstGeom prst="rect">
            <a:avLst/>
          </a:prstGeom>
        </p:spPr>
      </p:pic>
      <p:pic>
        <p:nvPicPr>
          <p:cNvPr id="21" name="Image 13" descr="/tmp/claude-0/-home-user-Default/6c313414-fc11-5a80-9cf8-49dad1a51f26/scratchpad/img/ref-belbim.png">    </p:cNvPr>
          <p:cNvPicPr>
            <a:picLocks noChangeAspect="1"/>
          </p:cNvPicPr>
          <p:nvPr/>
        </p:nvPicPr>
        <p:blipFill>
          <a:blip r:embed="rId14"/>
          <a:stretch>
            <a:fillRect/>
          </a:stretch>
        </p:blipFill>
        <p:spPr>
          <a:xfrm>
            <a:off x="2816352" y="5475873"/>
            <a:ext cx="1463040" cy="331950"/>
          </a:xfrm>
          <a:prstGeom prst="rect">
            <a:avLst/>
          </a:prstGeom>
        </p:spPr>
      </p:pic>
      <p:pic>
        <p:nvPicPr>
          <p:cNvPr id="22" name="Image 14" descr="/tmp/claude-0/-home-user-Default/6c313414-fc11-5a80-9cf8-49dad1a51f26/scratchpad/img/ref-tcdd.png">    </p:cNvPr>
          <p:cNvPicPr>
            <a:picLocks noChangeAspect="1"/>
          </p:cNvPicPr>
          <p:nvPr/>
        </p:nvPicPr>
        <p:blipFill>
          <a:blip r:embed="rId15"/>
          <a:stretch>
            <a:fillRect/>
          </a:stretch>
        </p:blipFill>
        <p:spPr>
          <a:xfrm>
            <a:off x="5123423" y="5358384"/>
            <a:ext cx="616226" cy="566928"/>
          </a:xfrm>
          <a:prstGeom prst="rect">
            <a:avLst/>
          </a:prstGeom>
        </p:spPr>
      </p:pic>
      <p:pic>
        <p:nvPicPr>
          <p:cNvPr id="23" name="Image 15" descr="/tmp/claude-0/-home-user-Default/6c313414-fc11-5a80-9cf8-49dad1a51f26/scratchpad/img/ref-iett.png">    </p:cNvPr>
          <p:cNvPicPr>
            <a:picLocks noChangeAspect="1"/>
          </p:cNvPicPr>
          <p:nvPr/>
        </p:nvPicPr>
        <p:blipFill>
          <a:blip r:embed="rId16"/>
          <a:stretch>
            <a:fillRect/>
          </a:stretch>
        </p:blipFill>
        <p:spPr>
          <a:xfrm>
            <a:off x="7085852" y="5358384"/>
            <a:ext cx="458696" cy="566928"/>
          </a:xfrm>
          <a:prstGeom prst="rect">
            <a:avLst/>
          </a:prstGeom>
        </p:spPr>
      </p:pic>
      <p:pic>
        <p:nvPicPr>
          <p:cNvPr id="24" name="Image 16" descr="/tmp/claude-0/-home-user-Default/6c313414-fc11-5a80-9cf8-49dad1a51f26/scratchpad/img/ref-fusion-consulting.png">    </p:cNvPr>
          <p:cNvPicPr>
            <a:picLocks noChangeAspect="1"/>
          </p:cNvPicPr>
          <p:nvPr/>
        </p:nvPicPr>
        <p:blipFill>
          <a:blip r:embed="rId17"/>
          <a:stretch>
            <a:fillRect/>
          </a:stretch>
        </p:blipFill>
        <p:spPr>
          <a:xfrm>
            <a:off x="8553739" y="5358384"/>
            <a:ext cx="1290250" cy="566928"/>
          </a:xfrm>
          <a:prstGeom prst="rect">
            <a:avLst/>
          </a:prstGeom>
        </p:spPr>
      </p:pic>
      <p:sp>
        <p:nvSpPr>
          <p:cNvPr id="25" name="Shape 6"/>
          <p:cNvSpPr/>
          <p:nvPr/>
        </p:nvSpPr>
        <p:spPr>
          <a:xfrm>
            <a:off x="777240" y="3749040"/>
            <a:ext cx="10637215" cy="0"/>
          </a:xfrm>
          <a:prstGeom prst="line">
            <a:avLst/>
          </a:prstGeom>
          <a:noFill/>
          <a:ln w="12700">
            <a:solidFill>
              <a:srgbClr val="E2E9EE"/>
            </a:solidFill>
            <a:prstDash val="solid"/>
          </a:ln>
        </p:spPr>
      </p:sp>
      <p:sp>
        <p:nvSpPr>
          <p:cNvPr id="26" name="Shape 7"/>
          <p:cNvSpPr/>
          <p:nvPr/>
        </p:nvSpPr>
        <p:spPr>
          <a:xfrm>
            <a:off x="777240" y="4956048"/>
            <a:ext cx="10637215" cy="0"/>
          </a:xfrm>
          <a:prstGeom prst="line">
            <a:avLst/>
          </a:prstGeom>
          <a:noFill/>
          <a:ln w="12700">
            <a:solidFill>
              <a:srgbClr val="E2E9EE"/>
            </a:solidFill>
            <a:prstDash val="solid"/>
          </a:ln>
        </p:spPr>
      </p:sp>
      <p:sp>
        <p:nvSpPr>
          <p:cNvPr id="27" name="Shape 8"/>
          <p:cNvSpPr/>
          <p:nvPr/>
        </p:nvSpPr>
        <p:spPr>
          <a:xfrm>
            <a:off x="777240" y="6163056"/>
            <a:ext cx="10637215" cy="0"/>
          </a:xfrm>
          <a:prstGeom prst="line">
            <a:avLst/>
          </a:prstGeom>
          <a:noFill/>
          <a:ln w="12700">
            <a:solidFill>
              <a:srgbClr val="E2E9EE"/>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620"/>
        </a:solidFill>
      </p:bgPr>
    </p:bg>
    <p:spTree>
      <p:nvGrpSpPr>
        <p:cNvPr id="1" name=""/>
        <p:cNvGrpSpPr/>
        <p:nvPr/>
      </p:nvGrpSpPr>
      <p:grpSpPr>
        <a:xfrm>
          <a:off x="0" y="0"/>
          <a:ext cx="0" cy="0"/>
          <a:chOff x="0" y="0"/>
          <a:chExt cx="0" cy="0"/>
        </a:xfrm>
      </p:grpSpPr>
      <p:pic>
        <p:nvPicPr>
          <p:cNvPr id="2" name="Image 0" descr="/tmp/claude-0/-home-user-Default/6c313414-fc11-5a80-9cf8-49dad1a51f26/scratchpad/img/tex-dark.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530352"/>
            <a:ext cx="10637215" cy="201168"/>
          </a:xfrm>
          <a:prstGeom prst="rect">
            <a:avLst/>
          </a:prstGeom>
          <a:noFill/>
          <a:ln/>
        </p:spPr>
        <p:txBody>
          <a:bodyPr wrap="square" lIns="0" tIns="0" rIns="0" bIns="0" rtlCol="0" anchor="ctr"/>
          <a:lstStyle/>
          <a:p>
            <a:pPr indent="0" marL="0">
              <a:buNone/>
            </a:pPr>
            <a:r>
              <a:rPr lang="en-US" sz="950" spc="220" kern="0" dirty="0">
                <a:solidFill>
                  <a:srgbClr val="F5DCA4"/>
                </a:solidFill>
                <a:latin typeface="IBM Plex Mono" pitchFamily="34" charset="0"/>
                <a:ea typeface="IBM Plex Mono" pitchFamily="34" charset="-122"/>
                <a:cs typeface="IBM Plex Mono" pitchFamily="34" charset="-120"/>
              </a:rPr>
              <a:t>WHY CPEAK</a:t>
            </a:r>
            <a:endParaRPr lang="en-US" sz="950" dirty="0"/>
          </a:p>
        </p:txBody>
      </p:sp>
      <p:sp>
        <p:nvSpPr>
          <p:cNvPr id="4" name="Text 1"/>
          <p:cNvSpPr txBox="1"/>
          <p:nvPr/>
        </p:nvSpPr>
        <p:spPr>
          <a:xfrm>
            <a:off x="777240" y="932688"/>
            <a:ext cx="960120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Schibsted Grotesk" pitchFamily="34" charset="0"/>
                <a:ea typeface="Schibsted Grotesk" pitchFamily="34" charset="-122"/>
                <a:cs typeface="Schibsted Grotesk" pitchFamily="34" charset="-120"/>
              </a:rPr>
              <a:t>The people named in the proposal</a:t>
            </a:r>
            <a:endParaRPr lang="en-US" sz="3600" dirty="0"/>
          </a:p>
          <a:p>
            <a:pPr indent="0" marL="0">
              <a:lnSpc>
                <a:spcPts val="4400"/>
              </a:lnSpc>
              <a:buNone/>
            </a:pPr>
            <a:r>
              <a:rPr lang="en-US" sz="3600" b="1" dirty="0">
                <a:solidFill>
                  <a:srgbClr val="FFFFFF"/>
                </a:solidFill>
                <a:latin typeface="Schibsted Grotesk" pitchFamily="34" charset="0"/>
                <a:ea typeface="Schibsted Grotesk" pitchFamily="34" charset="-122"/>
                <a:cs typeface="Schibsted Grotesk" pitchFamily="34" charset="-120"/>
              </a:rPr>
              <a:t>are the people who turn up.</a:t>
            </a:r>
            <a:endParaRPr lang="en-US" sz="3600" dirty="0"/>
          </a:p>
        </p:txBody>
      </p:sp>
      <p:sp>
        <p:nvSpPr>
          <p:cNvPr id="5" name="Shape 2"/>
          <p:cNvSpPr/>
          <p:nvPr/>
        </p:nvSpPr>
        <p:spPr>
          <a:xfrm>
            <a:off x="777240" y="2670048"/>
            <a:ext cx="2395728" cy="0"/>
          </a:xfrm>
          <a:prstGeom prst="line">
            <a:avLst/>
          </a:prstGeom>
          <a:noFill/>
          <a:ln w="12700">
            <a:solidFill>
              <a:srgbClr val="FFFFFF">
                <a:alpha val="38000"/>
              </a:srgbClr>
            </a:solidFill>
            <a:prstDash val="solid"/>
          </a:ln>
        </p:spPr>
      </p:sp>
      <p:sp>
        <p:nvSpPr>
          <p:cNvPr id="6" name="Shape 3"/>
          <p:cNvSpPr/>
          <p:nvPr/>
        </p:nvSpPr>
        <p:spPr>
          <a:xfrm>
            <a:off x="777240" y="2624328"/>
            <a:ext cx="91440" cy="91440"/>
          </a:xfrm>
          <a:prstGeom prst="ellipse">
            <a:avLst/>
          </a:prstGeom>
          <a:solidFill>
            <a:srgbClr val="E8B33A"/>
          </a:solidFill>
          <a:ln w="12700">
            <a:solidFill>
              <a:srgbClr val="E8B33A"/>
            </a:solidFill>
            <a:prstDash val="solid"/>
          </a:ln>
        </p:spPr>
      </p:sp>
      <p:sp>
        <p:nvSpPr>
          <p:cNvPr id="7" name="Text 4"/>
          <p:cNvSpPr txBox="1"/>
          <p:nvPr/>
        </p:nvSpPr>
        <p:spPr>
          <a:xfrm>
            <a:off x="777240" y="2852928"/>
            <a:ext cx="2395728" cy="219456"/>
          </a:xfrm>
          <a:prstGeom prst="rect">
            <a:avLst/>
          </a:prstGeom>
          <a:noFill/>
          <a:ln/>
        </p:spPr>
        <p:txBody>
          <a:bodyPr wrap="square" lIns="0" tIns="0" rIns="0" bIns="0" rtlCol="0" anchor="ctr"/>
          <a:lstStyle/>
          <a:p>
            <a:pPr indent="0" marL="0">
              <a:buNone/>
            </a:pPr>
            <a:r>
              <a:rPr lang="en-US" sz="900" spc="170" kern="0" dirty="0">
                <a:solidFill>
                  <a:srgbClr val="F5DCA4"/>
                </a:solidFill>
                <a:latin typeface="IBM Plex Mono" pitchFamily="34" charset="0"/>
                <a:ea typeface="IBM Plex Mono" pitchFamily="34" charset="-122"/>
                <a:cs typeface="IBM Plex Mono" pitchFamily="34" charset="-120"/>
              </a:rPr>
              <a:t>SENIOR ONLY</a:t>
            </a:r>
            <a:endParaRPr lang="en-US" sz="900" dirty="0"/>
          </a:p>
        </p:txBody>
      </p:sp>
      <p:sp>
        <p:nvSpPr>
          <p:cNvPr id="8" name="Text 5"/>
          <p:cNvSpPr txBox="1"/>
          <p:nvPr/>
        </p:nvSpPr>
        <p:spPr>
          <a:xfrm>
            <a:off x="777240" y="3163824"/>
            <a:ext cx="2286000" cy="1005840"/>
          </a:xfrm>
          <a:prstGeom prst="rect">
            <a:avLst/>
          </a:prstGeom>
          <a:noFill/>
          <a:ln/>
        </p:spPr>
        <p:txBody>
          <a:bodyPr wrap="square" lIns="0" tIns="0" rIns="0" bIns="0" rtlCol="0" anchor="t"/>
          <a:lstStyle/>
          <a:p>
            <a:pPr indent="0" marL="0">
              <a:lnSpc>
                <a:spcPts val="1750"/>
              </a:lnSpc>
              <a:buNone/>
            </a:pPr>
            <a:r>
              <a:rPr lang="en-US" sz="1100" dirty="0">
                <a:solidFill>
                  <a:srgbClr val="D2DDE6"/>
                </a:solidFill>
                <a:latin typeface="Inter" pitchFamily="34" charset="0"/>
                <a:ea typeface="Inter" pitchFamily="34" charset="-122"/>
                <a:cs typeface="Inter" pitchFamily="34" charset="-120"/>
              </a:rPr>
              <a:t>The team is small and senior. You are not charged for a consultant’s learning curve.</a:t>
            </a:r>
            <a:endParaRPr lang="en-US" sz="1100" dirty="0"/>
          </a:p>
        </p:txBody>
      </p:sp>
      <p:sp>
        <p:nvSpPr>
          <p:cNvPr id="9" name="Shape 6"/>
          <p:cNvSpPr/>
          <p:nvPr/>
        </p:nvSpPr>
        <p:spPr>
          <a:xfrm>
            <a:off x="3392424" y="2670048"/>
            <a:ext cx="2395728" cy="0"/>
          </a:xfrm>
          <a:prstGeom prst="line">
            <a:avLst/>
          </a:prstGeom>
          <a:noFill/>
          <a:ln w="12700">
            <a:solidFill>
              <a:srgbClr val="FFFFFF">
                <a:alpha val="38000"/>
              </a:srgbClr>
            </a:solidFill>
            <a:prstDash val="solid"/>
          </a:ln>
        </p:spPr>
      </p:sp>
      <p:sp>
        <p:nvSpPr>
          <p:cNvPr id="10" name="Shape 7"/>
          <p:cNvSpPr/>
          <p:nvPr/>
        </p:nvSpPr>
        <p:spPr>
          <a:xfrm>
            <a:off x="3392424" y="2624328"/>
            <a:ext cx="91440" cy="91440"/>
          </a:xfrm>
          <a:prstGeom prst="ellipse">
            <a:avLst/>
          </a:prstGeom>
          <a:solidFill>
            <a:srgbClr val="E8B33A"/>
          </a:solidFill>
          <a:ln w="12700">
            <a:solidFill>
              <a:srgbClr val="E8B33A"/>
            </a:solidFill>
            <a:prstDash val="solid"/>
          </a:ln>
        </p:spPr>
      </p:sp>
      <p:sp>
        <p:nvSpPr>
          <p:cNvPr id="11" name="Text 8"/>
          <p:cNvSpPr txBox="1"/>
          <p:nvPr/>
        </p:nvSpPr>
        <p:spPr>
          <a:xfrm>
            <a:off x="3392424" y="2852928"/>
            <a:ext cx="2395728" cy="219456"/>
          </a:xfrm>
          <a:prstGeom prst="rect">
            <a:avLst/>
          </a:prstGeom>
          <a:noFill/>
          <a:ln/>
        </p:spPr>
        <p:txBody>
          <a:bodyPr wrap="square" lIns="0" tIns="0" rIns="0" bIns="0" rtlCol="0" anchor="ctr"/>
          <a:lstStyle/>
          <a:p>
            <a:pPr indent="0" marL="0">
              <a:buNone/>
            </a:pPr>
            <a:r>
              <a:rPr lang="en-US" sz="900" spc="170" kern="0" dirty="0">
                <a:solidFill>
                  <a:srgbClr val="F5DCA4"/>
                </a:solidFill>
                <a:latin typeface="IBM Plex Mono" pitchFamily="34" charset="0"/>
                <a:ea typeface="IBM Plex Mono" pitchFamily="34" charset="-122"/>
                <a:cs typeface="IBM Plex Mono" pitchFamily="34" charset="-120"/>
              </a:rPr>
              <a:t>NARROW BY DESIGN</a:t>
            </a:r>
            <a:endParaRPr lang="en-US" sz="900" dirty="0"/>
          </a:p>
        </p:txBody>
      </p:sp>
      <p:sp>
        <p:nvSpPr>
          <p:cNvPr id="12" name="Text 9"/>
          <p:cNvSpPr txBox="1"/>
          <p:nvPr/>
        </p:nvSpPr>
        <p:spPr>
          <a:xfrm>
            <a:off x="3392424" y="3163824"/>
            <a:ext cx="2286000" cy="1005840"/>
          </a:xfrm>
          <a:prstGeom prst="rect">
            <a:avLst/>
          </a:prstGeom>
          <a:noFill/>
          <a:ln/>
        </p:spPr>
        <p:txBody>
          <a:bodyPr wrap="square" lIns="0" tIns="0" rIns="0" bIns="0" rtlCol="0" anchor="t"/>
          <a:lstStyle/>
          <a:p>
            <a:pPr indent="0" marL="0">
              <a:lnSpc>
                <a:spcPts val="1750"/>
              </a:lnSpc>
              <a:buNone/>
            </a:pPr>
            <a:r>
              <a:rPr lang="en-US" sz="1100" dirty="0">
                <a:solidFill>
                  <a:srgbClr val="D2DDE6"/>
                </a:solidFill>
                <a:latin typeface="Inter" pitchFamily="34" charset="0"/>
                <a:ea typeface="Inter" pitchFamily="34" charset="-122"/>
                <a:cs typeface="Inter" pitchFamily="34" charset="-120"/>
              </a:rPr>
              <a:t>We stay in finance and cloud architecture. The difficult part is not subcontracted.</a:t>
            </a:r>
            <a:endParaRPr lang="en-US" sz="1100" dirty="0"/>
          </a:p>
        </p:txBody>
      </p:sp>
      <p:sp>
        <p:nvSpPr>
          <p:cNvPr id="13" name="Shape 10"/>
          <p:cNvSpPr/>
          <p:nvPr/>
        </p:nvSpPr>
        <p:spPr>
          <a:xfrm>
            <a:off x="6007608" y="2670048"/>
            <a:ext cx="2395728" cy="0"/>
          </a:xfrm>
          <a:prstGeom prst="line">
            <a:avLst/>
          </a:prstGeom>
          <a:noFill/>
          <a:ln w="12700">
            <a:solidFill>
              <a:srgbClr val="FFFFFF">
                <a:alpha val="38000"/>
              </a:srgbClr>
            </a:solidFill>
            <a:prstDash val="solid"/>
          </a:ln>
        </p:spPr>
      </p:sp>
      <p:sp>
        <p:nvSpPr>
          <p:cNvPr id="14" name="Shape 11"/>
          <p:cNvSpPr/>
          <p:nvPr/>
        </p:nvSpPr>
        <p:spPr>
          <a:xfrm>
            <a:off x="6007608" y="2624328"/>
            <a:ext cx="91440" cy="91440"/>
          </a:xfrm>
          <a:prstGeom prst="ellipse">
            <a:avLst/>
          </a:prstGeom>
          <a:solidFill>
            <a:srgbClr val="E8B33A"/>
          </a:solidFill>
          <a:ln w="12700">
            <a:solidFill>
              <a:srgbClr val="E8B33A"/>
            </a:solidFill>
            <a:prstDash val="solid"/>
          </a:ln>
        </p:spPr>
      </p:sp>
      <p:sp>
        <p:nvSpPr>
          <p:cNvPr id="15" name="Text 12"/>
          <p:cNvSpPr txBox="1"/>
          <p:nvPr/>
        </p:nvSpPr>
        <p:spPr>
          <a:xfrm>
            <a:off x="6007608" y="2852928"/>
            <a:ext cx="2395728" cy="219456"/>
          </a:xfrm>
          <a:prstGeom prst="rect">
            <a:avLst/>
          </a:prstGeom>
          <a:noFill/>
          <a:ln/>
        </p:spPr>
        <p:txBody>
          <a:bodyPr wrap="square" lIns="0" tIns="0" rIns="0" bIns="0" rtlCol="0" anchor="ctr"/>
          <a:lstStyle/>
          <a:p>
            <a:pPr indent="0" marL="0">
              <a:buNone/>
            </a:pPr>
            <a:r>
              <a:rPr lang="en-US" sz="900" spc="170" kern="0" dirty="0">
                <a:solidFill>
                  <a:srgbClr val="F5DCA4"/>
                </a:solidFill>
                <a:latin typeface="IBM Plex Mono" pitchFamily="34" charset="0"/>
                <a:ea typeface="IBM Plex Mono" pitchFamily="34" charset="-122"/>
                <a:cs typeface="IBM Plex Mono" pitchFamily="34" charset="-120"/>
              </a:rPr>
              <a:t>NEUTRAL</a:t>
            </a:r>
            <a:endParaRPr lang="en-US" sz="900" dirty="0"/>
          </a:p>
        </p:txBody>
      </p:sp>
      <p:sp>
        <p:nvSpPr>
          <p:cNvPr id="16" name="Text 13"/>
          <p:cNvSpPr txBox="1"/>
          <p:nvPr/>
        </p:nvSpPr>
        <p:spPr>
          <a:xfrm>
            <a:off x="6007608" y="3163824"/>
            <a:ext cx="2286000" cy="1005840"/>
          </a:xfrm>
          <a:prstGeom prst="rect">
            <a:avLst/>
          </a:prstGeom>
          <a:noFill/>
          <a:ln/>
        </p:spPr>
        <p:txBody>
          <a:bodyPr wrap="square" lIns="0" tIns="0" rIns="0" bIns="0" rtlCol="0" anchor="t"/>
          <a:lstStyle/>
          <a:p>
            <a:pPr indent="0" marL="0">
              <a:lnSpc>
                <a:spcPts val="1750"/>
              </a:lnSpc>
              <a:buNone/>
            </a:pPr>
            <a:r>
              <a:rPr lang="en-US" sz="1100" dirty="0">
                <a:solidFill>
                  <a:srgbClr val="D2DDE6"/>
                </a:solidFill>
                <a:latin typeface="Inter" pitchFamily="34" charset="0"/>
                <a:ea typeface="Inter" pitchFamily="34" charset="-122"/>
                <a:cs typeface="Inter" pitchFamily="34" charset="-120"/>
              </a:rPr>
              <a:t>We compare, you decide, and the reasoning stays on paper for the people who ask later.</a:t>
            </a:r>
            <a:endParaRPr lang="en-US" sz="1100" dirty="0"/>
          </a:p>
        </p:txBody>
      </p:sp>
      <p:sp>
        <p:nvSpPr>
          <p:cNvPr id="17" name="Shape 14"/>
          <p:cNvSpPr/>
          <p:nvPr/>
        </p:nvSpPr>
        <p:spPr>
          <a:xfrm>
            <a:off x="8622792" y="2670048"/>
            <a:ext cx="2395728" cy="0"/>
          </a:xfrm>
          <a:prstGeom prst="line">
            <a:avLst/>
          </a:prstGeom>
          <a:noFill/>
          <a:ln w="12700">
            <a:solidFill>
              <a:srgbClr val="FFFFFF">
                <a:alpha val="38000"/>
              </a:srgbClr>
            </a:solidFill>
            <a:prstDash val="solid"/>
          </a:ln>
        </p:spPr>
      </p:sp>
      <p:sp>
        <p:nvSpPr>
          <p:cNvPr id="18" name="Shape 15"/>
          <p:cNvSpPr/>
          <p:nvPr/>
        </p:nvSpPr>
        <p:spPr>
          <a:xfrm>
            <a:off x="8622792" y="2624328"/>
            <a:ext cx="91440" cy="91440"/>
          </a:xfrm>
          <a:prstGeom prst="ellipse">
            <a:avLst/>
          </a:prstGeom>
          <a:solidFill>
            <a:srgbClr val="E8B33A"/>
          </a:solidFill>
          <a:ln w="12700">
            <a:solidFill>
              <a:srgbClr val="E8B33A"/>
            </a:solidFill>
            <a:prstDash val="solid"/>
          </a:ln>
        </p:spPr>
      </p:sp>
      <p:sp>
        <p:nvSpPr>
          <p:cNvPr id="19" name="Text 16"/>
          <p:cNvSpPr txBox="1"/>
          <p:nvPr/>
        </p:nvSpPr>
        <p:spPr>
          <a:xfrm>
            <a:off x="8622792" y="2852928"/>
            <a:ext cx="2395728" cy="219456"/>
          </a:xfrm>
          <a:prstGeom prst="rect">
            <a:avLst/>
          </a:prstGeom>
          <a:noFill/>
          <a:ln/>
        </p:spPr>
        <p:txBody>
          <a:bodyPr wrap="square" lIns="0" tIns="0" rIns="0" bIns="0" rtlCol="0" anchor="ctr"/>
          <a:lstStyle/>
          <a:p>
            <a:pPr indent="0" marL="0">
              <a:buNone/>
            </a:pPr>
            <a:r>
              <a:rPr lang="en-US" sz="900" spc="170" kern="0" dirty="0">
                <a:solidFill>
                  <a:srgbClr val="F5DCA4"/>
                </a:solidFill>
                <a:latin typeface="IBM Plex Mono" pitchFamily="34" charset="0"/>
                <a:ea typeface="IBM Plex Mono" pitchFamily="34" charset="-122"/>
                <a:cs typeface="IBM Plex Mono" pitchFamily="34" charset="-120"/>
              </a:rPr>
              <a:t>PHASED</a:t>
            </a:r>
            <a:endParaRPr lang="en-US" sz="900" dirty="0"/>
          </a:p>
        </p:txBody>
      </p:sp>
      <p:sp>
        <p:nvSpPr>
          <p:cNvPr id="20" name="Text 17"/>
          <p:cNvSpPr txBox="1"/>
          <p:nvPr/>
        </p:nvSpPr>
        <p:spPr>
          <a:xfrm>
            <a:off x="8622792" y="3163824"/>
            <a:ext cx="2286000" cy="1005840"/>
          </a:xfrm>
          <a:prstGeom prst="rect">
            <a:avLst/>
          </a:prstGeom>
          <a:noFill/>
          <a:ln/>
        </p:spPr>
        <p:txBody>
          <a:bodyPr wrap="square" lIns="0" tIns="0" rIns="0" bIns="0" rtlCol="0" anchor="t"/>
          <a:lstStyle/>
          <a:p>
            <a:pPr indent="0" marL="0">
              <a:lnSpc>
                <a:spcPts val="1750"/>
              </a:lnSpc>
              <a:buNone/>
            </a:pPr>
            <a:r>
              <a:rPr lang="en-US" sz="1100" dirty="0">
                <a:solidFill>
                  <a:srgbClr val="D2DDE6"/>
                </a:solidFill>
                <a:latin typeface="Inter" pitchFamily="34" charset="0"/>
                <a:ea typeface="Inter" pitchFamily="34" charset="-122"/>
                <a:cs typeface="Inter" pitchFamily="34" charset="-120"/>
              </a:rPr>
              <a:t>When scope grows we phase the work rather than inflate the team.</a:t>
            </a:r>
            <a:endParaRPr lang="en-US" sz="1100" dirty="0"/>
          </a:p>
        </p:txBody>
      </p:sp>
      <p:sp>
        <p:nvSpPr>
          <p:cNvPr id="21" name="Text 18"/>
          <p:cNvSpPr txBox="1"/>
          <p:nvPr/>
        </p:nvSpPr>
        <p:spPr>
          <a:xfrm>
            <a:off x="777240" y="4425696"/>
            <a:ext cx="5486400" cy="822960"/>
          </a:xfrm>
          <a:prstGeom prst="rect">
            <a:avLst/>
          </a:prstGeom>
          <a:noFill/>
          <a:ln/>
        </p:spPr>
        <p:txBody>
          <a:bodyPr wrap="square" lIns="0" tIns="0" rIns="0" bIns="0" rtlCol="0" anchor="ctr"/>
          <a:lstStyle/>
          <a:p>
            <a:pPr indent="0" marL="0">
              <a:lnSpc>
                <a:spcPts val="2500"/>
              </a:lnSpc>
              <a:buNone/>
            </a:pPr>
            <a:r>
              <a:rPr lang="en-US" sz="1800" b="1" dirty="0">
                <a:solidFill>
                  <a:srgbClr val="FFFFFF"/>
                </a:solidFill>
                <a:latin typeface="Schibsted Grotesk" pitchFamily="34" charset="0"/>
                <a:ea typeface="Schibsted Grotesk" pitchFamily="34" charset="-122"/>
                <a:cs typeface="Schibsted Grotesk" pitchFamily="34" charset="-120"/>
              </a:rPr>
              <a:t>Tell us about your programme.</a:t>
            </a:r>
            <a:endParaRPr lang="en-US" sz="1800" dirty="0"/>
          </a:p>
          <a:p>
            <a:pPr indent="0" marL="0">
              <a:lnSpc>
                <a:spcPts val="2500"/>
              </a:lnSpc>
              <a:buNone/>
            </a:pPr>
            <a:r>
              <a:rPr lang="en-US" sz="1800" b="1" dirty="0">
                <a:solidFill>
                  <a:srgbClr val="FFFFFF"/>
                </a:solidFill>
                <a:latin typeface="Schibsted Grotesk" pitchFamily="34" charset="0"/>
                <a:ea typeface="Schibsted Grotesk" pitchFamily="34" charset="-122"/>
                <a:cs typeface="Schibsted Grotesk" pitchFamily="34" charset="-120"/>
              </a:rPr>
              <a:t>We respond within one business day.</a:t>
            </a:r>
            <a:endParaRPr lang="en-US" sz="1800" dirty="0"/>
          </a:p>
        </p:txBody>
      </p:sp>
      <p:sp>
        <p:nvSpPr>
          <p:cNvPr id="22" name="Text 19"/>
          <p:cNvSpPr txBox="1"/>
          <p:nvPr/>
        </p:nvSpPr>
        <p:spPr>
          <a:xfrm>
            <a:off x="6446520" y="4407408"/>
            <a:ext cx="4937760" cy="274320"/>
          </a:xfrm>
          <a:prstGeom prst="rect">
            <a:avLst/>
          </a:prstGeom>
          <a:noFill/>
          <a:ln/>
        </p:spPr>
        <p:txBody>
          <a:bodyPr wrap="square" lIns="0" tIns="0" rIns="0" bIns="0" rtlCol="0" anchor="ctr"/>
          <a:lstStyle/>
          <a:p>
            <a:pPr indent="0" marL="0">
              <a:buNone/>
            </a:pPr>
            <a:r>
              <a:rPr lang="en-US" sz="1150" dirty="0">
                <a:solidFill>
                  <a:srgbClr val="F5DCA4"/>
                </a:solidFill>
                <a:latin typeface="IBM Plex Mono" pitchFamily="34" charset="0"/>
                <a:ea typeface="IBM Plex Mono" pitchFamily="34" charset="-122"/>
                <a:cs typeface="IBM Plex Mono" pitchFamily="34" charset="-120"/>
              </a:rPr>
              <a:t>info@cpeakconsultancy.com</a:t>
            </a:r>
            <a:endParaRPr lang="en-US" sz="1150" dirty="0"/>
          </a:p>
        </p:txBody>
      </p:sp>
      <p:sp>
        <p:nvSpPr>
          <p:cNvPr id="23" name="Text 20"/>
          <p:cNvSpPr txBox="1"/>
          <p:nvPr/>
        </p:nvSpPr>
        <p:spPr>
          <a:xfrm>
            <a:off x="6446520" y="4718304"/>
            <a:ext cx="4937760" cy="274320"/>
          </a:xfrm>
          <a:prstGeom prst="rect">
            <a:avLst/>
          </a:prstGeom>
          <a:noFill/>
          <a:ln/>
        </p:spPr>
        <p:txBody>
          <a:bodyPr wrap="square" lIns="0" tIns="0" rIns="0" bIns="0" rtlCol="0" anchor="ctr"/>
          <a:lstStyle/>
          <a:p>
            <a:pPr indent="0" marL="0">
              <a:buNone/>
            </a:pPr>
            <a:r>
              <a:rPr lang="en-US" sz="1150" dirty="0">
                <a:solidFill>
                  <a:srgbClr val="FFFFFF"/>
                </a:solidFill>
                <a:latin typeface="IBM Plex Mono" pitchFamily="34" charset="0"/>
                <a:ea typeface="IBM Plex Mono" pitchFamily="34" charset="-122"/>
                <a:cs typeface="IBM Plex Mono" pitchFamily="34" charset="-120"/>
              </a:rPr>
              <a:t>+90 (507) 032 81 70</a:t>
            </a:r>
            <a:endParaRPr lang="en-US" sz="1150" dirty="0"/>
          </a:p>
        </p:txBody>
      </p:sp>
      <p:sp>
        <p:nvSpPr>
          <p:cNvPr id="24" name="Text 21"/>
          <p:cNvSpPr txBox="1"/>
          <p:nvPr/>
        </p:nvSpPr>
        <p:spPr>
          <a:xfrm>
            <a:off x="6446520" y="5029200"/>
            <a:ext cx="4937760" cy="274320"/>
          </a:xfrm>
          <a:prstGeom prst="rect">
            <a:avLst/>
          </a:prstGeom>
          <a:noFill/>
          <a:ln/>
        </p:spPr>
        <p:txBody>
          <a:bodyPr wrap="square" lIns="0" tIns="0" rIns="0" bIns="0" rtlCol="0" anchor="ctr"/>
          <a:lstStyle/>
          <a:p>
            <a:pPr indent="0" marL="0">
              <a:buNone/>
            </a:pPr>
            <a:r>
              <a:rPr lang="en-US" sz="1150" dirty="0">
                <a:solidFill>
                  <a:srgbClr val="D2DDE6"/>
                </a:solidFill>
                <a:latin typeface="IBM Plex Mono" pitchFamily="34" charset="0"/>
                <a:ea typeface="IBM Plex Mono" pitchFamily="34" charset="-122"/>
                <a:cs typeface="IBM Plex Mono" pitchFamily="34" charset="-120"/>
              </a:rPr>
              <a:t>linkedin.com/company/cpeak-consultancy</a:t>
            </a:r>
            <a:endParaRPr lang="en-US" sz="1150" dirty="0"/>
          </a:p>
        </p:txBody>
      </p:sp>
      <p:sp>
        <p:nvSpPr>
          <p:cNvPr id="25" name="Text 22"/>
          <p:cNvSpPr txBox="1"/>
          <p:nvPr/>
        </p:nvSpPr>
        <p:spPr>
          <a:xfrm>
            <a:off x="6446520" y="5431536"/>
            <a:ext cx="4937760" cy="512064"/>
          </a:xfrm>
          <a:prstGeom prst="rect">
            <a:avLst/>
          </a:prstGeom>
          <a:noFill/>
          <a:ln/>
        </p:spPr>
        <p:txBody>
          <a:bodyPr wrap="square" lIns="0" tIns="0" rIns="0" bIns="0" rtlCol="0" anchor="ctr"/>
          <a:lstStyle/>
          <a:p>
            <a:pPr indent="0" marL="0">
              <a:lnSpc>
                <a:spcPts val="1600"/>
              </a:lnSpc>
              <a:buNone/>
            </a:pPr>
            <a:r>
              <a:rPr lang="en-US" sz="1050" dirty="0">
                <a:solidFill>
                  <a:srgbClr val="9DB0C0"/>
                </a:solidFill>
                <a:latin typeface="Inter" pitchFamily="34" charset="0"/>
                <a:ea typeface="Inter" pitchFamily="34" charset="-122"/>
                <a:cs typeface="Inter" pitchFamily="34" charset="-120"/>
              </a:rPr>
              <a:t>Bostancı Mahallesi, Şemsettin Günaltay Caddesi No: 31/8</a:t>
            </a:r>
            <a:endParaRPr lang="en-US" sz="1050" dirty="0"/>
          </a:p>
          <a:p>
            <a:pPr indent="0" marL="0">
              <a:lnSpc>
                <a:spcPts val="1600"/>
              </a:lnSpc>
              <a:buNone/>
            </a:pPr>
            <a:r>
              <a:rPr lang="en-US" sz="1050" dirty="0">
                <a:solidFill>
                  <a:srgbClr val="9DB0C0"/>
                </a:solidFill>
                <a:latin typeface="Inter" pitchFamily="34" charset="0"/>
                <a:ea typeface="Inter" pitchFamily="34" charset="-122"/>
                <a:cs typeface="Inter" pitchFamily="34" charset="-120"/>
              </a:rPr>
              <a:t>34744 Kadıköy, İstanbul   ·   Mon–Fri, 09:00–18:00 (GMT+3)</a:t>
            </a:r>
            <a:endParaRPr lang="en-US" sz="1050" dirty="0"/>
          </a:p>
        </p:txBody>
      </p:sp>
      <p:pic>
        <p:nvPicPr>
          <p:cNvPr id="26" name="Image 1" descr="/tmp/claude-0/-home-user-Default/6c313414-fc11-5a80-9cf8-49dad1a51f26/scratchpad/img/logo-dark.png">    </p:cNvPr>
          <p:cNvPicPr>
            <a:picLocks noChangeAspect="1"/>
          </p:cNvPicPr>
          <p:nvPr/>
        </p:nvPicPr>
        <p:blipFill>
          <a:blip r:embed="rId2"/>
          <a:stretch>
            <a:fillRect/>
          </a:stretch>
        </p:blipFill>
        <p:spPr>
          <a:xfrm>
            <a:off x="777240" y="5440680"/>
            <a:ext cx="1691640" cy="582473"/>
          </a:xfrm>
          <a:prstGeom prst="rect">
            <a:avLst/>
          </a:prstGeom>
        </p:spPr>
      </p:pic>
      <p:sp>
        <p:nvSpPr>
          <p:cNvPr id="27" name="Shape 23"/>
          <p:cNvSpPr/>
          <p:nvPr/>
        </p:nvSpPr>
        <p:spPr>
          <a:xfrm>
            <a:off x="777240" y="6355080"/>
            <a:ext cx="10637215" cy="0"/>
          </a:xfrm>
          <a:prstGeom prst="line">
            <a:avLst/>
          </a:prstGeom>
          <a:noFill/>
          <a:ln w="9525">
            <a:solidFill>
              <a:srgbClr val="FFFFFF">
                <a:alpha val="18000"/>
              </a:srgbClr>
            </a:solidFill>
            <a:prstDash val="solid"/>
          </a:ln>
        </p:spPr>
      </p:sp>
      <p:sp>
        <p:nvSpPr>
          <p:cNvPr id="28" name="Text 24"/>
          <p:cNvSpPr txBox="1"/>
          <p:nvPr/>
        </p:nvSpPr>
        <p:spPr>
          <a:xfrm>
            <a:off x="777240" y="6455664"/>
            <a:ext cx="10241280" cy="219456"/>
          </a:xfrm>
          <a:prstGeom prst="rect">
            <a:avLst/>
          </a:prstGeom>
          <a:noFill/>
          <a:ln/>
        </p:spPr>
        <p:txBody>
          <a:bodyPr wrap="square" lIns="0" tIns="0" rIns="0" bIns="0" rtlCol="0" anchor="ctr"/>
          <a:lstStyle/>
          <a:p>
            <a:pPr indent="0" marL="0">
              <a:buNone/>
            </a:pPr>
            <a:r>
              <a:rPr lang="en-US" sz="800" dirty="0">
                <a:solidFill>
                  <a:srgbClr val="9DB0C0"/>
                </a:solidFill>
                <a:latin typeface="Inter" pitchFamily="34" charset="0"/>
                <a:ea typeface="Inter" pitchFamily="34" charset="-122"/>
                <a:cs typeface="Inter" pitchFamily="34" charset="-120"/>
              </a:rPr>
              <a:t>SAP, S/4HANA and RISE with SAP are registered trademarks of SAP SE. CPeak Consultancy is an independent consultancy and is not affiliated with SAP SE.</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CPeak Consultancy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CPeak Consultancy — Corporate Presentation</dc:title>
  <dc:subject>PptxGenJS Presentation</dc:subject>
  <dc:creator>CPeak Consultancy</dc:creator>
  <cp:lastModifiedBy>CPeak Consultancy</cp:lastModifiedBy>
  <cp:revision>1</cp:revision>
  <dcterms:created xsi:type="dcterms:W3CDTF">2026-09-05T17:15:37Z</dcterms:created>
  <dcterms:modified xsi:type="dcterms:W3CDTF">2026-09-05T17:15:37Z</dcterms:modified>
</cp:coreProperties>
</file>
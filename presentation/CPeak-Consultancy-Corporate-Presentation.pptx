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frame. CPeak is an independent SAP consultancy specialising end-to-end in finance modules, cloud architecture and applied AI. Founded 2021, based in Istanbul, working across Türkiye, EMEA and the United States.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CPeak deliberately stays inside finance modules and cloud architecture rather than offering broad scope and subcontracting the difficult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business challenge: the decisions with the longest half-life — enterprise structure, conversion approach, cloud model — are taken at the point of least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CPeak’s expertise meets in three areas and each informs the others — this convergence, not any single module, is the positioning.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 before recommending — the working principle that separates CPeak from advice given on interview evidence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Cloud-model neutrality is a genuine differentiator: CPeak does not advocate for Public or Private Cloud, it measures fit against standard scope and documents the reasoning.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stages, each closing on a defined deliverable. The gates are the point: scope is re-decided rather than assumed.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Connects capability to action to business outcome — three chains rather than a service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capability areas, reframed as the question a client arrives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is treated as part of both the delivered system and the delivery method — with an explicit human-review boundary on anything that posts.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declined-work slide is a credibility instrument: it demonstrates the focus claimed earlier is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engagement shapes: Assessment, Delivery, Expert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logos as published by CPeak. No client names, figures or outcome claims are attached to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argument and contact. Response within one business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Default/6c313414-fc11-5a80-9cf8-49dad1a51f26/scratchpad/img/tex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user-Default/6c313414-fc11-5a80-9cf8-49dad1a51f26/scratchpad/img/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"/>
            <a:ext cx="2240280" cy="770839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77240" y="20848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SAP FINANCE  ·  CLOUD ARCHITECTURE  ·  APPLIED AI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777240" y="2377440"/>
            <a:ext cx="8595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1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Finance is the</a:t>
            </a:r>
            <a:endParaRPr lang="en-US" sz="4400" dirty="0"/>
          </a:p>
          <a:p>
            <a:pPr indent="0" marL="0">
              <a:lnSpc>
                <a:spcPts val="51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least forgiving</a:t>
            </a:r>
            <a:endParaRPr lang="en-US" sz="4400" dirty="0"/>
          </a:p>
          <a:p>
            <a:pPr indent="0" marL="0">
              <a:lnSpc>
                <a:spcPts val="51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part of an ERP.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777240" y="4443984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narrow on purpose: the decisions most expensive to reverse are the ones we do ourselves.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777240" y="5742432"/>
            <a:ext cx="10637215" cy="0"/>
          </a:xfrm>
          <a:prstGeom prst="line">
            <a:avLst/>
          </a:prstGeom>
          <a:noFill/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90702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8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ISTANBUL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3611880" y="590702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8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TÜRKİYE · EMEA · UNITED STATES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8001000" y="590702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8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INDEPENDENT SINCE 2021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POSITIONING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8"/>
              </a:lnSpc>
              <a:buNone/>
            </a:pPr>
            <a:r>
              <a:rPr lang="en-US" sz="38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Depth is a choice,</a:t>
            </a:r>
            <a:endParaRPr lang="en-US" sz="3800" dirty="0"/>
          </a:p>
          <a:p>
            <a:pPr indent="0" marL="0">
              <a:lnSpc>
                <a:spcPts val="4408"/>
              </a:lnSpc>
              <a:buNone/>
            </a:pPr>
            <a:r>
              <a:rPr lang="en-US" sz="38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not a limitation.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14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broad scope, then source a specialist for each area — and the most consequential finance decision reaches the person who has seen it least often.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3931920"/>
            <a:ext cx="0" cy="914400"/>
          </a:xfrm>
          <a:prstGeom prst="line">
            <a:avLst/>
          </a:prstGeom>
          <a:noFill/>
          <a:ln w="25400">
            <a:solidFill>
              <a:srgbClr val="1167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33272" y="39319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If we take an engagement, it means we are not subcontracting the difficult part of it.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234440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8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USUAL SHAPE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0" y="1618488"/>
            <a:ext cx="4434840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207568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wide scope · borrowed depth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0" y="1618488"/>
            <a:ext cx="457200" cy="310896"/>
          </a:xfrm>
          <a:prstGeom prst="rect">
            <a:avLst/>
          </a:prstGeom>
          <a:solidFill>
            <a:srgbClr val="C9D6DE"/>
          </a:solidFill>
          <a:ln w="12700">
            <a:solidFill>
              <a:srgbClr val="C9D6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0608" y="1618488"/>
            <a:ext cx="457200" cy="310896"/>
          </a:xfrm>
          <a:prstGeom prst="rect">
            <a:avLst/>
          </a:prstGeom>
          <a:solidFill>
            <a:srgbClr val="C9D6DE"/>
          </a:solidFill>
          <a:ln w="12700">
            <a:solidFill>
              <a:srgbClr val="C9D6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0416" y="1618488"/>
            <a:ext cx="457200" cy="310896"/>
          </a:xfrm>
          <a:prstGeom prst="rect">
            <a:avLst/>
          </a:prstGeom>
          <a:solidFill>
            <a:srgbClr val="C9D6DE"/>
          </a:solidFill>
          <a:ln w="12700">
            <a:solidFill>
              <a:srgbClr val="C9D6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0224" y="1618488"/>
            <a:ext cx="457200" cy="310896"/>
          </a:xfrm>
          <a:prstGeom prst="rect">
            <a:avLst/>
          </a:prstGeom>
          <a:solidFill>
            <a:srgbClr val="C9D6DE"/>
          </a:solidFill>
          <a:ln w="12700">
            <a:solidFill>
              <a:srgbClr val="C9D6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00032" y="1618488"/>
            <a:ext cx="457200" cy="310896"/>
          </a:xfrm>
          <a:prstGeom prst="rect">
            <a:avLst/>
          </a:prstGeom>
          <a:solidFill>
            <a:srgbClr val="C9D6DE"/>
          </a:solidFill>
          <a:ln w="12700">
            <a:solidFill>
              <a:srgbClr val="C9D6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49840" y="1618488"/>
            <a:ext cx="457200" cy="310896"/>
          </a:xfrm>
          <a:prstGeom prst="rect">
            <a:avLst/>
          </a:prstGeom>
          <a:solidFill>
            <a:srgbClr val="C9D6DE"/>
          </a:solidFill>
          <a:ln w="12700">
            <a:solidFill>
              <a:srgbClr val="C9D6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2651760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8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0" y="3035808"/>
            <a:ext cx="4434840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035808"/>
            <a:ext cx="1207008" cy="2788920"/>
          </a:xfrm>
          <a:prstGeom prst="rect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2651760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narrow scope · owned depth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607808" y="3310128"/>
            <a:ext cx="201168" cy="0"/>
          </a:xfrm>
          <a:prstGeom prst="line">
            <a:avLst/>
          </a:prstGeom>
          <a:noFill/>
          <a:ln w="12700">
            <a:solidFill>
              <a:srgbClr val="1167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66660" y="3268980"/>
            <a:ext cx="82296" cy="82296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36992" y="31866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structure and chart of accounts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07808" y="3813048"/>
            <a:ext cx="201168" cy="0"/>
          </a:xfrm>
          <a:prstGeom prst="line">
            <a:avLst/>
          </a:prstGeom>
          <a:noFill/>
          <a:ln w="12700">
            <a:solidFill>
              <a:srgbClr val="1167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66660" y="3771900"/>
            <a:ext cx="82296" cy="82296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36992" y="36896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Controlling, margin and project accounting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07808" y="4315968"/>
            <a:ext cx="201168" cy="0"/>
          </a:xfrm>
          <a:prstGeom prst="line">
            <a:avLst/>
          </a:prstGeom>
          <a:noFill/>
          <a:ln w="12700">
            <a:solidFill>
              <a:srgbClr val="1167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66660" y="4274820"/>
            <a:ext cx="82296" cy="82296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36992" y="41925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close, rebuilt as parallel steps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607808" y="4818888"/>
            <a:ext cx="201168" cy="0"/>
          </a:xfrm>
          <a:prstGeom prst="line">
            <a:avLst/>
          </a:prstGeom>
          <a:noFill/>
          <a:ln w="12700">
            <a:solidFill>
              <a:srgbClr val="1167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66660" y="4777740"/>
            <a:ext cx="82296" cy="82296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36992" y="46954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model, measured not advocated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607808" y="5321808"/>
            <a:ext cx="201168" cy="0"/>
          </a:xfrm>
          <a:prstGeom prst="line">
            <a:avLst/>
          </a:prstGeom>
          <a:noFill/>
          <a:ln w="12700">
            <a:solidFill>
              <a:srgbClr val="11676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66660" y="5280660"/>
            <a:ext cx="82296" cy="82296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936992" y="51983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calibrated on your own data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Default/6c313414-fc11-5a80-9cf8-49dad1a51f26/scratchpad/img/tex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PROBLEM WE ARE HIRED INTO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96012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most expensive decisions</a:t>
            </a:r>
            <a:endParaRPr lang="en-US" sz="3000" dirty="0"/>
          </a:p>
          <a:p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are taken first — when</a:t>
            </a:r>
            <a:endParaRPr lang="en-US" sz="3000" dirty="0"/>
          </a:p>
          <a:p>
            <a:pPr indent="0" marL="0">
              <a:lnSpc>
                <a:spcPts val="348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least is known.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14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9923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structure. Conversion route. Cloud model. Settled in the opening weeks — paid for over the next decade.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3950208"/>
            <a:ext cx="0" cy="914400"/>
          </a:xfrm>
          <a:prstGeom prst="line">
            <a:avLst/>
          </a:prstGeom>
          <a:noFill/>
          <a:ln w="25400">
            <a:solidFill>
              <a:srgbClr val="E8B3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33272" y="395020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5DCA4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Advice given without measurement is a guess — and the cost of that guess falls to you.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784848" y="1417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8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COST OF REVERSING THE DECISION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784848" y="4809744"/>
            <a:ext cx="841248" cy="384048"/>
          </a:xfrm>
          <a:prstGeom prst="rect">
            <a:avLst/>
          </a:prstGeom>
          <a:solidFill>
            <a:srgbClr val="11676A">
              <a:alpha val="9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83680" y="532180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spc="9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DESIGN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7973568" y="4142232"/>
            <a:ext cx="841248" cy="1051560"/>
          </a:xfrm>
          <a:prstGeom prst="rect">
            <a:avLst/>
          </a:prstGeom>
          <a:solidFill>
            <a:srgbClr val="11676A">
              <a:alpha val="9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0" y="532180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spc="9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9162288" y="3227832"/>
            <a:ext cx="841248" cy="1965960"/>
          </a:xfrm>
          <a:prstGeom prst="rect">
            <a:avLst/>
          </a:prstGeom>
          <a:solidFill>
            <a:srgbClr val="11676A">
              <a:alpha val="9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961120" y="532180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spc="9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10351008" y="2176272"/>
            <a:ext cx="841248" cy="3017520"/>
          </a:xfrm>
          <a:prstGeom prst="rect">
            <a:avLst/>
          </a:prstGeom>
          <a:solidFill>
            <a:srgbClr val="E8B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149840" y="532180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spc="9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OPERATION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6647688" y="5193792"/>
            <a:ext cx="4681728" cy="0"/>
          </a:xfrm>
          <a:prstGeom prst="line">
            <a:avLst/>
          </a:prstGeom>
          <a:noFill/>
          <a:ln w="1270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36892" y="4448556"/>
            <a:ext cx="137160" cy="137160"/>
          </a:xfrm>
          <a:prstGeom prst="ellipse">
            <a:avLst/>
          </a:prstGeom>
          <a:solidFill>
            <a:srgbClr val="E8B33A"/>
          </a:solidFill>
          <a:ln w="12700">
            <a:solidFill>
              <a:srgbClr val="E8B33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205472" y="4585716"/>
            <a:ext cx="0" cy="141732"/>
          </a:xfrm>
          <a:prstGeom prst="line">
            <a:avLst/>
          </a:prstGeom>
          <a:noFill/>
          <a:ln w="12700">
            <a:solidFill>
              <a:srgbClr val="E8B33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28232" y="42245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DC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decided here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966960" y="186537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DC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for here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 WE STAND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Three disciplines that only</a:t>
            </a:r>
            <a:endParaRPr lang="en-US" sz="3400" dirty="0"/>
          </a:p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make sense together.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2670048"/>
            <a:ext cx="137160" cy="137160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9848" y="26243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FINANCE PROCESS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54096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How the business actually closes its books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4904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FI, CO, PA and PS — structure, costing, margin, the close.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45820" y="4809744"/>
            <a:ext cx="0" cy="27432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2670048"/>
            <a:ext cx="137160" cy="137160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18888" y="26243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PLATFORM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054096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ground the process has to run 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74904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ECC, S/4HANA, Private and Public Cloud — compared, not advocated.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94860" y="4809744"/>
            <a:ext cx="0" cy="27432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2670048"/>
            <a:ext cx="137160" cy="137160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67928" y="26243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AUTOMATION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3054096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What can safely stop being done by hand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3749040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Matching, anomaly detection, predictive accounting — measured before enabling.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43900" y="4809744"/>
            <a:ext cx="0" cy="27432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5820" y="5084064"/>
            <a:ext cx="7498080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95848" y="5084064"/>
            <a:ext cx="0" cy="274320"/>
          </a:xfrm>
          <a:prstGeom prst="line">
            <a:avLst/>
          </a:prstGeom>
          <a:noFill/>
          <a:ln w="15875">
            <a:solidFill>
              <a:srgbClr val="1167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06928" y="5358384"/>
            <a:ext cx="5577840" cy="566928"/>
          </a:xfrm>
          <a:prstGeom prst="rect">
            <a:avLst/>
          </a:prstGeom>
          <a:solidFill>
            <a:srgbClr val="1167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06928" y="535838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 decision that still looks right in year three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2157984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SAP problems are not module problems. They sit in the seams between these three.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OPERATING PRINCIPLE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76"/>
              </a:lnSpc>
              <a:buNone/>
            </a:pPr>
            <a:r>
              <a:rPr lang="en-US" sz="36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We read the system before we</a:t>
            </a:r>
            <a:endParaRPr lang="en-US" sz="3600" dirty="0"/>
          </a:p>
          <a:p>
            <a:pPr indent="0" marL="0">
              <a:lnSpc>
                <a:spcPts val="4176"/>
              </a:lnSpc>
              <a:buNone/>
            </a:pPr>
            <a:r>
              <a:rPr lang="en-US" sz="36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recommend anything.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14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59152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PROCESS AS DESCRIBED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5852160" cy="0"/>
          </a:xfrm>
          <a:prstGeom prst="line">
            <a:avLst/>
          </a:prstGeom>
          <a:noFill/>
          <a:ln w="28575">
            <a:solidFill>
              <a:srgbClr val="C9D6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697480"/>
            <a:ext cx="91440" cy="91440"/>
          </a:xfrm>
          <a:prstGeom prst="ellipse">
            <a:avLst/>
          </a:prstGeom>
          <a:solidFill>
            <a:srgbClr val="C9D6DE"/>
          </a:solidFill>
          <a:ln w="12700">
            <a:solidFill>
              <a:srgbClr val="C9D6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2697480"/>
            <a:ext cx="91440" cy="91440"/>
          </a:xfrm>
          <a:prstGeom prst="ellipse">
            <a:avLst/>
          </a:prstGeom>
          <a:solidFill>
            <a:srgbClr val="C9D6DE"/>
          </a:solidFill>
          <a:ln w="12700">
            <a:solidFill>
              <a:srgbClr val="C9D6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2697480"/>
            <a:ext cx="91440" cy="91440"/>
          </a:xfrm>
          <a:prstGeom prst="ellipse">
            <a:avLst/>
          </a:prstGeom>
          <a:solidFill>
            <a:srgbClr val="C9D6DE"/>
          </a:solidFill>
          <a:ln w="12700">
            <a:solidFill>
              <a:srgbClr val="C9D6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0" y="2697480"/>
            <a:ext cx="91440" cy="91440"/>
          </a:xfrm>
          <a:prstGeom prst="ellipse">
            <a:avLst/>
          </a:prstGeom>
          <a:solidFill>
            <a:srgbClr val="C9D6DE"/>
          </a:solidFill>
          <a:ln w="12700">
            <a:solidFill>
              <a:srgbClr val="C9D6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2697480"/>
            <a:ext cx="91440" cy="91440"/>
          </a:xfrm>
          <a:prstGeom prst="ellipse">
            <a:avLst/>
          </a:prstGeom>
          <a:solidFill>
            <a:srgbClr val="C9D6DE"/>
          </a:solidFill>
          <a:ln w="12700">
            <a:solidFill>
              <a:srgbClr val="C9D6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743200"/>
            <a:ext cx="936346" cy="384048"/>
          </a:xfrm>
          <a:prstGeom prst="line">
            <a:avLst/>
          </a:prstGeom>
          <a:noFill/>
          <a:ln w="28575">
            <a:solidFill>
              <a:srgbClr val="1167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713586" y="2962656"/>
            <a:ext cx="819302" cy="164592"/>
          </a:xfrm>
          <a:prstGeom prst="line">
            <a:avLst/>
          </a:prstGeom>
          <a:noFill/>
          <a:ln w="28575">
            <a:solidFill>
              <a:srgbClr val="1167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32888" y="2962656"/>
            <a:ext cx="877824" cy="566928"/>
          </a:xfrm>
          <a:prstGeom prst="line">
            <a:avLst/>
          </a:prstGeom>
          <a:noFill/>
          <a:ln w="28575">
            <a:solidFill>
              <a:srgbClr val="1167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410712" y="3310128"/>
            <a:ext cx="877824" cy="219456"/>
          </a:xfrm>
          <a:prstGeom prst="line">
            <a:avLst/>
          </a:prstGeom>
          <a:noFill/>
          <a:ln w="28575">
            <a:solidFill>
              <a:srgbClr val="1167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88536" y="3310128"/>
            <a:ext cx="936346" cy="512064"/>
          </a:xfrm>
          <a:prstGeom prst="line">
            <a:avLst/>
          </a:prstGeom>
          <a:noFill/>
          <a:ln w="28575">
            <a:solidFill>
              <a:srgbClr val="1167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5224882" y="3621024"/>
            <a:ext cx="702259" cy="201168"/>
          </a:xfrm>
          <a:prstGeom prst="line">
            <a:avLst/>
          </a:prstGeom>
          <a:noFill/>
          <a:ln w="28575">
            <a:solidFill>
              <a:srgbClr val="1167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27141" y="3621024"/>
            <a:ext cx="702259" cy="347472"/>
          </a:xfrm>
          <a:prstGeom prst="line">
            <a:avLst/>
          </a:prstGeom>
          <a:noFill/>
          <a:ln w="28575">
            <a:solidFill>
              <a:srgbClr val="1167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2697480"/>
            <a:ext cx="91440" cy="91440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67866" y="3081528"/>
            <a:ext cx="91440" cy="91440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87168" y="2916936"/>
            <a:ext cx="91440" cy="91440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64992" y="3483864"/>
            <a:ext cx="91440" cy="91440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42816" y="3264408"/>
            <a:ext cx="91440" cy="91440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79162" y="3776472"/>
            <a:ext cx="91440" cy="91440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81421" y="3575304"/>
            <a:ext cx="91440" cy="91440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0" y="3922776"/>
            <a:ext cx="91440" cy="91440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51960" y="41148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6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PROCESS AS EXECUTED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10712" y="2743200"/>
            <a:ext cx="0" cy="786384"/>
          </a:xfrm>
          <a:prstGeom prst="line">
            <a:avLst/>
          </a:prstGeom>
          <a:noFill/>
          <a:ln w="19050">
            <a:solidFill>
              <a:srgbClr val="E8B3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69564" y="3488436"/>
            <a:ext cx="82296" cy="82296"/>
          </a:xfrm>
          <a:prstGeom prst="ellipse">
            <a:avLst/>
          </a:prstGeom>
          <a:solidFill>
            <a:srgbClr val="E8B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57016" y="287121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gap is where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findings are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360920" y="239572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Usage statistics. Data quality. Custom code inventory. Close durations measured step by step.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360920" y="3364992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system does, not what the documentation says it does. The distance between the two is usually the problem itself.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360920" y="4828032"/>
            <a:ext cx="4023360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60920" y="497433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Nearly every engagement opens with an assessment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0378440" y="493776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2–6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WEEKS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3F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Default/6c313414-fc11-5a80-9cf8-49dad1a51f26/scratchpad/img/tex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DECISION WE WILL NOT MAKE FOR YOU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9601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We do not sell a cloud model.</a:t>
            </a:r>
            <a:endParaRPr lang="en-US" sz="3400" dirty="0"/>
          </a:p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We measure which one you are.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14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1518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9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PUBLIC CLOUD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7240" y="2980944"/>
            <a:ext cx="4297680" cy="0"/>
          </a:xfrm>
          <a:prstGeom prst="line">
            <a:avLst/>
          </a:prstGeom>
          <a:noFill/>
          <a:ln w="1270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1455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You adopt the standard.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63931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 and a predictable run cost — for a core that cannot be modified.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55371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3–5 months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90118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DB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single-country finance deployment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116775" y="261518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9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PRIVATE CLOUD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116775" y="2980944"/>
            <a:ext cx="4297680" cy="0"/>
          </a:xfrm>
          <a:prstGeom prst="line">
            <a:avLst/>
          </a:prstGeom>
          <a:noFill/>
          <a:ln w="1270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116775" y="31455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You keep your process logic.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7116775" y="363931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own developments kept — for more responsibility and a longer build.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116775" y="455371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7–14 months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116775" y="490118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DB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depending on scope and inherited landscape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095848" y="2569464"/>
            <a:ext cx="0" cy="2743200"/>
          </a:xfrm>
          <a:prstGeom prst="line">
            <a:avLst/>
          </a:prstGeom>
          <a:noFill/>
          <a:ln w="1270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28920" y="3657600"/>
            <a:ext cx="1133856" cy="384048"/>
          </a:xfrm>
          <a:prstGeom prst="rect">
            <a:avLst/>
          </a:prstGeom>
          <a:solidFill>
            <a:srgbClr val="003F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528920" y="365760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40" kern="0" dirty="0">
                <a:solidFill>
                  <a:srgbClr val="E8B3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TRADE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548640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Neither is the advanced version of the other. We put both costs and both constraints side by side; the decision stays yours, and the moment to take it is before signing.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 THE WORK MOVES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76"/>
              </a:lnSpc>
              <a:buNone/>
            </a:pPr>
            <a:r>
              <a:rPr lang="en-US" sz="36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Nothing starts until the</a:t>
            </a:r>
            <a:endParaRPr lang="en-US" sz="3600" dirty="0"/>
          </a:p>
          <a:p>
            <a:pPr indent="0" marL="0">
              <a:lnSpc>
                <a:spcPts val="4176"/>
              </a:lnSpc>
              <a:buNone/>
            </a:pPr>
            <a:r>
              <a:rPr lang="en-US" sz="36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last thing has closed.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14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078992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each stage delivers is agreed before it begins. At every gate the decision to continue is taken again.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2788920"/>
            <a:ext cx="10637215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734056"/>
            <a:ext cx="109728" cy="109728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00837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33756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Assessment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032504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Diagnostic report, read from system data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5020056"/>
            <a:ext cx="2121408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512978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2–6 weeks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46704" y="2642616"/>
            <a:ext cx="0" cy="292608"/>
          </a:xfrm>
          <a:prstGeom prst="line">
            <a:avLst/>
          </a:prstGeom>
          <a:noFill/>
          <a:ln w="19050">
            <a:solidFill>
              <a:srgbClr val="E8B3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89504" y="2331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1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520440" y="2734056"/>
            <a:ext cx="109728" cy="109728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20440" y="300837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333756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Architecture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and roadmap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4032504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architecture and phased roadmap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520440" y="5020056"/>
            <a:ext cx="2121408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20440" y="512978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3–6 weeks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9904" y="2642616"/>
            <a:ext cx="0" cy="292608"/>
          </a:xfrm>
          <a:prstGeom prst="line">
            <a:avLst/>
          </a:prstGeom>
          <a:noFill/>
          <a:ln w="19050">
            <a:solidFill>
              <a:srgbClr val="E8B3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32704" y="2331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1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263640" y="2734056"/>
            <a:ext cx="109728" cy="109728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63640" y="300837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333756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Delivery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4032504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system, test records, cutover plan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5020056"/>
            <a:ext cx="2121408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63640" y="512978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3–14 months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833104" y="2642616"/>
            <a:ext cx="0" cy="292608"/>
          </a:xfrm>
          <a:prstGeom prst="line">
            <a:avLst/>
          </a:prstGeom>
          <a:noFill/>
          <a:ln w="19050">
            <a:solidFill>
              <a:srgbClr val="E8B33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75904" y="2331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1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006840" y="2734056"/>
            <a:ext cx="109728" cy="109728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006840" y="300837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006840" y="333756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Hypercare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9006840" y="4032504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close run with your team, improvement backlog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006840" y="5020056"/>
            <a:ext cx="2121408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006840" y="512978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6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4–12 weeks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 THE VALUE SHOWS UP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76"/>
              </a:lnSpc>
              <a:buNone/>
            </a:pPr>
            <a:r>
              <a:rPr lang="en-US" sz="36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Expertise is only worth</a:t>
            </a:r>
            <a:endParaRPr lang="en-US" sz="3600" dirty="0"/>
          </a:p>
          <a:p>
            <a:pPr indent="0" marL="0">
              <a:lnSpc>
                <a:spcPts val="4176"/>
              </a:lnSpc>
              <a:buNone/>
            </a:pPr>
            <a:r>
              <a:rPr lang="en-US" sz="36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what it changes.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14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3347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7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WE BRING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63347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7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WE DO WITH IT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26334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7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CHANGES FOR YOU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2944368"/>
            <a:ext cx="10637215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200400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Depth in FI and CO, not breadth beside it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3200400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Rebuild the close to run in parallel, not in sequence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3200400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 close that is predictable, not merely shorter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01668" y="3305556"/>
            <a:ext cx="82296" cy="82296"/>
          </a:xfrm>
          <a:prstGeom prst="ellipse">
            <a:avLst/>
          </a:prstGeom>
          <a:solidFill>
            <a:srgbClr val="C9D6DE"/>
          </a:solidFill>
          <a:ln w="12700">
            <a:solidFill>
              <a:srgbClr val="C9D6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4988" y="3305556"/>
            <a:ext cx="82296" cy="82296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133088"/>
            <a:ext cx="10637215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261104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neutral read on the cloud models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261104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your processes to standard scope, before the contract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183880" y="4261104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 model decision that survives the middle of the project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01668" y="4366260"/>
            <a:ext cx="82296" cy="82296"/>
          </a:xfrm>
          <a:prstGeom prst="ellipse">
            <a:avLst/>
          </a:prstGeom>
          <a:solidFill>
            <a:srgbClr val="C9D6DE"/>
          </a:solidFill>
          <a:ln w="12700">
            <a:solidFill>
              <a:srgbClr val="C9D6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04988" y="4366260"/>
            <a:ext cx="82296" cy="82296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193792"/>
            <a:ext cx="10637215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321808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put where the hours actually are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5321808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Calibrate thresholds on your own data, write the oversight rules down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183880" y="5321808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team moves from matching items to reviewing exceptions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01668" y="5426964"/>
            <a:ext cx="82296" cy="82296"/>
          </a:xfrm>
          <a:prstGeom prst="ellipse">
            <a:avLst/>
          </a:prstGeom>
          <a:solidFill>
            <a:srgbClr val="C9D6DE"/>
          </a:solidFill>
          <a:ln w="12700">
            <a:solidFill>
              <a:srgbClr val="C9D6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04988" y="5426964"/>
            <a:ext cx="82296" cy="82296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CAPABILITIES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96112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Organised around the question</a:t>
            </a:r>
            <a:endParaRPr lang="en-US" sz="3400" dirty="0"/>
          </a:p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you are actually asking.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2139696"/>
            <a:ext cx="10637215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473452"/>
            <a:ext cx="100584" cy="100584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69848" y="2322576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Can we still trust our own numbers?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236829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SAP FINANCE MODULES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2615184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FI, CO, PA and PS rebuilt as one process architecture, not five parallel ones.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2962656"/>
            <a:ext cx="10637215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241548"/>
            <a:ext cx="100584" cy="100584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9848" y="3090672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Which road do we take to S/4HANA?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31363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S/4HANA TRANSFORMATION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897880" y="338328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Brownfield, greenfield or selective transition — decided on evidence.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3730752"/>
            <a:ext cx="10637215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009644"/>
            <a:ext cx="100584" cy="100584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9848" y="3858768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Is standard actually enough for us?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897880" y="39044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SAP PUBLIC CLOUD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5897880" y="4151376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much of your process fits standard scope, established before you commit.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4498848"/>
            <a:ext cx="10637215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777740"/>
            <a:ext cx="100584" cy="100584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69848" y="4626864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Can we go to cloud and keep our process?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897880" y="467258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SAP PRIVATE CLOUD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5897880" y="491947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Architecture, migration and the boundaries a RISE contract leaves open.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77240" y="5266944"/>
            <a:ext cx="10637215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5545836"/>
            <a:ext cx="100584" cy="100584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69848" y="5394960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Which of this AI is real for us?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897880" y="544068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IN FINANCE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5897880" y="568756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capabilities you have the data and the discipline to support — sequenced.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77240" y="6035040"/>
            <a:ext cx="10637215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67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Default/6c313414-fc11-5a80-9cf8-49dad1a51f26/scratchpad/img/tex-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APPLIED AI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9601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28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We use AI twice: inside your</a:t>
            </a:r>
            <a:endParaRPr lang="en-US" sz="3300" dirty="0"/>
          </a:p>
          <a:p>
            <a:pPr indent="0" marL="0">
              <a:lnSpc>
                <a:spcPts val="3828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processes, and inside our own.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9DB0C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14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408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8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YOUR FINANCE PROCESSES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517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Embedded in SAP, not bought beside it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" y="3127248"/>
            <a:ext cx="4754880" cy="0"/>
          </a:xfrm>
          <a:prstGeom prst="line">
            <a:avLst/>
          </a:prstGeom>
          <a:noFill/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3319272"/>
            <a:ext cx="91440" cy="91440"/>
          </a:xfrm>
          <a:prstGeom prst="ellipse">
            <a:avLst/>
          </a:prstGeom>
          <a:solidFill>
            <a:srgbClr val="E8B33A"/>
          </a:solidFill>
          <a:ln w="12700">
            <a:solidFill>
              <a:srgbClr val="E8B3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51560" y="325526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matching — bank and open items cleared automatically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7240" y="3959352"/>
            <a:ext cx="91440" cy="91440"/>
          </a:xfrm>
          <a:prstGeom prst="ellipse">
            <a:avLst/>
          </a:prstGeom>
          <a:solidFill>
            <a:srgbClr val="E8B33A"/>
          </a:solidFill>
          <a:ln w="12700">
            <a:solidFill>
              <a:srgbClr val="E8B3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51560" y="389534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Anomaly detection — unusual postings flagged before the close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7240" y="4599432"/>
            <a:ext cx="91440" cy="91440"/>
          </a:xfrm>
          <a:prstGeom prst="ellipse">
            <a:avLst/>
          </a:prstGeom>
          <a:solidFill>
            <a:srgbClr val="E8B33A"/>
          </a:solidFill>
          <a:ln w="12700">
            <a:solidFill>
              <a:srgbClr val="E8B3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51560" y="453542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accounting — the effect of not-yet-final transactions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77240" y="5239512"/>
            <a:ext cx="91440" cy="91440"/>
          </a:xfrm>
          <a:prstGeom prst="ellipse">
            <a:avLst/>
          </a:prstGeom>
          <a:solidFill>
            <a:srgbClr val="E8B33A"/>
          </a:solidFill>
          <a:ln w="12700">
            <a:solidFill>
              <a:srgbClr val="E8B3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51560" y="517550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Joule — natural-language querying and navigation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659575" y="23408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8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HOW WE DELIVER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6659575" y="26517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Applied to volume work, not judgement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659575" y="3127248"/>
            <a:ext cx="4754880" cy="0"/>
          </a:xfrm>
          <a:prstGeom prst="line">
            <a:avLst/>
          </a:prstGeom>
          <a:noFill/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659575" y="3319272"/>
            <a:ext cx="91440" cy="91440"/>
          </a:xfrm>
          <a:prstGeom prst="ellipse">
            <a:avLst/>
          </a:prstGeom>
          <a:solidFill>
            <a:srgbClr val="E8B33A"/>
          </a:solidFill>
          <a:ln w="12700">
            <a:solidFill>
              <a:srgbClr val="E8B33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933895" y="325526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code inventory and impact analysis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659575" y="3959352"/>
            <a:ext cx="91440" cy="91440"/>
          </a:xfrm>
          <a:prstGeom prst="ellipse">
            <a:avLst/>
          </a:prstGeom>
          <a:solidFill>
            <a:srgbClr val="E8B33A"/>
          </a:solidFill>
          <a:ln w="12700">
            <a:solidFill>
              <a:srgbClr val="E8B33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933895" y="389534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drafts of test scenarios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659575" y="4599432"/>
            <a:ext cx="91440" cy="91440"/>
          </a:xfrm>
          <a:prstGeom prst="ellipse">
            <a:avLst/>
          </a:prstGeom>
          <a:solidFill>
            <a:srgbClr val="E8B33A"/>
          </a:solidFill>
          <a:ln w="12700">
            <a:solidFill>
              <a:srgbClr val="E8B33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933895" y="453542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Preparation of migration reconciliation checks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659575" y="5239512"/>
            <a:ext cx="91440" cy="91440"/>
          </a:xfrm>
          <a:prstGeom prst="ellipse">
            <a:avLst/>
          </a:prstGeom>
          <a:solidFill>
            <a:srgbClr val="E8B33A"/>
          </a:solidFill>
          <a:ln w="12700">
            <a:solidFill>
              <a:srgbClr val="E8B33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933895" y="517550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versions of configuration documentation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77240" y="5669280"/>
            <a:ext cx="10637215" cy="0"/>
          </a:xfrm>
          <a:prstGeom prst="line">
            <a:avLst/>
          </a:prstGeom>
          <a:noFill/>
          <a:ln w="1270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77240" y="579729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DCA4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No decision that produces a financial posting is finalised without human review — that one is not negotiable.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BOUNDARIES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76"/>
              </a:lnSpc>
              <a:buNone/>
            </a:pPr>
            <a:r>
              <a:rPr lang="en-US" sz="36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 specialism is defined</a:t>
            </a:r>
            <a:endParaRPr lang="en-US" sz="3600" dirty="0"/>
          </a:p>
          <a:p>
            <a:pPr indent="0" marL="0">
              <a:lnSpc>
                <a:spcPts val="4176"/>
              </a:lnSpc>
              <a:buNone/>
            </a:pPr>
            <a:r>
              <a:rPr lang="en-US" sz="36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by what it excludes.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14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06624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Saying what we do not do matters as much as saying what we do.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3566160"/>
            <a:ext cx="0" cy="914400"/>
          </a:xfrm>
          <a:prstGeom prst="line">
            <a:avLst/>
          </a:prstGeom>
          <a:noFill/>
          <a:ln w="25400">
            <a:solidFill>
              <a:srgbClr val="1167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33272" y="356616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It costs us work. It is also why the engagements we do take are ones we can finish.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35040" y="1874520"/>
            <a:ext cx="5379415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202082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2002536"/>
            <a:ext cx="481248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responsibility for modules outside our specialism — logistics, production planning, HR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2898648"/>
            <a:ext cx="5379415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0" y="3044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601968" y="3026664"/>
            <a:ext cx="481248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augmentation without architectural or delivery responsibility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3922776"/>
            <a:ext cx="5379415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0" y="406908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601968" y="4050792"/>
            <a:ext cx="481248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Fixed-price commitments made before an assessment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4946904"/>
            <a:ext cx="5379415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0" y="509320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601968" y="5074920"/>
            <a:ext cx="481248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development or infrastructure operations as a service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5971032"/>
            <a:ext cx="5379415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WAYS IN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Three shapes. Which one fits</a:t>
            </a:r>
            <a:endParaRPr lang="en-US" sz="3400" dirty="0"/>
          </a:p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is clear in one conversation.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2395728"/>
            <a:ext cx="3310128" cy="30358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62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29284" y="2802636"/>
            <a:ext cx="137160" cy="137160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97864" y="30723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Assessment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197864" y="3529584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decision has to be taken and the evidence is missing: conversion route, cloud model, a health check.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97864" y="4608576"/>
            <a:ext cx="2468880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97864" y="473659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i="1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end it in a position to decide.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197864" y="51572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2–6 weeks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71416" y="2395728"/>
            <a:ext cx="3310128" cy="30358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62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23460" y="2802636"/>
            <a:ext cx="137160" cy="137160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92040" y="30723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Delivery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529584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decision is taken and it needs building: a transformation, an implementation, a redesign.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4608576"/>
            <a:ext cx="2468880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92040" y="473659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i="1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Phased plan, weekly reporting, cutover and hypercare included.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51572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3–14 months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65592" y="2395728"/>
            <a:ext cx="3310128" cy="30358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DE"/>
            </a:solidFill>
            <a:prstDash val="solid"/>
          </a:ln>
          <a:effectLst>
            <a:outerShdw sx="100000" sy="100000" kx="0" ky="0" algn="bl" rotWithShape="0" blurRad="177800" dist="38100" dir="5400000">
              <a:srgbClr val="0E162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517636" y="2802636"/>
            <a:ext cx="137160" cy="137160"/>
          </a:xfrm>
          <a:prstGeom prst="ellipse">
            <a:avLst/>
          </a:prstGeom>
          <a:solidFill>
            <a:srgbClr val="11676A"/>
          </a:solidFill>
          <a:ln w="12700">
            <a:solidFill>
              <a:srgbClr val="11676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86216" y="30723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Expert support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8586216" y="3529584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Someone else runs the programme and depth is needed in one place: a review, a second opinion, one workstream.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86216" y="4608576"/>
            <a:ext cx="2468880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86216" y="473659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i="1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Narrow scope, agreed output, not extended past its usefulness.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586216" y="51572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Days to weeks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58978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every need calls for a full programme — and we say so when it does not.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REFERENCES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601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28"/>
              </a:lnSpc>
              <a:buNone/>
            </a:pPr>
            <a:r>
              <a:rPr lang="en-US" sz="33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landscapes the</a:t>
            </a:r>
            <a:endParaRPr lang="en-US" sz="3300" dirty="0"/>
          </a:p>
          <a:p>
            <a:pPr indent="0" marL="0">
              <a:lnSpc>
                <a:spcPts val="3828"/>
              </a:lnSpc>
              <a:buNone/>
            </a:pPr>
            <a:r>
              <a:rPr lang="en-US" sz="3300" b="1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experience comes from.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6272784"/>
            <a:ext cx="10637215" cy="0"/>
          </a:xfrm>
          <a:prstGeom prst="line">
            <a:avLst/>
          </a:prstGeom>
          <a:noFill/>
          <a:ln w="9525">
            <a:solidFill>
              <a:srgbClr val="C9D6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 CONSULTANCY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842455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60" kern="0" dirty="0">
                <a:solidFill>
                  <a:srgbClr val="4A5A6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14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1060704"/>
            <a:ext cx="4069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than ten years across SAP finance modules and cloud architecture.</a:t>
            </a:r>
            <a:endParaRPr lang="en-US" sz="1200" dirty="0"/>
          </a:p>
        </p:txBody>
      </p:sp>
      <p:pic>
        <p:nvPicPr>
          <p:cNvPr id="8" name="Image 0" descr="/tmp/claude-0/-home-user-Default/6c313414-fc11-5a80-9cf8-49dad1a51f26/scratchpad/img/ref-mercedes-ben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3042862"/>
            <a:ext cx="1463040" cy="369940"/>
          </a:xfrm>
          <a:prstGeom prst="rect">
            <a:avLst/>
          </a:prstGeom>
        </p:spPr>
      </p:pic>
      <p:pic>
        <p:nvPicPr>
          <p:cNvPr id="9" name="Image 1" descr="/tmp/claude-0/-home-user-Default/6c313414-fc11-5a80-9cf8-49dad1a51f26/scratchpad/img/ref-pw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270" y="2944368"/>
            <a:ext cx="1167205" cy="566928"/>
          </a:xfrm>
          <a:prstGeom prst="rect">
            <a:avLst/>
          </a:prstGeom>
        </p:spPr>
      </p:pic>
      <p:pic>
        <p:nvPicPr>
          <p:cNvPr id="10" name="Image 2" descr="/tmp/claude-0/-home-user-Default/6c313414-fc11-5a80-9cf8-49dad1a51f26/scratchpad/img/ref-g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2996881"/>
            <a:ext cx="1463040" cy="461903"/>
          </a:xfrm>
          <a:prstGeom prst="rect">
            <a:avLst/>
          </a:prstGeom>
        </p:spPr>
      </p:pic>
      <p:pic>
        <p:nvPicPr>
          <p:cNvPr id="11" name="Image 3" descr="/tmp/claude-0/-home-user-Default/6c313414-fc11-5a80-9cf8-49dad1a51f26/scratchpad/img/ref-boehringer-ingelhe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001977"/>
            <a:ext cx="1463040" cy="451710"/>
          </a:xfrm>
          <a:prstGeom prst="rect">
            <a:avLst/>
          </a:prstGeom>
        </p:spPr>
      </p:pic>
      <p:pic>
        <p:nvPicPr>
          <p:cNvPr id="12" name="Image 4" descr="/tmp/claude-0/-home-user-Default/6c313414-fc11-5a80-9cf8-49dad1a51f26/scratchpad/img/ref-bek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1559" y="2944368"/>
            <a:ext cx="994611" cy="566928"/>
          </a:xfrm>
          <a:prstGeom prst="rect">
            <a:avLst/>
          </a:prstGeom>
        </p:spPr>
      </p:pic>
      <p:pic>
        <p:nvPicPr>
          <p:cNvPr id="13" name="Image 5" descr="/tmp/claude-0/-home-user-Default/6c313414-fc11-5a80-9cf8-49dad1a51f26/scratchpad/img/ref-enerjis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1008" y="3083334"/>
            <a:ext cx="1463040" cy="288996"/>
          </a:xfrm>
          <a:prstGeom prst="rect">
            <a:avLst/>
          </a:prstGeom>
        </p:spPr>
      </p:pic>
      <p:pic>
        <p:nvPicPr>
          <p:cNvPr id="14" name="Image 6" descr="/tmp/claude-0/-home-user-Default/6c313414-fc11-5a80-9cf8-49dad1a51f26/scratchpad/img/ref-wavi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4257735"/>
            <a:ext cx="1463040" cy="354210"/>
          </a:xfrm>
          <a:prstGeom prst="rect">
            <a:avLst/>
          </a:prstGeom>
        </p:spPr>
      </p:pic>
      <p:pic>
        <p:nvPicPr>
          <p:cNvPr id="15" name="Image 7" descr="/tmp/claude-0/-home-user-Default/6c313414-fc11-5a80-9cf8-49dad1a51f26/scratchpad/img/ref-imery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6928" y="4151376"/>
            <a:ext cx="881888" cy="566928"/>
          </a:xfrm>
          <a:prstGeom prst="rect">
            <a:avLst/>
          </a:prstGeom>
        </p:spPr>
      </p:pic>
      <p:pic>
        <p:nvPicPr>
          <p:cNvPr id="16" name="Image 8" descr="/tmp/claude-0/-home-user-Default/6c313414-fc11-5a80-9cf8-49dad1a51f26/scratchpad/img/ref-flin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0016" y="4290218"/>
            <a:ext cx="1463040" cy="289245"/>
          </a:xfrm>
          <a:prstGeom prst="rect">
            <a:avLst/>
          </a:prstGeom>
        </p:spPr>
      </p:pic>
      <p:pic>
        <p:nvPicPr>
          <p:cNvPr id="17" name="Image 9" descr="/tmp/claude-0/-home-user-Default/6c313414-fc11-5a80-9cf8-49dad1a51f26/scratchpad/img/ref-peri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8164" y="4151376"/>
            <a:ext cx="1094072" cy="566928"/>
          </a:xfrm>
          <a:prstGeom prst="rect">
            <a:avLst/>
          </a:prstGeom>
        </p:spPr>
      </p:pic>
      <p:pic>
        <p:nvPicPr>
          <p:cNvPr id="18" name="Image 10" descr="/tmp/claude-0/-home-user-Default/6c313414-fc11-5a80-9cf8-49dad1a51f26/scratchpad/img/ref-hidrome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7344" y="4339481"/>
            <a:ext cx="1463040" cy="190718"/>
          </a:xfrm>
          <a:prstGeom prst="rect">
            <a:avLst/>
          </a:prstGeom>
        </p:spPr>
      </p:pic>
      <p:pic>
        <p:nvPicPr>
          <p:cNvPr id="19" name="Image 11" descr="/tmp/claude-0/-home-user-Default/6c313414-fc11-5a80-9cf8-49dad1a51f26/scratchpad/img/ref-aydem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18919" y="4151376"/>
            <a:ext cx="927219" cy="566928"/>
          </a:xfrm>
          <a:prstGeom prst="rect">
            <a:avLst/>
          </a:prstGeom>
        </p:spPr>
      </p:pic>
      <p:pic>
        <p:nvPicPr>
          <p:cNvPr id="20" name="Image 12" descr="/tmp/claude-0/-home-user-Default/6c313414-fc11-5a80-9cf8-49dad1a51f26/scratchpad/img/ref-nuh-cimento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3484" y="5358384"/>
            <a:ext cx="1241448" cy="566928"/>
          </a:xfrm>
          <a:prstGeom prst="rect">
            <a:avLst/>
          </a:prstGeom>
        </p:spPr>
      </p:pic>
      <p:pic>
        <p:nvPicPr>
          <p:cNvPr id="21" name="Image 13" descr="/tmp/claude-0/-home-user-Default/6c313414-fc11-5a80-9cf8-49dad1a51f26/scratchpad/img/ref-belbim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16352" y="5475873"/>
            <a:ext cx="1463040" cy="331950"/>
          </a:xfrm>
          <a:prstGeom prst="rect">
            <a:avLst/>
          </a:prstGeom>
        </p:spPr>
      </p:pic>
      <p:pic>
        <p:nvPicPr>
          <p:cNvPr id="22" name="Image 14" descr="/tmp/claude-0/-home-user-Default/6c313414-fc11-5a80-9cf8-49dad1a51f26/scratchpad/img/ref-tcd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23423" y="5358384"/>
            <a:ext cx="616226" cy="566928"/>
          </a:xfrm>
          <a:prstGeom prst="rect">
            <a:avLst/>
          </a:prstGeom>
        </p:spPr>
      </p:pic>
      <p:pic>
        <p:nvPicPr>
          <p:cNvPr id="23" name="Image 15" descr="/tmp/claude-0/-home-user-Default/6c313414-fc11-5a80-9cf8-49dad1a51f26/scratchpad/img/ref-iett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85852" y="5358384"/>
            <a:ext cx="458696" cy="566928"/>
          </a:xfrm>
          <a:prstGeom prst="rect">
            <a:avLst/>
          </a:prstGeom>
        </p:spPr>
      </p:pic>
      <p:pic>
        <p:nvPicPr>
          <p:cNvPr id="24" name="Image 16" descr="/tmp/claude-0/-home-user-Default/6c313414-fc11-5a80-9cf8-49dad1a51f26/scratchpad/img/ref-fusion-consulting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53739" y="5358384"/>
            <a:ext cx="1290250" cy="566928"/>
          </a:xfrm>
          <a:prstGeom prst="rect">
            <a:avLst/>
          </a:prstGeom>
        </p:spPr>
      </p:pic>
      <p:sp>
        <p:nvSpPr>
          <p:cNvPr id="25" name="Shape 6"/>
          <p:cNvSpPr/>
          <p:nvPr/>
        </p:nvSpPr>
        <p:spPr>
          <a:xfrm>
            <a:off x="777240" y="3749040"/>
            <a:ext cx="10637215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26" name="Shape 7"/>
          <p:cNvSpPr/>
          <p:nvPr/>
        </p:nvSpPr>
        <p:spPr>
          <a:xfrm>
            <a:off x="777240" y="4956048"/>
            <a:ext cx="10637215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  <p:sp>
        <p:nvSpPr>
          <p:cNvPr id="27" name="Shape 8"/>
          <p:cNvSpPr/>
          <p:nvPr/>
        </p:nvSpPr>
        <p:spPr>
          <a:xfrm>
            <a:off x="777240" y="6163056"/>
            <a:ext cx="10637215" cy="0"/>
          </a:xfrm>
          <a:prstGeom prst="line">
            <a:avLst/>
          </a:prstGeom>
          <a:noFill/>
          <a:ln w="12700">
            <a:solidFill>
              <a:srgbClr val="E2E9EE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Default/6c313414-fc11-5a80-9cf8-49dad1a51f26/scratchpad/img/tex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530352"/>
            <a:ext cx="10637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CPEAK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932688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people named in the proposal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are the people who turn up.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777240" y="2670048"/>
            <a:ext cx="2395728" cy="0"/>
          </a:xfrm>
          <a:prstGeom prst="line">
            <a:avLst/>
          </a:prstGeom>
          <a:noFill/>
          <a:ln w="1270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2624328"/>
            <a:ext cx="91440" cy="91440"/>
          </a:xfrm>
          <a:prstGeom prst="ellipse">
            <a:avLst/>
          </a:prstGeom>
          <a:solidFill>
            <a:srgbClr val="E8B33A"/>
          </a:solidFill>
          <a:ln w="12700">
            <a:solidFill>
              <a:srgbClr val="E8B3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85292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7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SENIOR ONLY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63824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small, senior team. No one’s learning curve on your budget.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92424" y="2670048"/>
            <a:ext cx="2395728" cy="0"/>
          </a:xfrm>
          <a:prstGeom prst="line">
            <a:avLst/>
          </a:prstGeom>
          <a:noFill/>
          <a:ln w="1270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92424" y="2624328"/>
            <a:ext cx="91440" cy="91440"/>
          </a:xfrm>
          <a:prstGeom prst="ellipse">
            <a:avLst/>
          </a:prstGeom>
          <a:solidFill>
            <a:srgbClr val="E8B33A"/>
          </a:solidFill>
          <a:ln w="12700">
            <a:solidFill>
              <a:srgbClr val="E8B3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92424" y="285292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7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NARROW BY DESIGN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3392424" y="3163824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and cloud architecture only. The difficult part is not subcontracted.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07608" y="2670048"/>
            <a:ext cx="2395728" cy="0"/>
          </a:xfrm>
          <a:prstGeom prst="line">
            <a:avLst/>
          </a:prstGeom>
          <a:noFill/>
          <a:ln w="1270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07608" y="2624328"/>
            <a:ext cx="91440" cy="91440"/>
          </a:xfrm>
          <a:prstGeom prst="ellipse">
            <a:avLst/>
          </a:prstGeom>
          <a:solidFill>
            <a:srgbClr val="E8B33A"/>
          </a:solidFill>
          <a:ln w="12700">
            <a:solidFill>
              <a:srgbClr val="E8B3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07608" y="285292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7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NEUTRAL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007608" y="3163824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compare, you decide, the reasoning stays on paper.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622792" y="2670048"/>
            <a:ext cx="2395728" cy="0"/>
          </a:xfrm>
          <a:prstGeom prst="line">
            <a:avLst/>
          </a:prstGeom>
          <a:noFill/>
          <a:ln w="12700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22792" y="2624328"/>
            <a:ext cx="91440" cy="91440"/>
          </a:xfrm>
          <a:prstGeom prst="ellipse">
            <a:avLst/>
          </a:prstGeom>
          <a:solidFill>
            <a:srgbClr val="E8B33A"/>
          </a:solidFill>
          <a:ln w="12700">
            <a:solidFill>
              <a:srgbClr val="E8B3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22792" y="285292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7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PHASED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8622792" y="3163824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grows in phases, not in headcount.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4425696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Tell us about your programme.</a:t>
            </a:r>
            <a:endParaRPr lang="en-US" sz="18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We respond within one business day.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446520" y="4407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info@cpeakconsultancy.com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6446520" y="47183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+90 (507) 032 81 70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6446520" y="5029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2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linkedin.com/company/cpeak-consultancy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446520" y="5431536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DB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Bostancı Mahallesi, Şemsettin Günaltay Caddesi No: 31/8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DB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34744 Kadıköy, İstanbul   ·   Mon–Fri, 09:00–18:00 (GMT+3)</a:t>
            </a:r>
            <a:endParaRPr lang="en-US" sz="1050" dirty="0"/>
          </a:p>
        </p:txBody>
      </p:sp>
      <p:pic>
        <p:nvPicPr>
          <p:cNvPr id="26" name="Image 1" descr="/tmp/claude-0/-home-user-Default/6c313414-fc11-5a80-9cf8-49dad1a51f26/scratchpad/img/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440680"/>
            <a:ext cx="1691640" cy="582473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77240" y="6355080"/>
            <a:ext cx="10637215" cy="0"/>
          </a:xfrm>
          <a:prstGeom prst="line">
            <a:avLst/>
          </a:prstGeom>
          <a:noFill/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77240" y="6455664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B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SAP, S/4HANA and RISE with SAP are registered trademarks of SAP SE. CPeak Consultancy is an independent consultancy and is not affiliated with SAP SE.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CPeak Consultancy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CPeak Consultancy — Corporate Presentation</dc:title>
  <dc:subject>PptxGenJS Presentation</dc:subject>
  <dc:creator>CPeak Consultancy</dc:creator>
  <cp:lastModifiedBy>CPeak Consultancy</cp:lastModifiedBy>
  <cp:revision>1</cp:revision>
  <dcterms:created xsi:type="dcterms:W3CDTF">2026-09-05T17:18:52Z</dcterms:created>
  <dcterms:modified xsi:type="dcterms:W3CDTF">2026-09-05T17:18:52Z</dcterms:modified>
</cp:coreProperties>
</file>
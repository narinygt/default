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CPeak is an independent SAP consultancy specialising end to end in finance modules, cloud architecture and applied AI. Founded 2021, Istanbul.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CPeak stays inside finance modules and cloud architecture rather than selling broad scope and subcontracting the difficult parts.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decisions with the longest half-life are taken at the point of least evidence.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three areas meet and each informs the others — the convergence is the positioning.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Measure before recommending.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Cloud-model neutrality: fit measured against standard scope, reasoning documented.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stages, each closing on a defined deliverable.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Capability → action → outcome.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five capability areas.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in the delivered system and in the delivery method, with an explicit human-review boundary.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declined-work slide demonstrates that the focus claimed earlier is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Assessment, Delivery, Expert support.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Reference logos as published by CPeak. No client names or outcome claims attached.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argument and contact. Response within one business 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image" Target="../media/image-13-9.png"/><Relationship Id="rId10" Type="http://schemas.openxmlformats.org/officeDocument/2006/relationships/image" Target="../media/image-13-10.png"/><Relationship Id="rId11" Type="http://schemas.openxmlformats.org/officeDocument/2006/relationships/image" Target="../media/image-13-11.png"/><Relationship Id="rId12" Type="http://schemas.openxmlformats.org/officeDocument/2006/relationships/image" Target="../media/image-13-12.png"/><Relationship Id="rId13" Type="http://schemas.openxmlformats.org/officeDocument/2006/relationships/image" Target="../media/image-13-13.png"/><Relationship Id="rId14" Type="http://schemas.openxmlformats.org/officeDocument/2006/relationships/image" Target="../media/image-13-14.png"/><Relationship Id="rId15" Type="http://schemas.openxmlformats.org/officeDocument/2006/relationships/image" Target="../media/image-13-15.png"/><Relationship Id="rId16" Type="http://schemas.openxmlformats.org/officeDocument/2006/relationships/image" Target="../media/image-13-16.png"/><Relationship Id="rId17" Type="http://schemas.openxmlformats.org/officeDocument/2006/relationships/image" Target="../media/image-13-17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Default/6c313414-fc11-5a80-9cf8-49dad1a51f26/scratchpad/img/tex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tmp/claude-0/-home-user-Default/6c313414-fc11-5a80-9cf8-49dad1a51f26/scratchpad/img/logo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66928"/>
            <a:ext cx="2240280" cy="770839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77240" y="2084832"/>
            <a:ext cx="9601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40" kern="0" dirty="0">
                <a:solidFill>
                  <a:srgbClr val="F5DCA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SAP FINANCE  ·  CLOUD ARCHITECTURE  ·  APPLIED AI</a:t>
            </a:r>
            <a:endParaRPr lang="en-US" sz="1000" dirty="0"/>
          </a:p>
        </p:txBody>
      </p:sp>
      <p:sp>
        <p:nvSpPr>
          <p:cNvPr id="5" name="Text 1"/>
          <p:cNvSpPr txBox="1"/>
          <p:nvPr/>
        </p:nvSpPr>
        <p:spPr>
          <a:xfrm>
            <a:off x="777240" y="2542032"/>
            <a:ext cx="8595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1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Finance-led</a:t>
            </a:r>
            <a:endParaRPr lang="en-US" sz="4400" dirty="0"/>
          </a:p>
          <a:p>
            <a:pPr indent="0" marL="0">
              <a:lnSpc>
                <a:spcPts val="51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SAP transformation.</a:t>
            </a:r>
            <a:endParaRPr lang="en-US" sz="4400" dirty="0"/>
          </a:p>
        </p:txBody>
      </p:sp>
      <p:sp>
        <p:nvSpPr>
          <p:cNvPr id="6" name="Text 2"/>
          <p:cNvSpPr txBox="1"/>
          <p:nvPr/>
        </p:nvSpPr>
        <p:spPr>
          <a:xfrm>
            <a:off x="777240" y="4443984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400" dirty="0">
                <a:solidFill>
                  <a:srgbClr val="D2DD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hardest decisions stay with us.</a:t>
            </a:r>
            <a:endParaRPr lang="en-US" sz="1400" dirty="0"/>
          </a:p>
        </p:txBody>
      </p:sp>
      <p:sp>
        <p:nvSpPr>
          <p:cNvPr id="7" name="Shape 3"/>
          <p:cNvSpPr/>
          <p:nvPr/>
        </p:nvSpPr>
        <p:spPr>
          <a:xfrm>
            <a:off x="777240" y="5742432"/>
            <a:ext cx="10637215" cy="0"/>
          </a:xfrm>
          <a:prstGeom prst="line">
            <a:avLst/>
          </a:prstGeom>
          <a:noFill/>
          <a:ln w="9525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77240" y="5907024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80" kern="0" dirty="0">
                <a:solidFill>
                  <a:srgbClr val="9DB0C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ISTANBUL</a:t>
            </a:r>
            <a:endParaRPr lang="en-US" sz="900" dirty="0"/>
          </a:p>
        </p:txBody>
      </p:sp>
      <p:sp>
        <p:nvSpPr>
          <p:cNvPr id="9" name="Text 5"/>
          <p:cNvSpPr txBox="1"/>
          <p:nvPr/>
        </p:nvSpPr>
        <p:spPr>
          <a:xfrm>
            <a:off x="3611880" y="5907024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80" kern="0" dirty="0">
                <a:solidFill>
                  <a:srgbClr val="9DB0C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TÜRKİYE · EMEA · UNITED STATES</a:t>
            </a:r>
            <a:endParaRPr lang="en-US" sz="900" dirty="0"/>
          </a:p>
        </p:txBody>
      </p:sp>
      <p:sp>
        <p:nvSpPr>
          <p:cNvPr id="10" name="Text 6"/>
          <p:cNvSpPr txBox="1"/>
          <p:nvPr/>
        </p:nvSpPr>
        <p:spPr>
          <a:xfrm>
            <a:off x="8001000" y="5907024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80" kern="0" dirty="0">
                <a:solidFill>
                  <a:srgbClr val="9DB0C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INDEPENDENT SINCE 2021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530352"/>
            <a:ext cx="1063721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20" kern="0" dirty="0">
                <a:solidFill>
                  <a:srgbClr val="1167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POSITIONING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96012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640"/>
              </a:lnSpc>
              <a:buNone/>
            </a:pPr>
            <a:r>
              <a:rPr lang="en-US" sz="4000" b="1" dirty="0">
                <a:solidFill>
                  <a:srgbClr val="0E162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Depth over breadth.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77240" y="6272784"/>
            <a:ext cx="10637215" cy="0"/>
          </a:xfrm>
          <a:prstGeom prst="line">
            <a:avLst/>
          </a:prstGeom>
          <a:noFill/>
          <a:ln w="9525">
            <a:solidFill>
              <a:srgbClr val="C9D6D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638251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60" kern="0" dirty="0">
                <a:solidFill>
                  <a:srgbClr val="4A5A6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CPEAK CONSULTANCY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6842455" y="638251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60" kern="0" dirty="0">
                <a:solidFill>
                  <a:srgbClr val="4A5A6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 / 14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77240" y="3703320"/>
            <a:ext cx="0" cy="1051560"/>
          </a:xfrm>
          <a:prstGeom prst="line">
            <a:avLst/>
          </a:prstGeom>
          <a:noFill/>
          <a:ln w="25400">
            <a:solidFill>
              <a:srgbClr val="11676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33272" y="3703320"/>
            <a:ext cx="4617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11676A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If we take an engagement, we are not subcontracting the difficult part of it.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1234440"/>
            <a:ext cx="4434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80" kern="0" dirty="0">
                <a:solidFill>
                  <a:srgbClr val="4A5A6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USUAL SHAPE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400800" y="1618488"/>
            <a:ext cx="4434840" cy="0"/>
          </a:xfrm>
          <a:prstGeom prst="line">
            <a:avLst/>
          </a:prstGeom>
          <a:noFill/>
          <a:ln w="12700">
            <a:solidFill>
              <a:srgbClr val="C9D6D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0" y="1618488"/>
            <a:ext cx="457200" cy="310896"/>
          </a:xfrm>
          <a:prstGeom prst="rect">
            <a:avLst/>
          </a:prstGeom>
          <a:solidFill>
            <a:srgbClr val="C9D6DE"/>
          </a:solidFill>
          <a:ln/>
        </p:spPr>
      </p:sp>
      <p:sp>
        <p:nvSpPr>
          <p:cNvPr id="12" name="Shape 10"/>
          <p:cNvSpPr/>
          <p:nvPr/>
        </p:nvSpPr>
        <p:spPr>
          <a:xfrm>
            <a:off x="7150608" y="1618488"/>
            <a:ext cx="457200" cy="310896"/>
          </a:xfrm>
          <a:prstGeom prst="rect">
            <a:avLst/>
          </a:prstGeom>
          <a:solidFill>
            <a:srgbClr val="C9D6DE"/>
          </a:solidFill>
          <a:ln/>
        </p:spPr>
      </p:sp>
      <p:sp>
        <p:nvSpPr>
          <p:cNvPr id="13" name="Shape 11"/>
          <p:cNvSpPr/>
          <p:nvPr/>
        </p:nvSpPr>
        <p:spPr>
          <a:xfrm>
            <a:off x="7900416" y="1618488"/>
            <a:ext cx="457200" cy="310896"/>
          </a:xfrm>
          <a:prstGeom prst="rect">
            <a:avLst/>
          </a:prstGeom>
          <a:solidFill>
            <a:srgbClr val="C9D6DE"/>
          </a:solidFill>
          <a:ln/>
        </p:spPr>
      </p:sp>
      <p:sp>
        <p:nvSpPr>
          <p:cNvPr id="14" name="Shape 12"/>
          <p:cNvSpPr/>
          <p:nvPr/>
        </p:nvSpPr>
        <p:spPr>
          <a:xfrm>
            <a:off x="8650224" y="1618488"/>
            <a:ext cx="457200" cy="310896"/>
          </a:xfrm>
          <a:prstGeom prst="rect">
            <a:avLst/>
          </a:prstGeom>
          <a:solidFill>
            <a:srgbClr val="C9D6DE"/>
          </a:solidFill>
          <a:ln/>
        </p:spPr>
      </p:sp>
      <p:sp>
        <p:nvSpPr>
          <p:cNvPr id="15" name="Shape 13"/>
          <p:cNvSpPr/>
          <p:nvPr/>
        </p:nvSpPr>
        <p:spPr>
          <a:xfrm>
            <a:off x="9400032" y="1618488"/>
            <a:ext cx="457200" cy="310896"/>
          </a:xfrm>
          <a:prstGeom prst="rect">
            <a:avLst/>
          </a:prstGeom>
          <a:solidFill>
            <a:srgbClr val="C9D6DE"/>
          </a:solidFill>
          <a:ln/>
        </p:spPr>
      </p:sp>
      <p:sp>
        <p:nvSpPr>
          <p:cNvPr id="16" name="Shape 14"/>
          <p:cNvSpPr/>
          <p:nvPr/>
        </p:nvSpPr>
        <p:spPr>
          <a:xfrm>
            <a:off x="10149840" y="1618488"/>
            <a:ext cx="457200" cy="310896"/>
          </a:xfrm>
          <a:prstGeom prst="rect">
            <a:avLst/>
          </a:prstGeom>
          <a:solidFill>
            <a:srgbClr val="C9D6D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0" y="2075688"/>
            <a:ext cx="4434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wide scope · borrowed depth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6400800" y="265176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80" kern="0" dirty="0">
                <a:solidFill>
                  <a:srgbClr val="1167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OURS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7955280" y="2651760"/>
            <a:ext cx="2880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narrow scope · owned depth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400800" y="3035808"/>
            <a:ext cx="4434840" cy="0"/>
          </a:xfrm>
          <a:prstGeom prst="line">
            <a:avLst/>
          </a:prstGeom>
          <a:noFill/>
          <a:ln w="12700">
            <a:solidFill>
              <a:srgbClr val="C9D6D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0" y="3035808"/>
            <a:ext cx="1207008" cy="2788920"/>
          </a:xfrm>
          <a:prstGeom prst="rect">
            <a:avLst/>
          </a:prstGeom>
          <a:solidFill>
            <a:srgbClr val="11676A"/>
          </a:solidFill>
          <a:ln/>
        </p:spPr>
      </p:sp>
      <p:sp>
        <p:nvSpPr>
          <p:cNvPr id="22" name="Shape 20"/>
          <p:cNvSpPr/>
          <p:nvPr/>
        </p:nvSpPr>
        <p:spPr>
          <a:xfrm>
            <a:off x="7607808" y="3520440"/>
            <a:ext cx="201168" cy="0"/>
          </a:xfrm>
          <a:prstGeom prst="line">
            <a:avLst/>
          </a:prstGeom>
          <a:noFill/>
          <a:ln w="12700">
            <a:solidFill>
              <a:srgbClr val="11676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566660" y="3479292"/>
            <a:ext cx="82296" cy="82296"/>
          </a:xfrm>
          <a:prstGeom prst="ellipse">
            <a:avLst/>
          </a:prstGeom>
          <a:solidFill>
            <a:srgbClr val="11676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936992" y="339699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16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Finance modules — FI, CO, PA, PS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607808" y="4389120"/>
            <a:ext cx="201168" cy="0"/>
          </a:xfrm>
          <a:prstGeom prst="line">
            <a:avLst/>
          </a:prstGeom>
          <a:noFill/>
          <a:ln w="12700">
            <a:solidFill>
              <a:srgbClr val="11676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566660" y="4347972"/>
            <a:ext cx="82296" cy="82296"/>
          </a:xfrm>
          <a:prstGeom prst="ellipse">
            <a:avLst/>
          </a:prstGeom>
          <a:solidFill>
            <a:srgbClr val="11676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936992" y="426567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16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Cloud architecture — Private, Public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607808" y="5257800"/>
            <a:ext cx="201168" cy="0"/>
          </a:xfrm>
          <a:prstGeom prst="line">
            <a:avLst/>
          </a:prstGeom>
          <a:noFill/>
          <a:ln w="12700">
            <a:solidFill>
              <a:srgbClr val="11676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66660" y="5216652"/>
            <a:ext cx="82296" cy="82296"/>
          </a:xfrm>
          <a:prstGeom prst="ellipse">
            <a:avLst/>
          </a:prstGeom>
          <a:solidFill>
            <a:srgbClr val="11676A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936992" y="513435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16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and process automation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Default/6c313414-fc11-5a80-9cf8-49dad1a51f26/scratchpad/img/tex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77240" y="530352"/>
            <a:ext cx="1063721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20" kern="0" dirty="0">
                <a:solidFill>
                  <a:srgbClr val="F5DCA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CHALLENGE</a:t>
            </a:r>
            <a:endParaRPr lang="en-US" sz="950" dirty="0"/>
          </a:p>
        </p:txBody>
      </p:sp>
      <p:sp>
        <p:nvSpPr>
          <p:cNvPr id="4" name="Text 1"/>
          <p:cNvSpPr txBox="1"/>
          <p:nvPr/>
        </p:nvSpPr>
        <p:spPr>
          <a:xfrm>
            <a:off x="777240" y="960120"/>
            <a:ext cx="5760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944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Early decisions,</a:t>
            </a:r>
            <a:endParaRPr lang="en-US" sz="3400" dirty="0"/>
          </a:p>
          <a:p>
            <a:pPr indent="0" marL="0">
              <a:lnSpc>
                <a:spcPts val="3944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lasting consequences.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777240" y="6272784"/>
            <a:ext cx="10637215" cy="0"/>
          </a:xfrm>
          <a:prstGeom prst="line">
            <a:avLst/>
          </a:prstGeom>
          <a:noFill/>
          <a:ln w="9525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638251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60" kern="0" dirty="0">
                <a:solidFill>
                  <a:srgbClr val="9DB0C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CPEAK CONSULTANCY</a:t>
            </a:r>
            <a:endParaRPr lang="en-US" sz="800" dirty="0"/>
          </a:p>
        </p:txBody>
      </p:sp>
      <p:sp>
        <p:nvSpPr>
          <p:cNvPr id="7" name="Text 4"/>
          <p:cNvSpPr txBox="1"/>
          <p:nvPr/>
        </p:nvSpPr>
        <p:spPr>
          <a:xfrm>
            <a:off x="6842455" y="638251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60" kern="0" dirty="0">
                <a:solidFill>
                  <a:srgbClr val="9DB0C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/ 14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788920"/>
            <a:ext cx="5029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Enterprise structure.</a:t>
            </a:r>
            <a:endParaRPr lang="en-US" sz="160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Conversion route.</a:t>
            </a:r>
            <a:endParaRPr lang="en-US" sz="160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Cloud model.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77240" y="4133088"/>
            <a:ext cx="0" cy="1051560"/>
          </a:xfrm>
          <a:prstGeom prst="line">
            <a:avLst/>
          </a:prstGeom>
          <a:noFill/>
          <a:ln w="25400">
            <a:solidFill>
              <a:srgbClr val="E8B33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033272" y="4133088"/>
            <a:ext cx="4754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F5DCA4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Advice given without measurement is a guess — and you are the one who lives with it.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6784848" y="1417320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80" kern="0" dirty="0">
                <a:solidFill>
                  <a:srgbClr val="9DB0C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HOW HARD THE DECISION IS TO REVERSE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6784848" y="4809744"/>
            <a:ext cx="841248" cy="384048"/>
          </a:xfrm>
          <a:prstGeom prst="rect">
            <a:avLst/>
          </a:prstGeom>
          <a:solidFill>
            <a:srgbClr val="11676A">
              <a:alpha val="92000"/>
            </a:srgbClr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565392" y="532180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spc="80" kern="0" dirty="0">
                <a:solidFill>
                  <a:srgbClr val="9DB0C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DESIGN</a:t>
            </a:r>
            <a:endParaRPr lang="en-US" sz="760" dirty="0"/>
          </a:p>
        </p:txBody>
      </p:sp>
      <p:sp>
        <p:nvSpPr>
          <p:cNvPr id="14" name="Shape 11"/>
          <p:cNvSpPr/>
          <p:nvPr/>
        </p:nvSpPr>
        <p:spPr>
          <a:xfrm>
            <a:off x="7973568" y="4142232"/>
            <a:ext cx="841248" cy="1051560"/>
          </a:xfrm>
          <a:prstGeom prst="rect">
            <a:avLst/>
          </a:prstGeom>
          <a:solidFill>
            <a:srgbClr val="11676A">
              <a:alpha val="92000"/>
            </a:srgbClr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754112" y="532180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spc="80" kern="0" dirty="0">
                <a:solidFill>
                  <a:srgbClr val="9DB0C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BUILD</a:t>
            </a:r>
            <a:endParaRPr lang="en-US" sz="760" dirty="0"/>
          </a:p>
        </p:txBody>
      </p:sp>
      <p:sp>
        <p:nvSpPr>
          <p:cNvPr id="16" name="Shape 13"/>
          <p:cNvSpPr/>
          <p:nvPr/>
        </p:nvSpPr>
        <p:spPr>
          <a:xfrm>
            <a:off x="9162288" y="3227832"/>
            <a:ext cx="841248" cy="1965960"/>
          </a:xfrm>
          <a:prstGeom prst="rect">
            <a:avLst/>
          </a:prstGeom>
          <a:solidFill>
            <a:srgbClr val="11676A">
              <a:alpha val="92000"/>
            </a:srgbClr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942832" y="532180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spc="80" kern="0" dirty="0">
                <a:solidFill>
                  <a:srgbClr val="9DB0C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TEST</a:t>
            </a:r>
            <a:endParaRPr lang="en-US" sz="760" dirty="0"/>
          </a:p>
        </p:txBody>
      </p:sp>
      <p:sp>
        <p:nvSpPr>
          <p:cNvPr id="18" name="Shape 15"/>
          <p:cNvSpPr/>
          <p:nvPr/>
        </p:nvSpPr>
        <p:spPr>
          <a:xfrm>
            <a:off x="10351008" y="2176272"/>
            <a:ext cx="841248" cy="3017520"/>
          </a:xfrm>
          <a:prstGeom prst="rect">
            <a:avLst/>
          </a:prstGeom>
          <a:solidFill>
            <a:srgbClr val="E8B33A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10131552" y="532180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spc="80" kern="0" dirty="0">
                <a:solidFill>
                  <a:srgbClr val="9DB0C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 OPERATION</a:t>
            </a:r>
            <a:endParaRPr lang="en-US" sz="760" dirty="0"/>
          </a:p>
        </p:txBody>
      </p:sp>
      <p:sp>
        <p:nvSpPr>
          <p:cNvPr id="20" name="Shape 17"/>
          <p:cNvSpPr/>
          <p:nvPr/>
        </p:nvSpPr>
        <p:spPr>
          <a:xfrm>
            <a:off x="6647688" y="5193792"/>
            <a:ext cx="4681728" cy="0"/>
          </a:xfrm>
          <a:prstGeom prst="line">
            <a:avLst/>
          </a:prstGeom>
          <a:noFill/>
          <a:ln w="12700">
            <a:solidFill>
              <a:srgbClr val="FFFFFF">
                <a:alpha val="3800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136892" y="4448556"/>
            <a:ext cx="137160" cy="137160"/>
          </a:xfrm>
          <a:prstGeom prst="ellipse">
            <a:avLst/>
          </a:prstGeom>
          <a:solidFill>
            <a:srgbClr val="E8B33A"/>
          </a:solidFill>
          <a:ln/>
        </p:spPr>
      </p:sp>
      <p:sp>
        <p:nvSpPr>
          <p:cNvPr id="22" name="Shape 19"/>
          <p:cNvSpPr/>
          <p:nvPr/>
        </p:nvSpPr>
        <p:spPr>
          <a:xfrm>
            <a:off x="7205472" y="4585716"/>
            <a:ext cx="0" cy="141732"/>
          </a:xfrm>
          <a:prstGeom prst="line">
            <a:avLst/>
          </a:prstGeom>
          <a:noFill/>
          <a:ln w="12700">
            <a:solidFill>
              <a:srgbClr val="E8B33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245352" y="4224528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5DCA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decided here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9784080" y="186537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5DCA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lived with here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530352"/>
            <a:ext cx="1063721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20" kern="0" dirty="0">
                <a:solidFill>
                  <a:srgbClr val="1167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OUR PRACTICE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96012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640"/>
              </a:lnSpc>
              <a:buNone/>
            </a:pPr>
            <a:r>
              <a:rPr lang="en-US" sz="4000" b="1" dirty="0">
                <a:solidFill>
                  <a:srgbClr val="0E162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Three disciplines, one practice.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77240" y="6272784"/>
            <a:ext cx="10637215" cy="0"/>
          </a:xfrm>
          <a:prstGeom prst="line">
            <a:avLst/>
          </a:prstGeom>
          <a:noFill/>
          <a:ln w="9525">
            <a:solidFill>
              <a:srgbClr val="C9D6D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638251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60" kern="0" dirty="0">
                <a:solidFill>
                  <a:srgbClr val="4A5A6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CPEAK CONSULTANCY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6842455" y="638251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60" kern="0" dirty="0">
                <a:solidFill>
                  <a:srgbClr val="4A5A6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 / 14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77240" y="2331720"/>
            <a:ext cx="137160" cy="137160"/>
          </a:xfrm>
          <a:prstGeom prst="ellipse">
            <a:avLst/>
          </a:prstGeom>
          <a:solidFill>
            <a:srgbClr val="11676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69848" y="228600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60" kern="0" dirty="0">
                <a:solidFill>
                  <a:srgbClr val="1167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FINANCE PROCESS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715768"/>
            <a:ext cx="31272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0E162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How the books actually close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429000"/>
            <a:ext cx="2990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1167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 · CO · PA · PS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45820" y="4471416"/>
            <a:ext cx="0" cy="274320"/>
          </a:xfrm>
          <a:prstGeom prst="line">
            <a:avLst/>
          </a:prstGeom>
          <a:noFill/>
          <a:ln w="12700">
            <a:solidFill>
              <a:srgbClr val="C9D6D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26280" y="2331720"/>
            <a:ext cx="137160" cy="137160"/>
          </a:xfrm>
          <a:prstGeom prst="ellipse">
            <a:avLst/>
          </a:prstGeom>
          <a:solidFill>
            <a:srgbClr val="11676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818888" y="228600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60" kern="0" dirty="0">
                <a:solidFill>
                  <a:srgbClr val="1167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PLATFORM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4526280" y="2715768"/>
            <a:ext cx="31272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0E162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The ground it has to run on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526280" y="3429000"/>
            <a:ext cx="2990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1167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ECC · S/4HANA · Private and Public Cloud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94860" y="4471416"/>
            <a:ext cx="0" cy="274320"/>
          </a:xfrm>
          <a:prstGeom prst="line">
            <a:avLst/>
          </a:prstGeom>
          <a:noFill/>
          <a:ln w="12700">
            <a:solidFill>
              <a:srgbClr val="C9D6D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75320" y="2331720"/>
            <a:ext cx="137160" cy="137160"/>
          </a:xfrm>
          <a:prstGeom prst="ellipse">
            <a:avLst/>
          </a:prstGeom>
          <a:solidFill>
            <a:srgbClr val="11676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567928" y="228600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60" kern="0" dirty="0">
                <a:solidFill>
                  <a:srgbClr val="1167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AUTOMATION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8275320" y="2715768"/>
            <a:ext cx="31272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0E162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What can stop being manual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275320" y="3429000"/>
            <a:ext cx="2990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1167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Matching · Anomaly detection · Prediction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343900" y="4471416"/>
            <a:ext cx="0" cy="274320"/>
          </a:xfrm>
          <a:prstGeom prst="line">
            <a:avLst/>
          </a:prstGeom>
          <a:noFill/>
          <a:ln w="12700">
            <a:solidFill>
              <a:srgbClr val="C9D6D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45820" y="4745736"/>
            <a:ext cx="7498080" cy="0"/>
          </a:xfrm>
          <a:prstGeom prst="line">
            <a:avLst/>
          </a:prstGeom>
          <a:noFill/>
          <a:ln w="12700">
            <a:solidFill>
              <a:srgbClr val="C9D6D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95848" y="4745736"/>
            <a:ext cx="0" cy="274320"/>
          </a:xfrm>
          <a:prstGeom prst="line">
            <a:avLst/>
          </a:prstGeom>
          <a:noFill/>
          <a:ln w="15875">
            <a:solidFill>
              <a:srgbClr val="11676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15488" y="5020056"/>
            <a:ext cx="5760720" cy="566928"/>
          </a:xfrm>
          <a:prstGeom prst="rect">
            <a:avLst/>
          </a:prstGeom>
          <a:solidFill>
            <a:srgbClr val="11676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3215488" y="5020056"/>
            <a:ext cx="5760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A decision that still looks right in year three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530352"/>
            <a:ext cx="1063721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20" kern="0" dirty="0">
                <a:solidFill>
                  <a:srgbClr val="1167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METHOD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960120"/>
            <a:ext cx="8412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640"/>
              </a:lnSpc>
              <a:buNone/>
            </a:pPr>
            <a:r>
              <a:rPr lang="en-US" sz="4000" b="1" dirty="0">
                <a:solidFill>
                  <a:srgbClr val="0E162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Evidence before advice.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77240" y="6272784"/>
            <a:ext cx="10637215" cy="0"/>
          </a:xfrm>
          <a:prstGeom prst="line">
            <a:avLst/>
          </a:prstGeom>
          <a:noFill/>
          <a:ln w="9525">
            <a:solidFill>
              <a:srgbClr val="C9D6D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638251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60" kern="0" dirty="0">
                <a:solidFill>
                  <a:srgbClr val="4A5A6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CPEAK CONSULTANCY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6842455" y="638251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60" kern="0" dirty="0">
                <a:solidFill>
                  <a:srgbClr val="4A5A6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 / 14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862072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60" kern="0" dirty="0">
                <a:solidFill>
                  <a:srgbClr val="4A5A6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PROCESS AS DESCRIBED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77240" y="3246120"/>
            <a:ext cx="5852160" cy="0"/>
          </a:xfrm>
          <a:prstGeom prst="line">
            <a:avLst/>
          </a:prstGeom>
          <a:noFill/>
          <a:ln w="28575">
            <a:solidFill>
              <a:srgbClr val="C9D6D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3200400"/>
            <a:ext cx="91440" cy="91440"/>
          </a:xfrm>
          <a:prstGeom prst="ellipse">
            <a:avLst/>
          </a:prstGeom>
          <a:solidFill>
            <a:srgbClr val="C9D6DE"/>
          </a:solidFill>
          <a:ln/>
        </p:spPr>
      </p:sp>
      <p:sp>
        <p:nvSpPr>
          <p:cNvPr id="10" name="Shape 8"/>
          <p:cNvSpPr/>
          <p:nvPr/>
        </p:nvSpPr>
        <p:spPr>
          <a:xfrm>
            <a:off x="2194560" y="3200400"/>
            <a:ext cx="91440" cy="91440"/>
          </a:xfrm>
          <a:prstGeom prst="ellipse">
            <a:avLst/>
          </a:prstGeom>
          <a:solidFill>
            <a:srgbClr val="C9D6DE"/>
          </a:solidFill>
          <a:ln/>
        </p:spPr>
      </p:sp>
      <p:sp>
        <p:nvSpPr>
          <p:cNvPr id="11" name="Shape 9"/>
          <p:cNvSpPr/>
          <p:nvPr/>
        </p:nvSpPr>
        <p:spPr>
          <a:xfrm>
            <a:off x="3657600" y="3200400"/>
            <a:ext cx="91440" cy="91440"/>
          </a:xfrm>
          <a:prstGeom prst="ellipse">
            <a:avLst/>
          </a:prstGeom>
          <a:solidFill>
            <a:srgbClr val="C9D6DE"/>
          </a:solidFill>
          <a:ln/>
        </p:spPr>
      </p:sp>
      <p:sp>
        <p:nvSpPr>
          <p:cNvPr id="12" name="Shape 10"/>
          <p:cNvSpPr/>
          <p:nvPr/>
        </p:nvSpPr>
        <p:spPr>
          <a:xfrm>
            <a:off x="5120640" y="3200400"/>
            <a:ext cx="91440" cy="91440"/>
          </a:xfrm>
          <a:prstGeom prst="ellipse">
            <a:avLst/>
          </a:prstGeom>
          <a:solidFill>
            <a:srgbClr val="C9D6DE"/>
          </a:solidFill>
          <a:ln/>
        </p:spPr>
      </p:sp>
      <p:sp>
        <p:nvSpPr>
          <p:cNvPr id="13" name="Shape 11"/>
          <p:cNvSpPr/>
          <p:nvPr/>
        </p:nvSpPr>
        <p:spPr>
          <a:xfrm>
            <a:off x="6583680" y="3200400"/>
            <a:ext cx="91440" cy="91440"/>
          </a:xfrm>
          <a:prstGeom prst="ellipse">
            <a:avLst/>
          </a:prstGeom>
          <a:solidFill>
            <a:srgbClr val="C9D6DE"/>
          </a:solidFill>
          <a:ln/>
        </p:spPr>
      </p:sp>
      <p:sp>
        <p:nvSpPr>
          <p:cNvPr id="14" name="Shape 12"/>
          <p:cNvSpPr/>
          <p:nvPr/>
        </p:nvSpPr>
        <p:spPr>
          <a:xfrm>
            <a:off x="777240" y="3246120"/>
            <a:ext cx="936346" cy="384048"/>
          </a:xfrm>
          <a:prstGeom prst="line">
            <a:avLst/>
          </a:prstGeom>
          <a:noFill/>
          <a:ln w="28575">
            <a:solidFill>
              <a:srgbClr val="11676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V="1">
            <a:off x="1713586" y="3465576"/>
            <a:ext cx="819302" cy="164592"/>
          </a:xfrm>
          <a:prstGeom prst="line">
            <a:avLst/>
          </a:prstGeom>
          <a:noFill/>
          <a:ln w="28575">
            <a:solidFill>
              <a:srgbClr val="11676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32888" y="3465576"/>
            <a:ext cx="877824" cy="566928"/>
          </a:xfrm>
          <a:prstGeom prst="line">
            <a:avLst/>
          </a:prstGeom>
          <a:noFill/>
          <a:ln w="28575">
            <a:solidFill>
              <a:srgbClr val="11676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V="1">
            <a:off x="3410712" y="3813048"/>
            <a:ext cx="877824" cy="219456"/>
          </a:xfrm>
          <a:prstGeom prst="line">
            <a:avLst/>
          </a:prstGeom>
          <a:noFill/>
          <a:ln w="28575">
            <a:solidFill>
              <a:srgbClr val="11676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88536" y="3813048"/>
            <a:ext cx="936346" cy="512064"/>
          </a:xfrm>
          <a:prstGeom prst="line">
            <a:avLst/>
          </a:prstGeom>
          <a:noFill/>
          <a:ln w="28575">
            <a:solidFill>
              <a:srgbClr val="11676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flipV="1">
            <a:off x="5224882" y="4123944"/>
            <a:ext cx="702259" cy="201168"/>
          </a:xfrm>
          <a:prstGeom prst="line">
            <a:avLst/>
          </a:prstGeom>
          <a:noFill/>
          <a:ln w="28575">
            <a:solidFill>
              <a:srgbClr val="11676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27141" y="4123944"/>
            <a:ext cx="702259" cy="347472"/>
          </a:xfrm>
          <a:prstGeom prst="line">
            <a:avLst/>
          </a:prstGeom>
          <a:noFill/>
          <a:ln w="28575">
            <a:solidFill>
              <a:srgbClr val="11676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" y="3200400"/>
            <a:ext cx="91440" cy="91440"/>
          </a:xfrm>
          <a:prstGeom prst="ellipse">
            <a:avLst/>
          </a:prstGeom>
          <a:solidFill>
            <a:srgbClr val="11676A"/>
          </a:solidFill>
          <a:ln/>
        </p:spPr>
      </p:sp>
      <p:sp>
        <p:nvSpPr>
          <p:cNvPr id="22" name="Shape 20"/>
          <p:cNvSpPr/>
          <p:nvPr/>
        </p:nvSpPr>
        <p:spPr>
          <a:xfrm>
            <a:off x="1667866" y="3584448"/>
            <a:ext cx="91440" cy="91440"/>
          </a:xfrm>
          <a:prstGeom prst="ellipse">
            <a:avLst/>
          </a:prstGeom>
          <a:solidFill>
            <a:srgbClr val="11676A"/>
          </a:solidFill>
          <a:ln/>
        </p:spPr>
      </p:sp>
      <p:sp>
        <p:nvSpPr>
          <p:cNvPr id="23" name="Shape 21"/>
          <p:cNvSpPr/>
          <p:nvPr/>
        </p:nvSpPr>
        <p:spPr>
          <a:xfrm>
            <a:off x="2487168" y="3419856"/>
            <a:ext cx="91440" cy="91440"/>
          </a:xfrm>
          <a:prstGeom prst="ellipse">
            <a:avLst/>
          </a:prstGeom>
          <a:solidFill>
            <a:srgbClr val="11676A"/>
          </a:solidFill>
          <a:ln/>
        </p:spPr>
      </p:sp>
      <p:sp>
        <p:nvSpPr>
          <p:cNvPr id="24" name="Shape 22"/>
          <p:cNvSpPr/>
          <p:nvPr/>
        </p:nvSpPr>
        <p:spPr>
          <a:xfrm>
            <a:off x="3364992" y="3986784"/>
            <a:ext cx="91440" cy="91440"/>
          </a:xfrm>
          <a:prstGeom prst="ellipse">
            <a:avLst/>
          </a:prstGeom>
          <a:solidFill>
            <a:srgbClr val="11676A"/>
          </a:solidFill>
          <a:ln/>
        </p:spPr>
      </p:sp>
      <p:sp>
        <p:nvSpPr>
          <p:cNvPr id="25" name="Shape 23"/>
          <p:cNvSpPr/>
          <p:nvPr/>
        </p:nvSpPr>
        <p:spPr>
          <a:xfrm>
            <a:off x="4242816" y="3767328"/>
            <a:ext cx="91440" cy="91440"/>
          </a:xfrm>
          <a:prstGeom prst="ellipse">
            <a:avLst/>
          </a:prstGeom>
          <a:solidFill>
            <a:srgbClr val="11676A"/>
          </a:solidFill>
          <a:ln/>
        </p:spPr>
      </p:sp>
      <p:sp>
        <p:nvSpPr>
          <p:cNvPr id="26" name="Shape 24"/>
          <p:cNvSpPr/>
          <p:nvPr/>
        </p:nvSpPr>
        <p:spPr>
          <a:xfrm>
            <a:off x="5179162" y="4279392"/>
            <a:ext cx="91440" cy="91440"/>
          </a:xfrm>
          <a:prstGeom prst="ellipse">
            <a:avLst/>
          </a:prstGeom>
          <a:solidFill>
            <a:srgbClr val="11676A"/>
          </a:solidFill>
          <a:ln/>
        </p:spPr>
      </p:sp>
      <p:sp>
        <p:nvSpPr>
          <p:cNvPr id="27" name="Shape 25"/>
          <p:cNvSpPr/>
          <p:nvPr/>
        </p:nvSpPr>
        <p:spPr>
          <a:xfrm>
            <a:off x="5881421" y="4078224"/>
            <a:ext cx="91440" cy="91440"/>
          </a:xfrm>
          <a:prstGeom prst="ellipse">
            <a:avLst/>
          </a:prstGeom>
          <a:solidFill>
            <a:srgbClr val="11676A"/>
          </a:solidFill>
          <a:ln/>
        </p:spPr>
      </p:sp>
      <p:sp>
        <p:nvSpPr>
          <p:cNvPr id="28" name="Shape 26"/>
          <p:cNvSpPr/>
          <p:nvPr/>
        </p:nvSpPr>
        <p:spPr>
          <a:xfrm>
            <a:off x="6583680" y="4425696"/>
            <a:ext cx="91440" cy="91440"/>
          </a:xfrm>
          <a:prstGeom prst="ellipse">
            <a:avLst/>
          </a:prstGeom>
          <a:solidFill>
            <a:srgbClr val="11676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3886200" y="46177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60" kern="0" dirty="0">
                <a:solidFill>
                  <a:srgbClr val="1167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PROCESS AS EXECUTED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410712" y="3246120"/>
            <a:ext cx="0" cy="786384"/>
          </a:xfrm>
          <a:prstGeom prst="line">
            <a:avLst/>
          </a:prstGeom>
          <a:noFill/>
          <a:ln w="19050">
            <a:solidFill>
              <a:srgbClr val="E8B33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369564" y="3991356"/>
            <a:ext cx="82296" cy="82296"/>
          </a:xfrm>
          <a:prstGeom prst="ellipse">
            <a:avLst/>
          </a:prstGeom>
          <a:solidFill>
            <a:srgbClr val="E8B33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3557016" y="3374136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i="1" dirty="0">
                <a:solidFill>
                  <a:srgbClr val="0E16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gap is where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i="1" dirty="0">
                <a:solidFill>
                  <a:srgbClr val="0E16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findings are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7360920" y="2880360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E162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Usage statistics. Data quality. Custom code. Close durations.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7360920" y="4251960"/>
            <a:ext cx="4023360" cy="0"/>
          </a:xfrm>
          <a:prstGeom prst="line">
            <a:avLst/>
          </a:prstGeom>
          <a:noFill/>
          <a:ln w="12700">
            <a:solidFill>
              <a:srgbClr val="C9D6DE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360920" y="4398264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Assessment phase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10378440" y="436168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167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2–6</a:t>
            </a:r>
            <a:endParaRPr lang="en-US" sz="1200" dirty="0"/>
          </a:p>
          <a:p>
            <a:pPr algn="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167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WEEKS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3F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Default/6c313414-fc11-5a80-9cf8-49dad1a51f26/scratchpad/img/tex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77240" y="530352"/>
            <a:ext cx="1063721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20" kern="0" dirty="0">
                <a:solidFill>
                  <a:srgbClr val="F5DCA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CLOUD MODEL</a:t>
            </a:r>
            <a:endParaRPr lang="en-US" sz="950" dirty="0"/>
          </a:p>
        </p:txBody>
      </p:sp>
      <p:sp>
        <p:nvSpPr>
          <p:cNvPr id="4" name="Text 1"/>
          <p:cNvSpPr txBox="1"/>
          <p:nvPr/>
        </p:nvSpPr>
        <p:spPr>
          <a:xfrm>
            <a:off x="777240" y="96012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64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A measured cloud decision.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777240" y="6272784"/>
            <a:ext cx="10637215" cy="0"/>
          </a:xfrm>
          <a:prstGeom prst="line">
            <a:avLst/>
          </a:prstGeom>
          <a:noFill/>
          <a:ln w="9525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638251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60" kern="0" dirty="0">
                <a:solidFill>
                  <a:srgbClr val="9DB0C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CPEAK CONSULTANCY</a:t>
            </a:r>
            <a:endParaRPr lang="en-US" sz="800" dirty="0"/>
          </a:p>
        </p:txBody>
      </p:sp>
      <p:sp>
        <p:nvSpPr>
          <p:cNvPr id="7" name="Text 4"/>
          <p:cNvSpPr txBox="1"/>
          <p:nvPr/>
        </p:nvSpPr>
        <p:spPr>
          <a:xfrm>
            <a:off x="6842455" y="638251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60" kern="0" dirty="0">
                <a:solidFill>
                  <a:srgbClr val="9DB0C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 / 14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615184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90" kern="0" dirty="0">
                <a:solidFill>
                  <a:srgbClr val="F5DCA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PUBLIC CLOUD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777240" y="2980944"/>
            <a:ext cx="4297680" cy="0"/>
          </a:xfrm>
          <a:prstGeom prst="line">
            <a:avLst/>
          </a:prstGeom>
          <a:noFill/>
          <a:ln w="12700">
            <a:solidFill>
              <a:srgbClr val="FFFFFF">
                <a:alpha val="3800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3127248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You adopt the standard.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3639312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D2DD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Speed and low operational overhead.</a:t>
            </a:r>
            <a:endParaRPr lang="en-US" sz="1150" dirty="0"/>
          </a:p>
          <a:p>
            <a:pPr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D2DD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core cannot be modified.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457200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DCA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3–5 months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7116775" y="2615184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90" kern="0" dirty="0">
                <a:solidFill>
                  <a:srgbClr val="F5DCA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PRIVATE CLOUD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7116775" y="2980944"/>
            <a:ext cx="4297680" cy="0"/>
          </a:xfrm>
          <a:prstGeom prst="line">
            <a:avLst/>
          </a:prstGeom>
          <a:noFill/>
          <a:ln w="12700">
            <a:solidFill>
              <a:srgbClr val="FFFFFF">
                <a:alpha val="38000"/>
              </a:srgbClr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116775" y="3127248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You keep your process logic.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7116775" y="3639312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D2DD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own developments kept.</a:t>
            </a:r>
            <a:endParaRPr lang="en-US" sz="1150" dirty="0"/>
          </a:p>
          <a:p>
            <a:pPr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D2DD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More responsibility, longer build.</a:t>
            </a:r>
            <a:endParaRPr lang="en-US" sz="1150" dirty="0"/>
          </a:p>
        </p:txBody>
      </p:sp>
      <p:sp>
        <p:nvSpPr>
          <p:cNvPr id="17" name="Text 14"/>
          <p:cNvSpPr txBox="1"/>
          <p:nvPr/>
        </p:nvSpPr>
        <p:spPr>
          <a:xfrm>
            <a:off x="7116775" y="457200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DCA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7–14 months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095848" y="2569464"/>
            <a:ext cx="0" cy="2743200"/>
          </a:xfrm>
          <a:prstGeom prst="line">
            <a:avLst/>
          </a:prstGeom>
          <a:noFill/>
          <a:ln w="12700">
            <a:solidFill>
              <a:srgbClr val="FFFFFF">
                <a:alpha val="38000"/>
              </a:srgbClr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77240" y="5504688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D2DD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Neither is the advanced version of the other. The decision stays yours.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530352"/>
            <a:ext cx="1063721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20" kern="0" dirty="0">
                <a:solidFill>
                  <a:srgbClr val="1167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DELIVERY MODEL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960120"/>
            <a:ext cx="640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176"/>
              </a:lnSpc>
              <a:buNone/>
            </a:pPr>
            <a:r>
              <a:rPr lang="en-US" sz="3600" b="1" dirty="0">
                <a:solidFill>
                  <a:srgbClr val="0E162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Four stages,</a:t>
            </a:r>
            <a:endParaRPr lang="en-US" sz="3600" dirty="0"/>
          </a:p>
          <a:p>
            <a:pPr indent="0" marL="0">
              <a:lnSpc>
                <a:spcPts val="4176"/>
              </a:lnSpc>
              <a:buNone/>
            </a:pPr>
            <a:r>
              <a:rPr lang="en-US" sz="3600" b="1" dirty="0">
                <a:solidFill>
                  <a:srgbClr val="0E162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four deliverables.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77240" y="6272784"/>
            <a:ext cx="10637215" cy="0"/>
          </a:xfrm>
          <a:prstGeom prst="line">
            <a:avLst/>
          </a:prstGeom>
          <a:noFill/>
          <a:ln w="9525">
            <a:solidFill>
              <a:srgbClr val="C9D6D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638251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60" kern="0" dirty="0">
                <a:solidFill>
                  <a:srgbClr val="4A5A6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CPEAK CONSULTANCY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6842455" y="638251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60" kern="0" dirty="0">
                <a:solidFill>
                  <a:srgbClr val="4A5A6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 / 14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77240" y="2971800"/>
            <a:ext cx="10637215" cy="0"/>
          </a:xfrm>
          <a:prstGeom prst="line">
            <a:avLst/>
          </a:prstGeom>
          <a:noFill/>
          <a:ln w="12700">
            <a:solidFill>
              <a:srgbClr val="C9D6D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2916936"/>
            <a:ext cx="109728" cy="109728"/>
          </a:xfrm>
          <a:prstGeom prst="ellipse">
            <a:avLst/>
          </a:prstGeom>
          <a:solidFill>
            <a:srgbClr val="11676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3191256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67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520440"/>
            <a:ext cx="2395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0E162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Assessment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4215384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Diagnostic report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77240" y="4727448"/>
            <a:ext cx="2121408" cy="0"/>
          </a:xfrm>
          <a:prstGeom prst="line">
            <a:avLst/>
          </a:prstGeom>
          <a:noFill/>
          <a:ln w="12700">
            <a:solidFill>
              <a:srgbClr val="C9D6D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4837176"/>
            <a:ext cx="2395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162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2–6 weeks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346704" y="2825496"/>
            <a:ext cx="0" cy="292608"/>
          </a:xfrm>
          <a:prstGeom prst="line">
            <a:avLst/>
          </a:prstGeom>
          <a:noFill/>
          <a:ln w="19050">
            <a:solidFill>
              <a:srgbClr val="E8B33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798064" y="25146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110" kern="0" dirty="0">
                <a:solidFill>
                  <a:srgbClr val="4A5A6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GATE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3520440" y="2916936"/>
            <a:ext cx="109728" cy="109728"/>
          </a:xfrm>
          <a:prstGeom prst="ellipse">
            <a:avLst/>
          </a:prstGeom>
          <a:solidFill>
            <a:srgbClr val="11676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520440" y="3191256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67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3520440" y="3520440"/>
            <a:ext cx="2395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0E162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Architecture</a:t>
            </a:r>
            <a:endParaRPr lang="en-US" sz="17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0E162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and roadmap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3520440" y="4215384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 architecture and roadmap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520440" y="4727448"/>
            <a:ext cx="2121408" cy="0"/>
          </a:xfrm>
          <a:prstGeom prst="line">
            <a:avLst/>
          </a:prstGeom>
          <a:noFill/>
          <a:ln w="12700">
            <a:solidFill>
              <a:srgbClr val="C9D6D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520440" y="4837176"/>
            <a:ext cx="2395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162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3–6 weeks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089904" y="2825496"/>
            <a:ext cx="0" cy="292608"/>
          </a:xfrm>
          <a:prstGeom prst="line">
            <a:avLst/>
          </a:prstGeom>
          <a:noFill/>
          <a:ln w="19050">
            <a:solidFill>
              <a:srgbClr val="E8B33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541264" y="25146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110" kern="0" dirty="0">
                <a:solidFill>
                  <a:srgbClr val="4A5A6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GATE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263640" y="2916936"/>
            <a:ext cx="109728" cy="109728"/>
          </a:xfrm>
          <a:prstGeom prst="ellipse">
            <a:avLst/>
          </a:prstGeom>
          <a:solidFill>
            <a:srgbClr val="11676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263640" y="3191256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67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263640" y="3520440"/>
            <a:ext cx="2395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0E162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Delivery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6263640" y="4215384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Working system and cutover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263640" y="4727448"/>
            <a:ext cx="2121408" cy="0"/>
          </a:xfrm>
          <a:prstGeom prst="line">
            <a:avLst/>
          </a:prstGeom>
          <a:noFill/>
          <a:ln w="12700">
            <a:solidFill>
              <a:srgbClr val="C9D6D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263640" y="4837176"/>
            <a:ext cx="2395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162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3–14 months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833104" y="2825496"/>
            <a:ext cx="0" cy="292608"/>
          </a:xfrm>
          <a:prstGeom prst="line">
            <a:avLst/>
          </a:prstGeom>
          <a:noFill/>
          <a:ln w="19050">
            <a:solidFill>
              <a:srgbClr val="E8B33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284464" y="25146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110" kern="0" dirty="0">
                <a:solidFill>
                  <a:srgbClr val="4A5A6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GATE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9006840" y="2916936"/>
            <a:ext cx="109728" cy="109728"/>
          </a:xfrm>
          <a:prstGeom prst="ellipse">
            <a:avLst/>
          </a:prstGeom>
          <a:solidFill>
            <a:srgbClr val="11676A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9006840" y="3191256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67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9006840" y="3520440"/>
            <a:ext cx="2395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0E162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Hypercare</a:t>
            </a:r>
            <a:endParaRPr lang="en-US" sz="1700" dirty="0"/>
          </a:p>
        </p:txBody>
      </p:sp>
      <p:sp>
        <p:nvSpPr>
          <p:cNvPr id="35" name="Text 33"/>
          <p:cNvSpPr txBox="1"/>
          <p:nvPr/>
        </p:nvSpPr>
        <p:spPr>
          <a:xfrm>
            <a:off x="9006840" y="4215384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First close and improvement list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9006840" y="4727448"/>
            <a:ext cx="2121408" cy="0"/>
          </a:xfrm>
          <a:prstGeom prst="line">
            <a:avLst/>
          </a:prstGeom>
          <a:noFill/>
          <a:ln w="12700">
            <a:solidFill>
              <a:srgbClr val="C9D6DE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9006840" y="4837176"/>
            <a:ext cx="2395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162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4–12 weeks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530352"/>
            <a:ext cx="1063721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20" kern="0" dirty="0">
                <a:solidFill>
                  <a:srgbClr val="1167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BUSINESS VALUE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96012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640"/>
              </a:lnSpc>
              <a:buNone/>
            </a:pPr>
            <a:r>
              <a:rPr lang="en-US" sz="4000" b="1" dirty="0">
                <a:solidFill>
                  <a:srgbClr val="0E162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From capability to outcome.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77240" y="6272784"/>
            <a:ext cx="10637215" cy="0"/>
          </a:xfrm>
          <a:prstGeom prst="line">
            <a:avLst/>
          </a:prstGeom>
          <a:noFill/>
          <a:ln w="9525">
            <a:solidFill>
              <a:srgbClr val="C9D6D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638251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60" kern="0" dirty="0">
                <a:solidFill>
                  <a:srgbClr val="4A5A6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CPEAK CONSULTANCY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6842455" y="638251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60" kern="0" dirty="0">
                <a:solidFill>
                  <a:srgbClr val="4A5A6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 / 14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788920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70" kern="0" dirty="0">
                <a:solidFill>
                  <a:srgbClr val="4A5A6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WHAT WE BRING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4480560" y="2788920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70" kern="0" dirty="0">
                <a:solidFill>
                  <a:srgbClr val="4A5A6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WHAT WE DO WITH IT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8183880" y="278892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70" kern="0" dirty="0">
                <a:solidFill>
                  <a:srgbClr val="1167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WHAT CHANGES FOR YOU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77240" y="3099816"/>
            <a:ext cx="10637215" cy="0"/>
          </a:xfrm>
          <a:prstGeom prst="line">
            <a:avLst/>
          </a:prstGeom>
          <a:noFill/>
          <a:ln w="12700">
            <a:solidFill>
              <a:srgbClr val="C9D6D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3337560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 and CO depth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4480560" y="3337560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Rebuild the close in parallel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3337560"/>
            <a:ext cx="3063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0E162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A predictable close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201668" y="3442716"/>
            <a:ext cx="82296" cy="82296"/>
          </a:xfrm>
          <a:prstGeom prst="ellipse">
            <a:avLst/>
          </a:prstGeom>
          <a:solidFill>
            <a:srgbClr val="C9D6DE"/>
          </a:solidFill>
          <a:ln/>
        </p:spPr>
      </p:sp>
      <p:sp>
        <p:nvSpPr>
          <p:cNvPr id="15" name="Shape 13"/>
          <p:cNvSpPr/>
          <p:nvPr/>
        </p:nvSpPr>
        <p:spPr>
          <a:xfrm>
            <a:off x="7904988" y="3442716"/>
            <a:ext cx="82296" cy="82296"/>
          </a:xfrm>
          <a:prstGeom prst="ellipse">
            <a:avLst/>
          </a:prstGeom>
          <a:solidFill>
            <a:srgbClr val="11676A"/>
          </a:solidFill>
          <a:ln/>
        </p:spPr>
      </p:sp>
      <p:sp>
        <p:nvSpPr>
          <p:cNvPr id="16" name="Shape 14"/>
          <p:cNvSpPr/>
          <p:nvPr/>
        </p:nvSpPr>
        <p:spPr>
          <a:xfrm>
            <a:off x="777240" y="3995928"/>
            <a:ext cx="10637215" cy="0"/>
          </a:xfrm>
          <a:prstGeom prst="line">
            <a:avLst/>
          </a:prstGeom>
          <a:noFill/>
          <a:ln w="12700">
            <a:solidFill>
              <a:srgbClr val="E2E9E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4123944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Neutral cloud read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4480560" y="4123944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 against standard scope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8183880" y="4123944"/>
            <a:ext cx="3063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0E162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A model decision that holds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201668" y="4229100"/>
            <a:ext cx="82296" cy="82296"/>
          </a:xfrm>
          <a:prstGeom prst="ellipse">
            <a:avLst/>
          </a:prstGeom>
          <a:solidFill>
            <a:srgbClr val="C9D6DE"/>
          </a:solidFill>
          <a:ln/>
        </p:spPr>
      </p:sp>
      <p:sp>
        <p:nvSpPr>
          <p:cNvPr id="21" name="Shape 19"/>
          <p:cNvSpPr/>
          <p:nvPr/>
        </p:nvSpPr>
        <p:spPr>
          <a:xfrm>
            <a:off x="7904988" y="4229100"/>
            <a:ext cx="82296" cy="82296"/>
          </a:xfrm>
          <a:prstGeom prst="ellipse">
            <a:avLst/>
          </a:prstGeom>
          <a:solidFill>
            <a:srgbClr val="11676A"/>
          </a:solidFill>
          <a:ln/>
        </p:spPr>
      </p:sp>
      <p:sp>
        <p:nvSpPr>
          <p:cNvPr id="22" name="Shape 20"/>
          <p:cNvSpPr/>
          <p:nvPr/>
        </p:nvSpPr>
        <p:spPr>
          <a:xfrm>
            <a:off x="777240" y="4782312"/>
            <a:ext cx="10637215" cy="0"/>
          </a:xfrm>
          <a:prstGeom prst="line">
            <a:avLst/>
          </a:prstGeom>
          <a:noFill/>
          <a:ln w="12700">
            <a:solidFill>
              <a:srgbClr val="E2E9E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77240" y="4910328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Applied AI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4480560" y="4910328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Thresholds on your own data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8183880" y="4910328"/>
            <a:ext cx="3063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0E162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Exceptions reviewed, not items matched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201668" y="5015484"/>
            <a:ext cx="82296" cy="82296"/>
          </a:xfrm>
          <a:prstGeom prst="ellipse">
            <a:avLst/>
          </a:prstGeom>
          <a:solidFill>
            <a:srgbClr val="C9D6DE"/>
          </a:solidFill>
          <a:ln/>
        </p:spPr>
      </p:sp>
      <p:sp>
        <p:nvSpPr>
          <p:cNvPr id="27" name="Shape 25"/>
          <p:cNvSpPr/>
          <p:nvPr/>
        </p:nvSpPr>
        <p:spPr>
          <a:xfrm>
            <a:off x="7904988" y="5015484"/>
            <a:ext cx="82296" cy="82296"/>
          </a:xfrm>
          <a:prstGeom prst="ellipse">
            <a:avLst/>
          </a:prstGeom>
          <a:solidFill>
            <a:srgbClr val="11676A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530352"/>
            <a:ext cx="1063721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20" kern="0" dirty="0">
                <a:solidFill>
                  <a:srgbClr val="1167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CAPABILITIES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896112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640"/>
              </a:lnSpc>
              <a:buNone/>
            </a:pPr>
            <a:r>
              <a:rPr lang="en-US" sz="4000" b="1" dirty="0">
                <a:solidFill>
                  <a:srgbClr val="0E162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Five areas of expertise.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77240" y="6272784"/>
            <a:ext cx="10637215" cy="0"/>
          </a:xfrm>
          <a:prstGeom prst="line">
            <a:avLst/>
          </a:prstGeom>
          <a:noFill/>
          <a:ln w="9525">
            <a:solidFill>
              <a:srgbClr val="C9D6D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638251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60" kern="0" dirty="0">
                <a:solidFill>
                  <a:srgbClr val="4A5A6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CPEAK CONSULTANCY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6842455" y="638251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60" kern="0" dirty="0">
                <a:solidFill>
                  <a:srgbClr val="4A5A6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09 / 14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77240" y="2048256"/>
            <a:ext cx="10637215" cy="0"/>
          </a:xfrm>
          <a:prstGeom prst="line">
            <a:avLst/>
          </a:prstGeom>
          <a:noFill/>
          <a:ln w="12700">
            <a:solidFill>
              <a:srgbClr val="C9D6D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2400300"/>
            <a:ext cx="100584" cy="100584"/>
          </a:xfrm>
          <a:prstGeom prst="ellipse">
            <a:avLst/>
          </a:prstGeom>
          <a:solidFill>
            <a:srgbClr val="11676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69848" y="2249424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62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SAP Finance Modules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440680" y="2249424"/>
            <a:ext cx="5897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 · CO · PA · PS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77240" y="2889504"/>
            <a:ext cx="10637215" cy="0"/>
          </a:xfrm>
          <a:prstGeom prst="line">
            <a:avLst/>
          </a:prstGeom>
          <a:noFill/>
          <a:ln w="12700">
            <a:solidFill>
              <a:srgbClr val="E2E9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3186684"/>
            <a:ext cx="100584" cy="100584"/>
          </a:xfrm>
          <a:prstGeom prst="ellipse">
            <a:avLst/>
          </a:prstGeom>
          <a:solidFill>
            <a:srgbClr val="11676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69848" y="3035808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62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S/4HANA Transformation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440680" y="3035808"/>
            <a:ext cx="5897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Brownfield · Greenfield · Selective transition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77240" y="3675888"/>
            <a:ext cx="10637215" cy="0"/>
          </a:xfrm>
          <a:prstGeom prst="line">
            <a:avLst/>
          </a:prstGeom>
          <a:noFill/>
          <a:ln w="12700">
            <a:solidFill>
              <a:srgbClr val="E2E9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3973068"/>
            <a:ext cx="100584" cy="100584"/>
          </a:xfrm>
          <a:prstGeom prst="ellipse">
            <a:avLst/>
          </a:prstGeom>
          <a:solidFill>
            <a:srgbClr val="11676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069848" y="3822192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62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SAP Public Cloud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440680" y="3822192"/>
            <a:ext cx="5897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Fit-to-standard assessment and delivery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77240" y="4462272"/>
            <a:ext cx="10637215" cy="0"/>
          </a:xfrm>
          <a:prstGeom prst="line">
            <a:avLst/>
          </a:prstGeom>
          <a:noFill/>
          <a:ln w="12700">
            <a:solidFill>
              <a:srgbClr val="E2E9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4759452"/>
            <a:ext cx="100584" cy="100584"/>
          </a:xfrm>
          <a:prstGeom prst="ellipse">
            <a:avLst/>
          </a:prstGeom>
          <a:solidFill>
            <a:srgbClr val="11676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069848" y="4608576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62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SAP Private Cloud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5440680" y="4608576"/>
            <a:ext cx="5897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RISE architecture and migration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77240" y="5248656"/>
            <a:ext cx="10637215" cy="0"/>
          </a:xfrm>
          <a:prstGeom prst="line">
            <a:avLst/>
          </a:prstGeom>
          <a:noFill/>
          <a:ln w="12700">
            <a:solidFill>
              <a:srgbClr val="E2E9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7240" y="5545836"/>
            <a:ext cx="100584" cy="100584"/>
          </a:xfrm>
          <a:prstGeom prst="ellipse">
            <a:avLst/>
          </a:prstGeom>
          <a:solidFill>
            <a:srgbClr val="11676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1069848" y="5394960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62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AI in Finance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5440680" y="5394960"/>
            <a:ext cx="5897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Matching · Anomaly detection · Prediction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777240" y="6035040"/>
            <a:ext cx="10637215" cy="0"/>
          </a:xfrm>
          <a:prstGeom prst="line">
            <a:avLst/>
          </a:prstGeom>
          <a:noFill/>
          <a:ln w="12700">
            <a:solidFill>
              <a:srgbClr val="C9D6DE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676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Default/6c313414-fc11-5a80-9cf8-49dad1a51f26/scratchpad/img/tex-am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77240" y="530352"/>
            <a:ext cx="1063721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20" kern="0" dirty="0">
                <a:solidFill>
                  <a:srgbClr val="F5DCA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APPLIED AI</a:t>
            </a:r>
            <a:endParaRPr lang="en-US" sz="950" dirty="0"/>
          </a:p>
        </p:txBody>
      </p:sp>
      <p:sp>
        <p:nvSpPr>
          <p:cNvPr id="4" name="Text 1"/>
          <p:cNvSpPr txBox="1"/>
          <p:nvPr/>
        </p:nvSpPr>
        <p:spPr>
          <a:xfrm>
            <a:off x="777240" y="960120"/>
            <a:ext cx="10424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176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AI in the system and in delivery.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777240" y="6272784"/>
            <a:ext cx="10637215" cy="0"/>
          </a:xfrm>
          <a:prstGeom prst="line">
            <a:avLst/>
          </a:prstGeom>
          <a:noFill/>
          <a:ln w="9525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638251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60" kern="0" dirty="0">
                <a:solidFill>
                  <a:srgbClr val="9DB0C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CPEAK CONSULTANCY</a:t>
            </a:r>
            <a:endParaRPr lang="en-US" sz="800" dirty="0"/>
          </a:p>
        </p:txBody>
      </p:sp>
      <p:sp>
        <p:nvSpPr>
          <p:cNvPr id="7" name="Text 4"/>
          <p:cNvSpPr txBox="1"/>
          <p:nvPr/>
        </p:nvSpPr>
        <p:spPr>
          <a:xfrm>
            <a:off x="6842455" y="638251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60" kern="0" dirty="0">
                <a:solidFill>
                  <a:srgbClr val="9DB0C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 / 14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395728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80" kern="0" dirty="0">
                <a:solidFill>
                  <a:srgbClr val="F5DCA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 YOUR FINANCE PROCESSES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70662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Embedded in SAP, not bought beside it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777240" y="3200400"/>
            <a:ext cx="4754880" cy="0"/>
          </a:xfrm>
          <a:prstGeom prst="line">
            <a:avLst/>
          </a:prstGeom>
          <a:noFill/>
          <a:ln w="12700">
            <a:solidFill>
              <a:srgbClr val="FFFFFF">
                <a:alpha val="42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77240" y="3465576"/>
            <a:ext cx="91440" cy="91440"/>
          </a:xfrm>
          <a:prstGeom prst="ellipse">
            <a:avLst/>
          </a:prstGeom>
          <a:solidFill>
            <a:srgbClr val="E8B33A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1051560" y="3401568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Intelligent matching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77240" y="4251960"/>
            <a:ext cx="91440" cy="91440"/>
          </a:xfrm>
          <a:prstGeom prst="ellipse">
            <a:avLst/>
          </a:prstGeom>
          <a:solidFill>
            <a:srgbClr val="E8B33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1051560" y="4187952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Anomaly detection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77240" y="5038344"/>
            <a:ext cx="91440" cy="91440"/>
          </a:xfrm>
          <a:prstGeom prst="ellipse">
            <a:avLst/>
          </a:prstGeom>
          <a:solidFill>
            <a:srgbClr val="E8B33A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051560" y="4974336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Predictive accounting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6659575" y="2395728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80" kern="0" dirty="0">
                <a:solidFill>
                  <a:srgbClr val="F5DCA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 HOW WE DELIVER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659575" y="270662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Applied to volume work, not judgement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6659575" y="3200400"/>
            <a:ext cx="4754880" cy="0"/>
          </a:xfrm>
          <a:prstGeom prst="line">
            <a:avLst/>
          </a:prstGeom>
          <a:noFill/>
          <a:ln w="12700">
            <a:solidFill>
              <a:srgbClr val="FFFFFF">
                <a:alpha val="4200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659575" y="3465576"/>
            <a:ext cx="91440" cy="91440"/>
          </a:xfrm>
          <a:prstGeom prst="ellipse">
            <a:avLst/>
          </a:prstGeom>
          <a:solidFill>
            <a:srgbClr val="E8B33A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6933895" y="3401568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 code analysis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659575" y="4251960"/>
            <a:ext cx="91440" cy="91440"/>
          </a:xfrm>
          <a:prstGeom prst="ellipse">
            <a:avLst/>
          </a:prstGeom>
          <a:solidFill>
            <a:srgbClr val="E8B33A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6933895" y="4187952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 scenario drafts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6659575" y="5038344"/>
            <a:ext cx="91440" cy="91440"/>
          </a:xfrm>
          <a:prstGeom prst="ellipse">
            <a:avLst/>
          </a:prstGeom>
          <a:solidFill>
            <a:srgbClr val="E8B33A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6933895" y="4974336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Migration reconciliation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777240" y="5449824"/>
            <a:ext cx="10637215" cy="0"/>
          </a:xfrm>
          <a:prstGeom prst="line">
            <a:avLst/>
          </a:prstGeom>
          <a:noFill/>
          <a:ln w="12700">
            <a:solidFill>
              <a:srgbClr val="FFFFFF">
                <a:alpha val="42000"/>
              </a:srgbClr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77240" y="5577840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DCA4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No decision that produces a posting is finalised without human review.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530352"/>
            <a:ext cx="1063721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20" kern="0" dirty="0">
                <a:solidFill>
                  <a:srgbClr val="1167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BOUNDARIES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96012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640"/>
              </a:lnSpc>
              <a:buNone/>
            </a:pPr>
            <a:r>
              <a:rPr lang="en-US" sz="4000" b="1" dirty="0">
                <a:solidFill>
                  <a:srgbClr val="0E162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Clear boundaries.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77240" y="6272784"/>
            <a:ext cx="10637215" cy="0"/>
          </a:xfrm>
          <a:prstGeom prst="line">
            <a:avLst/>
          </a:prstGeom>
          <a:noFill/>
          <a:ln w="9525">
            <a:solidFill>
              <a:srgbClr val="C9D6D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638251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60" kern="0" dirty="0">
                <a:solidFill>
                  <a:srgbClr val="4A5A6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CPEAK CONSULTANCY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6842455" y="638251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60" kern="0" dirty="0">
                <a:solidFill>
                  <a:srgbClr val="4A5A6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11 / 14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77240" y="2834640"/>
            <a:ext cx="0" cy="1051560"/>
          </a:xfrm>
          <a:prstGeom prst="line">
            <a:avLst/>
          </a:prstGeom>
          <a:noFill/>
          <a:ln w="25400">
            <a:solidFill>
              <a:srgbClr val="11676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33272" y="2834640"/>
            <a:ext cx="4480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11676A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It turns work away. It is why we finish what we take.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35040" y="2377440"/>
            <a:ext cx="5379415" cy="0"/>
          </a:xfrm>
          <a:prstGeom prst="line">
            <a:avLst/>
          </a:prstGeom>
          <a:noFill/>
          <a:ln w="12700">
            <a:solidFill>
              <a:srgbClr val="C9D6D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35040" y="252374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A6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601968" y="2505456"/>
            <a:ext cx="481248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Modules outside our specialism — logistics, production planning, HR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35040" y="3163824"/>
            <a:ext cx="5379415" cy="0"/>
          </a:xfrm>
          <a:prstGeom prst="line">
            <a:avLst/>
          </a:prstGeom>
          <a:noFill/>
          <a:ln w="12700">
            <a:solidFill>
              <a:srgbClr val="C9D6D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035040" y="331012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A6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601968" y="3291840"/>
            <a:ext cx="481248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Capacity without delivery responsibility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35040" y="3950208"/>
            <a:ext cx="5379415" cy="0"/>
          </a:xfrm>
          <a:prstGeom prst="line">
            <a:avLst/>
          </a:prstGeom>
          <a:noFill/>
          <a:ln w="12700">
            <a:solidFill>
              <a:srgbClr val="C9D6D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035040" y="409651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A6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6601968" y="4078224"/>
            <a:ext cx="481248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Commitments before an assessment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035040" y="4736592"/>
            <a:ext cx="5379415" cy="0"/>
          </a:xfrm>
          <a:prstGeom prst="line">
            <a:avLst/>
          </a:prstGeom>
          <a:noFill/>
          <a:ln w="12700">
            <a:solidFill>
              <a:srgbClr val="C9D6D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035040" y="488289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A6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601968" y="4864608"/>
            <a:ext cx="481248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Software development and infrastructure operations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035040" y="5522976"/>
            <a:ext cx="5379415" cy="0"/>
          </a:xfrm>
          <a:prstGeom prst="line">
            <a:avLst/>
          </a:prstGeom>
          <a:noFill/>
          <a:ln w="12700">
            <a:solidFill>
              <a:srgbClr val="C9D6DE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530352"/>
            <a:ext cx="1063721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20" kern="0" dirty="0">
                <a:solidFill>
                  <a:srgbClr val="1167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ENGAGEMENT MODELS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96012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640"/>
              </a:lnSpc>
              <a:buNone/>
            </a:pPr>
            <a:r>
              <a:rPr lang="en-US" sz="4000" b="1" dirty="0">
                <a:solidFill>
                  <a:srgbClr val="0E162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Three engagement models.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77240" y="6272784"/>
            <a:ext cx="10637215" cy="0"/>
          </a:xfrm>
          <a:prstGeom prst="line">
            <a:avLst/>
          </a:prstGeom>
          <a:noFill/>
          <a:ln w="9525">
            <a:solidFill>
              <a:srgbClr val="C9D6D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638251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60" kern="0" dirty="0">
                <a:solidFill>
                  <a:srgbClr val="4A5A6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CPEAK CONSULTANCY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6842455" y="638251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60" kern="0" dirty="0">
                <a:solidFill>
                  <a:srgbClr val="4A5A6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 / 14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77240" y="2606040"/>
            <a:ext cx="3310128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6DE"/>
            </a:solidFill>
            <a:prstDash val="solid"/>
          </a:ln>
          <a:effectLst>
            <a:outerShdw sx="100000" sy="100000" kx="0" ky="0" algn="bl" rotWithShape="0" blurRad="177800" dist="38100" dir="5400000">
              <a:srgbClr val="0E162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129284" y="3086100"/>
            <a:ext cx="137160" cy="137160"/>
          </a:xfrm>
          <a:prstGeom prst="ellipse">
            <a:avLst/>
          </a:prstGeom>
          <a:solidFill>
            <a:srgbClr val="11676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197864" y="339242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162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Assessment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197864" y="3922776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 for a decision.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197864" y="4617720"/>
            <a:ext cx="2468880" cy="0"/>
          </a:xfrm>
          <a:prstGeom prst="line">
            <a:avLst/>
          </a:prstGeom>
          <a:noFill/>
          <a:ln w="12700">
            <a:solidFill>
              <a:srgbClr val="E2E9E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97864" y="476402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167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2–6 weeks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471416" y="2606040"/>
            <a:ext cx="3310128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6DE"/>
            </a:solidFill>
            <a:prstDash val="solid"/>
          </a:ln>
          <a:effectLst>
            <a:outerShdw sx="100000" sy="100000" kx="0" ky="0" algn="bl" rotWithShape="0" blurRad="177800" dist="38100" dir="5400000">
              <a:srgbClr val="0E162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23460" y="3086100"/>
            <a:ext cx="137160" cy="137160"/>
          </a:xfrm>
          <a:prstGeom prst="ellipse">
            <a:avLst/>
          </a:prstGeom>
          <a:solidFill>
            <a:srgbClr val="11676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892040" y="339242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162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Delivery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4892040" y="3922776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End-to-end implementation.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92040" y="4617720"/>
            <a:ext cx="2468880" cy="0"/>
          </a:xfrm>
          <a:prstGeom prst="line">
            <a:avLst/>
          </a:prstGeom>
          <a:noFill/>
          <a:ln w="12700">
            <a:solidFill>
              <a:srgbClr val="E2E9E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92040" y="476402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167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3–14 months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165592" y="2606040"/>
            <a:ext cx="3310128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6DE"/>
            </a:solidFill>
            <a:prstDash val="solid"/>
          </a:ln>
          <a:effectLst>
            <a:outerShdw sx="100000" sy="100000" kx="0" ky="0" algn="bl" rotWithShape="0" blurRad="177800" dist="38100" dir="5400000">
              <a:srgbClr val="0E162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517636" y="3086100"/>
            <a:ext cx="137160" cy="137160"/>
          </a:xfrm>
          <a:prstGeom prst="ellipse">
            <a:avLst/>
          </a:prstGeom>
          <a:solidFill>
            <a:srgbClr val="11676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586216" y="339242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162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Expert support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8586216" y="3922776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Depth in one area.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586216" y="4617720"/>
            <a:ext cx="2468880" cy="0"/>
          </a:xfrm>
          <a:prstGeom prst="line">
            <a:avLst/>
          </a:prstGeom>
          <a:noFill/>
          <a:ln w="12700">
            <a:solidFill>
              <a:srgbClr val="E2E9E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586216" y="476402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167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Days to weeks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530352"/>
            <a:ext cx="1063721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20" kern="0" dirty="0">
                <a:solidFill>
                  <a:srgbClr val="1167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REFERENCES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9601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944"/>
              </a:lnSpc>
              <a:buNone/>
            </a:pPr>
            <a:r>
              <a:rPr lang="en-US" sz="3400" b="1" dirty="0">
                <a:solidFill>
                  <a:srgbClr val="0E162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Experience in</a:t>
            </a:r>
            <a:endParaRPr lang="en-US" sz="3400" dirty="0"/>
          </a:p>
          <a:p>
            <a:pPr indent="0" marL="0">
              <a:lnSpc>
                <a:spcPts val="3944"/>
              </a:lnSpc>
              <a:buNone/>
            </a:pPr>
            <a:r>
              <a:rPr lang="en-US" sz="3400" b="1" dirty="0">
                <a:solidFill>
                  <a:srgbClr val="0E162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complex landscapes.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77240" y="6272784"/>
            <a:ext cx="10637215" cy="0"/>
          </a:xfrm>
          <a:prstGeom prst="line">
            <a:avLst/>
          </a:prstGeom>
          <a:noFill/>
          <a:ln w="9525">
            <a:solidFill>
              <a:srgbClr val="C9D6D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638251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60" kern="0" dirty="0">
                <a:solidFill>
                  <a:srgbClr val="4A5A6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CPEAK CONSULTANCY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6842455" y="638251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60" kern="0" dirty="0">
                <a:solidFill>
                  <a:srgbClr val="4A5A6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13 / 14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7589520" y="1097280"/>
            <a:ext cx="3794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10+ years in SAP finance and cloud architecture.</a:t>
            </a:r>
            <a:endParaRPr lang="en-US" sz="1200" dirty="0"/>
          </a:p>
        </p:txBody>
      </p:sp>
      <p:pic>
        <p:nvPicPr>
          <p:cNvPr id="8" name="Image 0" descr="/tmp/claude-0/-home-user-Default/6c313414-fc11-5a80-9cf8-49dad1a51f26/scratchpad/img/ref-mercedes-benz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3042862"/>
            <a:ext cx="1463040" cy="369940"/>
          </a:xfrm>
          <a:prstGeom prst="rect">
            <a:avLst/>
          </a:prstGeom>
        </p:spPr>
      </p:pic>
      <p:pic>
        <p:nvPicPr>
          <p:cNvPr id="9" name="Image 1" descr="/tmp/claude-0/-home-user-Default/6c313414-fc11-5a80-9cf8-49dad1a51f26/scratchpad/img/ref-pw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4270" y="2944368"/>
            <a:ext cx="1167205" cy="566928"/>
          </a:xfrm>
          <a:prstGeom prst="rect">
            <a:avLst/>
          </a:prstGeom>
        </p:spPr>
      </p:pic>
      <p:pic>
        <p:nvPicPr>
          <p:cNvPr id="10" name="Image 2" descr="/tmp/claude-0/-home-user-Default/6c313414-fc11-5a80-9cf8-49dad1a51f26/scratchpad/img/ref-gs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0016" y="2996881"/>
            <a:ext cx="1463040" cy="461903"/>
          </a:xfrm>
          <a:prstGeom prst="rect">
            <a:avLst/>
          </a:prstGeom>
        </p:spPr>
      </p:pic>
      <p:pic>
        <p:nvPicPr>
          <p:cNvPr id="11" name="Image 3" descr="/tmp/claude-0/-home-user-Default/6c313414-fc11-5a80-9cf8-49dad1a51f26/scratchpad/img/ref-boehringer-ingelhei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3001977"/>
            <a:ext cx="1463040" cy="451710"/>
          </a:xfrm>
          <a:prstGeom prst="rect">
            <a:avLst/>
          </a:prstGeom>
        </p:spPr>
      </p:pic>
      <p:pic>
        <p:nvPicPr>
          <p:cNvPr id="12" name="Image 4" descr="/tmp/claude-0/-home-user-Default/6c313414-fc11-5a80-9cf8-49dad1a51f26/scratchpad/img/ref-bek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01559" y="2944368"/>
            <a:ext cx="994611" cy="566928"/>
          </a:xfrm>
          <a:prstGeom prst="rect">
            <a:avLst/>
          </a:prstGeom>
        </p:spPr>
      </p:pic>
      <p:pic>
        <p:nvPicPr>
          <p:cNvPr id="13" name="Image 5" descr="/tmp/claude-0/-home-user-Default/6c313414-fc11-5a80-9cf8-49dad1a51f26/scratchpad/img/ref-enerjisa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51008" y="3083334"/>
            <a:ext cx="1463040" cy="288996"/>
          </a:xfrm>
          <a:prstGeom prst="rect">
            <a:avLst/>
          </a:prstGeom>
        </p:spPr>
      </p:pic>
      <p:pic>
        <p:nvPicPr>
          <p:cNvPr id="14" name="Image 6" descr="/tmp/claude-0/-home-user-Default/6c313414-fc11-5a80-9cf8-49dad1a51f26/scratchpad/img/ref-wavin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2688" y="4257735"/>
            <a:ext cx="1463040" cy="354210"/>
          </a:xfrm>
          <a:prstGeom prst="rect">
            <a:avLst/>
          </a:prstGeom>
        </p:spPr>
      </p:pic>
      <p:pic>
        <p:nvPicPr>
          <p:cNvPr id="15" name="Image 7" descr="/tmp/claude-0/-home-user-Default/6c313414-fc11-5a80-9cf8-49dad1a51f26/scratchpad/img/ref-imerys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06928" y="4151376"/>
            <a:ext cx="881888" cy="566928"/>
          </a:xfrm>
          <a:prstGeom prst="rect">
            <a:avLst/>
          </a:prstGeom>
        </p:spPr>
      </p:pic>
      <p:pic>
        <p:nvPicPr>
          <p:cNvPr id="16" name="Image 8" descr="/tmp/claude-0/-home-user-Default/6c313414-fc11-5a80-9cf8-49dad1a51f26/scratchpad/img/ref-flint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00016" y="4290218"/>
            <a:ext cx="1463040" cy="289245"/>
          </a:xfrm>
          <a:prstGeom prst="rect">
            <a:avLst/>
          </a:prstGeom>
        </p:spPr>
      </p:pic>
      <p:pic>
        <p:nvPicPr>
          <p:cNvPr id="17" name="Image 9" descr="/tmp/claude-0/-home-user-Default/6c313414-fc11-5a80-9cf8-49dad1a51f26/scratchpad/img/ref-peri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68164" y="4151376"/>
            <a:ext cx="1094072" cy="566928"/>
          </a:xfrm>
          <a:prstGeom prst="rect">
            <a:avLst/>
          </a:prstGeom>
        </p:spPr>
      </p:pic>
      <p:pic>
        <p:nvPicPr>
          <p:cNvPr id="18" name="Image 10" descr="/tmp/claude-0/-home-user-Default/6c313414-fc11-5a80-9cf8-49dad1a51f26/scratchpad/img/ref-hidromek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67344" y="4339481"/>
            <a:ext cx="1463040" cy="190718"/>
          </a:xfrm>
          <a:prstGeom prst="rect">
            <a:avLst/>
          </a:prstGeom>
        </p:spPr>
      </p:pic>
      <p:pic>
        <p:nvPicPr>
          <p:cNvPr id="19" name="Image 11" descr="/tmp/claude-0/-home-user-Default/6c313414-fc11-5a80-9cf8-49dad1a51f26/scratchpad/img/ref-aydem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618919" y="4151376"/>
            <a:ext cx="927219" cy="566928"/>
          </a:xfrm>
          <a:prstGeom prst="rect">
            <a:avLst/>
          </a:prstGeom>
        </p:spPr>
      </p:pic>
      <p:pic>
        <p:nvPicPr>
          <p:cNvPr id="20" name="Image 12" descr="/tmp/claude-0/-home-user-Default/6c313414-fc11-5a80-9cf8-49dad1a51f26/scratchpad/img/ref-nuh-cimento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43484" y="5358384"/>
            <a:ext cx="1241448" cy="566928"/>
          </a:xfrm>
          <a:prstGeom prst="rect">
            <a:avLst/>
          </a:prstGeom>
        </p:spPr>
      </p:pic>
      <p:pic>
        <p:nvPicPr>
          <p:cNvPr id="21" name="Image 13" descr="/tmp/claude-0/-home-user-Default/6c313414-fc11-5a80-9cf8-49dad1a51f26/scratchpad/img/ref-belbim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816352" y="5475873"/>
            <a:ext cx="1463040" cy="331950"/>
          </a:xfrm>
          <a:prstGeom prst="rect">
            <a:avLst/>
          </a:prstGeom>
        </p:spPr>
      </p:pic>
      <p:pic>
        <p:nvPicPr>
          <p:cNvPr id="22" name="Image 14" descr="/tmp/claude-0/-home-user-Default/6c313414-fc11-5a80-9cf8-49dad1a51f26/scratchpad/img/ref-tcd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123423" y="5358384"/>
            <a:ext cx="616226" cy="566928"/>
          </a:xfrm>
          <a:prstGeom prst="rect">
            <a:avLst/>
          </a:prstGeom>
        </p:spPr>
      </p:pic>
      <p:pic>
        <p:nvPicPr>
          <p:cNvPr id="23" name="Image 15" descr="/tmp/claude-0/-home-user-Default/6c313414-fc11-5a80-9cf8-49dad1a51f26/scratchpad/img/ref-iett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085852" y="5358384"/>
            <a:ext cx="458696" cy="566928"/>
          </a:xfrm>
          <a:prstGeom prst="rect">
            <a:avLst/>
          </a:prstGeom>
        </p:spPr>
      </p:pic>
      <p:pic>
        <p:nvPicPr>
          <p:cNvPr id="24" name="Image 16" descr="/tmp/claude-0/-home-user-Default/6c313414-fc11-5a80-9cf8-49dad1a51f26/scratchpad/img/ref-fusion-consulting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553739" y="5358384"/>
            <a:ext cx="1290250" cy="566928"/>
          </a:xfrm>
          <a:prstGeom prst="rect">
            <a:avLst/>
          </a:prstGeom>
        </p:spPr>
      </p:pic>
      <p:sp>
        <p:nvSpPr>
          <p:cNvPr id="25" name="Shape 6"/>
          <p:cNvSpPr/>
          <p:nvPr/>
        </p:nvSpPr>
        <p:spPr>
          <a:xfrm>
            <a:off x="777240" y="3749040"/>
            <a:ext cx="10637215" cy="0"/>
          </a:xfrm>
          <a:prstGeom prst="line">
            <a:avLst/>
          </a:prstGeom>
          <a:noFill/>
          <a:ln w="12700">
            <a:solidFill>
              <a:srgbClr val="E2E9EE"/>
            </a:solidFill>
            <a:prstDash val="solid"/>
          </a:ln>
        </p:spPr>
      </p:sp>
      <p:sp>
        <p:nvSpPr>
          <p:cNvPr id="26" name="Shape 7"/>
          <p:cNvSpPr/>
          <p:nvPr/>
        </p:nvSpPr>
        <p:spPr>
          <a:xfrm>
            <a:off x="777240" y="4956048"/>
            <a:ext cx="10637215" cy="0"/>
          </a:xfrm>
          <a:prstGeom prst="line">
            <a:avLst/>
          </a:prstGeom>
          <a:noFill/>
          <a:ln w="12700">
            <a:solidFill>
              <a:srgbClr val="E2E9EE"/>
            </a:solidFill>
            <a:prstDash val="solid"/>
          </a:ln>
        </p:spPr>
      </p:sp>
      <p:sp>
        <p:nvSpPr>
          <p:cNvPr id="27" name="Shape 8"/>
          <p:cNvSpPr/>
          <p:nvPr/>
        </p:nvSpPr>
        <p:spPr>
          <a:xfrm>
            <a:off x="777240" y="6163056"/>
            <a:ext cx="10637215" cy="0"/>
          </a:xfrm>
          <a:prstGeom prst="line">
            <a:avLst/>
          </a:prstGeom>
          <a:noFill/>
          <a:ln w="12700">
            <a:solidFill>
              <a:srgbClr val="E2E9EE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Default/6c313414-fc11-5a80-9cf8-49dad1a51f26/scratchpad/img/tex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77240" y="530352"/>
            <a:ext cx="1063721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20" kern="0" dirty="0">
                <a:solidFill>
                  <a:srgbClr val="F5DCA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WHY CPEAK</a:t>
            </a:r>
            <a:endParaRPr lang="en-US" sz="950" dirty="0"/>
          </a:p>
        </p:txBody>
      </p:sp>
      <p:sp>
        <p:nvSpPr>
          <p:cNvPr id="4" name="Text 1"/>
          <p:cNvSpPr txBox="1"/>
          <p:nvPr/>
        </p:nvSpPr>
        <p:spPr>
          <a:xfrm>
            <a:off x="777240" y="932688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8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Senior consultants, start to finish.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777240" y="2670048"/>
            <a:ext cx="2395728" cy="0"/>
          </a:xfrm>
          <a:prstGeom prst="line">
            <a:avLst/>
          </a:prstGeom>
          <a:noFill/>
          <a:ln w="12700">
            <a:solidFill>
              <a:srgbClr val="FFFFFF">
                <a:alpha val="38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240" y="2624328"/>
            <a:ext cx="91440" cy="91440"/>
          </a:xfrm>
          <a:prstGeom prst="ellipse">
            <a:avLst/>
          </a:prstGeom>
          <a:solidFill>
            <a:srgbClr val="E8B33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2852928"/>
            <a:ext cx="2395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70" kern="0" dirty="0">
                <a:solidFill>
                  <a:srgbClr val="F5DCA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SENIOR ONLY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163824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D2DD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consultant you meet does the work.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392424" y="2670048"/>
            <a:ext cx="2395728" cy="0"/>
          </a:xfrm>
          <a:prstGeom prst="line">
            <a:avLst/>
          </a:prstGeom>
          <a:noFill/>
          <a:ln w="12700">
            <a:solidFill>
              <a:srgbClr val="FFFFFF">
                <a:alpha val="38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392424" y="2624328"/>
            <a:ext cx="91440" cy="91440"/>
          </a:xfrm>
          <a:prstGeom prst="ellipse">
            <a:avLst/>
          </a:prstGeom>
          <a:solidFill>
            <a:srgbClr val="E8B33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3392424" y="2852928"/>
            <a:ext cx="2395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70" kern="0" dirty="0">
                <a:solidFill>
                  <a:srgbClr val="F5DCA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NARROW BY DESIGN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3392424" y="3163824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D2DD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Finance and cloud architecture only.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007608" y="2670048"/>
            <a:ext cx="2395728" cy="0"/>
          </a:xfrm>
          <a:prstGeom prst="line">
            <a:avLst/>
          </a:prstGeom>
          <a:noFill/>
          <a:ln w="12700">
            <a:solidFill>
              <a:srgbClr val="FFFFFF">
                <a:alpha val="38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007608" y="2624328"/>
            <a:ext cx="91440" cy="91440"/>
          </a:xfrm>
          <a:prstGeom prst="ellipse">
            <a:avLst/>
          </a:prstGeom>
          <a:solidFill>
            <a:srgbClr val="E8B33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007608" y="2852928"/>
            <a:ext cx="2395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70" kern="0" dirty="0">
                <a:solidFill>
                  <a:srgbClr val="F5DCA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NEUTRAL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6007608" y="3163824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D2DD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compare, you decide.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622792" y="2670048"/>
            <a:ext cx="2395728" cy="0"/>
          </a:xfrm>
          <a:prstGeom prst="line">
            <a:avLst/>
          </a:prstGeom>
          <a:noFill/>
          <a:ln w="12700">
            <a:solidFill>
              <a:srgbClr val="FFFFFF">
                <a:alpha val="38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622792" y="2624328"/>
            <a:ext cx="91440" cy="91440"/>
          </a:xfrm>
          <a:prstGeom prst="ellipse">
            <a:avLst/>
          </a:prstGeom>
          <a:solidFill>
            <a:srgbClr val="E8B33A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8622792" y="2852928"/>
            <a:ext cx="2395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70" kern="0" dirty="0">
                <a:solidFill>
                  <a:srgbClr val="F5DCA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PHASED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8622792" y="3163824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D2DD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Scope grows in phases, not headcount.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777240" y="4425696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Tell us about your programme.</a:t>
            </a:r>
            <a:endParaRPr lang="en-US" sz="180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We respond within one business day.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6446520" y="440740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DCA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info@cpeakconsultancy.com</a:t>
            </a:r>
            <a:endParaRPr lang="en-US" sz="1150" dirty="0"/>
          </a:p>
        </p:txBody>
      </p:sp>
      <p:sp>
        <p:nvSpPr>
          <p:cNvPr id="23" name="Text 20"/>
          <p:cNvSpPr txBox="1"/>
          <p:nvPr/>
        </p:nvSpPr>
        <p:spPr>
          <a:xfrm>
            <a:off x="6446520" y="471830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+90 (507) 032 81 70</a:t>
            </a:r>
            <a:endParaRPr lang="en-US" sz="1150" dirty="0"/>
          </a:p>
        </p:txBody>
      </p:sp>
      <p:sp>
        <p:nvSpPr>
          <p:cNvPr id="24" name="Text 21"/>
          <p:cNvSpPr txBox="1"/>
          <p:nvPr/>
        </p:nvSpPr>
        <p:spPr>
          <a:xfrm>
            <a:off x="6446520" y="50292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2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linkedin.com/company/cpeak-consultancy</a:t>
            </a:r>
            <a:endParaRPr lang="en-US" sz="1150" dirty="0"/>
          </a:p>
        </p:txBody>
      </p:sp>
      <p:sp>
        <p:nvSpPr>
          <p:cNvPr id="25" name="Text 22"/>
          <p:cNvSpPr txBox="1"/>
          <p:nvPr/>
        </p:nvSpPr>
        <p:spPr>
          <a:xfrm>
            <a:off x="6446520" y="5431536"/>
            <a:ext cx="4937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DB0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Bostancı Mahallesi, Şemsettin Günaltay Caddesi No: 31/8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DB0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34744 Kadıköy, İstanbul   ·   Mon–Fri, 09:00–18:00 (GMT+3)</a:t>
            </a:r>
            <a:endParaRPr lang="en-US" sz="1050" dirty="0"/>
          </a:p>
        </p:txBody>
      </p:sp>
      <p:pic>
        <p:nvPicPr>
          <p:cNvPr id="26" name="Image 1" descr="/tmp/claude-0/-home-user-Default/6c313414-fc11-5a80-9cf8-49dad1a51f26/scratchpad/img/logo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440680"/>
            <a:ext cx="1691640" cy="582473"/>
          </a:xfrm>
          <a:prstGeom prst="rect">
            <a:avLst/>
          </a:prstGeom>
        </p:spPr>
      </p:pic>
      <p:sp>
        <p:nvSpPr>
          <p:cNvPr id="27" name="Shape 23"/>
          <p:cNvSpPr/>
          <p:nvPr/>
        </p:nvSpPr>
        <p:spPr>
          <a:xfrm>
            <a:off x="777240" y="6355080"/>
            <a:ext cx="10637215" cy="0"/>
          </a:xfrm>
          <a:prstGeom prst="line">
            <a:avLst/>
          </a:prstGeom>
          <a:noFill/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777240" y="6455664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DB0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SAP, S/4HANA and RISE with SAP are registered trademarks of SAP SE. CPeak Consultancy is an independent consultancy and is not affiliated with SAP SE.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CPeak Consultancy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CPeak Consultancy</dc:title>
  <dc:subject>PptxGenJS Presentation</dc:subject>
  <dc:creator>CPeak Consultancy</dc:creator>
  <cp:lastModifiedBy>CPeak Consultancy</cp:lastModifiedBy>
  <cp:revision>1</cp:revision>
  <dcterms:created xsi:type="dcterms:W3CDTF">2026-09-10T09:11:17Z</dcterms:created>
  <dcterms:modified xsi:type="dcterms:W3CDTF">2026-09-10T09:11:17Z</dcterms:modified>
</cp:coreProperties>
</file>
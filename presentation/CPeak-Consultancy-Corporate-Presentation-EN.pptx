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frame. CPeak is an independent SAP consultancy specialising end-to-end in finance modules, cloud architecture and applied AI. Founded 2021, Istanbul.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stays inside finance modules and cloud architecture rather than offering broad scope and subcontracting the difficult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decisions with the longest half-life are taken at the point of least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areas meet and each informs the others — this convergence is the positioning.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 before recommending.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Cloud-model neutrality: fit measured against standard scope, reasoning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stages, each closing on a defined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Capability → action →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capability areas, reframed as the question a client arrives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in the delivered system and in the delivery method, with an explicit human-review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declined-work slide demonstrates that the focus claimed earlier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Assessment, Delivery, Expert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logos as published by CPeak. No client names, figures or outcome claims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argument and contact. Response within one business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2240280" cy="77083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483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 ·  CLOUD ARCHITECTURE  ·  APPLIED AI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77440"/>
            <a:ext cx="8595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is the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least forgiving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part of an ERP.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44398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narrow on purpose: the decisions most expensive to reverse are the ones we do ourselves.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77240" y="5742432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ISTANBUL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361188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TÜRKİYE · EMEA · UNITED STATES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INDEPENDENT SINCE 2021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POSITIONING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Depth is a choice,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not a limitation.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broad scope, then source a specialist for each area — and the most consequential finance decision reaches the person who has seen it least often.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206240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4206240"/>
            <a:ext cx="4617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If we take an engagement, it means we are not subcontracting the difficult part of it.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23444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USUAL SHAPE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161848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7150608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8650224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4984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0756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wide scope · borrowed depth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51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6517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scope · owned depth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03580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035808"/>
            <a:ext cx="1207008" cy="278892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07808" y="331012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66660" y="326898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31866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chart of accounts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07808" y="381304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6660" y="377190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36992" y="36896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margin and project accounting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07808" y="431596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66660" y="427482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36992" y="41925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close, rebuilt as parallel steps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07808" y="481888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66660" y="477774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36992" y="46954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model, measured not advocated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07808" y="532180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66660" y="52806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936992" y="51983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calibrated on your own data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 WE ARE HIRED INTO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most expensive decisions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are taken first — when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least is known.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992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structure. Conversion route. Cloud model. Settled in the opening weeks — paid for over the next decade.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3950208"/>
            <a:ext cx="0" cy="1051560"/>
          </a:xfrm>
          <a:prstGeom prst="line">
            <a:avLst/>
          </a:prstGeom>
          <a:noFill/>
          <a:ln w="25400">
            <a:solidFill>
              <a:srgbClr val="E8B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3272" y="395020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Advice given without measurement is a guess — and the cost of that guess falls to you.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1417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COST OF REVERSING THE DECISION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784848" y="4809744"/>
            <a:ext cx="841248" cy="384048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7973568" y="4142232"/>
            <a:ext cx="841248" cy="10515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5411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9162288" y="3227832"/>
            <a:ext cx="841248" cy="19659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4283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10351008" y="2176272"/>
            <a:ext cx="841248" cy="3017520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13155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OPERATION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6647688" y="5193792"/>
            <a:ext cx="4681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6892" y="4448556"/>
            <a:ext cx="137160" cy="13716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2" name="Shape 19"/>
          <p:cNvSpPr/>
          <p:nvPr/>
        </p:nvSpPr>
        <p:spPr>
          <a:xfrm>
            <a:off x="7205472" y="4585716"/>
            <a:ext cx="0" cy="141732"/>
          </a:xfrm>
          <a:prstGeom prst="line">
            <a:avLst/>
          </a:prstGeom>
          <a:noFill/>
          <a:ln w="12700">
            <a:solidFill>
              <a:srgbClr val="E8B3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45352" y="42245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decided here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18653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for here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WE STAND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disciplines that only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make sense together.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5798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SAP problems are not module problems. They sit in the seams between these three.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FINANCE PROCESS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How the business actually closes its books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and PS — structure, costing, margin, the close.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582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888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ground the process has to run 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ECC, S/4HANA, Private and Public Cloud — compared, not advocated.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9486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792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AUTOMATION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can safely stop being done by hand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detection, predictive accounting — measured before enabling.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4390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" y="5084064"/>
            <a:ext cx="749808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5848" y="5084064"/>
            <a:ext cx="0" cy="274320"/>
          </a:xfrm>
          <a:prstGeom prst="line">
            <a:avLst/>
          </a:prstGeom>
          <a:noFill/>
          <a:ln w="15875">
            <a:solidFill>
              <a:srgbClr val="1167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decision that still looks right in year three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OPERATING PRINCIPLE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read the system before we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recommend anything.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PROCESS AS DESCRIBED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5852160" cy="0"/>
          </a:xfrm>
          <a:prstGeom prst="line">
            <a:avLst/>
          </a:prstGeom>
          <a:noFill/>
          <a:ln w="28575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743200"/>
            <a:ext cx="936346" cy="38404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713586" y="2962656"/>
            <a:ext cx="819302" cy="16459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2888" y="2962656"/>
            <a:ext cx="877824" cy="56692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410712" y="3310128"/>
            <a:ext cx="877824" cy="219456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88536" y="3310128"/>
            <a:ext cx="936346" cy="512064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224882" y="3621024"/>
            <a:ext cx="702259" cy="20116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7141" y="3621024"/>
            <a:ext cx="702259" cy="34747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67866" y="308152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87168" y="291693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Shape 22"/>
          <p:cNvSpPr/>
          <p:nvPr/>
        </p:nvSpPr>
        <p:spPr>
          <a:xfrm>
            <a:off x="3364992" y="348386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Shape 23"/>
          <p:cNvSpPr/>
          <p:nvPr/>
        </p:nvSpPr>
        <p:spPr>
          <a:xfrm>
            <a:off x="4242816" y="326440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Shape 24"/>
          <p:cNvSpPr/>
          <p:nvPr/>
        </p:nvSpPr>
        <p:spPr>
          <a:xfrm>
            <a:off x="5179162" y="3776472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7" name="Shape 25"/>
          <p:cNvSpPr/>
          <p:nvPr/>
        </p:nvSpPr>
        <p:spPr>
          <a:xfrm>
            <a:off x="5881421" y="357530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0" y="392277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86200" y="4114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PROCESS AS EXECUTED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410712" y="2743200"/>
            <a:ext cx="0" cy="786384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9564" y="3488436"/>
            <a:ext cx="82296" cy="82296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7016" y="28712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is where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findings are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2395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Usage statistics. Data quality. Custom code inventory. Close durations measured step by step.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40156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system does, not what the documentation says it does. The distance between the two is usually the problem itself.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4828032"/>
            <a:ext cx="402336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49743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Nearly every engagement opens with an assessment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378440" y="4937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</a:t>
            </a:r>
            <a:endParaRPr lang="en-US" sz="12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DECISION WE WILL NOT MAKE FOR YOU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do not sell a cloud model.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measure which one you are.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CLOUD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adopt the standard.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Speed and a predictable run cost — for a core that cannot be modified.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months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single-country finance deployment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116775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116775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16775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keep your process logic.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116775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own developments kept — for more responsibility and a longer build.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116775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7–14 months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6775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depending on scope and inherited landscape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95848" y="2569464"/>
            <a:ext cx="0" cy="274320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solidFill>
            <a:srgbClr val="003F8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TRADE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50468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Neither is the advanced version of the other. We put both costs and both constraints side by side; the decision stays yours, and the moment to take it is before signing.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THE WORK MOVES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Nothing starts until the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last thing has closed.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78992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each stage delivers is agreed before it begins. At every gate the decision to continue is taken again.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8892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report, read from system data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467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980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204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204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roadmap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architecture and phased roadmap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204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899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412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2636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2636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system, test records, cutover plan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8331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68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068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close run with your team, improvement backlog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0068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068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THE VALUE SHOWS 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Expertise is only worth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it changes.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BRING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DO WITH IT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6334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CHANGES FOR YOU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in FI and CO, not breadth beside it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Rebuild the close to run in parallel, not in sequence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20040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close that is predictable, not merely shorter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1668" y="3305556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7904988" y="3305556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330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neutral read on the cloud models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your processes to standard scope, before the contract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2611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model decision that survives the middle of the project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01668" y="4366260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4988" y="43662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19379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put where the hours actually are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thresholds on your own data, write the oversight rules down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532180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team moves from matching items to reviewing exceptions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01668" y="5426964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7" name="Shape 25"/>
          <p:cNvSpPr/>
          <p:nvPr/>
        </p:nvSpPr>
        <p:spPr>
          <a:xfrm>
            <a:off x="7904988" y="5426964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CAPABILITIES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Organised around the question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are actually asking.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139696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73452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322576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Can we still trust our own numbers?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23682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MODULES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26151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and PS rebuilt as one process architecture, not five parallel ones.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29626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41548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9848" y="3090672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Which road do we take to S/4HANA?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3136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S/4HANA TRANSFORMATION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897880" y="338328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or selective transition — decided on evidence.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73075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09644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9848" y="3858768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 standard actually enough for us?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90448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PUBLIC CLOUD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4151376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of your process fits standard scope, established before you commit.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4988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777740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69848" y="462686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Can we go to cloud and keep our process?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6725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PRIVATE CLOUD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491947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Architecture, migration and the boundaries a RISE contract leaves open.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266944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545836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9848" y="5394960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Which of this AI is real for us?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5897880" y="544068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IN FINANCE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56875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capabilities you have the data and the discipline to support — sequenced.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77240" y="603504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67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APPLIED AI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use AI twice: inside your</a:t>
            </a:r>
            <a:endParaRPr lang="en-US" sz="3300" dirty="0"/>
          </a:p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processes, and inside our own.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Embedded in SAP, not bought beside it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— bank and open items cleared automatically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— unusual postings flagged before the close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51560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— the effect of not-yet-final transactions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77240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51560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— natural-language querying and navigation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659575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HOW WE DELIVER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659575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Applied to volume work, not judgement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659575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9575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3895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59575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33895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59575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933895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Preparation of migration reconciliation checks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659575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933895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versions of configuration documentation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77240" y="5687568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581558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 decision that produces a financial posting is finalised without human review — that one is not negotiable.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BOUNDARIES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specialism is defined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by what it excludes.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0662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Saying what we do not do matters as much as saying what we do.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3602736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It costs us work. It is also why the engagements we do take are ones we can finish.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1874520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20208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002536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responsibility for modules outside our specialism — logistics, production planning, HR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2898648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3044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026664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augmentation without architectural or delivery responsibility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922776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4069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4050792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Fixed-price commitments made before an assessment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4946904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50932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5074920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development or infrastructure operations as a service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5971032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WAYS IN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shapes. Which one fits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 clear in one conversation.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3310128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29284" y="280263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97864" y="30723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354787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decision has to be taken and the evidence is missing: conversion route, cloud model, a health check.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97864" y="4700016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97864" y="480974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end it in a position to decide.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97864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71416" y="2395728"/>
            <a:ext cx="3310128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23460" y="280263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30723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54787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taken and it needs building: a transformation, an implementation, a redesign.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4700016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480974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Phased plan, weekly reporting, cutover and hypercare included.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65592" y="2395728"/>
            <a:ext cx="3310128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17636" y="280263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86216" y="30723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Expert support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586216" y="354787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else runs the programme and depth is needed in one place: a review, a second opinion, one workstream.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86216" y="4700016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86216" y="480974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scope, agreed output, not extended past its usefulness.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586216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Days to weeks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0585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every need calls for a full programme — and we say so when it does not.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landscapes the</a:t>
            </a:r>
            <a:endParaRPr lang="en-US" sz="3300" dirty="0"/>
          </a:p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comes from.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060704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than ten years across SAP finance modules and cloud architecture.</a:t>
            </a:r>
            <a:endParaRPr lang="en-US" sz="1200" dirty="0"/>
          </a:p>
        </p:txBody>
      </p:sp>
      <p:pic>
        <p:nvPicPr>
          <p:cNvPr id="8" name="Image 0" descr="/tmp/claude-0/-home-user-Default/6c313414-fc11-5a80-9cf8-49dad1a51f26/scratchpad/img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042862"/>
            <a:ext cx="1463040" cy="369940"/>
          </a:xfrm>
          <a:prstGeom prst="rect">
            <a:avLst/>
          </a:prstGeom>
        </p:spPr>
      </p:pic>
      <p:pic>
        <p:nvPicPr>
          <p:cNvPr id="9" name="Image 1" descr="/tmp/claude-0/-home-user-Default/6c313414-fc11-5a80-9cf8-49dad1a51f26/scratchpad/img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270" y="2944368"/>
            <a:ext cx="1167205" cy="566928"/>
          </a:xfrm>
          <a:prstGeom prst="rect">
            <a:avLst/>
          </a:prstGeom>
        </p:spPr>
      </p:pic>
      <p:pic>
        <p:nvPicPr>
          <p:cNvPr id="10" name="Image 2" descr="/tmp/claude-0/-home-user-Default/6c313414-fc11-5a80-9cf8-49dad1a51f26/scratchpad/img/ref-g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996881"/>
            <a:ext cx="1463040" cy="461903"/>
          </a:xfrm>
          <a:prstGeom prst="rect">
            <a:avLst/>
          </a:prstGeom>
        </p:spPr>
      </p:pic>
      <p:pic>
        <p:nvPicPr>
          <p:cNvPr id="11" name="Image 3" descr="/tmp/claude-0/-home-user-Default/6c313414-fc11-5a80-9cf8-49dad1a51f26/scratchpad/img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001977"/>
            <a:ext cx="1463040" cy="451710"/>
          </a:xfrm>
          <a:prstGeom prst="rect">
            <a:avLst/>
          </a:prstGeom>
        </p:spPr>
      </p:pic>
      <p:pic>
        <p:nvPicPr>
          <p:cNvPr id="12" name="Image 4" descr="/tmp/claude-0/-home-user-Default/6c313414-fc11-5a80-9cf8-49dad1a51f26/scratchpad/img/ref-bek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559" y="2944368"/>
            <a:ext cx="994611" cy="566928"/>
          </a:xfrm>
          <a:prstGeom prst="rect">
            <a:avLst/>
          </a:prstGeom>
        </p:spPr>
      </p:pic>
      <p:pic>
        <p:nvPicPr>
          <p:cNvPr id="13" name="Image 5" descr="/tmp/claude-0/-home-user-Default/6c313414-fc11-5a80-9cf8-49dad1a51f26/scratchpad/img/ref-enerjis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08" y="3083334"/>
            <a:ext cx="1463040" cy="288996"/>
          </a:xfrm>
          <a:prstGeom prst="rect">
            <a:avLst/>
          </a:prstGeom>
        </p:spPr>
      </p:pic>
      <p:pic>
        <p:nvPicPr>
          <p:cNvPr id="14" name="Image 6" descr="/tmp/claude-0/-home-user-Default/6c313414-fc11-5a80-9cf8-49dad1a51f26/scratchpad/img/ref-wav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4257735"/>
            <a:ext cx="1463040" cy="354210"/>
          </a:xfrm>
          <a:prstGeom prst="rect">
            <a:avLst/>
          </a:prstGeom>
        </p:spPr>
      </p:pic>
      <p:pic>
        <p:nvPicPr>
          <p:cNvPr id="15" name="Image 7" descr="/tmp/claude-0/-home-user-Default/6c313414-fc11-5a80-9cf8-49dad1a51f26/scratchpad/img/ref-imery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6928" y="4151376"/>
            <a:ext cx="881888" cy="566928"/>
          </a:xfrm>
          <a:prstGeom prst="rect">
            <a:avLst/>
          </a:prstGeom>
        </p:spPr>
      </p:pic>
      <p:pic>
        <p:nvPicPr>
          <p:cNvPr id="16" name="Image 8" descr="/tmp/claude-0/-home-user-Default/6c313414-fc11-5a80-9cf8-49dad1a51f26/scratchpad/img/ref-fli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0016" y="4290218"/>
            <a:ext cx="1463040" cy="289245"/>
          </a:xfrm>
          <a:prstGeom prst="rect">
            <a:avLst/>
          </a:prstGeom>
        </p:spPr>
      </p:pic>
      <p:pic>
        <p:nvPicPr>
          <p:cNvPr id="17" name="Image 9" descr="/tmp/claude-0/-home-user-Default/6c313414-fc11-5a80-9cf8-49dad1a51f26/scratchpad/img/ref-per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8164" y="4151376"/>
            <a:ext cx="1094072" cy="566928"/>
          </a:xfrm>
          <a:prstGeom prst="rect">
            <a:avLst/>
          </a:prstGeom>
        </p:spPr>
      </p:pic>
      <p:pic>
        <p:nvPicPr>
          <p:cNvPr id="18" name="Image 10" descr="/tmp/claude-0/-home-user-Default/6c313414-fc11-5a80-9cf8-49dad1a51f26/scratchpad/img/ref-hidrome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7344" y="4339481"/>
            <a:ext cx="1463040" cy="190718"/>
          </a:xfrm>
          <a:prstGeom prst="rect">
            <a:avLst/>
          </a:prstGeom>
        </p:spPr>
      </p:pic>
      <p:pic>
        <p:nvPicPr>
          <p:cNvPr id="19" name="Image 11" descr="/tmp/claude-0/-home-user-Default/6c313414-fc11-5a80-9cf8-49dad1a51f26/scratchpad/img/ref-ayde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8919" y="4151376"/>
            <a:ext cx="927219" cy="566928"/>
          </a:xfrm>
          <a:prstGeom prst="rect">
            <a:avLst/>
          </a:prstGeom>
        </p:spPr>
      </p:pic>
      <p:pic>
        <p:nvPicPr>
          <p:cNvPr id="20" name="Image 12" descr="/tmp/claude-0/-home-user-Default/6c313414-fc11-5a80-9cf8-49dad1a51f26/scratchpad/img/ref-nuh-cimen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484" y="5358384"/>
            <a:ext cx="1241448" cy="566928"/>
          </a:xfrm>
          <a:prstGeom prst="rect">
            <a:avLst/>
          </a:prstGeom>
        </p:spPr>
      </p:pic>
      <p:pic>
        <p:nvPicPr>
          <p:cNvPr id="21" name="Image 13" descr="/tmp/claude-0/-home-user-Default/6c313414-fc11-5a80-9cf8-49dad1a51f26/scratchpad/img/ref-belbi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6352" y="5475873"/>
            <a:ext cx="1463040" cy="331950"/>
          </a:xfrm>
          <a:prstGeom prst="rect">
            <a:avLst/>
          </a:prstGeom>
        </p:spPr>
      </p:pic>
      <p:pic>
        <p:nvPicPr>
          <p:cNvPr id="22" name="Image 14" descr="/tmp/claude-0/-home-user-Default/6c313414-fc11-5a80-9cf8-49dad1a51f26/scratchpad/img/ref-tcd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23423" y="5358384"/>
            <a:ext cx="616226" cy="566928"/>
          </a:xfrm>
          <a:prstGeom prst="rect">
            <a:avLst/>
          </a:prstGeom>
        </p:spPr>
      </p:pic>
      <p:pic>
        <p:nvPicPr>
          <p:cNvPr id="23" name="Image 15" descr="/tmp/claude-0/-home-user-Default/6c313414-fc11-5a80-9cf8-49dad1a51f26/scratchpad/img/ref-iet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5852" y="5358384"/>
            <a:ext cx="458696" cy="566928"/>
          </a:xfrm>
          <a:prstGeom prst="rect">
            <a:avLst/>
          </a:prstGeom>
        </p:spPr>
      </p:pic>
      <p:pic>
        <p:nvPicPr>
          <p:cNvPr id="24" name="Image 16" descr="/tmp/claude-0/-home-user-Default/6c313414-fc11-5a80-9cf8-49dad1a51f26/scratchpad/img/ref-fusion-consultin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3739" y="5358384"/>
            <a:ext cx="1290250" cy="566928"/>
          </a:xfrm>
          <a:prstGeom prst="rect">
            <a:avLst/>
          </a:prstGeom>
        </p:spPr>
      </p:pic>
      <p:sp>
        <p:nvSpPr>
          <p:cNvPr id="25" name="Shape 6"/>
          <p:cNvSpPr/>
          <p:nvPr/>
        </p:nvSpPr>
        <p:spPr>
          <a:xfrm>
            <a:off x="777240" y="3749040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Shape 7"/>
          <p:cNvSpPr/>
          <p:nvPr/>
        </p:nvSpPr>
        <p:spPr>
          <a:xfrm>
            <a:off x="777240" y="49560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7" name="Shape 8"/>
          <p:cNvSpPr/>
          <p:nvPr/>
        </p:nvSpPr>
        <p:spPr>
          <a:xfrm>
            <a:off x="777240" y="61630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CPEAK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people named in the proposal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are the people who turn up.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SENIOR ONLY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small, senior team. No one’s learning curve on your budget.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2424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92424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92424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NARROW BY DESIGN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92424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and cloud architecture only. The difficult part is not subcontracted.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07608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07608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07608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NEUTRAL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07608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compare, you decide, the reasoning stays on paper.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22792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22792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22792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PHASED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622792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 grows in phases, not in headcount.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42569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programme.</a:t>
            </a:r>
            <a:endParaRPr lang="en-US" sz="18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respond within one business day.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info@cpeakconsultancy.com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+90 (507) 032 81 70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linkedin.com/company/cpeak-consultancy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54315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Mahallesi, Şemsettin Günaltay Caddesi No: 31/8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34744 Kadıköy, İstanbul   ·   Mon–Fri, 09:00–18:00 (GMT+3)</a:t>
            </a:r>
            <a:endParaRPr lang="en-US" sz="1050" dirty="0"/>
          </a:p>
        </p:txBody>
      </p:sp>
      <p:pic>
        <p:nvPicPr>
          <p:cNvPr id="26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40680"/>
            <a:ext cx="1691640" cy="582473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77240" y="6355080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" y="6455664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SAP, S/4HANA and RISE with SAP are registered trademarks of SAP SE. CPeak Consultancy is an independent consultancy and is not affiliated with SAP SE.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</dc:title>
  <dc:subject>PptxGenJS Presentation</dc:subject>
  <dc:creator>CPeak Consultancy</dc:creator>
  <cp:lastModifiedBy>CPeak Consultancy</cp:lastModifiedBy>
  <cp:revision>1</cp:revision>
  <dcterms:created xsi:type="dcterms:W3CDTF">2026-09-05T17:29:09Z</dcterms:created>
  <dcterms:modified xsi:type="dcterms:W3CDTF">2026-09-05T17:29:09Z</dcterms:modified>
</cp:coreProperties>
</file>
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CPeak is an independent SAP consultancy specialising end to end in finance modules, cloud architecture and applied AI. Founded 2021, Istanbul.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CPeak stays inside finance modules and cloud architecture rather than selling broad scope and subcontracting the difficult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decisions with the longest half-life are taken at the point of least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areas meet and each informs the others — the convergence is the positioning.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 before recommending.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Cloud-model neutrality: fit measured against standard scope, reasoning documented.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stages, each closing on a defined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Capability → action →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capability areas.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in the delivered system and in the delivery method, with an explicit human-review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declined-work slide demonstrates that the focus claimed earlier is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Assessment, Delivery, Expert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logos as published by CPeak. No client names or outcome claims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argument and contact. Response within one business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Default/6c313414-fc11-5a80-9cf8-49dad1a51f26/scratchpad/img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2240280" cy="77083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084832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FINANCE  ·  CLOUD ARCHITECTURE  ·  APPLIED AI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542032"/>
            <a:ext cx="8595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Finance-led</a:t>
            </a:r>
            <a:endParaRPr lang="en-US" sz="4400" dirty="0"/>
          </a:p>
          <a:p>
            <a:pPr indent="0" marL="0">
              <a:lnSpc>
                <a:spcPts val="51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transformation.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443984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Independent, and deliberately narrow: the hardest decisions are the ones we do ourselves.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77240" y="5742432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ISTANBUL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361188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TÜRKİYE · EMEA · UNITED STATES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59070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INDEPENDENT SINCE 2021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POSITIONING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Depth over breadth.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Broad scope sold, a specialist sourced per area — and the hardest decision lands with whoever has seen it least.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4206240"/>
            <a:ext cx="0" cy="1051560"/>
          </a:xfrm>
          <a:prstGeom prst="line">
            <a:avLst/>
          </a:prstGeom>
          <a:noFill/>
          <a:ln w="25400">
            <a:solidFill>
              <a:srgbClr val="1167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4206240"/>
            <a:ext cx="4617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If we take an engagement, we are not subcontracting the difficult part of it.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234440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USUAL SHAPE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0" y="1618488"/>
            <a:ext cx="443484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3" name="Shape 11"/>
          <p:cNvSpPr/>
          <p:nvPr/>
        </p:nvSpPr>
        <p:spPr>
          <a:xfrm>
            <a:off x="7150608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4" name="Shape 12"/>
          <p:cNvSpPr/>
          <p:nvPr/>
        </p:nvSpPr>
        <p:spPr>
          <a:xfrm>
            <a:off x="7900416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5" name="Shape 13"/>
          <p:cNvSpPr/>
          <p:nvPr/>
        </p:nvSpPr>
        <p:spPr>
          <a:xfrm>
            <a:off x="8650224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6" name="Shape 14"/>
          <p:cNvSpPr/>
          <p:nvPr/>
        </p:nvSpPr>
        <p:spPr>
          <a:xfrm>
            <a:off x="9400032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149840" y="1618488"/>
            <a:ext cx="457200" cy="31089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0" y="2075688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wide scope · borrowed depth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6517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OURS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265176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narrow scope · owned depth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0" y="3035808"/>
            <a:ext cx="443484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3035808"/>
            <a:ext cx="1207008" cy="2788920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3" name="Shape 21"/>
          <p:cNvSpPr/>
          <p:nvPr/>
        </p:nvSpPr>
        <p:spPr>
          <a:xfrm>
            <a:off x="7607808" y="331012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66660" y="326898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36992" y="31866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structure and chart of accounts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07808" y="381304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66660" y="377190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936992" y="36896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Controlling, margin and project accounting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07808" y="431596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66660" y="427482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936992" y="41925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close, rebuilt as parallel steps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607808" y="4818888"/>
            <a:ext cx="201168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66660" y="477774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936992" y="46954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model, measured not advocated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CHALLENGE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Early decisions,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lasting consequences.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99923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structure. Conversion route. Cloud model. Decided in the first weeks, lived with for a decade.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77240" y="3950208"/>
            <a:ext cx="0" cy="1051560"/>
          </a:xfrm>
          <a:prstGeom prst="line">
            <a:avLst/>
          </a:prstGeom>
          <a:noFill/>
          <a:ln w="25400">
            <a:solidFill>
              <a:srgbClr val="E8B3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33272" y="3950208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5DCA4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Advice given without measurement is a guess — and you are the one who lives with it.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784848" y="1417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HARD THE DECISION IS TO REVERSE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784848" y="4809744"/>
            <a:ext cx="841248" cy="384048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6539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DESIGN</a:t>
            </a:r>
            <a:endParaRPr lang="en-US" sz="760" dirty="0"/>
          </a:p>
        </p:txBody>
      </p:sp>
      <p:sp>
        <p:nvSpPr>
          <p:cNvPr id="14" name="Shape 11"/>
          <p:cNvSpPr/>
          <p:nvPr/>
        </p:nvSpPr>
        <p:spPr>
          <a:xfrm>
            <a:off x="7973568" y="4142232"/>
            <a:ext cx="841248" cy="1051560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5411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BUILD</a:t>
            </a:r>
            <a:endParaRPr lang="en-US" sz="760" dirty="0"/>
          </a:p>
        </p:txBody>
      </p:sp>
      <p:sp>
        <p:nvSpPr>
          <p:cNvPr id="16" name="Shape 13"/>
          <p:cNvSpPr/>
          <p:nvPr/>
        </p:nvSpPr>
        <p:spPr>
          <a:xfrm>
            <a:off x="9162288" y="3227832"/>
            <a:ext cx="841248" cy="1965960"/>
          </a:xfrm>
          <a:prstGeom prst="rect">
            <a:avLst/>
          </a:prstGeom>
          <a:solidFill>
            <a:srgbClr val="11676A">
              <a:alpha val="92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94283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</a:t>
            </a:r>
            <a:endParaRPr lang="en-US" sz="760" dirty="0"/>
          </a:p>
        </p:txBody>
      </p:sp>
      <p:sp>
        <p:nvSpPr>
          <p:cNvPr id="18" name="Shape 15"/>
          <p:cNvSpPr/>
          <p:nvPr/>
        </p:nvSpPr>
        <p:spPr>
          <a:xfrm>
            <a:off x="10351008" y="2176272"/>
            <a:ext cx="841248" cy="3017520"/>
          </a:xfrm>
          <a:prstGeom prst="rect">
            <a:avLst/>
          </a:prstGeom>
          <a:solidFill>
            <a:srgbClr val="E8B33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131552" y="53218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spc="8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OPERATION</a:t>
            </a:r>
            <a:endParaRPr lang="en-US" sz="760" dirty="0"/>
          </a:p>
        </p:txBody>
      </p:sp>
      <p:sp>
        <p:nvSpPr>
          <p:cNvPr id="20" name="Shape 17"/>
          <p:cNvSpPr/>
          <p:nvPr/>
        </p:nvSpPr>
        <p:spPr>
          <a:xfrm>
            <a:off x="6647688" y="5193792"/>
            <a:ext cx="4681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36892" y="4448556"/>
            <a:ext cx="137160" cy="13716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2" name="Shape 19"/>
          <p:cNvSpPr/>
          <p:nvPr/>
        </p:nvSpPr>
        <p:spPr>
          <a:xfrm>
            <a:off x="7205472" y="4585716"/>
            <a:ext cx="0" cy="141732"/>
          </a:xfrm>
          <a:prstGeom prst="line">
            <a:avLst/>
          </a:prstGeom>
          <a:noFill/>
          <a:ln w="12700">
            <a:solidFill>
              <a:srgbClr val="E8B33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45352" y="422452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DC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decided here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784080" y="186537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DC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lived with here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OUR PRACTICE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Three disciplines, one practice.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57984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SAP problems live in the seams between these three.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984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FINANCE PROCESS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How the books actually close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CO, PA and PS — structure, costing, margin, the close.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582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1888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PLATFORM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ground it has to run 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ECC, S/4HANA, Private and Public Cloud — compared, not advocated.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9486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2670048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67928" y="26243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AUTOMATION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30540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What can stop being manual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767328"/>
            <a:ext cx="2990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Matching, anomaly detection, predictive accounting — measured before enabling.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343900" y="4809744"/>
            <a:ext cx="0" cy="27432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5820" y="5084064"/>
            <a:ext cx="749808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95848" y="5084064"/>
            <a:ext cx="0" cy="274320"/>
          </a:xfrm>
          <a:prstGeom prst="line">
            <a:avLst/>
          </a:prstGeom>
          <a:noFill/>
          <a:ln w="15875">
            <a:solidFill>
              <a:srgbClr val="11676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15488" y="5358384"/>
            <a:ext cx="5760720" cy="566928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15488" y="5358384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 decision that still looks right in year three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METHOD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Evidence before advice.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PROCESS AS DESCRIBED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77240" y="2743200"/>
            <a:ext cx="5852160" cy="0"/>
          </a:xfrm>
          <a:prstGeom prst="line">
            <a:avLst/>
          </a:prstGeom>
          <a:noFill/>
          <a:ln w="28575">
            <a:solidFill>
              <a:srgbClr val="C9D6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2" name="Shape 10"/>
          <p:cNvSpPr/>
          <p:nvPr/>
        </p:nvSpPr>
        <p:spPr>
          <a:xfrm>
            <a:off x="512064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0" y="2697480"/>
            <a:ext cx="91440" cy="91440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2743200"/>
            <a:ext cx="936346" cy="38404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713586" y="2962656"/>
            <a:ext cx="819302" cy="164592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32888" y="2962656"/>
            <a:ext cx="877824" cy="56692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3410712" y="3310128"/>
            <a:ext cx="877824" cy="219456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88536" y="3310128"/>
            <a:ext cx="936346" cy="512064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5224882" y="3621024"/>
            <a:ext cx="702259" cy="201168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27141" y="3621024"/>
            <a:ext cx="702259" cy="347472"/>
          </a:xfrm>
          <a:prstGeom prst="line">
            <a:avLst/>
          </a:prstGeom>
          <a:noFill/>
          <a:ln w="28575">
            <a:solidFill>
              <a:srgbClr val="11676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2697480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2" name="Shape 20"/>
          <p:cNvSpPr/>
          <p:nvPr/>
        </p:nvSpPr>
        <p:spPr>
          <a:xfrm>
            <a:off x="1667866" y="3081528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87168" y="2916936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4" name="Shape 22"/>
          <p:cNvSpPr/>
          <p:nvPr/>
        </p:nvSpPr>
        <p:spPr>
          <a:xfrm>
            <a:off x="3364992" y="3483864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5" name="Shape 23"/>
          <p:cNvSpPr/>
          <p:nvPr/>
        </p:nvSpPr>
        <p:spPr>
          <a:xfrm>
            <a:off x="4242816" y="3264408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6" name="Shape 24"/>
          <p:cNvSpPr/>
          <p:nvPr/>
        </p:nvSpPr>
        <p:spPr>
          <a:xfrm>
            <a:off x="5179162" y="3776472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7" name="Shape 25"/>
          <p:cNvSpPr/>
          <p:nvPr/>
        </p:nvSpPr>
        <p:spPr>
          <a:xfrm>
            <a:off x="5881421" y="3575304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8" name="Shape 26"/>
          <p:cNvSpPr/>
          <p:nvPr/>
        </p:nvSpPr>
        <p:spPr>
          <a:xfrm>
            <a:off x="6583680" y="3922776"/>
            <a:ext cx="91440" cy="9144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86200" y="4114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6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PROCESS AS EXECUTED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410712" y="2743200"/>
            <a:ext cx="0" cy="786384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69564" y="3488436"/>
            <a:ext cx="82296" cy="82296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557016" y="287121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gap is where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findings are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360920" y="239572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Usage statistics. Data quality. Custom code. Close durations.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360920" y="3401568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system does — not what the documentation says. The gap between them is usually the problem.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360920" y="4828032"/>
            <a:ext cx="4023360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60920" y="49743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engagement opens with an assessment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378440" y="493776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</a:t>
            </a:r>
            <a:endParaRPr lang="en-US" sz="12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MODEL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 measured cloud decision.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151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 CLOUD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7240" y="2980944"/>
            <a:ext cx="4297680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12724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You adopt the standard.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639312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Speed and low operational overhead — for a core you cannot modify.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572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3–5 months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90118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single-country finance deployment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116775" y="26151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 CLOUD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116775" y="2980944"/>
            <a:ext cx="4297680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16775" y="312724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You keep your process logic.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116775" y="3639312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own developments kept — for more responsibility and a longer build.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116775" y="4572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7–14 months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116775" y="490118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depending on scope and inherited landscape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095848" y="2569464"/>
            <a:ext cx="0" cy="274320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550468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Neither is the advanced version of the other. We put both constraints side by side; the decision stays yours.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DELIVERY MODEL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Four stages,</a:t>
            </a:r>
            <a:endParaRPr lang="en-US" sz="3600" dirty="0"/>
          </a:p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four deliverables.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078992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stage’s output is agreed before it starts. At each gate the decision is taken again.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2788920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Assessment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Diagnostic report, read from system data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weeks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467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980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GATE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5204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204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5204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Architecture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and roadmap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5204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architecture and phased roadmap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5204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3–6 weeks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0899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412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GATE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2636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636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636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2636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system, test records, cutover plan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months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833104" y="2642616"/>
            <a:ext cx="0" cy="292608"/>
          </a:xfrm>
          <a:prstGeom prst="line">
            <a:avLst/>
          </a:prstGeom>
          <a:noFill/>
          <a:ln w="19050">
            <a:solidFill>
              <a:srgbClr val="E8B33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84464" y="2331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1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GATE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006840" y="2734056"/>
            <a:ext cx="109728" cy="109728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006840" y="3008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006840" y="333756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Hypercare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006840" y="4032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close run together, improvement backlog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006840" y="5020056"/>
            <a:ext cx="2121408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06840" y="512978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4–12 weeks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BUSINESS VALUE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From capability to outcome.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3347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WE BRING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263347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WE DO WITH IT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263347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7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CHANGES FOR YOU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20040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Depth in FI and CO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320040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Rebuild the close to run in parallel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3200400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 close that is predictable, not just shorter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01668" y="3305556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15" name="Shape 13"/>
          <p:cNvSpPr/>
          <p:nvPr/>
        </p:nvSpPr>
        <p:spPr>
          <a:xfrm>
            <a:off x="7904988" y="3305556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13308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261104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neutral read on the cloud models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261104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 your processes against standard scope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4261104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 model decision that survives the project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01668" y="4366260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21" name="Shape 19"/>
          <p:cNvSpPr/>
          <p:nvPr/>
        </p:nvSpPr>
        <p:spPr>
          <a:xfrm>
            <a:off x="7904988" y="4366260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193792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3218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where the hours actually are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480560" y="53218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thresholds on your own data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5321808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team reviews exceptions instead of matching items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01668" y="5426964"/>
            <a:ext cx="82296" cy="82296"/>
          </a:xfrm>
          <a:prstGeom prst="ellipse">
            <a:avLst/>
          </a:prstGeom>
          <a:solidFill>
            <a:srgbClr val="C9D6DE"/>
          </a:solidFill>
          <a:ln/>
        </p:spPr>
      </p:sp>
      <p:sp>
        <p:nvSpPr>
          <p:cNvPr id="27" name="Shape 25"/>
          <p:cNvSpPr/>
          <p:nvPr/>
        </p:nvSpPr>
        <p:spPr>
          <a:xfrm>
            <a:off x="7904988" y="5426964"/>
            <a:ext cx="82296" cy="82296"/>
          </a:xfrm>
          <a:prstGeom prst="ellipse">
            <a:avLst/>
          </a:prstGeom>
          <a:solidFill>
            <a:srgbClr val="11676A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CAPABILITIES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Five areas of expertise.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7240" y="2048256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400300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69848" y="224942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Finance Modules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2249424"/>
            <a:ext cx="5897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CO, PA and PS as one process architecture, not five.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2889504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186684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69848" y="3035808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 Transformation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3035808"/>
            <a:ext cx="5897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Brownfield, greenfield or selective transition, decided on evidence.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367588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3973068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69848" y="382219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Public Cloud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3822192"/>
            <a:ext cx="5897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much of your process fits standard scope.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" y="4462272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759452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69848" y="4608576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Private Cloud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4608576"/>
            <a:ext cx="5897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Architecture, migration and the boundaries RISE leaves open.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5248656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5545836"/>
            <a:ext cx="100584" cy="100584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69848" y="5394960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AI in Finance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5394960"/>
            <a:ext cx="5897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capabilities your data and discipline can actually support.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7240" y="6035040"/>
            <a:ext cx="106372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676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APPLIED AI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6012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76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AI in the system and in delivery.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9DB0C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14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957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YOUR FINANCE PROCESSES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706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Embedded in SAP, not bought beside it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7240" y="3200400"/>
            <a:ext cx="4754880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465576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51560" y="340156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Intelligent matching — items cleared automatically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7240" y="4251960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51560" y="418795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 — before the close, not after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7240" y="5038344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51560" y="497433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Predictive accounting — during the period, not after it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659575" y="23957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HOW WE DELIVER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659575" y="2706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Applied to volume work, not judgement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659575" y="3200400"/>
            <a:ext cx="4754880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59575" y="3465576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933895" y="340156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code inventory and impact analysis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659575" y="4251960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933895" y="418795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drafts of test scenarios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659575" y="5038344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933895" y="497433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 reconciliation checks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77240" y="5449824"/>
            <a:ext cx="10637215" cy="0"/>
          </a:xfrm>
          <a:prstGeom prst="line">
            <a:avLst/>
          </a:prstGeom>
          <a:noFill/>
          <a:ln w="12700">
            <a:solidFill>
              <a:srgbClr val="FFFFFF">
                <a:alpha val="42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557784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DCA4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No decision that produces a posting is finalised without human review.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BOUNDARIES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Clear boundaries.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0662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do not do matters as much as what we do.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602736"/>
            <a:ext cx="0" cy="1051560"/>
          </a:xfrm>
          <a:prstGeom prst="line">
            <a:avLst/>
          </a:prstGeom>
          <a:noFill/>
          <a:ln w="25400">
            <a:solidFill>
              <a:srgbClr val="1167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3602736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It turns work away. It is why we finish what we take.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035040" y="1874520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202082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002536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Modules outside our specialism — logistics, production planning, HR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2898648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35040" y="30449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3026664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Capacity without architectural or delivery responsibility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3922776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0" y="40690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601968" y="4050792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Firm commitments made before an assessment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35040" y="4946904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35040" y="50932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601968" y="5074920"/>
            <a:ext cx="481248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Software development or infrastructure operations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35040" y="5971032"/>
            <a:ext cx="5379415" cy="0"/>
          </a:xfrm>
          <a:prstGeom prst="line">
            <a:avLst/>
          </a:prstGeom>
          <a:noFill/>
          <a:ln w="12700">
            <a:solidFill>
              <a:srgbClr val="C9D6DE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ENGAGEMENT MODELS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Three engagement models.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7240" y="2487168"/>
            <a:ext cx="3310128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29284" y="289407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97864" y="31638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Assessment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97864" y="3639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decision is due and the evidence is missing.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97864" y="4407408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97864" y="45171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end it able to decide.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97864" y="50109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weeks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471416" y="2487168"/>
            <a:ext cx="3310128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23460" y="289407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31638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639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 is taken; it needs building.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92040" y="4407408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45171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Phased plan, weekly reporting, hypercare included.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50109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months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165592" y="2487168"/>
            <a:ext cx="3310128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E"/>
            </a:solidFill>
            <a:prstDash val="solid"/>
          </a:ln>
          <a:effectLst>
            <a:outerShdw sx="100000" sy="100000" kx="0" ky="0" algn="bl" rotWithShape="0" blurRad="177800" dist="38100" dir="5400000">
              <a:srgbClr val="0E162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517636" y="2894076"/>
            <a:ext cx="137160" cy="137160"/>
          </a:xfrm>
          <a:prstGeom prst="ellipse">
            <a:avLst/>
          </a:prstGeom>
          <a:solidFill>
            <a:srgbClr val="11676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86216" y="31638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Expert support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586216" y="3639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Someone else runs it and one area needs depth.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86216" y="4407408"/>
            <a:ext cx="2468880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86216" y="45171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Narrow scope, agreed output.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586216" y="50109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Days to weeks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6692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every need calls for a full programme.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Experience in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complex landscapes.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6272784"/>
            <a:ext cx="10637215" cy="0"/>
          </a:xfrm>
          <a:prstGeom prst="line">
            <a:avLst/>
          </a:prstGeom>
          <a:noFill/>
          <a:ln w="9525">
            <a:solidFill>
              <a:srgbClr val="C9D6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842455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6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109728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years across SAP finance modules and cloud architecture.</a:t>
            </a:r>
            <a:endParaRPr lang="en-US" sz="1200" dirty="0"/>
          </a:p>
        </p:txBody>
      </p:sp>
      <p:pic>
        <p:nvPicPr>
          <p:cNvPr id="8" name="Image 0" descr="/tmp/claude-0/-home-user-Default/6c313414-fc11-5a80-9cf8-49dad1a51f26/scratchpad/img/ref-mercedes-b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3042862"/>
            <a:ext cx="1463040" cy="369940"/>
          </a:xfrm>
          <a:prstGeom prst="rect">
            <a:avLst/>
          </a:prstGeom>
        </p:spPr>
      </p:pic>
      <p:pic>
        <p:nvPicPr>
          <p:cNvPr id="9" name="Image 1" descr="/tmp/claude-0/-home-user-Default/6c313414-fc11-5a80-9cf8-49dad1a51f26/scratchpad/img/ref-pw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270" y="2944368"/>
            <a:ext cx="1167205" cy="566928"/>
          </a:xfrm>
          <a:prstGeom prst="rect">
            <a:avLst/>
          </a:prstGeom>
        </p:spPr>
      </p:pic>
      <p:pic>
        <p:nvPicPr>
          <p:cNvPr id="10" name="Image 2" descr="/tmp/claude-0/-home-user-Default/6c313414-fc11-5a80-9cf8-49dad1a51f26/scratchpad/img/ref-g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2996881"/>
            <a:ext cx="1463040" cy="461903"/>
          </a:xfrm>
          <a:prstGeom prst="rect">
            <a:avLst/>
          </a:prstGeom>
        </p:spPr>
      </p:pic>
      <p:pic>
        <p:nvPicPr>
          <p:cNvPr id="11" name="Image 3" descr="/tmp/claude-0/-home-user-Default/6c313414-fc11-5a80-9cf8-49dad1a51f26/scratchpad/img/ref-boehringer-ingelhei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001977"/>
            <a:ext cx="1463040" cy="451710"/>
          </a:xfrm>
          <a:prstGeom prst="rect">
            <a:avLst/>
          </a:prstGeom>
        </p:spPr>
      </p:pic>
      <p:pic>
        <p:nvPicPr>
          <p:cNvPr id="12" name="Image 4" descr="/tmp/claude-0/-home-user-Default/6c313414-fc11-5a80-9cf8-49dad1a51f26/scratchpad/img/ref-bek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559" y="2944368"/>
            <a:ext cx="994611" cy="566928"/>
          </a:xfrm>
          <a:prstGeom prst="rect">
            <a:avLst/>
          </a:prstGeom>
        </p:spPr>
      </p:pic>
      <p:pic>
        <p:nvPicPr>
          <p:cNvPr id="13" name="Image 5" descr="/tmp/claude-0/-home-user-Default/6c313414-fc11-5a80-9cf8-49dad1a51f26/scratchpad/img/ref-enerjis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51008" y="3083334"/>
            <a:ext cx="1463040" cy="288996"/>
          </a:xfrm>
          <a:prstGeom prst="rect">
            <a:avLst/>
          </a:prstGeom>
        </p:spPr>
      </p:pic>
      <p:pic>
        <p:nvPicPr>
          <p:cNvPr id="14" name="Image 6" descr="/tmp/claude-0/-home-user-Default/6c313414-fc11-5a80-9cf8-49dad1a51f26/scratchpad/img/ref-wavi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" y="4257735"/>
            <a:ext cx="1463040" cy="354210"/>
          </a:xfrm>
          <a:prstGeom prst="rect">
            <a:avLst/>
          </a:prstGeom>
        </p:spPr>
      </p:pic>
      <p:pic>
        <p:nvPicPr>
          <p:cNvPr id="15" name="Image 7" descr="/tmp/claude-0/-home-user-Default/6c313414-fc11-5a80-9cf8-49dad1a51f26/scratchpad/img/ref-imery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06928" y="4151376"/>
            <a:ext cx="881888" cy="566928"/>
          </a:xfrm>
          <a:prstGeom prst="rect">
            <a:avLst/>
          </a:prstGeom>
        </p:spPr>
      </p:pic>
      <p:pic>
        <p:nvPicPr>
          <p:cNvPr id="16" name="Image 8" descr="/tmp/claude-0/-home-user-Default/6c313414-fc11-5a80-9cf8-49dad1a51f26/scratchpad/img/ref-fli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0016" y="4290218"/>
            <a:ext cx="1463040" cy="289245"/>
          </a:xfrm>
          <a:prstGeom prst="rect">
            <a:avLst/>
          </a:prstGeom>
        </p:spPr>
      </p:pic>
      <p:pic>
        <p:nvPicPr>
          <p:cNvPr id="17" name="Image 9" descr="/tmp/claude-0/-home-user-Default/6c313414-fc11-5a80-9cf8-49dad1a51f26/scratchpad/img/ref-per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8164" y="4151376"/>
            <a:ext cx="1094072" cy="566928"/>
          </a:xfrm>
          <a:prstGeom prst="rect">
            <a:avLst/>
          </a:prstGeom>
        </p:spPr>
      </p:pic>
      <p:pic>
        <p:nvPicPr>
          <p:cNvPr id="18" name="Image 10" descr="/tmp/claude-0/-home-user-Default/6c313414-fc11-5a80-9cf8-49dad1a51f26/scratchpad/img/ref-hidrome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67344" y="4339481"/>
            <a:ext cx="1463040" cy="190718"/>
          </a:xfrm>
          <a:prstGeom prst="rect">
            <a:avLst/>
          </a:prstGeom>
        </p:spPr>
      </p:pic>
      <p:pic>
        <p:nvPicPr>
          <p:cNvPr id="19" name="Image 11" descr="/tmp/claude-0/-home-user-Default/6c313414-fc11-5a80-9cf8-49dad1a51f26/scratchpad/img/ref-aydem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18919" y="4151376"/>
            <a:ext cx="927219" cy="566928"/>
          </a:xfrm>
          <a:prstGeom prst="rect">
            <a:avLst/>
          </a:prstGeom>
        </p:spPr>
      </p:pic>
      <p:pic>
        <p:nvPicPr>
          <p:cNvPr id="20" name="Image 12" descr="/tmp/claude-0/-home-user-Default/6c313414-fc11-5a80-9cf8-49dad1a51f26/scratchpad/img/ref-nuh-cimento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3484" y="5358384"/>
            <a:ext cx="1241448" cy="566928"/>
          </a:xfrm>
          <a:prstGeom prst="rect">
            <a:avLst/>
          </a:prstGeom>
        </p:spPr>
      </p:pic>
      <p:pic>
        <p:nvPicPr>
          <p:cNvPr id="21" name="Image 13" descr="/tmp/claude-0/-home-user-Default/6c313414-fc11-5a80-9cf8-49dad1a51f26/scratchpad/img/ref-belbim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6352" y="5475873"/>
            <a:ext cx="1463040" cy="331950"/>
          </a:xfrm>
          <a:prstGeom prst="rect">
            <a:avLst/>
          </a:prstGeom>
        </p:spPr>
      </p:pic>
      <p:pic>
        <p:nvPicPr>
          <p:cNvPr id="22" name="Image 14" descr="/tmp/claude-0/-home-user-Default/6c313414-fc11-5a80-9cf8-49dad1a51f26/scratchpad/img/ref-tcd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23423" y="5358384"/>
            <a:ext cx="616226" cy="566928"/>
          </a:xfrm>
          <a:prstGeom prst="rect">
            <a:avLst/>
          </a:prstGeom>
        </p:spPr>
      </p:pic>
      <p:pic>
        <p:nvPicPr>
          <p:cNvPr id="23" name="Image 15" descr="/tmp/claude-0/-home-user-Default/6c313414-fc11-5a80-9cf8-49dad1a51f26/scratchpad/img/ref-iet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85852" y="5358384"/>
            <a:ext cx="458696" cy="566928"/>
          </a:xfrm>
          <a:prstGeom prst="rect">
            <a:avLst/>
          </a:prstGeom>
        </p:spPr>
      </p:pic>
      <p:pic>
        <p:nvPicPr>
          <p:cNvPr id="24" name="Image 16" descr="/tmp/claude-0/-home-user-Default/6c313414-fc11-5a80-9cf8-49dad1a51f26/scratchpad/img/ref-fusion-consulting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53739" y="5358384"/>
            <a:ext cx="1290250" cy="566928"/>
          </a:xfrm>
          <a:prstGeom prst="rect">
            <a:avLst/>
          </a:prstGeom>
        </p:spPr>
      </p:pic>
      <p:sp>
        <p:nvSpPr>
          <p:cNvPr id="25" name="Shape 6"/>
          <p:cNvSpPr/>
          <p:nvPr/>
        </p:nvSpPr>
        <p:spPr>
          <a:xfrm>
            <a:off x="777240" y="3749040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6" name="Shape 7"/>
          <p:cNvSpPr/>
          <p:nvPr/>
        </p:nvSpPr>
        <p:spPr>
          <a:xfrm>
            <a:off x="777240" y="4956048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  <p:sp>
        <p:nvSpPr>
          <p:cNvPr id="27" name="Shape 8"/>
          <p:cNvSpPr/>
          <p:nvPr/>
        </p:nvSpPr>
        <p:spPr>
          <a:xfrm>
            <a:off x="777240" y="6163056"/>
            <a:ext cx="10637215" cy="0"/>
          </a:xfrm>
          <a:prstGeom prst="line">
            <a:avLst/>
          </a:prstGeom>
          <a:noFill/>
          <a:ln w="12700">
            <a:solidFill>
              <a:srgbClr val="E2E9EE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efault/6c313414-fc11-5a80-9cf8-49dad1a51f26/scratchpad/img/tex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53035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2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WHY CPEAK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Senior consultants, start to finish.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77240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SENIOR ONLY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consultant you meet is the one who does the work.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92424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92424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92424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NARROW BY DESIGN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92424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 and cloud architecture. The hard part stays with us.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007608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07608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007608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NEUTRAL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007608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compare, you decide, the reasoning stays written.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622792" y="2670048"/>
            <a:ext cx="2395728" cy="0"/>
          </a:xfrm>
          <a:prstGeom prst="line">
            <a:avLst/>
          </a:prstGeom>
          <a:noFill/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622792" y="2624328"/>
            <a:ext cx="91440" cy="91440"/>
          </a:xfrm>
          <a:prstGeom prst="ellipse">
            <a:avLst/>
          </a:prstGeom>
          <a:solidFill>
            <a:srgbClr val="E8B33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622792" y="2852928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7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PHASED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622792" y="316382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 grows in phases, not in headcount.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442569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Tell us about your programme.</a:t>
            </a:r>
            <a:endParaRPr lang="en-US" sz="18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respond within one business day.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44652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info@cpeakconsultancy.com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6446520" y="47183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+90 (507) 032 81 70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446520" y="5029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2DD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linkedin.com/company/cpeak-consultancy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446520" y="5431536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Bostancı Mahallesi, Şemsettin Günaltay Caddesi No: 31/8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34744 Kadıköy, İstanbul   ·   Mon–Fri, 09:00–18:00 (GMT+3)</a:t>
            </a:r>
            <a:endParaRPr lang="en-US" sz="1050" dirty="0"/>
          </a:p>
        </p:txBody>
      </p:sp>
      <p:pic>
        <p:nvPicPr>
          <p:cNvPr id="26" name="Image 1" descr="/tmp/claude-0/-home-user-Default/6c313414-fc11-5a80-9cf8-49dad1a51f26/scratchpad/img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440680"/>
            <a:ext cx="1691640" cy="582473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77240" y="6355080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7240" y="6455664"/>
            <a:ext cx="10607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B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SAP, S/4HANA and RISE with SAP are registered trademarks of SAP SE. CPeak Consultancy is an independent consultancy and is not affiliated with SAP SE.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CPeak Consultancy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CPeak Consultancy</dc:title>
  <dc:subject>PptxGenJS Presentation</dc:subject>
  <dc:creator>CPeak Consultancy</dc:creator>
  <cp:lastModifiedBy>CPeak Consultancy</cp:lastModifiedBy>
  <cp:revision>1</cp:revision>
  <dcterms:created xsi:type="dcterms:W3CDTF">2026-09-05T17:41:19Z</dcterms:created>
  <dcterms:modified xsi:type="dcterms:W3CDTF">2026-09-05T17:41:19Z</dcterms:modified>
</cp:coreProperties>
</file>
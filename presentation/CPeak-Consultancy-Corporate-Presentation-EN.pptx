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CPeak is an independent SAP consultancy specialising end to end in finance modules, cloud architecture and applied AI. Founded 2021, Istanbul.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CPeak stays inside finance modules and cloud architecture rather than selling broad scope and subcontracting the difficult parts.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decisions with the longest half-life are taken at the point of least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three areas meet and each informs the others — the convergence is the positioning.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Measure before recommending.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Cloud-model neutrality: fit measured against standard scope, reasoning documented.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stages, each closing on a defined deliverable.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Capability → action → outcome.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five capability areas, reframed as the question a client arrives with.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 in the delivered system and in the delivery method, with an explicit human-review boundary.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declined-work slide demonstrates that the focus claimed earlier is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Assessment, Delivery, Expert support.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Reference logos as published by CPeak. No client names or outcome claims attached.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 argument and contact. Response within one business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image" Target="../media/image-13-9.png"/><Relationship Id="rId10" Type="http://schemas.openxmlformats.org/officeDocument/2006/relationships/image" Target="../media/image-13-10.png"/><Relationship Id="rId11" Type="http://schemas.openxmlformats.org/officeDocument/2006/relationships/image" Target="../media/image-13-11.png"/><Relationship Id="rId12" Type="http://schemas.openxmlformats.org/officeDocument/2006/relationships/image" Target="../media/image-13-12.png"/><Relationship Id="rId13" Type="http://schemas.openxmlformats.org/officeDocument/2006/relationships/image" Target="../media/image-13-13.png"/><Relationship Id="rId14" Type="http://schemas.openxmlformats.org/officeDocument/2006/relationships/image" Target="../media/image-13-14.png"/><Relationship Id="rId15" Type="http://schemas.openxmlformats.org/officeDocument/2006/relationships/image" Target="../media/image-13-15.png"/><Relationship Id="rId16" Type="http://schemas.openxmlformats.org/officeDocument/2006/relationships/image" Target="../media/image-13-16.png"/><Relationship Id="rId17" Type="http://schemas.openxmlformats.org/officeDocument/2006/relationships/image" Target="../media/image-13-17.pn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Default/6c313414-fc11-5a80-9cf8-49dad1a51f26/scratchpad/img/tex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tmp/claude-0/-home-user-Default/6c313414-fc11-5a80-9cf8-49dad1a51f26/scratchpad/img/logo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566928"/>
            <a:ext cx="2240280" cy="770839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77240" y="2084832"/>
            <a:ext cx="9601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4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SAP FINANCE  ·  CLOUD ARCHITECTURE  ·  APPLIED AI</a:t>
            </a:r>
            <a:endParaRPr lang="en-US" sz="1000" dirty="0"/>
          </a:p>
        </p:txBody>
      </p:sp>
      <p:sp>
        <p:nvSpPr>
          <p:cNvPr id="5" name="Text 1"/>
          <p:cNvSpPr txBox="1"/>
          <p:nvPr/>
        </p:nvSpPr>
        <p:spPr>
          <a:xfrm>
            <a:off x="777240" y="2377440"/>
            <a:ext cx="8595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1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Finance is the</a:t>
            </a:r>
            <a:endParaRPr lang="en-US" sz="4400" dirty="0"/>
          </a:p>
          <a:p>
            <a:pPr indent="0" marL="0">
              <a:lnSpc>
                <a:spcPts val="51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least forgiving</a:t>
            </a:r>
            <a:endParaRPr lang="en-US" sz="4400" dirty="0"/>
          </a:p>
          <a:p>
            <a:pPr indent="0" marL="0">
              <a:lnSpc>
                <a:spcPts val="51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part of an ERP.</a:t>
            </a:r>
            <a:endParaRPr lang="en-US" sz="4400" dirty="0"/>
          </a:p>
        </p:txBody>
      </p:sp>
      <p:sp>
        <p:nvSpPr>
          <p:cNvPr id="6" name="Text 2"/>
          <p:cNvSpPr txBox="1"/>
          <p:nvPr/>
        </p:nvSpPr>
        <p:spPr>
          <a:xfrm>
            <a:off x="777240" y="4443984"/>
            <a:ext cx="7132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40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Independent, and deliberately narrow: the hardest decisions are the ones we do ourselves.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777240" y="5742432"/>
            <a:ext cx="10637215" cy="0"/>
          </a:xfrm>
          <a:prstGeom prst="line">
            <a:avLst/>
          </a:prstGeom>
          <a:noFill/>
          <a:ln w="9525">
            <a:solidFill>
              <a:srgbClr val="FFFFFF">
                <a:alpha val="24000"/>
              </a:srgbClr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907024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80" kern="0" dirty="0">
                <a:solidFill>
                  <a:srgbClr val="9DB0C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ISTANBUL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3611880" y="5907024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80" kern="0" dirty="0">
                <a:solidFill>
                  <a:srgbClr val="9DB0C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TÜRKİYE · EMEA · UNITED STATES</a:t>
            </a:r>
            <a:endParaRPr lang="en-US" sz="900" dirty="0"/>
          </a:p>
        </p:txBody>
      </p:sp>
      <p:sp>
        <p:nvSpPr>
          <p:cNvPr id="10" name="Text 6"/>
          <p:cNvSpPr txBox="1"/>
          <p:nvPr/>
        </p:nvSpPr>
        <p:spPr>
          <a:xfrm>
            <a:off x="8001000" y="5907024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80" kern="0" dirty="0">
                <a:solidFill>
                  <a:srgbClr val="9DB0C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INDEPENDENT SINCE 2021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30352"/>
            <a:ext cx="10637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2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POSITIONING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60120"/>
            <a:ext cx="5486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408"/>
              </a:lnSpc>
              <a:buNone/>
            </a:pPr>
            <a:r>
              <a:rPr lang="en-US" sz="38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Depth is a choice,</a:t>
            </a:r>
            <a:endParaRPr lang="en-US" sz="3800" dirty="0"/>
          </a:p>
          <a:p>
            <a:pPr indent="0" marL="0">
              <a:lnSpc>
                <a:spcPts val="4408"/>
              </a:lnSpc>
              <a:buNone/>
            </a:pPr>
            <a:r>
              <a:rPr lang="en-US" sz="38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not a limitation.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77240" y="6272784"/>
            <a:ext cx="10637215" cy="0"/>
          </a:xfrm>
          <a:prstGeom prst="line">
            <a:avLst/>
          </a:prstGeom>
          <a:noFill/>
          <a:ln w="9525">
            <a:solidFill>
              <a:srgbClr val="C9D6D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6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842455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6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 / 14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788920"/>
            <a:ext cx="4892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Broad scope sold, a specialist sourced per area — and the hardest decision lands with whoever has seen it least.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77240" y="4206240"/>
            <a:ext cx="0" cy="1051560"/>
          </a:xfrm>
          <a:prstGeom prst="line">
            <a:avLst/>
          </a:prstGeom>
          <a:noFill/>
          <a:ln w="25400">
            <a:solidFill>
              <a:srgbClr val="11676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33272" y="4206240"/>
            <a:ext cx="4617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If we take an engagement, we are not subcontracting the difficult part of it.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400800" y="1234440"/>
            <a:ext cx="4434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8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USUAL SHAPE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400800" y="1618488"/>
            <a:ext cx="4434840" cy="0"/>
          </a:xfrm>
          <a:prstGeom prst="line">
            <a:avLst/>
          </a:prstGeom>
          <a:noFill/>
          <a:ln w="12700">
            <a:solidFill>
              <a:srgbClr val="C9D6D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1618488"/>
            <a:ext cx="457200" cy="310896"/>
          </a:xfrm>
          <a:prstGeom prst="rect">
            <a:avLst/>
          </a:prstGeom>
          <a:solidFill>
            <a:srgbClr val="C9D6DE"/>
          </a:solidFill>
          <a:ln/>
        </p:spPr>
      </p:sp>
      <p:sp>
        <p:nvSpPr>
          <p:cNvPr id="13" name="Shape 11"/>
          <p:cNvSpPr/>
          <p:nvPr/>
        </p:nvSpPr>
        <p:spPr>
          <a:xfrm>
            <a:off x="7150608" y="1618488"/>
            <a:ext cx="457200" cy="310896"/>
          </a:xfrm>
          <a:prstGeom prst="rect">
            <a:avLst/>
          </a:prstGeom>
          <a:solidFill>
            <a:srgbClr val="C9D6DE"/>
          </a:solidFill>
          <a:ln/>
        </p:spPr>
      </p:sp>
      <p:sp>
        <p:nvSpPr>
          <p:cNvPr id="14" name="Shape 12"/>
          <p:cNvSpPr/>
          <p:nvPr/>
        </p:nvSpPr>
        <p:spPr>
          <a:xfrm>
            <a:off x="7900416" y="1618488"/>
            <a:ext cx="457200" cy="310896"/>
          </a:xfrm>
          <a:prstGeom prst="rect">
            <a:avLst/>
          </a:prstGeom>
          <a:solidFill>
            <a:srgbClr val="C9D6DE"/>
          </a:solidFill>
          <a:ln/>
        </p:spPr>
      </p:sp>
      <p:sp>
        <p:nvSpPr>
          <p:cNvPr id="15" name="Shape 13"/>
          <p:cNvSpPr/>
          <p:nvPr/>
        </p:nvSpPr>
        <p:spPr>
          <a:xfrm>
            <a:off x="8650224" y="1618488"/>
            <a:ext cx="457200" cy="310896"/>
          </a:xfrm>
          <a:prstGeom prst="rect">
            <a:avLst/>
          </a:prstGeom>
          <a:solidFill>
            <a:srgbClr val="C9D6DE"/>
          </a:solidFill>
          <a:ln/>
        </p:spPr>
      </p:sp>
      <p:sp>
        <p:nvSpPr>
          <p:cNvPr id="16" name="Shape 14"/>
          <p:cNvSpPr/>
          <p:nvPr/>
        </p:nvSpPr>
        <p:spPr>
          <a:xfrm>
            <a:off x="9400032" y="1618488"/>
            <a:ext cx="457200" cy="310896"/>
          </a:xfrm>
          <a:prstGeom prst="rect">
            <a:avLst/>
          </a:prstGeom>
          <a:solidFill>
            <a:srgbClr val="C9D6DE"/>
          </a:solidFill>
          <a:ln/>
        </p:spPr>
      </p:sp>
      <p:sp>
        <p:nvSpPr>
          <p:cNvPr id="17" name="Shape 15"/>
          <p:cNvSpPr/>
          <p:nvPr/>
        </p:nvSpPr>
        <p:spPr>
          <a:xfrm>
            <a:off x="10149840" y="1618488"/>
            <a:ext cx="457200" cy="310896"/>
          </a:xfrm>
          <a:prstGeom prst="rect">
            <a:avLst/>
          </a:prstGeom>
          <a:solidFill>
            <a:srgbClr val="C9D6D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00800" y="2075688"/>
            <a:ext cx="4434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wide scope · borrowed depth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0" y="265176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8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OURS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7955280" y="2651760"/>
            <a:ext cx="2880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narrow scope · owned depth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400800" y="3035808"/>
            <a:ext cx="4434840" cy="0"/>
          </a:xfrm>
          <a:prstGeom prst="line">
            <a:avLst/>
          </a:prstGeom>
          <a:noFill/>
          <a:ln w="12700">
            <a:solidFill>
              <a:srgbClr val="C9D6D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0" y="3035808"/>
            <a:ext cx="1207008" cy="2788920"/>
          </a:xfrm>
          <a:prstGeom prst="rect">
            <a:avLst/>
          </a:prstGeom>
          <a:solidFill>
            <a:srgbClr val="11676A"/>
          </a:solidFill>
          <a:ln/>
        </p:spPr>
      </p:sp>
      <p:sp>
        <p:nvSpPr>
          <p:cNvPr id="23" name="Shape 21"/>
          <p:cNvSpPr/>
          <p:nvPr/>
        </p:nvSpPr>
        <p:spPr>
          <a:xfrm>
            <a:off x="7607808" y="3310128"/>
            <a:ext cx="201168" cy="0"/>
          </a:xfrm>
          <a:prstGeom prst="line">
            <a:avLst/>
          </a:prstGeom>
          <a:noFill/>
          <a:ln w="12700">
            <a:solidFill>
              <a:srgbClr val="11676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566660" y="3268980"/>
            <a:ext cx="82296" cy="82296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936992" y="318668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Enterprise structure and chart of accounts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607808" y="3813048"/>
            <a:ext cx="201168" cy="0"/>
          </a:xfrm>
          <a:prstGeom prst="line">
            <a:avLst/>
          </a:prstGeom>
          <a:noFill/>
          <a:ln w="12700">
            <a:solidFill>
              <a:srgbClr val="11676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566660" y="3771900"/>
            <a:ext cx="82296" cy="82296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936992" y="368960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Controlling, margin and project accounting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607808" y="4315968"/>
            <a:ext cx="201168" cy="0"/>
          </a:xfrm>
          <a:prstGeom prst="line">
            <a:avLst/>
          </a:prstGeom>
          <a:noFill/>
          <a:ln w="12700">
            <a:solidFill>
              <a:srgbClr val="11676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566660" y="4274820"/>
            <a:ext cx="82296" cy="82296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7936992" y="419252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close, rebuilt as parallel steps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607808" y="4818888"/>
            <a:ext cx="201168" cy="0"/>
          </a:xfrm>
          <a:prstGeom prst="line">
            <a:avLst/>
          </a:prstGeom>
          <a:noFill/>
          <a:ln w="12700">
            <a:solidFill>
              <a:srgbClr val="11676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566660" y="4777740"/>
            <a:ext cx="82296" cy="82296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936992" y="469544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Cloud model, measured not advocated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607808" y="5321808"/>
            <a:ext cx="201168" cy="0"/>
          </a:xfrm>
          <a:prstGeom prst="line">
            <a:avLst/>
          </a:prstGeom>
          <a:noFill/>
          <a:ln w="12700">
            <a:solidFill>
              <a:srgbClr val="11676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566660" y="5280660"/>
            <a:ext cx="82296" cy="82296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7936992" y="519836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Automation calibrated on your own data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Default/6c313414-fc11-5a80-9cf8-49dad1a51f26/scratchpad/img/tex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530352"/>
            <a:ext cx="10637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2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PROBLEM WE ARE HIRED INTO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960120"/>
            <a:ext cx="5943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8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The most expensive decisions</a:t>
            </a:r>
            <a:endParaRPr lang="en-US" sz="3000" dirty="0"/>
          </a:p>
          <a:p>
            <a:pPr indent="0" marL="0">
              <a:lnSpc>
                <a:spcPts val="348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are taken first — when</a:t>
            </a:r>
            <a:endParaRPr lang="en-US" sz="3000" dirty="0"/>
          </a:p>
          <a:p>
            <a:pPr indent="0" marL="0">
              <a:lnSpc>
                <a:spcPts val="348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the least is known.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777240" y="6272784"/>
            <a:ext cx="10637215" cy="0"/>
          </a:xfrm>
          <a:prstGeom prst="line">
            <a:avLst/>
          </a:prstGeom>
          <a:noFill/>
          <a:ln w="9525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60" kern="0" dirty="0">
                <a:solidFill>
                  <a:srgbClr val="9DB0C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800" dirty="0"/>
          </a:p>
        </p:txBody>
      </p:sp>
      <p:sp>
        <p:nvSpPr>
          <p:cNvPr id="7" name="Text 4"/>
          <p:cNvSpPr txBox="1"/>
          <p:nvPr/>
        </p:nvSpPr>
        <p:spPr>
          <a:xfrm>
            <a:off x="6842455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60" kern="0" dirty="0">
                <a:solidFill>
                  <a:srgbClr val="9DB0C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 / 14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999232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Enterprise structure. Conversion route. Cloud model. Decided in the first weeks, lived with for a decade.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777240" y="3950208"/>
            <a:ext cx="0" cy="1051560"/>
          </a:xfrm>
          <a:prstGeom prst="line">
            <a:avLst/>
          </a:prstGeom>
          <a:noFill/>
          <a:ln w="25400">
            <a:solidFill>
              <a:srgbClr val="E8B33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33272" y="3950208"/>
            <a:ext cx="4754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F5DCA4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Advice given without measurement is a guess — and you are the one who lives with it.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6784848" y="1417320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80" kern="0" dirty="0">
                <a:solidFill>
                  <a:srgbClr val="9DB0C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HOW HARD THE DECISION IS TO REVERSE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6784848" y="4809744"/>
            <a:ext cx="841248" cy="384048"/>
          </a:xfrm>
          <a:prstGeom prst="rect">
            <a:avLst/>
          </a:prstGeom>
          <a:solidFill>
            <a:srgbClr val="11676A">
              <a:alpha val="92000"/>
            </a:srgbClr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565392" y="532180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spc="80" kern="0" dirty="0">
                <a:solidFill>
                  <a:srgbClr val="9DB0C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DESIGN</a:t>
            </a:r>
            <a:endParaRPr lang="en-US" sz="760" dirty="0"/>
          </a:p>
        </p:txBody>
      </p:sp>
      <p:sp>
        <p:nvSpPr>
          <p:cNvPr id="14" name="Shape 11"/>
          <p:cNvSpPr/>
          <p:nvPr/>
        </p:nvSpPr>
        <p:spPr>
          <a:xfrm>
            <a:off x="7973568" y="4142232"/>
            <a:ext cx="841248" cy="1051560"/>
          </a:xfrm>
          <a:prstGeom prst="rect">
            <a:avLst/>
          </a:prstGeom>
          <a:solidFill>
            <a:srgbClr val="11676A">
              <a:alpha val="92000"/>
            </a:srgbClr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754112" y="532180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spc="80" kern="0" dirty="0">
                <a:solidFill>
                  <a:srgbClr val="9DB0C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BUILD</a:t>
            </a:r>
            <a:endParaRPr lang="en-US" sz="760" dirty="0"/>
          </a:p>
        </p:txBody>
      </p:sp>
      <p:sp>
        <p:nvSpPr>
          <p:cNvPr id="16" name="Shape 13"/>
          <p:cNvSpPr/>
          <p:nvPr/>
        </p:nvSpPr>
        <p:spPr>
          <a:xfrm>
            <a:off x="9162288" y="3227832"/>
            <a:ext cx="841248" cy="1965960"/>
          </a:xfrm>
          <a:prstGeom prst="rect">
            <a:avLst/>
          </a:prstGeom>
          <a:solidFill>
            <a:srgbClr val="11676A">
              <a:alpha val="92000"/>
            </a:srgbClr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942832" y="532180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spc="80" kern="0" dirty="0">
                <a:solidFill>
                  <a:srgbClr val="9DB0C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TEST</a:t>
            </a:r>
            <a:endParaRPr lang="en-US" sz="760" dirty="0"/>
          </a:p>
        </p:txBody>
      </p:sp>
      <p:sp>
        <p:nvSpPr>
          <p:cNvPr id="18" name="Shape 15"/>
          <p:cNvSpPr/>
          <p:nvPr/>
        </p:nvSpPr>
        <p:spPr>
          <a:xfrm>
            <a:off x="10351008" y="2176272"/>
            <a:ext cx="841248" cy="3017520"/>
          </a:xfrm>
          <a:prstGeom prst="rect">
            <a:avLst/>
          </a:prstGeom>
          <a:solidFill>
            <a:srgbClr val="E8B33A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10131552" y="532180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spc="80" kern="0" dirty="0">
                <a:solidFill>
                  <a:srgbClr val="9DB0C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 OPERATION</a:t>
            </a:r>
            <a:endParaRPr lang="en-US" sz="760" dirty="0"/>
          </a:p>
        </p:txBody>
      </p:sp>
      <p:sp>
        <p:nvSpPr>
          <p:cNvPr id="20" name="Shape 17"/>
          <p:cNvSpPr/>
          <p:nvPr/>
        </p:nvSpPr>
        <p:spPr>
          <a:xfrm>
            <a:off x="6647688" y="5193792"/>
            <a:ext cx="4681728" cy="0"/>
          </a:xfrm>
          <a:prstGeom prst="line">
            <a:avLst/>
          </a:prstGeom>
          <a:noFill/>
          <a:ln w="12700">
            <a:solidFill>
              <a:srgbClr val="FFFFFF">
                <a:alpha val="3800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136892" y="4448556"/>
            <a:ext cx="137160" cy="137160"/>
          </a:xfrm>
          <a:prstGeom prst="ellipse">
            <a:avLst/>
          </a:prstGeom>
          <a:solidFill>
            <a:srgbClr val="E8B33A"/>
          </a:solidFill>
          <a:ln/>
        </p:spPr>
      </p:sp>
      <p:sp>
        <p:nvSpPr>
          <p:cNvPr id="22" name="Shape 19"/>
          <p:cNvSpPr/>
          <p:nvPr/>
        </p:nvSpPr>
        <p:spPr>
          <a:xfrm>
            <a:off x="7205472" y="4585716"/>
            <a:ext cx="0" cy="141732"/>
          </a:xfrm>
          <a:prstGeom prst="line">
            <a:avLst/>
          </a:prstGeom>
          <a:noFill/>
          <a:ln w="12700">
            <a:solidFill>
              <a:srgbClr val="E8B33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245352" y="4224528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F5DCA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decided here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9784080" y="1865376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F5DCA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lived with here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30352"/>
            <a:ext cx="10637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2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WHERE WE STAND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60120"/>
            <a:ext cx="8046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Three disciplines that only</a:t>
            </a:r>
            <a:endParaRPr lang="en-US" sz="3400" dirty="0"/>
          </a:p>
          <a:p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make sense together.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6272784"/>
            <a:ext cx="10637215" cy="0"/>
          </a:xfrm>
          <a:prstGeom prst="line">
            <a:avLst/>
          </a:prstGeom>
          <a:noFill/>
          <a:ln w="9525">
            <a:solidFill>
              <a:srgbClr val="C9D6D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6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842455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6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 / 14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157984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Most SAP problems live in the seams between these three.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2670048"/>
            <a:ext cx="137160" cy="137160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69848" y="2624328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FINANCE PROCESS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054096"/>
            <a:ext cx="312724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How the books actually close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3767328"/>
            <a:ext cx="29900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FI, CO, PA and PS — structure, costing, margin, the close.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45820" y="4809744"/>
            <a:ext cx="0" cy="274320"/>
          </a:xfrm>
          <a:prstGeom prst="line">
            <a:avLst/>
          </a:prstGeom>
          <a:noFill/>
          <a:ln w="12700">
            <a:solidFill>
              <a:srgbClr val="C9D6D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26280" y="2670048"/>
            <a:ext cx="137160" cy="137160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18888" y="2624328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PLATFORM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4526280" y="3054096"/>
            <a:ext cx="312724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The ground it has to run on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526280" y="3767328"/>
            <a:ext cx="29900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ECC, S/4HANA, Private and Public Cloud — compared, not advocated.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94860" y="4809744"/>
            <a:ext cx="0" cy="274320"/>
          </a:xfrm>
          <a:prstGeom prst="line">
            <a:avLst/>
          </a:prstGeom>
          <a:noFill/>
          <a:ln w="12700">
            <a:solidFill>
              <a:srgbClr val="C9D6D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75320" y="2670048"/>
            <a:ext cx="137160" cy="137160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67928" y="2624328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AUTOMATION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8275320" y="3054096"/>
            <a:ext cx="312724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What can stop being manual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275320" y="3767328"/>
            <a:ext cx="29900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Matching, anomaly detection, predictive accounting — measured before enabling.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343900" y="4809744"/>
            <a:ext cx="0" cy="274320"/>
          </a:xfrm>
          <a:prstGeom prst="line">
            <a:avLst/>
          </a:prstGeom>
          <a:noFill/>
          <a:ln w="12700">
            <a:solidFill>
              <a:srgbClr val="C9D6D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45820" y="5084064"/>
            <a:ext cx="7498080" cy="0"/>
          </a:xfrm>
          <a:prstGeom prst="line">
            <a:avLst/>
          </a:prstGeom>
          <a:noFill/>
          <a:ln w="12700">
            <a:solidFill>
              <a:srgbClr val="C9D6D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095848" y="5084064"/>
            <a:ext cx="0" cy="274320"/>
          </a:xfrm>
          <a:prstGeom prst="line">
            <a:avLst/>
          </a:prstGeom>
          <a:noFill/>
          <a:ln w="15875">
            <a:solidFill>
              <a:srgbClr val="11676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15488" y="5358384"/>
            <a:ext cx="5760720" cy="566928"/>
          </a:xfrm>
          <a:prstGeom prst="rect">
            <a:avLst/>
          </a:prstGeom>
          <a:solidFill>
            <a:srgbClr val="11676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215488" y="5358384"/>
            <a:ext cx="5760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A decision that still looks right in year three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30352"/>
            <a:ext cx="10637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2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OPERATING PRINCIPLE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60120"/>
            <a:ext cx="8412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176"/>
              </a:lnSpc>
              <a:buNone/>
            </a:pPr>
            <a:r>
              <a:rPr lang="en-US" sz="36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We read the system before we</a:t>
            </a:r>
            <a:endParaRPr lang="en-US" sz="3600" dirty="0"/>
          </a:p>
          <a:p>
            <a:pPr indent="0" marL="0">
              <a:lnSpc>
                <a:spcPts val="4176"/>
              </a:lnSpc>
              <a:buNone/>
            </a:pPr>
            <a:r>
              <a:rPr lang="en-US" sz="36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recommend anything.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77240" y="6272784"/>
            <a:ext cx="10637215" cy="0"/>
          </a:xfrm>
          <a:prstGeom prst="line">
            <a:avLst/>
          </a:prstGeom>
          <a:noFill/>
          <a:ln w="9525">
            <a:solidFill>
              <a:srgbClr val="C9D6D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6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842455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6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 / 14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359152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6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PROCESS AS DESCRIBED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777240" y="2743200"/>
            <a:ext cx="5852160" cy="0"/>
          </a:xfrm>
          <a:prstGeom prst="line">
            <a:avLst/>
          </a:prstGeom>
          <a:noFill/>
          <a:ln w="28575">
            <a:solidFill>
              <a:srgbClr val="C9D6D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2697480"/>
            <a:ext cx="91440" cy="91440"/>
          </a:xfrm>
          <a:prstGeom prst="ellipse">
            <a:avLst/>
          </a:prstGeom>
          <a:solidFill>
            <a:srgbClr val="C9D6DE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2697480"/>
            <a:ext cx="91440" cy="91440"/>
          </a:xfrm>
          <a:prstGeom prst="ellipse">
            <a:avLst/>
          </a:prstGeom>
          <a:solidFill>
            <a:srgbClr val="C9D6DE"/>
          </a:solidFill>
          <a:ln/>
        </p:spPr>
      </p:sp>
      <p:sp>
        <p:nvSpPr>
          <p:cNvPr id="11" name="Shape 9"/>
          <p:cNvSpPr/>
          <p:nvPr/>
        </p:nvSpPr>
        <p:spPr>
          <a:xfrm>
            <a:off x="3657600" y="2697480"/>
            <a:ext cx="91440" cy="91440"/>
          </a:xfrm>
          <a:prstGeom prst="ellipse">
            <a:avLst/>
          </a:prstGeom>
          <a:solidFill>
            <a:srgbClr val="C9D6DE"/>
          </a:solidFill>
          <a:ln/>
        </p:spPr>
      </p:sp>
      <p:sp>
        <p:nvSpPr>
          <p:cNvPr id="12" name="Shape 10"/>
          <p:cNvSpPr/>
          <p:nvPr/>
        </p:nvSpPr>
        <p:spPr>
          <a:xfrm>
            <a:off x="5120640" y="2697480"/>
            <a:ext cx="91440" cy="91440"/>
          </a:xfrm>
          <a:prstGeom prst="ellipse">
            <a:avLst/>
          </a:prstGeom>
          <a:solidFill>
            <a:srgbClr val="C9D6DE"/>
          </a:solidFill>
          <a:ln/>
        </p:spPr>
      </p:sp>
      <p:sp>
        <p:nvSpPr>
          <p:cNvPr id="13" name="Shape 11"/>
          <p:cNvSpPr/>
          <p:nvPr/>
        </p:nvSpPr>
        <p:spPr>
          <a:xfrm>
            <a:off x="6583680" y="2697480"/>
            <a:ext cx="91440" cy="91440"/>
          </a:xfrm>
          <a:prstGeom prst="ellipse">
            <a:avLst/>
          </a:prstGeom>
          <a:solidFill>
            <a:srgbClr val="C9D6DE"/>
          </a:solidFill>
          <a:ln/>
        </p:spPr>
      </p:sp>
      <p:sp>
        <p:nvSpPr>
          <p:cNvPr id="14" name="Shape 12"/>
          <p:cNvSpPr/>
          <p:nvPr/>
        </p:nvSpPr>
        <p:spPr>
          <a:xfrm>
            <a:off x="777240" y="2743200"/>
            <a:ext cx="936346" cy="384048"/>
          </a:xfrm>
          <a:prstGeom prst="line">
            <a:avLst/>
          </a:prstGeom>
          <a:noFill/>
          <a:ln w="28575">
            <a:solidFill>
              <a:srgbClr val="11676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1713586" y="2962656"/>
            <a:ext cx="819302" cy="164592"/>
          </a:xfrm>
          <a:prstGeom prst="line">
            <a:avLst/>
          </a:prstGeom>
          <a:noFill/>
          <a:ln w="28575">
            <a:solidFill>
              <a:srgbClr val="11676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32888" y="2962656"/>
            <a:ext cx="877824" cy="566928"/>
          </a:xfrm>
          <a:prstGeom prst="line">
            <a:avLst/>
          </a:prstGeom>
          <a:noFill/>
          <a:ln w="28575">
            <a:solidFill>
              <a:srgbClr val="11676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3410712" y="3310128"/>
            <a:ext cx="877824" cy="219456"/>
          </a:xfrm>
          <a:prstGeom prst="line">
            <a:avLst/>
          </a:prstGeom>
          <a:noFill/>
          <a:ln w="28575">
            <a:solidFill>
              <a:srgbClr val="11676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288536" y="3310128"/>
            <a:ext cx="936346" cy="512064"/>
          </a:xfrm>
          <a:prstGeom prst="line">
            <a:avLst/>
          </a:prstGeom>
          <a:noFill/>
          <a:ln w="28575">
            <a:solidFill>
              <a:srgbClr val="11676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5224882" y="3621024"/>
            <a:ext cx="702259" cy="201168"/>
          </a:xfrm>
          <a:prstGeom prst="line">
            <a:avLst/>
          </a:prstGeom>
          <a:noFill/>
          <a:ln w="28575">
            <a:solidFill>
              <a:srgbClr val="11676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27141" y="3621024"/>
            <a:ext cx="702259" cy="347472"/>
          </a:xfrm>
          <a:prstGeom prst="line">
            <a:avLst/>
          </a:prstGeom>
          <a:noFill/>
          <a:ln w="28575">
            <a:solidFill>
              <a:srgbClr val="11676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31520" y="2697480"/>
            <a:ext cx="91440" cy="91440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22" name="Shape 20"/>
          <p:cNvSpPr/>
          <p:nvPr/>
        </p:nvSpPr>
        <p:spPr>
          <a:xfrm>
            <a:off x="1667866" y="3081528"/>
            <a:ext cx="91440" cy="91440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23" name="Shape 21"/>
          <p:cNvSpPr/>
          <p:nvPr/>
        </p:nvSpPr>
        <p:spPr>
          <a:xfrm>
            <a:off x="2487168" y="2916936"/>
            <a:ext cx="91440" cy="91440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24" name="Shape 22"/>
          <p:cNvSpPr/>
          <p:nvPr/>
        </p:nvSpPr>
        <p:spPr>
          <a:xfrm>
            <a:off x="3364992" y="3483864"/>
            <a:ext cx="91440" cy="91440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25" name="Shape 23"/>
          <p:cNvSpPr/>
          <p:nvPr/>
        </p:nvSpPr>
        <p:spPr>
          <a:xfrm>
            <a:off x="4242816" y="3264408"/>
            <a:ext cx="91440" cy="91440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26" name="Shape 24"/>
          <p:cNvSpPr/>
          <p:nvPr/>
        </p:nvSpPr>
        <p:spPr>
          <a:xfrm>
            <a:off x="5179162" y="3776472"/>
            <a:ext cx="91440" cy="91440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27" name="Shape 25"/>
          <p:cNvSpPr/>
          <p:nvPr/>
        </p:nvSpPr>
        <p:spPr>
          <a:xfrm>
            <a:off x="5881421" y="3575304"/>
            <a:ext cx="91440" cy="91440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28" name="Shape 26"/>
          <p:cNvSpPr/>
          <p:nvPr/>
        </p:nvSpPr>
        <p:spPr>
          <a:xfrm>
            <a:off x="6583680" y="3922776"/>
            <a:ext cx="91440" cy="91440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886200" y="411480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6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PROCESS AS EXECUTED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3410712" y="2743200"/>
            <a:ext cx="0" cy="786384"/>
          </a:xfrm>
          <a:prstGeom prst="line">
            <a:avLst/>
          </a:prstGeom>
          <a:noFill/>
          <a:ln w="19050">
            <a:solidFill>
              <a:srgbClr val="E8B33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369564" y="3488436"/>
            <a:ext cx="82296" cy="82296"/>
          </a:xfrm>
          <a:prstGeom prst="ellipse">
            <a:avLst/>
          </a:prstGeom>
          <a:solidFill>
            <a:srgbClr val="E8B33A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3557016" y="2871216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i="1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gap is where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i="1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findings are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7360920" y="2395728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Usage statistics. Data quality. Custom code. Close durations.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7360920" y="3401568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50"/>
              </a:lnSpc>
              <a:buNone/>
            </a:pPr>
            <a:r>
              <a:rPr lang="en-US" sz="11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the system does — not what the documentation says. The gap between them is usually the problem.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7360920" y="4828032"/>
            <a:ext cx="4023360" cy="0"/>
          </a:xfrm>
          <a:prstGeom prst="line">
            <a:avLst/>
          </a:prstGeom>
          <a:noFill/>
          <a:ln w="12700">
            <a:solidFill>
              <a:srgbClr val="C9D6DE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360920" y="4974336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engagement opens with an assessment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10378440" y="493776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2–6</a:t>
            </a:r>
            <a:endParaRPr lang="en-US" sz="1200" dirty="0"/>
          </a:p>
          <a:p>
            <a:pPr algn="r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WEEKS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3F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Default/6c313414-fc11-5a80-9cf8-49dad1a51f26/scratchpad/img/tex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530352"/>
            <a:ext cx="10637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2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DECISION WE WILL NOT MAKE FOR YOU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960120"/>
            <a:ext cx="9601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We do not sell a cloud model.</a:t>
            </a:r>
            <a:endParaRPr lang="en-US" sz="3400" dirty="0"/>
          </a:p>
          <a:p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We measure which one you are.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777240" y="6272784"/>
            <a:ext cx="10637215" cy="0"/>
          </a:xfrm>
          <a:prstGeom prst="line">
            <a:avLst/>
          </a:prstGeom>
          <a:noFill/>
          <a:ln w="9525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60" kern="0" dirty="0">
                <a:solidFill>
                  <a:srgbClr val="9DB0C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800" dirty="0"/>
          </a:p>
        </p:txBody>
      </p:sp>
      <p:sp>
        <p:nvSpPr>
          <p:cNvPr id="7" name="Text 4"/>
          <p:cNvSpPr txBox="1"/>
          <p:nvPr/>
        </p:nvSpPr>
        <p:spPr>
          <a:xfrm>
            <a:off x="6842455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60" kern="0" dirty="0">
                <a:solidFill>
                  <a:srgbClr val="9DB0C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 / 14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615184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9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PUBLIC CLOUD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777240" y="2980944"/>
            <a:ext cx="4297680" cy="0"/>
          </a:xfrm>
          <a:prstGeom prst="line">
            <a:avLst/>
          </a:prstGeom>
          <a:noFill/>
          <a:ln w="12700">
            <a:solidFill>
              <a:srgbClr val="FFFFFF">
                <a:alpha val="3800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3127248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You adopt the standard.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3639312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50"/>
              </a:lnSpc>
              <a:buNone/>
            </a:pPr>
            <a:r>
              <a:rPr lang="en-US" sz="115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Speed and low operational overhead — for a core you cannot modify.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457200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3–5 months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4901184"/>
            <a:ext cx="4297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DB0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single-country finance deployment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7116775" y="2615184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9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PRIVATE CLOUD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7116775" y="2980944"/>
            <a:ext cx="4297680" cy="0"/>
          </a:xfrm>
          <a:prstGeom prst="line">
            <a:avLst/>
          </a:prstGeom>
          <a:noFill/>
          <a:ln w="12700">
            <a:solidFill>
              <a:srgbClr val="FFFFFF">
                <a:alpha val="3800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116775" y="3127248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You keep your process logic.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7116775" y="3639312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50"/>
              </a:lnSpc>
              <a:buNone/>
            </a:pPr>
            <a:r>
              <a:rPr lang="en-US" sz="115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own developments kept — for more responsibility and a longer build.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7116775" y="457200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7–14 months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116775" y="4901184"/>
            <a:ext cx="4297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DB0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depending on scope and inherited landscape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6095848" y="2569464"/>
            <a:ext cx="0" cy="2743200"/>
          </a:xfrm>
          <a:prstGeom prst="line">
            <a:avLst/>
          </a:prstGeom>
          <a:noFill/>
          <a:ln w="12700">
            <a:solidFill>
              <a:srgbClr val="FFFFFF">
                <a:alpha val="3800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474056" y="3657600"/>
            <a:ext cx="1243584" cy="384048"/>
          </a:xfrm>
          <a:prstGeom prst="rect">
            <a:avLst/>
          </a:prstGeom>
          <a:solidFill>
            <a:srgbClr val="003F82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5474056" y="3657600"/>
            <a:ext cx="12435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40" kern="0" dirty="0">
                <a:solidFill>
                  <a:srgbClr val="E8B33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TRADE</a:t>
            </a:r>
            <a:endParaRPr lang="en-US" sz="900" dirty="0"/>
          </a:p>
        </p:txBody>
      </p:sp>
      <p:sp>
        <p:nvSpPr>
          <p:cNvPr id="23" name="Text 20"/>
          <p:cNvSpPr txBox="1"/>
          <p:nvPr/>
        </p:nvSpPr>
        <p:spPr>
          <a:xfrm>
            <a:off x="777240" y="5504688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Neither is the advanced version of the other. We put both constraints side by side; the decision stays yours.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30352"/>
            <a:ext cx="10637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2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HOW THE WORK MOVES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60120"/>
            <a:ext cx="640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176"/>
              </a:lnSpc>
              <a:buNone/>
            </a:pPr>
            <a:r>
              <a:rPr lang="en-US" sz="36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Nothing starts until the</a:t>
            </a:r>
            <a:endParaRPr lang="en-US" sz="3600" dirty="0"/>
          </a:p>
          <a:p>
            <a:pPr indent="0" marL="0">
              <a:lnSpc>
                <a:spcPts val="4176"/>
              </a:lnSpc>
              <a:buNone/>
            </a:pPr>
            <a:r>
              <a:rPr lang="en-US" sz="36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last thing has closed.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77240" y="6272784"/>
            <a:ext cx="10637215" cy="0"/>
          </a:xfrm>
          <a:prstGeom prst="line">
            <a:avLst/>
          </a:prstGeom>
          <a:noFill/>
          <a:ln w="9525">
            <a:solidFill>
              <a:srgbClr val="C9D6D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6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842455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6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 / 14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7498080" y="1078992"/>
            <a:ext cx="3886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stage’s output is agreed before it starts. At each gate the decision is taken again.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777240" y="2788920"/>
            <a:ext cx="10637215" cy="0"/>
          </a:xfrm>
          <a:prstGeom prst="line">
            <a:avLst/>
          </a:prstGeom>
          <a:noFill/>
          <a:ln w="12700">
            <a:solidFill>
              <a:srgbClr val="C9D6D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2734056"/>
            <a:ext cx="109728" cy="109728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7240" y="300837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3337560"/>
            <a:ext cx="2395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Assessment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4032504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0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Diagnostic report, read from system data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77240" y="5020056"/>
            <a:ext cx="2121408" cy="0"/>
          </a:xfrm>
          <a:prstGeom prst="line">
            <a:avLst/>
          </a:prstGeom>
          <a:noFill/>
          <a:ln w="12700">
            <a:solidFill>
              <a:srgbClr val="C9D6D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5129784"/>
            <a:ext cx="2395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E162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2–6 weeks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346704" y="2642616"/>
            <a:ext cx="0" cy="292608"/>
          </a:xfrm>
          <a:prstGeom prst="line">
            <a:avLst/>
          </a:prstGeom>
          <a:noFill/>
          <a:ln w="19050">
            <a:solidFill>
              <a:srgbClr val="E8B33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798064" y="233172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spc="11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GATE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520440" y="2734056"/>
            <a:ext cx="109728" cy="109728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520440" y="300837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3520440" y="3337560"/>
            <a:ext cx="2395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Architecture</a:t>
            </a:r>
            <a:endParaRPr lang="en-US" sz="17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and roadmap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3520440" y="4032504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0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 architecture and phased roadmap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520440" y="5020056"/>
            <a:ext cx="2121408" cy="0"/>
          </a:xfrm>
          <a:prstGeom prst="line">
            <a:avLst/>
          </a:prstGeom>
          <a:noFill/>
          <a:ln w="12700">
            <a:solidFill>
              <a:srgbClr val="C9D6D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520440" y="5129784"/>
            <a:ext cx="2395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E162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3–6 weeks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089904" y="2642616"/>
            <a:ext cx="0" cy="292608"/>
          </a:xfrm>
          <a:prstGeom prst="line">
            <a:avLst/>
          </a:prstGeom>
          <a:noFill/>
          <a:ln w="19050">
            <a:solidFill>
              <a:srgbClr val="E8B33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541264" y="233172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spc="11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GATE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6263640" y="2734056"/>
            <a:ext cx="109728" cy="109728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263640" y="300837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263640" y="3337560"/>
            <a:ext cx="2395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Delivery</a:t>
            </a:r>
            <a:endParaRPr 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6263640" y="4032504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0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Working system, test records, cutover plan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263640" y="5020056"/>
            <a:ext cx="2121408" cy="0"/>
          </a:xfrm>
          <a:prstGeom prst="line">
            <a:avLst/>
          </a:prstGeom>
          <a:noFill/>
          <a:ln w="12700">
            <a:solidFill>
              <a:srgbClr val="C9D6DE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263640" y="5129784"/>
            <a:ext cx="2395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E162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3–14 months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833104" y="2642616"/>
            <a:ext cx="0" cy="292608"/>
          </a:xfrm>
          <a:prstGeom prst="line">
            <a:avLst/>
          </a:prstGeom>
          <a:noFill/>
          <a:ln w="19050">
            <a:solidFill>
              <a:srgbClr val="E8B33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284464" y="233172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spc="11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GATE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9006840" y="2734056"/>
            <a:ext cx="109728" cy="109728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9006840" y="300837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9006840" y="3337560"/>
            <a:ext cx="2395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Hypercare</a:t>
            </a:r>
            <a:endParaRPr lang="en-US" sz="1700" dirty="0"/>
          </a:p>
        </p:txBody>
      </p:sp>
      <p:sp>
        <p:nvSpPr>
          <p:cNvPr id="36" name="Text 34"/>
          <p:cNvSpPr txBox="1"/>
          <p:nvPr/>
        </p:nvSpPr>
        <p:spPr>
          <a:xfrm>
            <a:off x="9006840" y="4032504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0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First close run together, improvement backlog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9006840" y="5020056"/>
            <a:ext cx="2121408" cy="0"/>
          </a:xfrm>
          <a:prstGeom prst="line">
            <a:avLst/>
          </a:prstGeom>
          <a:noFill/>
          <a:ln w="12700">
            <a:solidFill>
              <a:srgbClr val="C9D6DE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006840" y="5129784"/>
            <a:ext cx="2395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E162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4–12 weeks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30352"/>
            <a:ext cx="10637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2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WHERE THE VALUE SHOWS UP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60120"/>
            <a:ext cx="640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176"/>
              </a:lnSpc>
              <a:buNone/>
            </a:pPr>
            <a:r>
              <a:rPr lang="en-US" sz="36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Expertise is only worth</a:t>
            </a:r>
            <a:endParaRPr lang="en-US" sz="3600" dirty="0"/>
          </a:p>
          <a:p>
            <a:pPr indent="0" marL="0">
              <a:lnSpc>
                <a:spcPts val="4176"/>
              </a:lnSpc>
              <a:buNone/>
            </a:pPr>
            <a:r>
              <a:rPr lang="en-US" sz="36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what it changes.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77240" y="6272784"/>
            <a:ext cx="10637215" cy="0"/>
          </a:xfrm>
          <a:prstGeom prst="line">
            <a:avLst/>
          </a:prstGeom>
          <a:noFill/>
          <a:ln w="9525">
            <a:solidFill>
              <a:srgbClr val="C9D6D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6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842455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6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 / 14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33472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7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WHAT WE BRING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4480560" y="2633472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7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WHAT WE DO WITH IT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263347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7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WHAT CHANGES FOR YOU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777240" y="2944368"/>
            <a:ext cx="10637215" cy="0"/>
          </a:xfrm>
          <a:prstGeom prst="line">
            <a:avLst/>
          </a:prstGeom>
          <a:noFill/>
          <a:ln w="12700">
            <a:solidFill>
              <a:srgbClr val="C9D6D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3200400"/>
            <a:ext cx="3108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Depth in FI and CO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4480560" y="3200400"/>
            <a:ext cx="3108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Rebuild the close to run in parallel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3200400"/>
            <a:ext cx="3063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A close that is predictable, not just shorter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201668" y="3305556"/>
            <a:ext cx="82296" cy="82296"/>
          </a:xfrm>
          <a:prstGeom prst="ellipse">
            <a:avLst/>
          </a:prstGeom>
          <a:solidFill>
            <a:srgbClr val="C9D6DE"/>
          </a:solidFill>
          <a:ln/>
        </p:spPr>
      </p:sp>
      <p:sp>
        <p:nvSpPr>
          <p:cNvPr id="15" name="Shape 13"/>
          <p:cNvSpPr/>
          <p:nvPr/>
        </p:nvSpPr>
        <p:spPr>
          <a:xfrm>
            <a:off x="7904988" y="3305556"/>
            <a:ext cx="82296" cy="82296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16" name="Shape 14"/>
          <p:cNvSpPr/>
          <p:nvPr/>
        </p:nvSpPr>
        <p:spPr>
          <a:xfrm>
            <a:off x="777240" y="4133088"/>
            <a:ext cx="10637215" cy="0"/>
          </a:xfrm>
          <a:prstGeom prst="line">
            <a:avLst/>
          </a:prstGeom>
          <a:noFill/>
          <a:ln w="12700">
            <a:solidFill>
              <a:srgbClr val="E2E9E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4261104"/>
            <a:ext cx="3108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neutral read on the cloud models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4480560" y="4261104"/>
            <a:ext cx="3108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Measure your processes against standard scope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8183880" y="4261104"/>
            <a:ext cx="3063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A model decision that survives the project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201668" y="4366260"/>
            <a:ext cx="82296" cy="82296"/>
          </a:xfrm>
          <a:prstGeom prst="ellipse">
            <a:avLst/>
          </a:prstGeom>
          <a:solidFill>
            <a:srgbClr val="C9D6DE"/>
          </a:solidFill>
          <a:ln/>
        </p:spPr>
      </p:sp>
      <p:sp>
        <p:nvSpPr>
          <p:cNvPr id="21" name="Shape 19"/>
          <p:cNvSpPr/>
          <p:nvPr/>
        </p:nvSpPr>
        <p:spPr>
          <a:xfrm>
            <a:off x="7904988" y="4366260"/>
            <a:ext cx="82296" cy="82296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22" name="Shape 20"/>
          <p:cNvSpPr/>
          <p:nvPr/>
        </p:nvSpPr>
        <p:spPr>
          <a:xfrm>
            <a:off x="777240" y="5193792"/>
            <a:ext cx="10637215" cy="0"/>
          </a:xfrm>
          <a:prstGeom prst="line">
            <a:avLst/>
          </a:prstGeom>
          <a:noFill/>
          <a:ln w="12700">
            <a:solidFill>
              <a:srgbClr val="E2E9E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77240" y="5321808"/>
            <a:ext cx="3108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where the hours actually are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4480560" y="5321808"/>
            <a:ext cx="3108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Calibrate thresholds on your own data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8183880" y="5321808"/>
            <a:ext cx="3063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The team reviews exceptions instead of matching items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201668" y="5426964"/>
            <a:ext cx="82296" cy="82296"/>
          </a:xfrm>
          <a:prstGeom prst="ellipse">
            <a:avLst/>
          </a:prstGeom>
          <a:solidFill>
            <a:srgbClr val="C9D6DE"/>
          </a:solidFill>
          <a:ln/>
        </p:spPr>
      </p:sp>
      <p:sp>
        <p:nvSpPr>
          <p:cNvPr id="27" name="Shape 25"/>
          <p:cNvSpPr/>
          <p:nvPr/>
        </p:nvSpPr>
        <p:spPr>
          <a:xfrm>
            <a:off x="7904988" y="5426964"/>
            <a:ext cx="82296" cy="82296"/>
          </a:xfrm>
          <a:prstGeom prst="ellipse">
            <a:avLst/>
          </a:prstGeom>
          <a:solidFill>
            <a:srgbClr val="11676A"/>
          </a:solidFill>
          <a:ln/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30352"/>
            <a:ext cx="10637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2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CAPABILITIES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8686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Organised around the question</a:t>
            </a:r>
            <a:endParaRPr lang="en-US" sz="3400" dirty="0"/>
          </a:p>
          <a:p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you are actually asking.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6272784"/>
            <a:ext cx="10637215" cy="0"/>
          </a:xfrm>
          <a:prstGeom prst="line">
            <a:avLst/>
          </a:prstGeom>
          <a:noFill/>
          <a:ln w="9525">
            <a:solidFill>
              <a:srgbClr val="C9D6D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6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842455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6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 / 14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77240" y="2139696"/>
            <a:ext cx="10637215" cy="0"/>
          </a:xfrm>
          <a:prstGeom prst="line">
            <a:avLst/>
          </a:prstGeom>
          <a:noFill/>
          <a:ln w="12700">
            <a:solidFill>
              <a:srgbClr val="C9D6D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2473452"/>
            <a:ext cx="100584" cy="100584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69848" y="2322576"/>
            <a:ext cx="4617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Can we still trust our own numbers?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5897880" y="2368296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SAP FINANCE MODULES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5897880" y="2615184"/>
            <a:ext cx="5440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FI, CO, PA and PS as one process architecture, not five.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77240" y="2962656"/>
            <a:ext cx="10637215" cy="0"/>
          </a:xfrm>
          <a:prstGeom prst="line">
            <a:avLst/>
          </a:prstGeom>
          <a:noFill/>
          <a:ln w="12700">
            <a:solidFill>
              <a:srgbClr val="E2E9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" y="3241548"/>
            <a:ext cx="100584" cy="100584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69848" y="3090672"/>
            <a:ext cx="4617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Which road do we take to S/4HANA?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5897880" y="3136392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S/4HANA TRANSFORMATION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5897880" y="3383280"/>
            <a:ext cx="5440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Brownfield, greenfield or selective transition — decided on evidence.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77240" y="3730752"/>
            <a:ext cx="10637215" cy="0"/>
          </a:xfrm>
          <a:prstGeom prst="line">
            <a:avLst/>
          </a:prstGeom>
          <a:noFill/>
          <a:ln w="12700">
            <a:solidFill>
              <a:srgbClr val="E2E9E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7240" y="4009644"/>
            <a:ext cx="100584" cy="100584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1069848" y="3858768"/>
            <a:ext cx="4617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Is standard actually enough for us?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5897880" y="3904488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SAP PUBLIC CLOUD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5897880" y="4151376"/>
            <a:ext cx="5440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much of your process fits standard scope.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4498848"/>
            <a:ext cx="10637215" cy="0"/>
          </a:xfrm>
          <a:prstGeom prst="line">
            <a:avLst/>
          </a:prstGeom>
          <a:noFill/>
          <a:ln w="12700">
            <a:solidFill>
              <a:srgbClr val="E2E9E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77240" y="4777740"/>
            <a:ext cx="100584" cy="100584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069848" y="4626864"/>
            <a:ext cx="4617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Can we go to cloud and keep our process?</a:t>
            </a:r>
            <a:endParaRPr lang="en-US" sz="1450" dirty="0"/>
          </a:p>
        </p:txBody>
      </p:sp>
      <p:sp>
        <p:nvSpPr>
          <p:cNvPr id="25" name="Text 23"/>
          <p:cNvSpPr txBox="1"/>
          <p:nvPr/>
        </p:nvSpPr>
        <p:spPr>
          <a:xfrm>
            <a:off x="5897880" y="4672584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SAP PRIVATE CLOUD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5897880" y="4919472"/>
            <a:ext cx="5440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Architecture, migration, and the boundaries RISE leaves open.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777240" y="5266944"/>
            <a:ext cx="10637215" cy="0"/>
          </a:xfrm>
          <a:prstGeom prst="line">
            <a:avLst/>
          </a:prstGeom>
          <a:noFill/>
          <a:ln w="12700">
            <a:solidFill>
              <a:srgbClr val="E2E9E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77240" y="5545836"/>
            <a:ext cx="100584" cy="100584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1069848" y="5394960"/>
            <a:ext cx="4617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Which of this AI is real for us?</a:t>
            </a:r>
            <a:endParaRPr lang="en-US" sz="1450" dirty="0"/>
          </a:p>
        </p:txBody>
      </p:sp>
      <p:sp>
        <p:nvSpPr>
          <p:cNvPr id="30" name="Text 28"/>
          <p:cNvSpPr txBox="1"/>
          <p:nvPr/>
        </p:nvSpPr>
        <p:spPr>
          <a:xfrm>
            <a:off x="5897880" y="544068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AI IN FINANCE</a:t>
            </a:r>
            <a:endParaRPr lang="en-US" sz="850" dirty="0"/>
          </a:p>
        </p:txBody>
      </p:sp>
      <p:sp>
        <p:nvSpPr>
          <p:cNvPr id="31" name="Text 29"/>
          <p:cNvSpPr txBox="1"/>
          <p:nvPr/>
        </p:nvSpPr>
        <p:spPr>
          <a:xfrm>
            <a:off x="5897880" y="5687568"/>
            <a:ext cx="5440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capabilities your data and discipline can actually support.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777240" y="6035040"/>
            <a:ext cx="10637215" cy="0"/>
          </a:xfrm>
          <a:prstGeom prst="line">
            <a:avLst/>
          </a:prstGeom>
          <a:noFill/>
          <a:ln w="12700">
            <a:solidFill>
              <a:srgbClr val="C9D6DE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676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Default/6c313414-fc11-5a80-9cf8-49dad1a51f26/scratchpad/img/tex-amb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530352"/>
            <a:ext cx="10637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2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APPLIED AI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960120"/>
            <a:ext cx="9601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828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We use AI twice: inside your</a:t>
            </a:r>
            <a:endParaRPr lang="en-US" sz="3300" dirty="0"/>
          </a:p>
          <a:p>
            <a:pPr indent="0" marL="0">
              <a:lnSpc>
                <a:spcPts val="3828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processes, and inside our own.</a:t>
            </a:r>
            <a:endParaRPr lang="en-US" sz="3300" dirty="0"/>
          </a:p>
        </p:txBody>
      </p:sp>
      <p:sp>
        <p:nvSpPr>
          <p:cNvPr id="5" name="Shape 2"/>
          <p:cNvSpPr/>
          <p:nvPr/>
        </p:nvSpPr>
        <p:spPr>
          <a:xfrm>
            <a:off x="777240" y="6272784"/>
            <a:ext cx="10637215" cy="0"/>
          </a:xfrm>
          <a:prstGeom prst="line">
            <a:avLst/>
          </a:prstGeom>
          <a:noFill/>
          <a:ln w="9525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60" kern="0" dirty="0">
                <a:solidFill>
                  <a:srgbClr val="9DB0C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800" dirty="0"/>
          </a:p>
        </p:txBody>
      </p:sp>
      <p:sp>
        <p:nvSpPr>
          <p:cNvPr id="7" name="Text 4"/>
          <p:cNvSpPr txBox="1"/>
          <p:nvPr/>
        </p:nvSpPr>
        <p:spPr>
          <a:xfrm>
            <a:off x="6842455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60" kern="0" dirty="0">
                <a:solidFill>
                  <a:srgbClr val="9DB0C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 / 14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340864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8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 YOUR FINANCE PROCESSES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6517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Embedded in SAP, not bought beside it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777240" y="3145536"/>
            <a:ext cx="4754880" cy="0"/>
          </a:xfrm>
          <a:prstGeom prst="line">
            <a:avLst/>
          </a:prstGeom>
          <a:noFill/>
          <a:ln w="12700">
            <a:solidFill>
              <a:srgbClr val="FFFFFF">
                <a:alpha val="4200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77240" y="3355848"/>
            <a:ext cx="91440" cy="91440"/>
          </a:xfrm>
          <a:prstGeom prst="ellipse">
            <a:avLst/>
          </a:prstGeom>
          <a:solidFill>
            <a:srgbClr val="E8B33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051560" y="3291840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Intelligent matching — items cleared automatically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777240" y="3995928"/>
            <a:ext cx="91440" cy="91440"/>
          </a:xfrm>
          <a:prstGeom prst="ellipse">
            <a:avLst/>
          </a:prstGeom>
          <a:solidFill>
            <a:srgbClr val="E8B33A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1051560" y="3931920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Anomaly detection — before the close, not after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77240" y="4636008"/>
            <a:ext cx="91440" cy="91440"/>
          </a:xfrm>
          <a:prstGeom prst="ellipse">
            <a:avLst/>
          </a:prstGeom>
          <a:solidFill>
            <a:srgbClr val="E8B33A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1051560" y="4572000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Predictive accounting — during the period, not after it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777240" y="5276088"/>
            <a:ext cx="91440" cy="91440"/>
          </a:xfrm>
          <a:prstGeom prst="ellipse">
            <a:avLst/>
          </a:prstGeom>
          <a:solidFill>
            <a:srgbClr val="E8B33A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1051560" y="5212080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Joule — natural-language querying and navigation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6659575" y="2340864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8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 HOW WE DELIVER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6659575" y="26517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Applied to volume work, not judgement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6659575" y="3145536"/>
            <a:ext cx="4754880" cy="0"/>
          </a:xfrm>
          <a:prstGeom prst="line">
            <a:avLst/>
          </a:prstGeom>
          <a:noFill/>
          <a:ln w="12700">
            <a:solidFill>
              <a:srgbClr val="FFFFFF">
                <a:alpha val="42000"/>
              </a:srgbClr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659575" y="3355848"/>
            <a:ext cx="91440" cy="91440"/>
          </a:xfrm>
          <a:prstGeom prst="ellipse">
            <a:avLst/>
          </a:prstGeom>
          <a:solidFill>
            <a:srgbClr val="E8B33A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933895" y="3291840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 code inventory and impact analysis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6659575" y="3995928"/>
            <a:ext cx="91440" cy="91440"/>
          </a:xfrm>
          <a:prstGeom prst="ellipse">
            <a:avLst/>
          </a:prstGeom>
          <a:solidFill>
            <a:srgbClr val="E8B33A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933895" y="3931920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First drafts of test scenarios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6659575" y="4636008"/>
            <a:ext cx="91440" cy="91440"/>
          </a:xfrm>
          <a:prstGeom prst="ellipse">
            <a:avLst/>
          </a:prstGeom>
          <a:solidFill>
            <a:srgbClr val="E8B33A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6933895" y="4572000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Migration reconciliation checks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6659575" y="5276088"/>
            <a:ext cx="91440" cy="91440"/>
          </a:xfrm>
          <a:prstGeom prst="ellipse">
            <a:avLst/>
          </a:prstGeom>
          <a:solidFill>
            <a:srgbClr val="E8B33A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6933895" y="5212080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First versions of configuration documentation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777240" y="5687568"/>
            <a:ext cx="10637215" cy="0"/>
          </a:xfrm>
          <a:prstGeom prst="line">
            <a:avLst/>
          </a:prstGeom>
          <a:noFill/>
          <a:ln w="12700">
            <a:solidFill>
              <a:srgbClr val="FFFFFF">
                <a:alpha val="42000"/>
              </a:srgbClr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77240" y="5815584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5DCA4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No decision that produces a posting is finalised without human review.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30352"/>
            <a:ext cx="10637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2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BOUNDARIES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60120"/>
            <a:ext cx="5852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176"/>
              </a:lnSpc>
              <a:buNone/>
            </a:pPr>
            <a:r>
              <a:rPr lang="en-US" sz="36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A specialism is defined</a:t>
            </a:r>
            <a:endParaRPr lang="en-US" sz="3600" dirty="0"/>
          </a:p>
          <a:p>
            <a:pPr indent="0" marL="0">
              <a:lnSpc>
                <a:spcPts val="4176"/>
              </a:lnSpc>
              <a:buNone/>
            </a:pPr>
            <a:r>
              <a:rPr lang="en-US" sz="36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by what it excludes.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77240" y="6272784"/>
            <a:ext cx="10637215" cy="0"/>
          </a:xfrm>
          <a:prstGeom prst="line">
            <a:avLst/>
          </a:prstGeom>
          <a:noFill/>
          <a:ln w="9525">
            <a:solidFill>
              <a:srgbClr val="C9D6D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6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842455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6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 / 14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706624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we do not do matters as much as what we do.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602736"/>
            <a:ext cx="0" cy="1051560"/>
          </a:xfrm>
          <a:prstGeom prst="line">
            <a:avLst/>
          </a:prstGeom>
          <a:noFill/>
          <a:ln w="25400">
            <a:solidFill>
              <a:srgbClr val="11676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33272" y="3602736"/>
            <a:ext cx="4480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It turns work away. It is why we finish what we take.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035040" y="1874520"/>
            <a:ext cx="5379415" cy="0"/>
          </a:xfrm>
          <a:prstGeom prst="line">
            <a:avLst/>
          </a:prstGeom>
          <a:noFill/>
          <a:ln w="12700">
            <a:solidFill>
              <a:srgbClr val="C9D6D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035040" y="202082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601968" y="2002536"/>
            <a:ext cx="4812487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Modules outside our specialism — logistics, production planning, HR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35040" y="2898648"/>
            <a:ext cx="5379415" cy="0"/>
          </a:xfrm>
          <a:prstGeom prst="line">
            <a:avLst/>
          </a:prstGeom>
          <a:noFill/>
          <a:ln w="12700">
            <a:solidFill>
              <a:srgbClr val="C9D6D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035040" y="304495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601968" y="3026664"/>
            <a:ext cx="4812487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Capacity without architectural or delivery responsibility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035040" y="3922776"/>
            <a:ext cx="5379415" cy="0"/>
          </a:xfrm>
          <a:prstGeom prst="line">
            <a:avLst/>
          </a:prstGeom>
          <a:noFill/>
          <a:ln w="12700">
            <a:solidFill>
              <a:srgbClr val="C9D6D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035040" y="4069080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6601968" y="4050792"/>
            <a:ext cx="4812487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Firm commitments made before an assessment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035040" y="4946904"/>
            <a:ext cx="5379415" cy="0"/>
          </a:xfrm>
          <a:prstGeom prst="line">
            <a:avLst/>
          </a:prstGeom>
          <a:noFill/>
          <a:ln w="12700">
            <a:solidFill>
              <a:srgbClr val="C9D6D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35040" y="509320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6601968" y="5074920"/>
            <a:ext cx="4812487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Software development or infrastructure operations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035040" y="5971032"/>
            <a:ext cx="5379415" cy="0"/>
          </a:xfrm>
          <a:prstGeom prst="line">
            <a:avLst/>
          </a:prstGeom>
          <a:noFill/>
          <a:ln w="12700">
            <a:solidFill>
              <a:srgbClr val="C9D6DE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30352"/>
            <a:ext cx="10637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2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WAYS IN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60120"/>
            <a:ext cx="8686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Three shapes. Which one fits</a:t>
            </a:r>
            <a:endParaRPr lang="en-US" sz="3400" dirty="0"/>
          </a:p>
          <a:p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is clear in one conversation.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6272784"/>
            <a:ext cx="10637215" cy="0"/>
          </a:xfrm>
          <a:prstGeom prst="line">
            <a:avLst/>
          </a:prstGeom>
          <a:noFill/>
          <a:ln w="9525">
            <a:solidFill>
              <a:srgbClr val="C9D6D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6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842455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6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 / 14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77240" y="2487168"/>
            <a:ext cx="3310128" cy="2798064"/>
          </a:xfrm>
          <a:prstGeom prst="rect">
            <a:avLst/>
          </a:prstGeom>
          <a:solidFill>
            <a:srgbClr val="FFFFFF"/>
          </a:solidFill>
          <a:ln w="9525">
            <a:solidFill>
              <a:srgbClr val="C9D6DE"/>
            </a:solidFill>
            <a:prstDash val="solid"/>
          </a:ln>
          <a:effectLst>
            <a:outerShdw sx="100000" sy="100000" kx="0" ky="0" algn="bl" rotWithShape="0" blurRad="177800" dist="38100" dir="5400000">
              <a:srgbClr val="0E1620">
                <a:alpha val="7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129284" y="2894076"/>
            <a:ext cx="137160" cy="137160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197864" y="316382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Assessment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197864" y="36393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10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decision is due and the evidence is missing.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197864" y="4407408"/>
            <a:ext cx="2468880" cy="0"/>
          </a:xfrm>
          <a:prstGeom prst="line">
            <a:avLst/>
          </a:prstGeom>
          <a:noFill/>
          <a:ln w="12700">
            <a:solidFill>
              <a:srgbClr val="E2E9E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97864" y="4517136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i="1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end it able to decide.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1197864" y="5010912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2–6 weeks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471416" y="2487168"/>
            <a:ext cx="3310128" cy="2798064"/>
          </a:xfrm>
          <a:prstGeom prst="rect">
            <a:avLst/>
          </a:prstGeom>
          <a:solidFill>
            <a:srgbClr val="FFFFFF"/>
          </a:solidFill>
          <a:ln w="9525">
            <a:solidFill>
              <a:srgbClr val="C9D6DE"/>
            </a:solidFill>
            <a:prstDash val="solid"/>
          </a:ln>
          <a:effectLst>
            <a:outerShdw sx="100000" sy="100000" kx="0" ky="0" algn="bl" rotWithShape="0" blurRad="177800" dist="38100" dir="5400000">
              <a:srgbClr val="0E1620">
                <a:alpha val="7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823460" y="2894076"/>
            <a:ext cx="137160" cy="137160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892040" y="316382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Delivery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4892040" y="36393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10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decision is taken; it needs building.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892040" y="4407408"/>
            <a:ext cx="2468880" cy="0"/>
          </a:xfrm>
          <a:prstGeom prst="line">
            <a:avLst/>
          </a:prstGeom>
          <a:noFill/>
          <a:ln w="12700">
            <a:solidFill>
              <a:srgbClr val="E2E9E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892040" y="4517136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i="1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Phased plan, weekly reporting, hypercare included.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4892040" y="5010912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3–14 months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8165592" y="2487168"/>
            <a:ext cx="3310128" cy="2798064"/>
          </a:xfrm>
          <a:prstGeom prst="rect">
            <a:avLst/>
          </a:prstGeom>
          <a:solidFill>
            <a:srgbClr val="FFFFFF"/>
          </a:solidFill>
          <a:ln w="9525">
            <a:solidFill>
              <a:srgbClr val="C9D6DE"/>
            </a:solidFill>
            <a:prstDash val="solid"/>
          </a:ln>
          <a:effectLst>
            <a:outerShdw sx="100000" sy="100000" kx="0" ky="0" algn="bl" rotWithShape="0" blurRad="177800" dist="38100" dir="5400000">
              <a:srgbClr val="0E1620">
                <a:alpha val="7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517636" y="2894076"/>
            <a:ext cx="137160" cy="137160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586216" y="316382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Expert support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8586216" y="36393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10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Someone else runs it and one area needs depth.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586216" y="4407408"/>
            <a:ext cx="2468880" cy="0"/>
          </a:xfrm>
          <a:prstGeom prst="line">
            <a:avLst/>
          </a:prstGeom>
          <a:noFill/>
          <a:ln w="12700">
            <a:solidFill>
              <a:srgbClr val="E2E9E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586216" y="4517136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i="1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Narrow scope, agreed output.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8586216" y="5010912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Days to weeks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777240" y="566928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every need calls for a full programme.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30352"/>
            <a:ext cx="10637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2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REFERENCES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601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828"/>
              </a:lnSpc>
              <a:buNone/>
            </a:pPr>
            <a:r>
              <a:rPr lang="en-US" sz="33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The landscapes the</a:t>
            </a:r>
            <a:endParaRPr lang="en-US" sz="3300" dirty="0"/>
          </a:p>
          <a:p>
            <a:pPr indent="0" marL="0">
              <a:lnSpc>
                <a:spcPts val="3828"/>
              </a:lnSpc>
              <a:buNone/>
            </a:pPr>
            <a:r>
              <a:rPr lang="en-US" sz="33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experience comes from.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777240" y="6272784"/>
            <a:ext cx="10637215" cy="0"/>
          </a:xfrm>
          <a:prstGeom prst="line">
            <a:avLst/>
          </a:prstGeom>
          <a:noFill/>
          <a:ln w="9525">
            <a:solidFill>
              <a:srgbClr val="C9D6D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6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842455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6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13 / 14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7589520" y="1060704"/>
            <a:ext cx="3794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Ten years across SAP finance modules and cloud architecture.</a:t>
            </a:r>
            <a:endParaRPr lang="en-US" sz="1200" dirty="0"/>
          </a:p>
        </p:txBody>
      </p:sp>
      <p:pic>
        <p:nvPicPr>
          <p:cNvPr id="8" name="Image 0" descr="/tmp/claude-0/-home-user-Default/6c313414-fc11-5a80-9cf8-49dad1a51f26/scratchpad/img/ref-mercedes-benz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" y="3042862"/>
            <a:ext cx="1463040" cy="369940"/>
          </a:xfrm>
          <a:prstGeom prst="rect">
            <a:avLst/>
          </a:prstGeom>
        </p:spPr>
      </p:pic>
      <p:pic>
        <p:nvPicPr>
          <p:cNvPr id="9" name="Image 1" descr="/tmp/claude-0/-home-user-Default/6c313414-fc11-5a80-9cf8-49dad1a51f26/scratchpad/img/ref-pw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4270" y="2944368"/>
            <a:ext cx="1167205" cy="566928"/>
          </a:xfrm>
          <a:prstGeom prst="rect">
            <a:avLst/>
          </a:prstGeom>
        </p:spPr>
      </p:pic>
      <p:pic>
        <p:nvPicPr>
          <p:cNvPr id="10" name="Image 2" descr="/tmp/claude-0/-home-user-Default/6c313414-fc11-5a80-9cf8-49dad1a51f26/scratchpad/img/ref-gs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0016" y="2996881"/>
            <a:ext cx="1463040" cy="461903"/>
          </a:xfrm>
          <a:prstGeom prst="rect">
            <a:avLst/>
          </a:prstGeom>
        </p:spPr>
      </p:pic>
      <p:pic>
        <p:nvPicPr>
          <p:cNvPr id="11" name="Image 3" descr="/tmp/claude-0/-home-user-Default/6c313414-fc11-5a80-9cf8-49dad1a51f26/scratchpad/img/ref-boehringer-ingelheim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0" y="3001977"/>
            <a:ext cx="1463040" cy="451710"/>
          </a:xfrm>
          <a:prstGeom prst="rect">
            <a:avLst/>
          </a:prstGeom>
        </p:spPr>
      </p:pic>
      <p:pic>
        <p:nvPicPr>
          <p:cNvPr id="12" name="Image 4" descr="/tmp/claude-0/-home-user-Default/6c313414-fc11-5a80-9cf8-49dad1a51f26/scratchpad/img/ref-bek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01559" y="2944368"/>
            <a:ext cx="994611" cy="566928"/>
          </a:xfrm>
          <a:prstGeom prst="rect">
            <a:avLst/>
          </a:prstGeom>
        </p:spPr>
      </p:pic>
      <p:pic>
        <p:nvPicPr>
          <p:cNvPr id="13" name="Image 5" descr="/tmp/claude-0/-home-user-Default/6c313414-fc11-5a80-9cf8-49dad1a51f26/scratchpad/img/ref-enerjisa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51008" y="3083334"/>
            <a:ext cx="1463040" cy="288996"/>
          </a:xfrm>
          <a:prstGeom prst="rect">
            <a:avLst/>
          </a:prstGeom>
        </p:spPr>
      </p:pic>
      <p:pic>
        <p:nvPicPr>
          <p:cNvPr id="14" name="Image 6" descr="/tmp/claude-0/-home-user-Default/6c313414-fc11-5a80-9cf8-49dad1a51f26/scratchpad/img/ref-wavin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2688" y="4257735"/>
            <a:ext cx="1463040" cy="354210"/>
          </a:xfrm>
          <a:prstGeom prst="rect">
            <a:avLst/>
          </a:prstGeom>
        </p:spPr>
      </p:pic>
      <p:pic>
        <p:nvPicPr>
          <p:cNvPr id="15" name="Image 7" descr="/tmp/claude-0/-home-user-Default/6c313414-fc11-5a80-9cf8-49dad1a51f26/scratchpad/img/ref-imerys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06928" y="4151376"/>
            <a:ext cx="881888" cy="566928"/>
          </a:xfrm>
          <a:prstGeom prst="rect">
            <a:avLst/>
          </a:prstGeom>
        </p:spPr>
      </p:pic>
      <p:pic>
        <p:nvPicPr>
          <p:cNvPr id="16" name="Image 8" descr="/tmp/claude-0/-home-user-Default/6c313414-fc11-5a80-9cf8-49dad1a51f26/scratchpad/img/ref-flint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00016" y="4290218"/>
            <a:ext cx="1463040" cy="289245"/>
          </a:xfrm>
          <a:prstGeom prst="rect">
            <a:avLst/>
          </a:prstGeom>
        </p:spPr>
      </p:pic>
      <p:pic>
        <p:nvPicPr>
          <p:cNvPr id="17" name="Image 9" descr="/tmp/claude-0/-home-user-Default/6c313414-fc11-5a80-9cf8-49dad1a51f26/scratchpad/img/ref-peri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68164" y="4151376"/>
            <a:ext cx="1094072" cy="566928"/>
          </a:xfrm>
          <a:prstGeom prst="rect">
            <a:avLst/>
          </a:prstGeom>
        </p:spPr>
      </p:pic>
      <p:pic>
        <p:nvPicPr>
          <p:cNvPr id="18" name="Image 10" descr="/tmp/claude-0/-home-user-Default/6c313414-fc11-5a80-9cf8-49dad1a51f26/scratchpad/img/ref-hidromek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67344" y="4339481"/>
            <a:ext cx="1463040" cy="190718"/>
          </a:xfrm>
          <a:prstGeom prst="rect">
            <a:avLst/>
          </a:prstGeom>
        </p:spPr>
      </p:pic>
      <p:pic>
        <p:nvPicPr>
          <p:cNvPr id="19" name="Image 11" descr="/tmp/claude-0/-home-user-Default/6c313414-fc11-5a80-9cf8-49dad1a51f26/scratchpad/img/ref-aydem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618919" y="4151376"/>
            <a:ext cx="927219" cy="566928"/>
          </a:xfrm>
          <a:prstGeom prst="rect">
            <a:avLst/>
          </a:prstGeom>
        </p:spPr>
      </p:pic>
      <p:pic>
        <p:nvPicPr>
          <p:cNvPr id="20" name="Image 12" descr="/tmp/claude-0/-home-user-Default/6c313414-fc11-5a80-9cf8-49dad1a51f26/scratchpad/img/ref-nuh-cimento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43484" y="5358384"/>
            <a:ext cx="1241448" cy="566928"/>
          </a:xfrm>
          <a:prstGeom prst="rect">
            <a:avLst/>
          </a:prstGeom>
        </p:spPr>
      </p:pic>
      <p:pic>
        <p:nvPicPr>
          <p:cNvPr id="21" name="Image 13" descr="/tmp/claude-0/-home-user-Default/6c313414-fc11-5a80-9cf8-49dad1a51f26/scratchpad/img/ref-belbim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816352" y="5475873"/>
            <a:ext cx="1463040" cy="331950"/>
          </a:xfrm>
          <a:prstGeom prst="rect">
            <a:avLst/>
          </a:prstGeom>
        </p:spPr>
      </p:pic>
      <p:pic>
        <p:nvPicPr>
          <p:cNvPr id="22" name="Image 14" descr="/tmp/claude-0/-home-user-Default/6c313414-fc11-5a80-9cf8-49dad1a51f26/scratchpad/img/ref-tcd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123423" y="5358384"/>
            <a:ext cx="616226" cy="566928"/>
          </a:xfrm>
          <a:prstGeom prst="rect">
            <a:avLst/>
          </a:prstGeom>
        </p:spPr>
      </p:pic>
      <p:pic>
        <p:nvPicPr>
          <p:cNvPr id="23" name="Image 15" descr="/tmp/claude-0/-home-user-Default/6c313414-fc11-5a80-9cf8-49dad1a51f26/scratchpad/img/ref-iett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085852" y="5358384"/>
            <a:ext cx="458696" cy="566928"/>
          </a:xfrm>
          <a:prstGeom prst="rect">
            <a:avLst/>
          </a:prstGeom>
        </p:spPr>
      </p:pic>
      <p:pic>
        <p:nvPicPr>
          <p:cNvPr id="24" name="Image 16" descr="/tmp/claude-0/-home-user-Default/6c313414-fc11-5a80-9cf8-49dad1a51f26/scratchpad/img/ref-fusion-consulting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553739" y="5358384"/>
            <a:ext cx="1290250" cy="566928"/>
          </a:xfrm>
          <a:prstGeom prst="rect">
            <a:avLst/>
          </a:prstGeom>
        </p:spPr>
      </p:pic>
      <p:sp>
        <p:nvSpPr>
          <p:cNvPr id="25" name="Shape 6"/>
          <p:cNvSpPr/>
          <p:nvPr/>
        </p:nvSpPr>
        <p:spPr>
          <a:xfrm>
            <a:off x="777240" y="3749040"/>
            <a:ext cx="10637215" cy="0"/>
          </a:xfrm>
          <a:prstGeom prst="line">
            <a:avLst/>
          </a:prstGeom>
          <a:noFill/>
          <a:ln w="12700">
            <a:solidFill>
              <a:srgbClr val="E2E9EE"/>
            </a:solidFill>
            <a:prstDash val="solid"/>
          </a:ln>
        </p:spPr>
      </p:sp>
      <p:sp>
        <p:nvSpPr>
          <p:cNvPr id="26" name="Shape 7"/>
          <p:cNvSpPr/>
          <p:nvPr/>
        </p:nvSpPr>
        <p:spPr>
          <a:xfrm>
            <a:off x="777240" y="4956048"/>
            <a:ext cx="10637215" cy="0"/>
          </a:xfrm>
          <a:prstGeom prst="line">
            <a:avLst/>
          </a:prstGeom>
          <a:noFill/>
          <a:ln w="12700">
            <a:solidFill>
              <a:srgbClr val="E2E9EE"/>
            </a:solidFill>
            <a:prstDash val="solid"/>
          </a:ln>
        </p:spPr>
      </p:sp>
      <p:sp>
        <p:nvSpPr>
          <p:cNvPr id="27" name="Shape 8"/>
          <p:cNvSpPr/>
          <p:nvPr/>
        </p:nvSpPr>
        <p:spPr>
          <a:xfrm>
            <a:off x="777240" y="6163056"/>
            <a:ext cx="10637215" cy="0"/>
          </a:xfrm>
          <a:prstGeom prst="line">
            <a:avLst/>
          </a:prstGeom>
          <a:noFill/>
          <a:ln w="12700">
            <a:solidFill>
              <a:srgbClr val="E2E9EE"/>
            </a:solidFill>
            <a:prstDash val="solid"/>
          </a:ln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E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Default/6c313414-fc11-5a80-9cf8-49dad1a51f26/scratchpad/img/tex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530352"/>
            <a:ext cx="10637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2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WHY CPEAK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932688"/>
            <a:ext cx="10058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4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The people named in the proposal</a:t>
            </a:r>
            <a:endParaRPr lang="en-US" sz="36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are the people who turn up.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777240" y="2670048"/>
            <a:ext cx="2395728" cy="0"/>
          </a:xfrm>
          <a:prstGeom prst="line">
            <a:avLst/>
          </a:prstGeom>
          <a:noFill/>
          <a:ln w="12700">
            <a:solidFill>
              <a:srgbClr val="FFFFFF">
                <a:alpha val="3800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77240" y="2624328"/>
            <a:ext cx="91440" cy="91440"/>
          </a:xfrm>
          <a:prstGeom prst="ellipse">
            <a:avLst/>
          </a:prstGeom>
          <a:solidFill>
            <a:srgbClr val="E8B33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2852928"/>
            <a:ext cx="23957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7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SENIOR ONLY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163824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10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consultant you meet is the one who does the work.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392424" y="2670048"/>
            <a:ext cx="2395728" cy="0"/>
          </a:xfrm>
          <a:prstGeom prst="line">
            <a:avLst/>
          </a:prstGeom>
          <a:noFill/>
          <a:ln w="12700">
            <a:solidFill>
              <a:srgbClr val="FFFFFF">
                <a:alpha val="3800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392424" y="2624328"/>
            <a:ext cx="91440" cy="91440"/>
          </a:xfrm>
          <a:prstGeom prst="ellipse">
            <a:avLst/>
          </a:prstGeom>
          <a:solidFill>
            <a:srgbClr val="E8B33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392424" y="2852928"/>
            <a:ext cx="23957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7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NARROW BY DESIGN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3392424" y="3163824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10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Finance and cloud architecture. The hard part stays with us.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007608" y="2670048"/>
            <a:ext cx="2395728" cy="0"/>
          </a:xfrm>
          <a:prstGeom prst="line">
            <a:avLst/>
          </a:prstGeom>
          <a:noFill/>
          <a:ln w="12700">
            <a:solidFill>
              <a:srgbClr val="FFFFFF">
                <a:alpha val="3800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007608" y="2624328"/>
            <a:ext cx="91440" cy="91440"/>
          </a:xfrm>
          <a:prstGeom prst="ellipse">
            <a:avLst/>
          </a:prstGeom>
          <a:solidFill>
            <a:srgbClr val="E8B33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007608" y="2852928"/>
            <a:ext cx="23957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7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NEUTRAL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6007608" y="3163824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10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 compare, you decide, the reasoning stays written.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622792" y="2670048"/>
            <a:ext cx="2395728" cy="0"/>
          </a:xfrm>
          <a:prstGeom prst="line">
            <a:avLst/>
          </a:prstGeom>
          <a:noFill/>
          <a:ln w="12700">
            <a:solidFill>
              <a:srgbClr val="FFFFFF">
                <a:alpha val="3800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622792" y="2624328"/>
            <a:ext cx="91440" cy="91440"/>
          </a:xfrm>
          <a:prstGeom prst="ellipse">
            <a:avLst/>
          </a:prstGeom>
          <a:solidFill>
            <a:srgbClr val="E8B33A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622792" y="2852928"/>
            <a:ext cx="23957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7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PHASED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8622792" y="3163824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10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Scope grows in phases, not in headcount.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777240" y="4425696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5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Tell us about your programme.</a:t>
            </a:r>
            <a:endParaRPr lang="en-US" sz="1800" dirty="0"/>
          </a:p>
          <a:p>
            <a:pPr indent="0" marL="0">
              <a:lnSpc>
                <a:spcPts val="25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We respond within one business day.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6446520" y="440740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info@cpeakconsultancy.com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6446520" y="471830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+90 (507) 032 81 70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6446520" y="50292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2DD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linkedin.com/company/cpeak-consultancy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6446520" y="5431536"/>
            <a:ext cx="4937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9DB0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Bostancı Mahallesi, Şemsettin Günaltay Caddesi No: 31/8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9DB0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34744 Kadıköy, İstanbul   ·   Mon–Fri, 09:00–18:00 (GMT+3)</a:t>
            </a:r>
            <a:endParaRPr lang="en-US" sz="1050" dirty="0"/>
          </a:p>
        </p:txBody>
      </p:sp>
      <p:pic>
        <p:nvPicPr>
          <p:cNvPr id="26" name="Image 1" descr="/tmp/claude-0/-home-user-Default/6c313414-fc11-5a80-9cf8-49dad1a51f26/scratchpad/img/logo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5440680"/>
            <a:ext cx="1691640" cy="582473"/>
          </a:xfrm>
          <a:prstGeom prst="rect">
            <a:avLst/>
          </a:prstGeom>
        </p:spPr>
      </p:pic>
      <p:sp>
        <p:nvSpPr>
          <p:cNvPr id="27" name="Shape 23"/>
          <p:cNvSpPr/>
          <p:nvPr/>
        </p:nvSpPr>
        <p:spPr>
          <a:xfrm>
            <a:off x="777240" y="6355080"/>
            <a:ext cx="10637215" cy="0"/>
          </a:xfrm>
          <a:prstGeom prst="line">
            <a:avLst/>
          </a:prstGeom>
          <a:noFill/>
          <a:ln w="9525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777240" y="6455664"/>
            <a:ext cx="10607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DB0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SAP, S/4HANA and RISE with SAP are registered trademarks of SAP SE. CPeak Consultancy is an independent consultancy and is not affiliated with SAP SE.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CPeak Consultancy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CPeak Consultancy</dc:title>
  <dc:subject>PptxGenJS Presentation</dc:subject>
  <dc:creator>CPeak Consultancy</dc:creator>
  <cp:lastModifiedBy>CPeak Consultancy</cp:lastModifiedBy>
  <cp:revision>1</cp:revision>
  <dcterms:created xsi:type="dcterms:W3CDTF">2026-09-05T17:35:52Z</dcterms:created>
  <dcterms:modified xsi:type="dcterms:W3CDTF">2026-09-05T17:35:52Z</dcterms:modified>
</cp:coreProperties>
</file>
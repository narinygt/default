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Açılış. CPeak; SAP finans modülleri, bulut mimarisi ve uygulamalı yapay zeka üzerine çalışan bağımsız bir danışmanlık şirketidir. 2021, İstanbul.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 finans modülleri ve bulut mimarisi dışına çıkmaz; zor kısmı taşerona vermez.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Etkisi en uzun süren kararlar, en az veriye sahip olunan anda alınır.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alan birleşir ve birbirini besler; konumlanma bu kesişimdedir.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 ölçer, sonra öneririz.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Bulut modelinde tarafsızlık: uygunluk standart kapsamla ölçülür, gerekçe yazılı bırakılır.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adım; her adım tanımlı bir çıktıyla kapanır.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Yetkinlik → eylem → sonuç.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Beş yetkinlik alanı, müşterinin geldiği soru üzerinden.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Yapay zeka hem teslim edilen sistemde hem de çalışma yönteminde; insan denetimi sınırı açıkça yazılı.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Üstlenilmeyen işler, iddia edilen odağın gerçek olduğunu gösterir.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Değerlendirme, proje teslimi, uzman desteği.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CPeak’in yayımladığı referans logoları. Müşteri adı, rakam veya sonuç iddiası eklenmemiştir.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 argümanı ve iletişim. Bir iş günü içinde dönüş.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2240280" cy="77083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4832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FİNANS  ·  BULUT MİMARİSİ  ·  UYGULAMALI YAPAY ZEKA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77440"/>
            <a:ext cx="8595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Finans, bir ERP’nin</a:t>
            </a:r>
            <a:endParaRPr lang="en-US" sz="44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en affetmez</a:t>
            </a:r>
            <a:endParaRPr lang="en-US" sz="44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alanıdır.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44398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Bilinçli olarak dar kurulmuş bağımsız bir danışmanlık: geri dönüşü en pahalı kararların üzerinde bizzat biz çalışırız.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77240" y="5742432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İSTANBUL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361188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TÜRKİYE · EMEA · ABD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2021’DEN BERİ BAĞIMSIZ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KONUMLANMA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Derinlik bir tercihtir,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kısıt değil.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Geniş kapsam satılır, sonra her alan için ayrı bir uzman aranır — ve en kritik finans kararı, o konuyu en az görmüş kişiye kalır.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206240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4206240"/>
            <a:ext cx="4617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işi almamız, o işin en zor kısmını dışarıya devretmeyeceğimiz anlamına gelir.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23444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ALIŞILMIŞ BİÇİM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0" y="161848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7150608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0416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8650224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6" name="Shape 14"/>
          <p:cNvSpPr/>
          <p:nvPr/>
        </p:nvSpPr>
        <p:spPr>
          <a:xfrm>
            <a:off x="9400032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14984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20756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geniş kapsam · ödünç derinlik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6517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BİZİM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65176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 kapsam · sahiplenilen derinlik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0" y="303580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035808"/>
            <a:ext cx="1207008" cy="278892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7607808" y="331012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66660" y="326898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36992" y="31866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Şirket yapısı ve hesap planı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07808" y="381304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66660" y="377190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36992" y="36896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Maliyet, kârlılık ve proje muhasebesi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07808" y="431596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66660" y="427482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936992" y="41925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Kapanış, paralel adımlara ayrılmış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07808" y="481888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66660" y="477774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36992" y="46954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Bulut modeli, savunulan değil ölçülen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07808" y="532180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66660" y="528066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936992" y="51983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Kendi verinizle kalibre edilmiş otomasyon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ÇÖZMEK ÜZERE ÇAĞRILDIĞIMIZ SORUN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En pahalı kararlar en başta</a:t>
            </a:r>
            <a:endParaRPr lang="en-US" sz="3000" dirty="0"/>
          </a:p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alınır — en az şeyin</a:t>
            </a:r>
            <a:endParaRPr lang="en-US" sz="3000" dirty="0"/>
          </a:p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bilindiği anda.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992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Şirket yapısı. Geçiş yöntemi. Bulut modeli. İlk haftalarda karara bağlanır — bedeli on yıl boyunca ödenir.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7240" y="3950208"/>
            <a:ext cx="0" cy="1051560"/>
          </a:xfrm>
          <a:prstGeom prst="line">
            <a:avLst/>
          </a:prstGeom>
          <a:noFill/>
          <a:ln w="25400">
            <a:solidFill>
              <a:srgbClr val="E8B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33272" y="395020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Ölçmeden verilen tavsiye bir tahmindir; tahminin maliyeti ise size kalır.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784848" y="1417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KARARI GERİ ALMANIN MALİYETİ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784848" y="4809744"/>
            <a:ext cx="841248" cy="384048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6539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TASARIM</a:t>
            </a:r>
            <a:endParaRPr lang="en-US" sz="760" dirty="0"/>
          </a:p>
        </p:txBody>
      </p:sp>
      <p:sp>
        <p:nvSpPr>
          <p:cNvPr id="14" name="Shape 11"/>
          <p:cNvSpPr/>
          <p:nvPr/>
        </p:nvSpPr>
        <p:spPr>
          <a:xfrm>
            <a:off x="7973568" y="4142232"/>
            <a:ext cx="841248" cy="10515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5411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KURULUM</a:t>
            </a:r>
            <a:endParaRPr lang="en-US" sz="760" dirty="0"/>
          </a:p>
        </p:txBody>
      </p:sp>
      <p:sp>
        <p:nvSpPr>
          <p:cNvPr id="16" name="Shape 13"/>
          <p:cNvSpPr/>
          <p:nvPr/>
        </p:nvSpPr>
        <p:spPr>
          <a:xfrm>
            <a:off x="9162288" y="3227832"/>
            <a:ext cx="841248" cy="19659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4283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</a:t>
            </a:r>
            <a:endParaRPr lang="en-US" sz="760" dirty="0"/>
          </a:p>
        </p:txBody>
      </p:sp>
      <p:sp>
        <p:nvSpPr>
          <p:cNvPr id="18" name="Shape 15"/>
          <p:cNvSpPr/>
          <p:nvPr/>
        </p:nvSpPr>
        <p:spPr>
          <a:xfrm>
            <a:off x="10351008" y="2176272"/>
            <a:ext cx="841248" cy="3017520"/>
          </a:xfrm>
          <a:prstGeom prst="rect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13155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CANLI KULLANIM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6647688" y="5193792"/>
            <a:ext cx="4681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6892" y="4448556"/>
            <a:ext cx="137160" cy="13716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2" name="Shape 19"/>
          <p:cNvSpPr/>
          <p:nvPr/>
        </p:nvSpPr>
        <p:spPr>
          <a:xfrm>
            <a:off x="7205472" y="4585716"/>
            <a:ext cx="0" cy="141732"/>
          </a:xfrm>
          <a:prstGeom prst="line">
            <a:avLst/>
          </a:prstGeom>
          <a:noFill/>
          <a:ln w="12700">
            <a:solidFill>
              <a:srgbClr val="E8B33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45352" y="422452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burada verilir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784080" y="186537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bedeli burada ödenir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NEREDE DURUYORUZ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Yalnızca birlikte anlam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kazanan üç disiplin.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57984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sorunlarının çoğu modül sorunu değildir. Bu üçünün arasındaki dikişlerde durur.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FİNANS SÜRECİ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İşin defterlerini gerçekte nasıl kapattığı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ve PS — yapı, maliyet, marj, kapanış.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582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1888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PLATFORM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Sürecin üzerinde koştuğu zemin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ECC, S/4HANA, Private ve Public Cloud — savunulan değil, karşılaştırılan.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9486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6792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OTOMASYON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Güvenle elden çıkabilecek işler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Mutabakat, anomali tespiti, tahmine dayalı muhasebe — açmadan önce ölçülen.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4390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5820" y="5084064"/>
            <a:ext cx="749808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95848" y="5084064"/>
            <a:ext cx="0" cy="274320"/>
          </a:xfrm>
          <a:prstGeom prst="line">
            <a:avLst/>
          </a:prstGeom>
          <a:noFill/>
          <a:ln w="15875">
            <a:solidFill>
              <a:srgbClr val="1167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Üçüncü yılda hâlâ doğru görünen bir karar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ILKESI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Öneride bulunmadan önce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sistemi okuruz.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SÜRECİN ANLATILDIĞI HÂLİ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5852160" cy="0"/>
          </a:xfrm>
          <a:prstGeom prst="line">
            <a:avLst/>
          </a:prstGeom>
          <a:noFill/>
          <a:ln w="28575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2" name="Shape 10"/>
          <p:cNvSpPr/>
          <p:nvPr/>
        </p:nvSpPr>
        <p:spPr>
          <a:xfrm>
            <a:off x="512064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2743200"/>
            <a:ext cx="936346" cy="38404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713586" y="2962656"/>
            <a:ext cx="819302" cy="16459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32888" y="2962656"/>
            <a:ext cx="877824" cy="56692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3410712" y="3310128"/>
            <a:ext cx="877824" cy="219456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88536" y="3310128"/>
            <a:ext cx="936346" cy="512064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5224882" y="3621024"/>
            <a:ext cx="702259" cy="20116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7141" y="3621024"/>
            <a:ext cx="702259" cy="34747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67866" y="308152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87168" y="291693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4" name="Shape 22"/>
          <p:cNvSpPr/>
          <p:nvPr/>
        </p:nvSpPr>
        <p:spPr>
          <a:xfrm>
            <a:off x="3364992" y="348386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Shape 23"/>
          <p:cNvSpPr/>
          <p:nvPr/>
        </p:nvSpPr>
        <p:spPr>
          <a:xfrm>
            <a:off x="4242816" y="326440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Shape 24"/>
          <p:cNvSpPr/>
          <p:nvPr/>
        </p:nvSpPr>
        <p:spPr>
          <a:xfrm>
            <a:off x="5179162" y="3776472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7" name="Shape 25"/>
          <p:cNvSpPr/>
          <p:nvPr/>
        </p:nvSpPr>
        <p:spPr>
          <a:xfrm>
            <a:off x="5881421" y="357530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Shape 26"/>
          <p:cNvSpPr/>
          <p:nvPr/>
        </p:nvSpPr>
        <p:spPr>
          <a:xfrm>
            <a:off x="6583680" y="392277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86200" y="4114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SÜRECİN İŞLEDİĞİ HÂLİ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410712" y="2743200"/>
            <a:ext cx="0" cy="786384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69564" y="3488436"/>
            <a:ext cx="82296" cy="82296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57016" y="287121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bulgular bu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farkın içindedir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360920" y="239572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Kullanım istatistikleri. Veri kalitesi. Custom kod envanteri. Adım adım ölçülen kapanış süreleri.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60920" y="340156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Sistemin ne yaptığı — dokümanın ne dediği değil. İkisi arasındaki fark çoğu zaman sorunun kendisidir.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360920" y="4828032"/>
            <a:ext cx="402336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49743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Hemen her çalışma bir değerlendirmeyle başlar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378440" y="49377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</a:t>
            </a:r>
            <a:endParaRPr lang="en-US" sz="12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HAFTA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SIZIN YERINIZE VERMEYECEĞIMIZ KARAR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Bulut modeli satmıyoruz.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Hangisi olduğunuzu ölçüyoruz.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CLOUD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7240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Standardı siz benimsersiniz.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Hız ve öngörülebilir işletme maliyeti — değiştirilemeyen bir çekirdek karşılığında.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3–5 ay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 ülkeli finans kurulumu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116775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 CLOUD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116775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16775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Süreç mantığınızı korursunuz.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116775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Kendi geliştirmeleriniz kalır — daha fazla sorumluluk ve daha uzun bir kurulum karşılığında.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116775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7–14 ay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116775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kapsama ve devralınan yapıya göre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95848" y="2569464"/>
            <a:ext cx="0" cy="274320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74056" y="3657600"/>
            <a:ext cx="1243584" cy="384048"/>
          </a:xfrm>
          <a:prstGeom prst="rect">
            <a:avLst/>
          </a:prstGeom>
          <a:solidFill>
            <a:srgbClr val="003F8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74056" y="365760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4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TAKAS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50468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Biri diğerinin gelişmiş sürümü değildir. İki maliyeti ve iki kısıtı yan yana koyarız; karar sizde kalır ve verilecek an sözleşmeden öncedir.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İŞ NASIL ILERLER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öncekiler kapanmadan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hiçbir şey başlamaz.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078992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adımın sonunda ne teslim edileceği baştan bellidir. Her kapıda devam kararı yeniden verilir.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78892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Teşhis raporu, sistem verisinden okunmuş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467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980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KAPI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5204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204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Mimari ve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yol haritası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5204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Hedef mimari ve fazlı yol haritası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5204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hafta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899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412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KAPI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2636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Uygulama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2636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Çalışan sistem, test kayıtları, devreye alma planı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8331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844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KAPI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68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068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0068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0068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İlk kapanış ekibinizle birlikte, iyileştirme listesi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0068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068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hafta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DEĞER NEREDE GÖRÜNÜR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Uzmanlık, ancak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değiştirdiği kadar değerlidir.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 GETİRİYORUZ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BUNUNLA NE YAPIYORUZ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26334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SİZİN İÇİN NE DEĞİŞİYOR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ve CO’da derinlik, yan yetkinlik değil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Kapanışı sıralı değil, paralel işleyecek biçimde yeniden kurmak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200400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Yalnızca kısa değil, öngörülebilir bir kapanış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01668" y="3305556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7904988" y="3305556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13308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Bulut modellerinde tarafsız bir okuma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Süreçlerinizi standart kapsamla, sözleşmeden önce karşılaştırmak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2611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Projenin ortasında ayakta kalan bir model kararı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01668" y="4366260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1" name="Shape 19"/>
          <p:cNvSpPr/>
          <p:nvPr/>
        </p:nvSpPr>
        <p:spPr>
          <a:xfrm>
            <a:off x="7904988" y="436626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19379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Saatlerin gerçekten olduğu yere konmuş yapay zeka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Eşikleri kendi verinizle kalibre etmek, denetim kurallarını yazmak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532180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Ekip, kalem eşleştirmekten istisna incelemeye geçer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01668" y="5426964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7" name="Shape 25"/>
          <p:cNvSpPr/>
          <p:nvPr/>
        </p:nvSpPr>
        <p:spPr>
          <a:xfrm>
            <a:off x="7904988" y="5426964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YETKINLIKLER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Sorduğunuz asıl sorunun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etrafında düzenlendi.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139696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473452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322576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Kendi rakamlarımıza güvenebilir miyiz?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23682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FİNANS MODÜLLERİ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261518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ve PS; beş paralel yapı değil, tek bir süreç mimarisi olarak.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29626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241548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69848" y="3090672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S/4HANA’ya hangi yoldan gideceğiz?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3136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S/4HANA DÖNÜŞÜMÜ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897880" y="338328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ya da seçici geçiş — kanıta dayanarak.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73075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009644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9848" y="3858768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Standart bize gerçekten yetiyor mu?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90448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PUBLIC CLOUD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4151376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Süreçlerinizin ne kadarı standarda oturuyor — taahhütten önce belirlenir.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49884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777740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69848" y="4626864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Süreci bırakmadan buluta geçilir mi?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46725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PRIVATE CLOUD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897880" y="4919472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Mimari, göç ve RISE sözleşmesinin açık bıraktığı sorumluluk sınırları.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5266944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5545836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69848" y="5394960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 yapay zekanın hangisi bizim için gerçek?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5897880" y="544068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FİNANSTA YAPAY ZEKA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56875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 hacmi ve süreç disiplininin desteklediği yetenekler — sıralanarak.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77240" y="603504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67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UYGULAMALI YAPAY ZEKA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64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Yapay zekayı iki yerde kullanırız:</a:t>
            </a:r>
            <a:endParaRPr lang="en-US" sz="2900" dirty="0"/>
          </a:p>
          <a:p>
            <a:pPr indent="0" marL="0">
              <a:lnSpc>
                <a:spcPts val="3364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sizin süreçlerinizde ve kendi işimizde.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408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SİZİN FİNANS SÜREÇLERİNİZDE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SAP’nin içine yerleşik, ayrıca satın alınan değil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3145536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35584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51560" y="3291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Akıllı eşleştirme — banka ve açık kalemler otomatik kapatılır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" y="39959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51560" y="39319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Anomali tespiti — olağandışı kayıtlar kapanıştan önce işaretlenir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7240" y="463600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51560" y="45720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Tahmine dayalı muhasebe — kesinleşmemiş işlemlerin etkisi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77240" y="527608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51560" y="52120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— doğal dille sorgulama ve gezinme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659575" y="23408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KENDİ ÇALIŞMA ŞEKLİMİZDE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659575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Hacimli işlerde, karar gerektiren yerlerde değil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659575" y="3145536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9575" y="335584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33895" y="3291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kod envanteri ve etki analizi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59575" y="39959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933895" y="39319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senaryolarının ilk taslakları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659575" y="463600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933895" y="45720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Migrasyon mutabakat kontrollerinin hazırlanması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659575" y="527608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933895" y="52120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Konfigürasyon dokümanlarının ilk sürümleri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77240" y="5687568"/>
            <a:ext cx="10637215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581558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Finansal kayıt üreten hiçbir karar insan denetimi olmadan kesinleşmez — bu pazarlık konusu değildir.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SINIRLAR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uzmanlık, dışarıda</a:t>
            </a:r>
            <a:endParaRPr lang="en-US" sz="3000" dirty="0"/>
          </a:p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bıraktıklarıyla tanımlanır.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0662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Neyi yapmadığımızı söylemek, ne yaptığımızı söylemek kadar önemlidir.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602736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3602736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 bize iş kaybettirir. Aldığımız işleri bitirebilmemizin sebebi de budur.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35040" y="1874520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202082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002536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Uzmanlık alanımız dışındaki modüllerin ana sorumluluğu — lojistik, üretim planlama, İK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2898648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3044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026664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Mimari ya da teslim sorumluluğu üstlenmeden kaynak sağlama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3922776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4069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601968" y="4050792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Değerlendirme yapılmadan verilen sabit fiyat taahhütleri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4946904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50932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601968" y="5074920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Yazılım geliştirme ya da altyapı işletim hizmeti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5971032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BIÇIMLERI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9692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Üç biçim. Hangisinin uygun olduğu</a:t>
            </a:r>
            <a:endParaRPr lang="en-US" sz="3100" dirty="0"/>
          </a:p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tek görüşmede belli olur.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395728"/>
            <a:ext cx="3310128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29284" y="280263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97864" y="30723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97864" y="354787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karar vermeniz gerekiyor ve elinizde veri yok: geçiş yöntemi, bulut modeli, sağlık kontrolü.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97864" y="4700016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97864" y="480974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Sonunda karar verebilecek durumda olursunuz.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97864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71416" y="2395728"/>
            <a:ext cx="3310128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23460" y="280263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30723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 teslimi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54787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verilmiş ve uygulanması gerekiyor: dönüşüm, kurulum ya da yeniden yapılandırma.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4700016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480974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Fazlı plan, haftalık rapor, devreye alma ve hypercare dahil.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65592" y="2395728"/>
            <a:ext cx="3310128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517636" y="280263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86216" y="30723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Uzman desteği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586216" y="354787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Projeyi başkası yürütüyor, tek bir noktada derinlik gerekiyor: gözden geçirme, ikinci görüş, tek iş kalemi.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86216" y="4700016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86216" y="480974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Sınırlı kapsam, baştan anlaşılmış çıktı, gereksiz uzatma yok.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586216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Gün – hafta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70585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ihtiyaç tam kapsamlı bir proje gerektirmez — gerektirmediğinde bunu söyleriz.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REFERANSLAR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Deneyimin geldiği</a:t>
            </a:r>
            <a:endParaRPr lang="en-US" sz="3300" dirty="0"/>
          </a:p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kurumsal yapılar.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060704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finans modülleri ve bulut mimarisinde on yılı aşkın saha deneyimi.</a:t>
            </a:r>
            <a:endParaRPr lang="en-US" sz="1200" dirty="0"/>
          </a:p>
        </p:txBody>
      </p:sp>
      <p:pic>
        <p:nvPicPr>
          <p:cNvPr id="8" name="Image 0" descr="/tmp/claude-0/-home-user-Default/6c313414-fc11-5a80-9cf8-49dad1a51f26/scratchpad/img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042862"/>
            <a:ext cx="1463040" cy="369940"/>
          </a:xfrm>
          <a:prstGeom prst="rect">
            <a:avLst/>
          </a:prstGeom>
        </p:spPr>
      </p:pic>
      <p:pic>
        <p:nvPicPr>
          <p:cNvPr id="9" name="Image 1" descr="/tmp/claude-0/-home-user-Default/6c313414-fc11-5a80-9cf8-49dad1a51f26/scratchpad/img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270" y="2944368"/>
            <a:ext cx="1167205" cy="566928"/>
          </a:xfrm>
          <a:prstGeom prst="rect">
            <a:avLst/>
          </a:prstGeom>
        </p:spPr>
      </p:pic>
      <p:pic>
        <p:nvPicPr>
          <p:cNvPr id="10" name="Image 2" descr="/tmp/claude-0/-home-user-Default/6c313414-fc11-5a80-9cf8-49dad1a51f26/scratchpad/img/ref-g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2996881"/>
            <a:ext cx="1463040" cy="461903"/>
          </a:xfrm>
          <a:prstGeom prst="rect">
            <a:avLst/>
          </a:prstGeom>
        </p:spPr>
      </p:pic>
      <p:pic>
        <p:nvPicPr>
          <p:cNvPr id="11" name="Image 3" descr="/tmp/claude-0/-home-user-Default/6c313414-fc11-5a80-9cf8-49dad1a51f26/scratchpad/img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001977"/>
            <a:ext cx="1463040" cy="451710"/>
          </a:xfrm>
          <a:prstGeom prst="rect">
            <a:avLst/>
          </a:prstGeom>
        </p:spPr>
      </p:pic>
      <p:pic>
        <p:nvPicPr>
          <p:cNvPr id="12" name="Image 4" descr="/tmp/claude-0/-home-user-Default/6c313414-fc11-5a80-9cf8-49dad1a51f26/scratchpad/img/ref-bek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559" y="2944368"/>
            <a:ext cx="994611" cy="566928"/>
          </a:xfrm>
          <a:prstGeom prst="rect">
            <a:avLst/>
          </a:prstGeom>
        </p:spPr>
      </p:pic>
      <p:pic>
        <p:nvPicPr>
          <p:cNvPr id="13" name="Image 5" descr="/tmp/claude-0/-home-user-Default/6c313414-fc11-5a80-9cf8-49dad1a51f26/scratchpad/img/ref-enerjis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008" y="3083334"/>
            <a:ext cx="1463040" cy="288996"/>
          </a:xfrm>
          <a:prstGeom prst="rect">
            <a:avLst/>
          </a:prstGeom>
        </p:spPr>
      </p:pic>
      <p:pic>
        <p:nvPicPr>
          <p:cNvPr id="14" name="Image 6" descr="/tmp/claude-0/-home-user-Default/6c313414-fc11-5a80-9cf8-49dad1a51f26/scratchpad/img/ref-wavi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4257735"/>
            <a:ext cx="1463040" cy="354210"/>
          </a:xfrm>
          <a:prstGeom prst="rect">
            <a:avLst/>
          </a:prstGeom>
        </p:spPr>
      </p:pic>
      <p:pic>
        <p:nvPicPr>
          <p:cNvPr id="15" name="Image 7" descr="/tmp/claude-0/-home-user-Default/6c313414-fc11-5a80-9cf8-49dad1a51f26/scratchpad/img/ref-imery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6928" y="4151376"/>
            <a:ext cx="881888" cy="566928"/>
          </a:xfrm>
          <a:prstGeom prst="rect">
            <a:avLst/>
          </a:prstGeom>
        </p:spPr>
      </p:pic>
      <p:pic>
        <p:nvPicPr>
          <p:cNvPr id="16" name="Image 8" descr="/tmp/claude-0/-home-user-Default/6c313414-fc11-5a80-9cf8-49dad1a51f26/scratchpad/img/ref-fli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0016" y="4290218"/>
            <a:ext cx="1463040" cy="289245"/>
          </a:xfrm>
          <a:prstGeom prst="rect">
            <a:avLst/>
          </a:prstGeom>
        </p:spPr>
      </p:pic>
      <p:pic>
        <p:nvPicPr>
          <p:cNvPr id="17" name="Image 9" descr="/tmp/claude-0/-home-user-Default/6c313414-fc11-5a80-9cf8-49dad1a51f26/scratchpad/img/ref-per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8164" y="4151376"/>
            <a:ext cx="1094072" cy="566928"/>
          </a:xfrm>
          <a:prstGeom prst="rect">
            <a:avLst/>
          </a:prstGeom>
        </p:spPr>
      </p:pic>
      <p:pic>
        <p:nvPicPr>
          <p:cNvPr id="18" name="Image 10" descr="/tmp/claude-0/-home-user-Default/6c313414-fc11-5a80-9cf8-49dad1a51f26/scratchpad/img/ref-hidrome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7344" y="4339481"/>
            <a:ext cx="1463040" cy="190718"/>
          </a:xfrm>
          <a:prstGeom prst="rect">
            <a:avLst/>
          </a:prstGeom>
        </p:spPr>
      </p:pic>
      <p:pic>
        <p:nvPicPr>
          <p:cNvPr id="19" name="Image 11" descr="/tmp/claude-0/-home-user-Default/6c313414-fc11-5a80-9cf8-49dad1a51f26/scratchpad/img/ref-ayde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8919" y="4151376"/>
            <a:ext cx="927219" cy="566928"/>
          </a:xfrm>
          <a:prstGeom prst="rect">
            <a:avLst/>
          </a:prstGeom>
        </p:spPr>
      </p:pic>
      <p:pic>
        <p:nvPicPr>
          <p:cNvPr id="20" name="Image 12" descr="/tmp/claude-0/-home-user-Default/6c313414-fc11-5a80-9cf8-49dad1a51f26/scratchpad/img/ref-nuh-cimento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3484" y="5358384"/>
            <a:ext cx="1241448" cy="566928"/>
          </a:xfrm>
          <a:prstGeom prst="rect">
            <a:avLst/>
          </a:prstGeom>
        </p:spPr>
      </p:pic>
      <p:pic>
        <p:nvPicPr>
          <p:cNvPr id="21" name="Image 13" descr="/tmp/claude-0/-home-user-Default/6c313414-fc11-5a80-9cf8-49dad1a51f26/scratchpad/img/ref-belbi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6352" y="5475873"/>
            <a:ext cx="1463040" cy="331950"/>
          </a:xfrm>
          <a:prstGeom prst="rect">
            <a:avLst/>
          </a:prstGeom>
        </p:spPr>
      </p:pic>
      <p:pic>
        <p:nvPicPr>
          <p:cNvPr id="22" name="Image 14" descr="/tmp/claude-0/-home-user-Default/6c313414-fc11-5a80-9cf8-49dad1a51f26/scratchpad/img/ref-tcd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23423" y="5358384"/>
            <a:ext cx="616226" cy="566928"/>
          </a:xfrm>
          <a:prstGeom prst="rect">
            <a:avLst/>
          </a:prstGeom>
        </p:spPr>
      </p:pic>
      <p:pic>
        <p:nvPicPr>
          <p:cNvPr id="23" name="Image 15" descr="/tmp/claude-0/-home-user-Default/6c313414-fc11-5a80-9cf8-49dad1a51f26/scratchpad/img/ref-iet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5852" y="5358384"/>
            <a:ext cx="458696" cy="566928"/>
          </a:xfrm>
          <a:prstGeom prst="rect">
            <a:avLst/>
          </a:prstGeom>
        </p:spPr>
      </p:pic>
      <p:pic>
        <p:nvPicPr>
          <p:cNvPr id="24" name="Image 16" descr="/tmp/claude-0/-home-user-Default/6c313414-fc11-5a80-9cf8-49dad1a51f26/scratchpad/img/ref-fusion-consulting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53739" y="5358384"/>
            <a:ext cx="1290250" cy="566928"/>
          </a:xfrm>
          <a:prstGeom prst="rect">
            <a:avLst/>
          </a:prstGeom>
        </p:spPr>
      </p:pic>
      <p:sp>
        <p:nvSpPr>
          <p:cNvPr id="25" name="Shape 6"/>
          <p:cNvSpPr/>
          <p:nvPr/>
        </p:nvSpPr>
        <p:spPr>
          <a:xfrm>
            <a:off x="777240" y="3749040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Shape 7"/>
          <p:cNvSpPr/>
          <p:nvPr/>
        </p:nvSpPr>
        <p:spPr>
          <a:xfrm>
            <a:off x="777240" y="495604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7" name="Shape 8"/>
          <p:cNvSpPr/>
          <p:nvPr/>
        </p:nvSpPr>
        <p:spPr>
          <a:xfrm>
            <a:off x="777240" y="61630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NEDEN CPEAK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Teklifte adı geçen kişiler,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projeye gelen kişilerdir.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77240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YALNIZCA KIDEMLİ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Küçük ve kıdemli bir ekip. Öğrenme süresi sizin bütçenizden çıkmaz.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2424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92424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92424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TASARIM GEREĞİ DAR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92424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Yalnızca finans ve bulut mimarisi. Zor kısım dışarıya verilmez.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07608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07608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07608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TARAFSIZ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007608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 karşılaştırırız, siz karar verirsiniz, gerekçe yazılı kalır.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22792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22792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22792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FAZLI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622792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 kadroyla değil, fazlarla büyür.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42569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Projenizi anlatın.</a:t>
            </a:r>
            <a:endParaRPr lang="en-US" sz="18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iş günü içinde dönüş yapıyoruz.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44652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info@cpeakconsultancy.com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46520" y="4718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+90 (507) 032 81 70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5029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2DD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linkedin.com/company/cpeak-consultancy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5431536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Mahallesi, Şemsettin Günaltay Caddesi No: 31/8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34744 Kadıköy, İstanbul   ·   Pzt–Cum, 09:00–18:00 (GMT+3)</a:t>
            </a:r>
            <a:endParaRPr lang="en-US" sz="1050" dirty="0"/>
          </a:p>
        </p:txBody>
      </p:sp>
      <p:pic>
        <p:nvPicPr>
          <p:cNvPr id="26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440680"/>
            <a:ext cx="1691640" cy="582473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77240" y="6355080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" y="6455664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SAP, S/4HANA ve RISE with SAP, SAP SE’nin tescilli markalarıdır. CPeak Consultancy bağımsız bir danışmanlık şirketidir ve SAP SE ile bağlantılı değildir.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</dc:title>
  <dc:subject>PptxGenJS Presentation</dc:subject>
  <dc:creator>CPeak Consultancy</dc:creator>
  <cp:lastModifiedBy>CPeak Consultancy</cp:lastModifiedBy>
  <cp:revision>1</cp:revision>
  <dcterms:created xsi:type="dcterms:W3CDTF">2026-09-05T17:29:09Z</dcterms:created>
  <dcterms:modified xsi:type="dcterms:W3CDTF">2026-09-05T17:29:09Z</dcterms:modified>
</cp:coreProperties>
</file>
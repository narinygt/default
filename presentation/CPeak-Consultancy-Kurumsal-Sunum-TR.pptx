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CPeak; SAP finans modülleri, bulut mimarisi ve uygulamalı yapay zeka üzerine çalışan bağımsız bir danışmanlık şirketidir. 2021, İstanbul.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CPeak finans modülleri ve bulut mimarisi dışına çıkmaz; zor kısmı taşerona vermez.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Etkisi en uzun süren kararlar, en az veriye sahip olunan anda alınır.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Üç alan birleşir ve birbirini besler; konumlanma bu kesişimdedir.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Önce ölçer, sonra öneririz.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Bulut modelinde tarafsızlık: uygunluk standart kapsamla ölçülür, gerekçe yazılı bırakılır.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Dört adım; her adım tanımlı bir çıktıyla kapanır.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Yetkinlik → eylem → sonuç.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Beş yetkinlik alanı.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Yapay zeka hem teslim edilen sistemde hem çalışma yönteminde; insan denetimi sınırı açıkça yazılı.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Üstlenilmeyen işler, iddia edilen odağın gerçek olduğunu gösterir.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Değerlendirme, proje teslimi, uzman desteği.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CPeak’in yayımladığı referans logoları. Müşteri adı veya sonuç iddiası eklenmemiştir.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 argümanı ve iletişim. Bir iş günü içinde dönüş.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image" Target="../media/image-13-16.png"/><Relationship Id="rId17" Type="http://schemas.openxmlformats.org/officeDocument/2006/relationships/image" Target="../media/image-13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Default/6c313414-fc11-5a80-9cf8-49dad1a51f26/scratchpad/img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2240280" cy="770839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2084832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4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FİNANS  ·  BULUT MİMARİSİ  ·  UYGULAMALI YAPAY ZEKA</a:t>
            </a:r>
            <a:endParaRPr lang="en-US" sz="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542032"/>
            <a:ext cx="8595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1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Finans odaklı</a:t>
            </a:r>
            <a:endParaRPr lang="en-US" sz="4400" dirty="0"/>
          </a:p>
          <a:p>
            <a:pPr indent="0" marL="0">
              <a:lnSpc>
                <a:spcPts val="51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dönüşümü.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4443984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Bağımsız ve bilinçli olarak dar: en zor kararların üzerinde bizzat biz çalışırız.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777240" y="5742432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070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İSTANBUL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3611880" y="59070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TÜRKİYE · EMEA · ABD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8001000" y="59070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2021’DEN BERİ BAĞIMSIZ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KONUMLANMA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Genişlik değil,</a:t>
            </a:r>
            <a:endParaRPr lang="en-US" sz="4000" dirty="0"/>
          </a:p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derinlik.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Geniş kapsam satılır, her alana ayrı uzman aranır — ve en zor karar, o konuyu en az görmüş kişiye kalır.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4206240"/>
            <a:ext cx="0" cy="1051560"/>
          </a:xfrm>
          <a:prstGeom prst="line">
            <a:avLst/>
          </a:prstGeom>
          <a:noFill/>
          <a:ln w="25400">
            <a:solidFill>
              <a:srgbClr val="11676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33272" y="4206240"/>
            <a:ext cx="4617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Bir işi almamız, o işin en zor kısmını dışarıya devretmeyeceğimiz anlamına gelir.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234440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ALIŞILMIŞ BİÇİM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0" y="1618488"/>
            <a:ext cx="443484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3" name="Shape 11"/>
          <p:cNvSpPr/>
          <p:nvPr/>
        </p:nvSpPr>
        <p:spPr>
          <a:xfrm>
            <a:off x="7150608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4" name="Shape 12"/>
          <p:cNvSpPr/>
          <p:nvPr/>
        </p:nvSpPr>
        <p:spPr>
          <a:xfrm>
            <a:off x="7900416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5" name="Shape 13"/>
          <p:cNvSpPr/>
          <p:nvPr/>
        </p:nvSpPr>
        <p:spPr>
          <a:xfrm>
            <a:off x="8650224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6" name="Shape 14"/>
          <p:cNvSpPr/>
          <p:nvPr/>
        </p:nvSpPr>
        <p:spPr>
          <a:xfrm>
            <a:off x="9400032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149840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0" y="2075688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geniş kapsam · ödünç derinlik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6517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BİZİM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0" y="265176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 kapsam · sahiplenilen derinlik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400800" y="3035808"/>
            <a:ext cx="443484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3035808"/>
            <a:ext cx="1207008" cy="2788920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23" name="Shape 21"/>
          <p:cNvSpPr/>
          <p:nvPr/>
        </p:nvSpPr>
        <p:spPr>
          <a:xfrm>
            <a:off x="7607808" y="331012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66660" y="326898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36992" y="318668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Şirket yapısı ve hesap planı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607808" y="381304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66660" y="377190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936992" y="36896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Maliyet, kârlılık ve proje muhasebesi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07808" y="431596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66660" y="427482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936992" y="41925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Kapanış, paralel adımlara ayrılmış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607808" y="481888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66660" y="477774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936992" y="46954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Bulut modeli, savunulan değil ölçülen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TEMEL SORUN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6012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Erken kararlar,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kalıcı sonuçlar.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14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99923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Şirket yapısı. Geçiş yöntemi. Bulut modeli. İlk haftalarda karara bağlanır, on yıl boyunca yaşanır.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77240" y="3950208"/>
            <a:ext cx="0" cy="1051560"/>
          </a:xfrm>
          <a:prstGeom prst="line">
            <a:avLst/>
          </a:prstGeom>
          <a:noFill/>
          <a:ln w="25400">
            <a:solidFill>
              <a:srgbClr val="E8B3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33272" y="3950208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F5DCA4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Ölçmeden verilen tavsiye bir tahmindir; sonucuna siz katlanırsınız.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784848" y="1417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KARARI GERİ ALMANIN ZORLUĞU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784848" y="4809744"/>
            <a:ext cx="841248" cy="384048"/>
          </a:xfrm>
          <a:prstGeom prst="rect">
            <a:avLst/>
          </a:prstGeom>
          <a:solidFill>
            <a:srgbClr val="11676A">
              <a:alpha val="92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6539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TASARIM</a:t>
            </a:r>
            <a:endParaRPr lang="en-US" sz="760" dirty="0"/>
          </a:p>
        </p:txBody>
      </p:sp>
      <p:sp>
        <p:nvSpPr>
          <p:cNvPr id="14" name="Shape 11"/>
          <p:cNvSpPr/>
          <p:nvPr/>
        </p:nvSpPr>
        <p:spPr>
          <a:xfrm>
            <a:off x="7973568" y="4142232"/>
            <a:ext cx="841248" cy="1051560"/>
          </a:xfrm>
          <a:prstGeom prst="rect">
            <a:avLst/>
          </a:prstGeom>
          <a:solidFill>
            <a:srgbClr val="11676A">
              <a:alpha val="9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5411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KURULUM</a:t>
            </a:r>
            <a:endParaRPr lang="en-US" sz="760" dirty="0"/>
          </a:p>
        </p:txBody>
      </p:sp>
      <p:sp>
        <p:nvSpPr>
          <p:cNvPr id="16" name="Shape 13"/>
          <p:cNvSpPr/>
          <p:nvPr/>
        </p:nvSpPr>
        <p:spPr>
          <a:xfrm>
            <a:off x="9162288" y="3227832"/>
            <a:ext cx="841248" cy="1965960"/>
          </a:xfrm>
          <a:prstGeom prst="rect">
            <a:avLst/>
          </a:prstGeom>
          <a:solidFill>
            <a:srgbClr val="11676A">
              <a:alpha val="92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94283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TEST</a:t>
            </a:r>
            <a:endParaRPr lang="en-US" sz="760" dirty="0"/>
          </a:p>
        </p:txBody>
      </p:sp>
      <p:sp>
        <p:nvSpPr>
          <p:cNvPr id="18" name="Shape 15"/>
          <p:cNvSpPr/>
          <p:nvPr/>
        </p:nvSpPr>
        <p:spPr>
          <a:xfrm>
            <a:off x="10351008" y="2176272"/>
            <a:ext cx="841248" cy="3017520"/>
          </a:xfrm>
          <a:prstGeom prst="rect">
            <a:avLst/>
          </a:prstGeom>
          <a:solidFill>
            <a:srgbClr val="E8B33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13155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CANLI KULLANIM</a:t>
            </a:r>
            <a:endParaRPr lang="en-US" sz="760" dirty="0"/>
          </a:p>
        </p:txBody>
      </p:sp>
      <p:sp>
        <p:nvSpPr>
          <p:cNvPr id="20" name="Shape 17"/>
          <p:cNvSpPr/>
          <p:nvPr/>
        </p:nvSpPr>
        <p:spPr>
          <a:xfrm>
            <a:off x="6647688" y="5193792"/>
            <a:ext cx="4681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36892" y="4448556"/>
            <a:ext cx="137160" cy="13716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2" name="Shape 19"/>
          <p:cNvSpPr/>
          <p:nvPr/>
        </p:nvSpPr>
        <p:spPr>
          <a:xfrm>
            <a:off x="7205472" y="4585716"/>
            <a:ext cx="0" cy="141732"/>
          </a:xfrm>
          <a:prstGeom prst="line">
            <a:avLst/>
          </a:prstGeom>
          <a:noFill/>
          <a:ln w="12700">
            <a:solidFill>
              <a:srgbClr val="E8B33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45352" y="422452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5DCA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karar burada verilir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784080" y="186537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5DCA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burada yaşanır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UZMANLIK ALANIMIZ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Üç disiplin, tek uzmanlık.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57984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 sorunlarının çoğu bu üçünün arasındaki dikişlerde durur.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2670048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69848" y="26243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FİNANS SÜRECİ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054096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Defterlerin gerçekte nasıl kapandığı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6732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FI, CO, PA ve PS — yapı, maliyet, marj, kapanış.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45820" y="4809744"/>
            <a:ext cx="0" cy="27432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2670048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18888" y="26243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PLATFORM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3054096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Üzerinde koşmak zorunda olduğu zemin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376732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ECC, S/4HANA, Private ve Public Cloud — savunulan değil, karşılaştırılan.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94860" y="4809744"/>
            <a:ext cx="0" cy="27432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2670048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67928" y="26243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OTOMASYON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3054096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Elle yapılmaktan çıkabilecek işler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376732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Mutabakat, anomali tespiti, tahmine dayalı muhasebe — açmadan önce ölçülen.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343900" y="4809744"/>
            <a:ext cx="0" cy="27432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5820" y="5084064"/>
            <a:ext cx="749808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95848" y="5084064"/>
            <a:ext cx="0" cy="274320"/>
          </a:xfrm>
          <a:prstGeom prst="line">
            <a:avLst/>
          </a:prstGeom>
          <a:noFill/>
          <a:ln w="15875">
            <a:solidFill>
              <a:srgbClr val="11676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15488" y="5358384"/>
            <a:ext cx="5760720" cy="566928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15488" y="5358384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Üçüncü yılda hâlâ doğru görünen bir karar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YÖNTEM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Tavsiyeden önce kanıt.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59152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SÜRECİN ANLATILDIĞI HÂLİ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777240" y="2743200"/>
            <a:ext cx="5852160" cy="0"/>
          </a:xfrm>
          <a:prstGeom prst="line">
            <a:avLst/>
          </a:prstGeom>
          <a:noFill/>
          <a:ln w="28575">
            <a:solidFill>
              <a:srgbClr val="C9D6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1" name="Shape 9"/>
          <p:cNvSpPr/>
          <p:nvPr/>
        </p:nvSpPr>
        <p:spPr>
          <a:xfrm>
            <a:off x="365760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2" name="Shape 10"/>
          <p:cNvSpPr/>
          <p:nvPr/>
        </p:nvSpPr>
        <p:spPr>
          <a:xfrm>
            <a:off x="512064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2743200"/>
            <a:ext cx="936346" cy="384048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713586" y="2962656"/>
            <a:ext cx="819302" cy="164592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32888" y="2962656"/>
            <a:ext cx="877824" cy="566928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3410712" y="3310128"/>
            <a:ext cx="877824" cy="219456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88536" y="3310128"/>
            <a:ext cx="936346" cy="512064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5224882" y="3621024"/>
            <a:ext cx="702259" cy="201168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27141" y="3621024"/>
            <a:ext cx="702259" cy="347472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2697480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2" name="Shape 20"/>
          <p:cNvSpPr/>
          <p:nvPr/>
        </p:nvSpPr>
        <p:spPr>
          <a:xfrm>
            <a:off x="1667866" y="3081528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3" name="Shape 21"/>
          <p:cNvSpPr/>
          <p:nvPr/>
        </p:nvSpPr>
        <p:spPr>
          <a:xfrm>
            <a:off x="2487168" y="2916936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4" name="Shape 22"/>
          <p:cNvSpPr/>
          <p:nvPr/>
        </p:nvSpPr>
        <p:spPr>
          <a:xfrm>
            <a:off x="3364992" y="3483864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5" name="Shape 23"/>
          <p:cNvSpPr/>
          <p:nvPr/>
        </p:nvSpPr>
        <p:spPr>
          <a:xfrm>
            <a:off x="4242816" y="3264408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6" name="Shape 24"/>
          <p:cNvSpPr/>
          <p:nvPr/>
        </p:nvSpPr>
        <p:spPr>
          <a:xfrm>
            <a:off x="5179162" y="3776472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7" name="Shape 25"/>
          <p:cNvSpPr/>
          <p:nvPr/>
        </p:nvSpPr>
        <p:spPr>
          <a:xfrm>
            <a:off x="5881421" y="3575304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8" name="Shape 26"/>
          <p:cNvSpPr/>
          <p:nvPr/>
        </p:nvSpPr>
        <p:spPr>
          <a:xfrm>
            <a:off x="6583680" y="3922776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86200" y="41148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SÜRECİN İŞLEDİĞİ HÂLİ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410712" y="2743200"/>
            <a:ext cx="0" cy="786384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69564" y="3488436"/>
            <a:ext cx="82296" cy="82296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557016" y="287121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bulgular bu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farkın içindedir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7360920" y="239572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Kullanım istatistikleri. Veri kalitesi. Custom kod. Kapanış süreleri.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360920" y="3401568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Sistemin ne yaptığı — dokümanın ne dediği değil. Aradaki fark, çoğu zaman sorunun kendisidir.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360920" y="4828032"/>
            <a:ext cx="402336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60920" y="497433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çalışma bir değerlendirmeyle başlar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378440" y="493776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</a:t>
            </a:r>
            <a:endParaRPr lang="en-US" sz="12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HAFTA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BULUT MODELI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601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Ölçülmüş bir bulut kararı.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14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1518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 CLOUD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7240" y="2980944"/>
            <a:ext cx="4297680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12724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Standardı siz benimsersiniz.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639312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Hız ve düşük işletme yükü — değiştiremeyeceğiniz bir çekirdek karşılığında.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572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3–5 ay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901184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tek ülkeli finans kurulumu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116775" y="261518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 CLOUD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7116775" y="2980944"/>
            <a:ext cx="4297680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16775" y="312724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Süreç mantığınızı korursunuz.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7116775" y="3639312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Kendi geliştirmeleriniz kalır — daha fazla sorumluluk ve daha uzun kurulum karşılığında.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116775" y="4572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7–14 ay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116775" y="4901184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kapsama ve devralınan yapıya göre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095848" y="2569464"/>
            <a:ext cx="0" cy="274320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77240" y="550468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Biri diğerinin gelişmiş sürümü değildir. İki modelin kısıtlarını yan yana koyarız; karar sizde kalır.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ÇALIŞMA ADIMLARI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Dört adım, dört çıktı.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078992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adımın çıktısı baştan bellidir. Her kapıda devam kararı yeniden verilir.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2788920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Değerlendirme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Teşhis raporu, sistem verisinden okunmuş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hafta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46704" y="2642616"/>
            <a:ext cx="0" cy="292608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98064" y="2331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1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KAPI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5204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204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5204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Mimari ve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yol haritası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35204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Hedef mimari ve fazlı yol haritası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5204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3–6 hafta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089904" y="2642616"/>
            <a:ext cx="0" cy="292608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41264" y="2331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1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KAPI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2636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636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636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Uygulama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62636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Çalışan sistem, test kayıtları, devreye alma planı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36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ay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833104" y="2642616"/>
            <a:ext cx="0" cy="292608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84464" y="2331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1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KAPI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0068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0068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0068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Hypercare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90068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İlk kapanış birlikte, iyileştirme listesi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0068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0068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4–12 hafta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İŞ DEĞERI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Yetkinlikten sonuca.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3347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7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 GETİRİYORUZ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263347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7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BUNUNLA NE YAPIYORUZ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263347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7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SİZİN İÇİN NE DEĞİŞİYOR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200400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 ve CO’da derinlik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3200400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Kapanışı paralel işleyecek biçimde yeniden kurmak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3200400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Yalnızca kısa değil, öngörülebilir bir kapanış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201668" y="3305556"/>
            <a:ext cx="82296" cy="82296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5" name="Shape 13"/>
          <p:cNvSpPr/>
          <p:nvPr/>
        </p:nvSpPr>
        <p:spPr>
          <a:xfrm>
            <a:off x="7904988" y="3305556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133088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261104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Bulut modellerinde tarafsız okuma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4261104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Süreçleri standart kapsamla ölçmek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4261104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Projenin ortasında ayakta kalan model kararı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01668" y="4366260"/>
            <a:ext cx="82296" cy="82296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21" name="Shape 19"/>
          <p:cNvSpPr/>
          <p:nvPr/>
        </p:nvSpPr>
        <p:spPr>
          <a:xfrm>
            <a:off x="7904988" y="436626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5193792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32180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Saatlerin gerçekten olduğu yere konmuş yapay zeka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480560" y="532180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Eşikleri kendi verinizle kalibre etmek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183880" y="5321808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Ekip, eşleştirme yerine istisna inceler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201668" y="5426964"/>
            <a:ext cx="82296" cy="82296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27" name="Shape 25"/>
          <p:cNvSpPr/>
          <p:nvPr/>
        </p:nvSpPr>
        <p:spPr>
          <a:xfrm>
            <a:off x="7904988" y="5426964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YETKINLIKLER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Beş uzmanlık alanı.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7240" y="2048256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400300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69848" y="224942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Finans Modülleri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2249424"/>
            <a:ext cx="5897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FI, CO, PA ve PS; beş paralel yapı değil, tek mimari.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2889504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3186684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69848" y="3035808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S/4HANA Dönüşümü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3035808"/>
            <a:ext cx="5897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Brownfield, greenfield ya da seçici geçiş, kanıta dayanarak.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3675888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3973068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69848" y="382219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Public Cloud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3822192"/>
            <a:ext cx="5897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Süreçlerinizin ne kadarı standarda oturuyor.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77240" y="4462272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759452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69848" y="4608576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Private Cloud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4608576"/>
            <a:ext cx="5897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Mimari, göç ve RISE’ın açık bıraktığı sorumluluk sınırları.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77240" y="5248656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5545836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69848" y="5394960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Finansta Yapay Zeka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5394960"/>
            <a:ext cx="5897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Verinizin ve disiplininizin gerçekten taşıdığı yetenekler.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7240" y="6035040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676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UYGULAMALI YAPAY ZEKA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6012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Sistemde ve teslimde yapay zeka.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14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957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SİZİN FİNANS SÜREÇLERİNİZDE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7066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SAP’nin içine yerleşik, ayrıca satın alınan değil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77240" y="3200400"/>
            <a:ext cx="4754880" cy="0"/>
          </a:xfrm>
          <a:prstGeom prst="line">
            <a:avLst/>
          </a:prstGeom>
          <a:noFill/>
          <a:ln w="12700">
            <a:solidFill>
              <a:srgbClr val="FFFFFF">
                <a:alpha val="42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3465576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51560" y="340156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Akıllı eşleştirme — kalemler otomatik kapatılır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77240" y="4251960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51560" y="418795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Anomali tespiti — kapanıştan sonra değil, önce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7240" y="5038344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51560" y="4974336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Tahmine dayalı muhasebe — dönem içinde görünür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659575" y="23957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KENDİ ÇALIŞMA ŞEKLİMİZDE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659575" y="27066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Hacimli işlerde, karar gerektiren yerlerde değil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659575" y="3200400"/>
            <a:ext cx="4754880" cy="0"/>
          </a:xfrm>
          <a:prstGeom prst="line">
            <a:avLst/>
          </a:prstGeom>
          <a:noFill/>
          <a:ln w="12700">
            <a:solidFill>
              <a:srgbClr val="FFFFFF">
                <a:alpha val="4200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659575" y="3465576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933895" y="340156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kod envanteri ve etki analizi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659575" y="4251960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933895" y="418795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senaryolarının ilk taslakları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659575" y="5038344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933895" y="4974336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Migrasyon mutabakat kontrolleri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77240" y="5449824"/>
            <a:ext cx="10637215" cy="0"/>
          </a:xfrm>
          <a:prstGeom prst="line">
            <a:avLst/>
          </a:prstGeom>
          <a:noFill/>
          <a:ln w="12700">
            <a:solidFill>
              <a:srgbClr val="FFFFFF">
                <a:alpha val="42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557784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DCA4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Kayıt üreten hiçbir karar insan denetimi olmadan kesinleşmez.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SINIRLAR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Net sınırlar.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06624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Neyi yapmadığımız, ne yaptığımız kadar önemlidir.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602736"/>
            <a:ext cx="0" cy="1051560"/>
          </a:xfrm>
          <a:prstGeom prst="line">
            <a:avLst/>
          </a:prstGeom>
          <a:noFill/>
          <a:ln w="25400">
            <a:solidFill>
              <a:srgbClr val="11676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33272" y="3602736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Bu bize iş kaybettirir. Aldığımız işi bitirmemizin sebebi de budur.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035040" y="1874520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202082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2002536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Uzmanlık alanımız dışındaki modüller — lojistik, üretim planlama, İK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2898648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35040" y="304495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601968" y="3026664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Mimari ya da teslim sorumluluğu olmadan kaynak sağlama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35040" y="3922776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35040" y="40690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601968" y="4050792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Değerlendirme yapılmadan verilen kesin taahhütler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35040" y="4946904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35040" y="50932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601968" y="5074920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Yazılım geliştirme ya da altyapı işletim hizmeti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35040" y="5971032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ÇALIŞMA MODELLERI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Üç çalışma modeli.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7240" y="2487168"/>
            <a:ext cx="3310128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  <a:effectLst>
            <a:outerShdw sx="100000" sy="100000" kx="0" ky="0" algn="bl" rotWithShape="0" blurRad="177800" dist="38100" dir="5400000">
              <a:srgbClr val="0E162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129284" y="2894076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97864" y="31638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Değerlendirme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97864" y="36393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Karar vermeniz gerekiyor, elinizde veri yok.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197864" y="4407408"/>
            <a:ext cx="2468880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97864" y="45171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Sonunda karar verebilecek durumda olursunuz.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97864" y="50109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hafta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471416" y="2487168"/>
            <a:ext cx="3310128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  <a:effectLst>
            <a:outerShdw sx="100000" sy="100000" kx="0" ky="0" algn="bl" rotWithShape="0" blurRad="177800" dist="38100" dir="5400000">
              <a:srgbClr val="0E162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23460" y="2894076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31638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Proje teslimi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6393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Karar verilmiş; uygulanması gerekiyor.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92040" y="4407408"/>
            <a:ext cx="2468880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45171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Fazlı plan, haftalık rapor, hypercare dahil.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50109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ay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165592" y="2487168"/>
            <a:ext cx="3310128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  <a:effectLst>
            <a:outerShdw sx="100000" sy="100000" kx="0" ky="0" algn="bl" rotWithShape="0" blurRad="177800" dist="38100" dir="5400000">
              <a:srgbClr val="0E162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517636" y="2894076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86216" y="31638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Uzman desteği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586216" y="36393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Projeyi başkası yürütüyor, tek noktada derinlik gerekiyor.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586216" y="4407408"/>
            <a:ext cx="2468880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86216" y="45171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Sınırlı kapsam, baştan anlaşılmış çıktı.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586216" y="50109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Gün – hafta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566928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ihtiyaç tam kapsamlı bir proje gerektirmez.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REFERANSLAR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Karmaşık yapılarda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deneyim.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589520" y="1097280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 finans modülleri ve bulut mimarisinde on yılı aşkın deneyim.</a:t>
            </a:r>
            <a:endParaRPr lang="en-US" sz="1200" dirty="0"/>
          </a:p>
        </p:txBody>
      </p:sp>
      <p:pic>
        <p:nvPicPr>
          <p:cNvPr id="8" name="Image 0" descr="/tmp/claude-0/-home-user-Default/6c313414-fc11-5a80-9cf8-49dad1a51f26/scratchpad/img/ref-mercedes-b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3042862"/>
            <a:ext cx="1463040" cy="369940"/>
          </a:xfrm>
          <a:prstGeom prst="rect">
            <a:avLst/>
          </a:prstGeom>
        </p:spPr>
      </p:pic>
      <p:pic>
        <p:nvPicPr>
          <p:cNvPr id="9" name="Image 1" descr="/tmp/claude-0/-home-user-Default/6c313414-fc11-5a80-9cf8-49dad1a51f26/scratchpad/img/ref-pw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270" y="2944368"/>
            <a:ext cx="1167205" cy="566928"/>
          </a:xfrm>
          <a:prstGeom prst="rect">
            <a:avLst/>
          </a:prstGeom>
        </p:spPr>
      </p:pic>
      <p:pic>
        <p:nvPicPr>
          <p:cNvPr id="10" name="Image 2" descr="/tmp/claude-0/-home-user-Default/6c313414-fc11-5a80-9cf8-49dad1a51f26/scratchpad/img/ref-gs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16" y="2996881"/>
            <a:ext cx="1463040" cy="461903"/>
          </a:xfrm>
          <a:prstGeom prst="rect">
            <a:avLst/>
          </a:prstGeom>
        </p:spPr>
      </p:pic>
      <p:pic>
        <p:nvPicPr>
          <p:cNvPr id="11" name="Image 3" descr="/tmp/claude-0/-home-user-Default/6c313414-fc11-5a80-9cf8-49dad1a51f26/scratchpad/img/ref-boehringer-ingelhei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001977"/>
            <a:ext cx="1463040" cy="451710"/>
          </a:xfrm>
          <a:prstGeom prst="rect">
            <a:avLst/>
          </a:prstGeom>
        </p:spPr>
      </p:pic>
      <p:pic>
        <p:nvPicPr>
          <p:cNvPr id="12" name="Image 4" descr="/tmp/claude-0/-home-user-Default/6c313414-fc11-5a80-9cf8-49dad1a51f26/scratchpad/img/ref-bek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1559" y="2944368"/>
            <a:ext cx="994611" cy="566928"/>
          </a:xfrm>
          <a:prstGeom prst="rect">
            <a:avLst/>
          </a:prstGeom>
        </p:spPr>
      </p:pic>
      <p:pic>
        <p:nvPicPr>
          <p:cNvPr id="13" name="Image 5" descr="/tmp/claude-0/-home-user-Default/6c313414-fc11-5a80-9cf8-49dad1a51f26/scratchpad/img/ref-enerjis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51008" y="3083334"/>
            <a:ext cx="1463040" cy="288996"/>
          </a:xfrm>
          <a:prstGeom prst="rect">
            <a:avLst/>
          </a:prstGeom>
        </p:spPr>
      </p:pic>
      <p:pic>
        <p:nvPicPr>
          <p:cNvPr id="14" name="Image 6" descr="/tmp/claude-0/-home-user-Default/6c313414-fc11-5a80-9cf8-49dad1a51f26/scratchpad/img/ref-wavi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88" y="4257735"/>
            <a:ext cx="1463040" cy="354210"/>
          </a:xfrm>
          <a:prstGeom prst="rect">
            <a:avLst/>
          </a:prstGeom>
        </p:spPr>
      </p:pic>
      <p:pic>
        <p:nvPicPr>
          <p:cNvPr id="15" name="Image 7" descr="/tmp/claude-0/-home-user-Default/6c313414-fc11-5a80-9cf8-49dad1a51f26/scratchpad/img/ref-imery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06928" y="4151376"/>
            <a:ext cx="881888" cy="566928"/>
          </a:xfrm>
          <a:prstGeom prst="rect">
            <a:avLst/>
          </a:prstGeom>
        </p:spPr>
      </p:pic>
      <p:pic>
        <p:nvPicPr>
          <p:cNvPr id="16" name="Image 8" descr="/tmp/claude-0/-home-user-Default/6c313414-fc11-5a80-9cf8-49dad1a51f26/scratchpad/img/ref-fli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00016" y="4290218"/>
            <a:ext cx="1463040" cy="289245"/>
          </a:xfrm>
          <a:prstGeom prst="rect">
            <a:avLst/>
          </a:prstGeom>
        </p:spPr>
      </p:pic>
      <p:pic>
        <p:nvPicPr>
          <p:cNvPr id="17" name="Image 9" descr="/tmp/claude-0/-home-user-Default/6c313414-fc11-5a80-9cf8-49dad1a51f26/scratchpad/img/ref-per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8164" y="4151376"/>
            <a:ext cx="1094072" cy="566928"/>
          </a:xfrm>
          <a:prstGeom prst="rect">
            <a:avLst/>
          </a:prstGeom>
        </p:spPr>
      </p:pic>
      <p:pic>
        <p:nvPicPr>
          <p:cNvPr id="18" name="Image 10" descr="/tmp/claude-0/-home-user-Default/6c313414-fc11-5a80-9cf8-49dad1a51f26/scratchpad/img/ref-hidrome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67344" y="4339481"/>
            <a:ext cx="1463040" cy="190718"/>
          </a:xfrm>
          <a:prstGeom prst="rect">
            <a:avLst/>
          </a:prstGeom>
        </p:spPr>
      </p:pic>
      <p:pic>
        <p:nvPicPr>
          <p:cNvPr id="19" name="Image 11" descr="/tmp/claude-0/-home-user-Default/6c313414-fc11-5a80-9cf8-49dad1a51f26/scratchpad/img/ref-aydem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18919" y="4151376"/>
            <a:ext cx="927219" cy="566928"/>
          </a:xfrm>
          <a:prstGeom prst="rect">
            <a:avLst/>
          </a:prstGeom>
        </p:spPr>
      </p:pic>
      <p:pic>
        <p:nvPicPr>
          <p:cNvPr id="20" name="Image 12" descr="/tmp/claude-0/-home-user-Default/6c313414-fc11-5a80-9cf8-49dad1a51f26/scratchpad/img/ref-nuh-cimento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3484" y="5358384"/>
            <a:ext cx="1241448" cy="566928"/>
          </a:xfrm>
          <a:prstGeom prst="rect">
            <a:avLst/>
          </a:prstGeom>
        </p:spPr>
      </p:pic>
      <p:pic>
        <p:nvPicPr>
          <p:cNvPr id="21" name="Image 13" descr="/tmp/claude-0/-home-user-Default/6c313414-fc11-5a80-9cf8-49dad1a51f26/scratchpad/img/ref-belbim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6352" y="5475873"/>
            <a:ext cx="1463040" cy="331950"/>
          </a:xfrm>
          <a:prstGeom prst="rect">
            <a:avLst/>
          </a:prstGeom>
        </p:spPr>
      </p:pic>
      <p:pic>
        <p:nvPicPr>
          <p:cNvPr id="22" name="Image 14" descr="/tmp/claude-0/-home-user-Default/6c313414-fc11-5a80-9cf8-49dad1a51f26/scratchpad/img/ref-tcd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23423" y="5358384"/>
            <a:ext cx="616226" cy="566928"/>
          </a:xfrm>
          <a:prstGeom prst="rect">
            <a:avLst/>
          </a:prstGeom>
        </p:spPr>
      </p:pic>
      <p:pic>
        <p:nvPicPr>
          <p:cNvPr id="23" name="Image 15" descr="/tmp/claude-0/-home-user-Default/6c313414-fc11-5a80-9cf8-49dad1a51f26/scratchpad/img/ref-iett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85852" y="5358384"/>
            <a:ext cx="458696" cy="566928"/>
          </a:xfrm>
          <a:prstGeom prst="rect">
            <a:avLst/>
          </a:prstGeom>
        </p:spPr>
      </p:pic>
      <p:pic>
        <p:nvPicPr>
          <p:cNvPr id="24" name="Image 16" descr="/tmp/claude-0/-home-user-Default/6c313414-fc11-5a80-9cf8-49dad1a51f26/scratchpad/img/ref-fusion-consulting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53739" y="5358384"/>
            <a:ext cx="1290250" cy="566928"/>
          </a:xfrm>
          <a:prstGeom prst="rect">
            <a:avLst/>
          </a:prstGeom>
        </p:spPr>
      </p:pic>
      <p:sp>
        <p:nvSpPr>
          <p:cNvPr id="25" name="Shape 6"/>
          <p:cNvSpPr/>
          <p:nvPr/>
        </p:nvSpPr>
        <p:spPr>
          <a:xfrm>
            <a:off x="777240" y="3749040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6" name="Shape 7"/>
          <p:cNvSpPr/>
          <p:nvPr/>
        </p:nvSpPr>
        <p:spPr>
          <a:xfrm>
            <a:off x="777240" y="4956048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7" name="Shape 8"/>
          <p:cNvSpPr/>
          <p:nvPr/>
        </p:nvSpPr>
        <p:spPr>
          <a:xfrm>
            <a:off x="777240" y="6163056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NEDEN CPEAK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Baştan sona kıdemli ekip.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777240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YALNIZCA KIDEMLİ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Tanıştığınız danışman, projede çalışan kişidir.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92424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392424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392424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TASARIM GEREĞİ DAR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392424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Finans ve bulut mimarisi. Zor kısım bizde kalır.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007608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07608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007608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TARAFSIZ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007608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Biz karşılaştırırız, siz karar verirsiniz, gerekçe yazılı kalır.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622792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622792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622792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FAZLI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622792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Kapsam kadroyla değil, fazlarla büyür.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442569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Projenizi anlatın.</a:t>
            </a:r>
            <a:endParaRPr lang="en-US" sz="18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Bir iş günü içinde dönüş yapıyoruz.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44652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info@cpeakconsultancy.com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6446520" y="47183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+90 (507) 032 81 70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6446520" y="5029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2DD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linkedin.com/company/cpeak-consultancy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446520" y="5431536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Bostancı Mahallesi, Şemsettin Günaltay Caddesi No: 31/8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34744 Kadıköy, İstanbul   ·   Pzt–Cum, 09:00–18:00 (GMT+3)</a:t>
            </a:r>
            <a:endParaRPr lang="en-US" sz="1050" dirty="0"/>
          </a:p>
        </p:txBody>
      </p:sp>
      <p:pic>
        <p:nvPicPr>
          <p:cNvPr id="26" name="Image 1" descr="/tmp/claude-0/-home-user-Default/6c313414-fc11-5a80-9cf8-49dad1a51f26/scratchpad/img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440680"/>
            <a:ext cx="1691640" cy="582473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77240" y="6355080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77240" y="6455664"/>
            <a:ext cx="10607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SAP, S/4HANA ve RISE with SAP, SAP SE’nin tescilli markalarıdır. CPeak Consultancy bağımsız bir danışmanlık şirketidir ve SAP SE ile bağlantılı değildir.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CPeak Consultancy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CPeak Consultancy</dc:title>
  <dc:subject>PptxGenJS Presentation</dc:subject>
  <dc:creator>CPeak Consultancy</dc:creator>
  <cp:lastModifiedBy>CPeak Consultancy</cp:lastModifiedBy>
  <cp:revision>1</cp:revision>
  <dcterms:created xsi:type="dcterms:W3CDTF">2026-09-05T17:41:20Z</dcterms:created>
  <dcterms:modified xsi:type="dcterms:W3CDTF">2026-09-05T17:41:20Z</dcterms:modified>
</cp:coreProperties>
</file>
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CPeak; SAP finans modülleri, bulut mimarisi ve uygulamalı yapay zeka üzerine çalışan bağımsız bir danışmanlık şirketidir. 2021, İstanbul.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CPeak finans modülleri ve bulut mimarisi dışına çıkmaz; zor kısmı taşerona vermez.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Etkisi en uzun süren kararlar, en az veriye sahip olunan anda alınır.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alan birleşir ve birbirini besler; konumlanma bu kesişimdedir.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 ölçer, sonra öneririz.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Bulut modelinde tarafsızlık: uygunluk standart kapsamla ölçülür, gerekçe yazılı bırakılır.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adım; her adım tanımlı bir çıktıyla kapanır.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Yetkinlik → eylem → sonuç.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Beş yetkinlik alanı.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Yapay zeka hem teslim edilen sistemde hem çalışma yönteminde; insan denetimi sınırı açıkça yazılı.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Üstlenilmeyen işler, iddia edilen odağın gerçek olduğunu gösterir.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Değerlendirme, proje teslimi, uzman desteği.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CPeak’in yayımladığı referans logoları. Müşteri adı veya sonuç iddiası eklenmemiştir.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 argümanı ve iletişim. Bir iş günü içinde dönüş.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Default/6c313414-fc11-5a80-9cf8-49dad1a51f26/scratchpad/img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2240280" cy="77083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7240" y="20848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 FİNANS  ·  BULUT MİMARİSİ  ·  UYGULAMALI YAPAY ZEKA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2542032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1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Finans odaklı</a:t>
            </a:r>
            <a:endParaRPr lang="en-US" sz="4400" dirty="0"/>
          </a:p>
          <a:p>
            <a:pPr indent="0" marL="0">
              <a:lnSpc>
                <a:spcPts val="51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dönüşümü.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444398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zor kararlar bizde kalır.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77240" y="5742432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907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İSTANBUL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3611880" y="5907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TÜRKİYE · EMEA · ABD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5907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2021’DEN BERİ BAĞIMSIZ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KONUMLANMA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Genişlik değil,</a:t>
            </a:r>
            <a:endParaRPr lang="en-US" sz="4000" dirty="0"/>
          </a:p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derinlik.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3703320"/>
            <a:ext cx="0" cy="1051560"/>
          </a:xfrm>
          <a:prstGeom prst="line">
            <a:avLst/>
          </a:prstGeom>
          <a:noFill/>
          <a:ln w="25400">
            <a:solidFill>
              <a:srgbClr val="1167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370332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Bir işi almamız, o işin en zor kısmını dışarıya devretmeyeceğimiz anlamına gelir.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23444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ALIŞILMIŞ BİÇİM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1618488"/>
            <a:ext cx="443484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150608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0416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4" name="Shape 12"/>
          <p:cNvSpPr/>
          <p:nvPr/>
        </p:nvSpPr>
        <p:spPr>
          <a:xfrm>
            <a:off x="8650224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5" name="Shape 13"/>
          <p:cNvSpPr/>
          <p:nvPr/>
        </p:nvSpPr>
        <p:spPr>
          <a:xfrm>
            <a:off x="9400032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07568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geniş kapsam · ödünç derinlik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BİZİM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65176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 kapsam · sahiplenilen derinlik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3035808"/>
            <a:ext cx="443484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035808"/>
            <a:ext cx="1207008" cy="2788920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22" name="Shape 20"/>
          <p:cNvSpPr/>
          <p:nvPr/>
        </p:nvSpPr>
        <p:spPr>
          <a:xfrm>
            <a:off x="7607808" y="3520440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66660" y="3479292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36992" y="33969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 modülleri — FI, CO, PA, 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07808" y="4389120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4347972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36992" y="42656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Bulut mimarisi — Private, Public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07808" y="5257800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66660" y="5216652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36992" y="51343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Yapay zeka ve süreç otomasyonu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TEMEL SORUN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601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Erken kararlar,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kalıcı sonuçlar.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Şirket yapısı.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Geçiş yöntemi.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Bulut modeli.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133088"/>
            <a:ext cx="0" cy="1051560"/>
          </a:xfrm>
          <a:prstGeom prst="line">
            <a:avLst/>
          </a:prstGeom>
          <a:noFill/>
          <a:ln w="25400">
            <a:solidFill>
              <a:srgbClr val="E8B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33272" y="4133088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5DCA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Ölçmeden verilen tavsiye bir tahmindir; sonucuna siz katlanırsınız.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84848" y="1417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KARARI GERİ ALMANIN ZORLUĞU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784848" y="4809744"/>
            <a:ext cx="841248" cy="384048"/>
          </a:xfrm>
          <a:prstGeom prst="rect">
            <a:avLst/>
          </a:prstGeom>
          <a:solidFill>
            <a:srgbClr val="11676A">
              <a:alpha val="92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65392" y="53218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spc="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TASARIM</a:t>
            </a:r>
            <a:endParaRPr lang="en-US" sz="760" dirty="0"/>
          </a:p>
        </p:txBody>
      </p:sp>
      <p:sp>
        <p:nvSpPr>
          <p:cNvPr id="14" name="Shape 11"/>
          <p:cNvSpPr/>
          <p:nvPr/>
        </p:nvSpPr>
        <p:spPr>
          <a:xfrm>
            <a:off x="7973568" y="4142232"/>
            <a:ext cx="841248" cy="1051560"/>
          </a:xfrm>
          <a:prstGeom prst="rect">
            <a:avLst/>
          </a:prstGeom>
          <a:solidFill>
            <a:srgbClr val="11676A">
              <a:alpha val="92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54112" y="53218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spc="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KURULUM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9162288" y="3227832"/>
            <a:ext cx="841248" cy="1965960"/>
          </a:xfrm>
          <a:prstGeom prst="rect">
            <a:avLst/>
          </a:prstGeom>
          <a:solidFill>
            <a:srgbClr val="11676A">
              <a:alpha val="9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42832" y="53218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spc="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10351008" y="2176272"/>
            <a:ext cx="841248" cy="3017520"/>
          </a:xfrm>
          <a:prstGeom prst="rect">
            <a:avLst/>
          </a:prstGeom>
          <a:solidFill>
            <a:srgbClr val="E8B33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131552" y="53218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spc="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CANLI KULLANIM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6647688" y="5193792"/>
            <a:ext cx="4681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36892" y="4448556"/>
            <a:ext cx="137160" cy="13716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22" name="Shape 19"/>
          <p:cNvSpPr/>
          <p:nvPr/>
        </p:nvSpPr>
        <p:spPr>
          <a:xfrm>
            <a:off x="7205472" y="4585716"/>
            <a:ext cx="0" cy="141732"/>
          </a:xfrm>
          <a:prstGeom prst="line">
            <a:avLst/>
          </a:prstGeom>
          <a:noFill/>
          <a:ln w="12700">
            <a:solidFill>
              <a:srgbClr val="E8B3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45352" y="4224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C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karar burada verilir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784080" y="1865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C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burada yaşanır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UZMANLIK ALANIMIZ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Üç disiplin, tek uzmanlık.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9848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FİNANS SÜRECİ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1576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Defterlerin gerçekte nasıl kapandığı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 · CO · PA · 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45820" y="4471416"/>
            <a:ext cx="0" cy="27432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33172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18888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PLATFORM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71576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Üzerinde koştuğu zemin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42900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ECC · S/4HANA · Private ve Public Cloud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4860" y="4471416"/>
            <a:ext cx="0" cy="27432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33172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67928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OTOMASYON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71576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Elden çıkabilecek işler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42900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Mutabakat · Anomali tespiti · Tahmin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43900" y="4471416"/>
            <a:ext cx="0" cy="27432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" y="4745736"/>
            <a:ext cx="749808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5848" y="4745736"/>
            <a:ext cx="0" cy="274320"/>
          </a:xfrm>
          <a:prstGeom prst="line">
            <a:avLst/>
          </a:prstGeom>
          <a:noFill/>
          <a:ln w="15875">
            <a:solidFill>
              <a:srgbClr val="1167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15488" y="5020056"/>
            <a:ext cx="5760720" cy="566928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15488" y="502005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Üçüncü yılda hâlâ doğru görünen bir karar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YÖNTEM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Tavsiyeden önce kanıt.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6207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SÜRECİN ANLATILDIĞI HÂLİ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3246120"/>
            <a:ext cx="5852160" cy="0"/>
          </a:xfrm>
          <a:prstGeom prst="line">
            <a:avLst/>
          </a:prstGeom>
          <a:noFill/>
          <a:ln w="28575">
            <a:solidFill>
              <a:srgbClr val="C9D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200400"/>
            <a:ext cx="91440" cy="91440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3200400"/>
            <a:ext cx="91440" cy="91440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3200400"/>
            <a:ext cx="91440" cy="91440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3200400"/>
            <a:ext cx="91440" cy="91440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3200400"/>
            <a:ext cx="91440" cy="91440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246120"/>
            <a:ext cx="936346" cy="384048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713586" y="3465576"/>
            <a:ext cx="819302" cy="164592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2888" y="3465576"/>
            <a:ext cx="877824" cy="566928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410712" y="3813048"/>
            <a:ext cx="877824" cy="219456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88536" y="3813048"/>
            <a:ext cx="936346" cy="512064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224882" y="4123944"/>
            <a:ext cx="702259" cy="201168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7141" y="4123944"/>
            <a:ext cx="702259" cy="347472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200400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2" name="Shape 20"/>
          <p:cNvSpPr/>
          <p:nvPr/>
        </p:nvSpPr>
        <p:spPr>
          <a:xfrm>
            <a:off x="1667866" y="3584448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3" name="Shape 21"/>
          <p:cNvSpPr/>
          <p:nvPr/>
        </p:nvSpPr>
        <p:spPr>
          <a:xfrm>
            <a:off x="2487168" y="3419856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4" name="Shape 22"/>
          <p:cNvSpPr/>
          <p:nvPr/>
        </p:nvSpPr>
        <p:spPr>
          <a:xfrm>
            <a:off x="3364992" y="3986784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5" name="Shape 23"/>
          <p:cNvSpPr/>
          <p:nvPr/>
        </p:nvSpPr>
        <p:spPr>
          <a:xfrm>
            <a:off x="4242816" y="3767328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6" name="Shape 24"/>
          <p:cNvSpPr/>
          <p:nvPr/>
        </p:nvSpPr>
        <p:spPr>
          <a:xfrm>
            <a:off x="5179162" y="4279392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7" name="Shape 25"/>
          <p:cNvSpPr/>
          <p:nvPr/>
        </p:nvSpPr>
        <p:spPr>
          <a:xfrm>
            <a:off x="5881421" y="4078224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4425696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86200" y="4617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SÜRECİN İŞLEDİĞİ HÂLİ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10712" y="3246120"/>
            <a:ext cx="0" cy="786384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9564" y="3991356"/>
            <a:ext cx="82296" cy="82296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57016" y="337413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bulgular bu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farkın içindedir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28803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Kullanım istatistikleri. Veri kalitesi. Custom kod. Kapanış süreleri.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60920" y="4251960"/>
            <a:ext cx="402336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60920" y="4398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Değerlendirme fazı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378440" y="43616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HAFTA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F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BULUT MODELI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60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Ölçülmüş bir bulut kararı.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151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9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 CLOUD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7240" y="2980944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1272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Standardı siz benimsersiniz.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63931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Hız ve düşük işletme yükü.</a:t>
            </a:r>
            <a:endParaRPr lang="en-US" sz="11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Çekirdek değiştirilemez.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572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3–5 ay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116775" y="26151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9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 CLOUD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116775" y="2980944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16775" y="31272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Süreç mantığınızı korursunuz.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116775" y="363931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Kendi geliştirmeleriniz kalır.</a:t>
            </a:r>
            <a:endParaRPr lang="en-US" sz="11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Daha fazla sorumluluk, daha uzun kurulum.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116775" y="4572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7–14 ay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95848" y="2569464"/>
            <a:ext cx="0" cy="274320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504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Biri diğerinin gelişmiş sürümü değildir. Karar sizde kalır.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ÇALIŞMA ADIMLARI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Dört adım, dört çıktı.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916936"/>
            <a:ext cx="109728" cy="109728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191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Değerlendirme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153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Teşhis raporu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727448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837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 hafta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46704" y="2825496"/>
            <a:ext cx="0" cy="292608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8064" y="2514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KAPI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520440" y="2916936"/>
            <a:ext cx="109728" cy="109728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20440" y="3191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5204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Mimari ve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yol haritası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42153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Hedef mimari ve yol haritası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20440" y="4727448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4837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3–6 hafta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9904" y="2825496"/>
            <a:ext cx="0" cy="292608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41264" y="2514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KAPI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263640" y="2916936"/>
            <a:ext cx="109728" cy="109728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3191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5204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Uygulama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2153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Çalışan sistem ve devreye alma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727448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4837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3–14 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33104" y="2825496"/>
            <a:ext cx="0" cy="292608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84464" y="2514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KAPI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006840" y="2916936"/>
            <a:ext cx="109728" cy="109728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006840" y="3191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35204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Hypercare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006840" y="42153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İlk kapanış ve iyileştirme listesi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06840" y="4727448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006840" y="4837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4–12 hafta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İŞ DEĞERI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Yetkinlikten sonuca.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7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 GETİRİYORUZ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7889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7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BUNUNLA NE YAPIYORUZ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2788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7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SİZİN İÇİN NE DEĞİŞİYOR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099816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375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 ve CO derinliği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3375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Kapanışı paralel kurmak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33756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Öngörülebilir kapanış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1668" y="3442716"/>
            <a:ext cx="82296" cy="82296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4988" y="3442716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995928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239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Tarafsız bulut okuması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1239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Standart kapsamla ölçmek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123944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Ayakta kalan model kararı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1668" y="4229100"/>
            <a:ext cx="82296" cy="82296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4988" y="4229100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782312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9103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Uygulamalı yapay zeka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9103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Eşikleri kendi verinizle kalibre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491032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Eşleştirme değil, istisna incelemesi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1668" y="5015484"/>
            <a:ext cx="82296" cy="82296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7904988" y="5015484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YETKINLIKLER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96112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Beş uzmanlık alanı.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048256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00300"/>
            <a:ext cx="100584" cy="100584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9848" y="224942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Finans Modülleri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249424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 · CO · PA · PS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889504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86684"/>
            <a:ext cx="100584" cy="100584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69848" y="30358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S/4HANA Dönüşümü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035808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Brownfield · Greenfield · Seçici geçiş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675888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73068"/>
            <a:ext cx="100584" cy="100584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69848" y="38221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Public Cloud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822192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Fit-to-standard değerlendirmesi ve kurulum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462272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59452"/>
            <a:ext cx="100584" cy="100584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69848" y="46085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Private Cloud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608576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RISE mimarisi ve göç yönetimi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248656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545836"/>
            <a:ext cx="100584" cy="100584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69848" y="53949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Finansta Yapay Zeka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394960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Mutabakat · Anomali tespiti · Tahmin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" y="6035040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67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UYGULAMALI YAPAY ZEKA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601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Sistemde ve teslimde yapay zeka.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957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SİZİN FİNANS SÜREÇLERİNİZDE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06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SAP’nin içine yerleşik, ayrıca satın alınan değil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3200400"/>
            <a:ext cx="4754880" cy="0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465576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51560" y="34015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Akıllı eşleştirme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4251960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418795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Anomali tespiti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" y="5038344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51560" y="49743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Tahmine dayalı muhasebe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659575" y="23957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KENDİ ÇALIŞMA ŞEKLİMİZDE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659575" y="2706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Hacimli işlerde, karar gerektiren yerlerde değil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659575" y="3200400"/>
            <a:ext cx="4754880" cy="0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59575" y="3465576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933895" y="34015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kod analizi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59575" y="4251960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33895" y="418795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senaryosu taslakları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59575" y="5038344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33895" y="49743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Migrasyon mutabakatı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5449824"/>
            <a:ext cx="10637215" cy="0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5778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DCA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Kayıt üreten hiçbir karar insan denetimi olmadan kesinleşmez.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SINIRLAR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Net sınırlar.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0" cy="1051560"/>
          </a:xfrm>
          <a:prstGeom prst="line">
            <a:avLst/>
          </a:prstGeom>
          <a:noFill/>
          <a:ln w="25400">
            <a:solidFill>
              <a:srgbClr val="1167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8346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Bu bize iş kaybettirir. Aldığımız işi bitirmemizin sebebi de budur.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2377440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52374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2505456"/>
            <a:ext cx="48124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Uzmanlık alanımız dışındaki modüller — lojistik, üretim planlama, İK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3163824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33101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01968" y="3291840"/>
            <a:ext cx="48124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Teslim sorumluluğu olmadan kaynak sağlama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3950208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4096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4078224"/>
            <a:ext cx="48124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Değerlendirmesiz kesin taahhüt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4736592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4882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864608"/>
            <a:ext cx="48124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Yazılım geliştirme ve altyapı işletimi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5522976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ÇALIŞMA MODELLERI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Üç çalışma modeli.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331012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6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29284" y="308610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97864" y="33924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Değerlendirme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97864" y="39227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Karar için kanıt.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97864" y="4617720"/>
            <a:ext cx="246888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97864" y="47640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 hafta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71416" y="2606040"/>
            <a:ext cx="331012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62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3460" y="308610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33924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Proje teslimi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9227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Uçtan uca uygulama.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4617720"/>
            <a:ext cx="246888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47640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3–14 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65592" y="2606040"/>
            <a:ext cx="331012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6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17636" y="308610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86216" y="33924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Uzman desteği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86216" y="39227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konuda derinlik.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86216" y="4617720"/>
            <a:ext cx="246888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86216" y="47640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Gün – hafta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REFERANSLAR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Karmaşık yapılarda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deneyim.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0972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finans ve bulut mimarisinde 10+ yıl.</a:t>
            </a:r>
            <a:endParaRPr lang="en-US" sz="1200" dirty="0"/>
          </a:p>
        </p:txBody>
      </p:sp>
      <p:pic>
        <p:nvPicPr>
          <p:cNvPr id="8" name="Image 0" descr="/tmp/claude-0/-home-user-Default/6c313414-fc11-5a80-9cf8-49dad1a51f26/scratchpad/img/ref-mercedes-be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042862"/>
            <a:ext cx="1463040" cy="369940"/>
          </a:xfrm>
          <a:prstGeom prst="rect">
            <a:avLst/>
          </a:prstGeom>
        </p:spPr>
      </p:pic>
      <p:pic>
        <p:nvPicPr>
          <p:cNvPr id="9" name="Image 1" descr="/tmp/claude-0/-home-user-Default/6c313414-fc11-5a80-9cf8-49dad1a51f26/scratchpad/img/ref-pw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270" y="2944368"/>
            <a:ext cx="1167205" cy="566928"/>
          </a:xfrm>
          <a:prstGeom prst="rect">
            <a:avLst/>
          </a:prstGeom>
        </p:spPr>
      </p:pic>
      <p:pic>
        <p:nvPicPr>
          <p:cNvPr id="10" name="Image 2" descr="/tmp/claude-0/-home-user-Default/6c313414-fc11-5a80-9cf8-49dad1a51f26/scratchpad/img/ref-g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996881"/>
            <a:ext cx="1463040" cy="461903"/>
          </a:xfrm>
          <a:prstGeom prst="rect">
            <a:avLst/>
          </a:prstGeom>
        </p:spPr>
      </p:pic>
      <p:pic>
        <p:nvPicPr>
          <p:cNvPr id="11" name="Image 3" descr="/tmp/claude-0/-home-user-Default/6c313414-fc11-5a80-9cf8-49dad1a51f26/scratchpad/img/ref-boehringer-ingelhe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001977"/>
            <a:ext cx="1463040" cy="451710"/>
          </a:xfrm>
          <a:prstGeom prst="rect">
            <a:avLst/>
          </a:prstGeom>
        </p:spPr>
      </p:pic>
      <p:pic>
        <p:nvPicPr>
          <p:cNvPr id="12" name="Image 4" descr="/tmp/claude-0/-home-user-Default/6c313414-fc11-5a80-9cf8-49dad1a51f26/scratchpad/img/ref-bek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559" y="2944368"/>
            <a:ext cx="994611" cy="566928"/>
          </a:xfrm>
          <a:prstGeom prst="rect">
            <a:avLst/>
          </a:prstGeom>
        </p:spPr>
      </p:pic>
      <p:pic>
        <p:nvPicPr>
          <p:cNvPr id="13" name="Image 5" descr="/tmp/claude-0/-home-user-Default/6c313414-fc11-5a80-9cf8-49dad1a51f26/scratchpad/img/ref-enerjis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08" y="3083334"/>
            <a:ext cx="1463040" cy="288996"/>
          </a:xfrm>
          <a:prstGeom prst="rect">
            <a:avLst/>
          </a:prstGeom>
        </p:spPr>
      </p:pic>
      <p:pic>
        <p:nvPicPr>
          <p:cNvPr id="14" name="Image 6" descr="/tmp/claude-0/-home-user-Default/6c313414-fc11-5a80-9cf8-49dad1a51f26/scratchpad/img/ref-wav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257735"/>
            <a:ext cx="1463040" cy="354210"/>
          </a:xfrm>
          <a:prstGeom prst="rect">
            <a:avLst/>
          </a:prstGeom>
        </p:spPr>
      </p:pic>
      <p:pic>
        <p:nvPicPr>
          <p:cNvPr id="15" name="Image 7" descr="/tmp/claude-0/-home-user-Default/6c313414-fc11-5a80-9cf8-49dad1a51f26/scratchpad/img/ref-imery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6928" y="4151376"/>
            <a:ext cx="881888" cy="566928"/>
          </a:xfrm>
          <a:prstGeom prst="rect">
            <a:avLst/>
          </a:prstGeom>
        </p:spPr>
      </p:pic>
      <p:pic>
        <p:nvPicPr>
          <p:cNvPr id="16" name="Image 8" descr="/tmp/claude-0/-home-user-Default/6c313414-fc11-5a80-9cf8-49dad1a51f26/scratchpad/img/ref-fli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016" y="4290218"/>
            <a:ext cx="1463040" cy="289245"/>
          </a:xfrm>
          <a:prstGeom prst="rect">
            <a:avLst/>
          </a:prstGeom>
        </p:spPr>
      </p:pic>
      <p:pic>
        <p:nvPicPr>
          <p:cNvPr id="17" name="Image 9" descr="/tmp/claude-0/-home-user-Default/6c313414-fc11-5a80-9cf8-49dad1a51f26/scratchpad/img/ref-per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8164" y="4151376"/>
            <a:ext cx="1094072" cy="566928"/>
          </a:xfrm>
          <a:prstGeom prst="rect">
            <a:avLst/>
          </a:prstGeom>
        </p:spPr>
      </p:pic>
      <p:pic>
        <p:nvPicPr>
          <p:cNvPr id="18" name="Image 10" descr="/tmp/claude-0/-home-user-Default/6c313414-fc11-5a80-9cf8-49dad1a51f26/scratchpad/img/ref-hidrome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344" y="4339481"/>
            <a:ext cx="1463040" cy="190718"/>
          </a:xfrm>
          <a:prstGeom prst="rect">
            <a:avLst/>
          </a:prstGeom>
        </p:spPr>
      </p:pic>
      <p:pic>
        <p:nvPicPr>
          <p:cNvPr id="19" name="Image 11" descr="/tmp/claude-0/-home-user-Default/6c313414-fc11-5a80-9cf8-49dad1a51f26/scratchpad/img/ref-ayde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8919" y="4151376"/>
            <a:ext cx="927219" cy="566928"/>
          </a:xfrm>
          <a:prstGeom prst="rect">
            <a:avLst/>
          </a:prstGeom>
        </p:spPr>
      </p:pic>
      <p:pic>
        <p:nvPicPr>
          <p:cNvPr id="20" name="Image 12" descr="/tmp/claude-0/-home-user-Default/6c313414-fc11-5a80-9cf8-49dad1a51f26/scratchpad/img/ref-nuh-cimento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484" y="5358384"/>
            <a:ext cx="1241448" cy="566928"/>
          </a:xfrm>
          <a:prstGeom prst="rect">
            <a:avLst/>
          </a:prstGeom>
        </p:spPr>
      </p:pic>
      <p:pic>
        <p:nvPicPr>
          <p:cNvPr id="21" name="Image 13" descr="/tmp/claude-0/-home-user-Default/6c313414-fc11-5a80-9cf8-49dad1a51f26/scratchpad/img/ref-belbim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16352" y="5475873"/>
            <a:ext cx="1463040" cy="331950"/>
          </a:xfrm>
          <a:prstGeom prst="rect">
            <a:avLst/>
          </a:prstGeom>
        </p:spPr>
      </p:pic>
      <p:pic>
        <p:nvPicPr>
          <p:cNvPr id="22" name="Image 14" descr="/tmp/claude-0/-home-user-Default/6c313414-fc11-5a80-9cf8-49dad1a51f26/scratchpad/img/ref-tcd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3423" y="5358384"/>
            <a:ext cx="616226" cy="566928"/>
          </a:xfrm>
          <a:prstGeom prst="rect">
            <a:avLst/>
          </a:prstGeom>
        </p:spPr>
      </p:pic>
      <p:pic>
        <p:nvPicPr>
          <p:cNvPr id="23" name="Image 15" descr="/tmp/claude-0/-home-user-Default/6c313414-fc11-5a80-9cf8-49dad1a51f26/scratchpad/img/ref-iet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5852" y="5358384"/>
            <a:ext cx="458696" cy="566928"/>
          </a:xfrm>
          <a:prstGeom prst="rect">
            <a:avLst/>
          </a:prstGeom>
        </p:spPr>
      </p:pic>
      <p:pic>
        <p:nvPicPr>
          <p:cNvPr id="24" name="Image 16" descr="/tmp/claude-0/-home-user-Default/6c313414-fc11-5a80-9cf8-49dad1a51f26/scratchpad/img/ref-fusion-consulting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53739" y="5358384"/>
            <a:ext cx="1290250" cy="566928"/>
          </a:xfrm>
          <a:prstGeom prst="rect">
            <a:avLst/>
          </a:prstGeom>
        </p:spPr>
      </p:pic>
      <p:sp>
        <p:nvSpPr>
          <p:cNvPr id="25" name="Shape 6"/>
          <p:cNvSpPr/>
          <p:nvPr/>
        </p:nvSpPr>
        <p:spPr>
          <a:xfrm>
            <a:off x="777240" y="3749040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6" name="Shape 7"/>
          <p:cNvSpPr/>
          <p:nvPr/>
        </p:nvSpPr>
        <p:spPr>
          <a:xfrm>
            <a:off x="777240" y="4956048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7" name="Shape 8"/>
          <p:cNvSpPr/>
          <p:nvPr/>
        </p:nvSpPr>
        <p:spPr>
          <a:xfrm>
            <a:off x="777240" y="6163056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NEDEN CPEAK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32688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Baştan sona kıdemli ekip.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77240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624328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YALNIZCA KIDEMLİ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Tanıştığınız danışman projede çalışır.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92424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92424" y="2624328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92424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TASARIM GEREĞİ DAR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392424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Yalnızca finans ve bulut mimarisi.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07608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07608" y="2624328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007608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TARAFSIZ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007608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 karşılaştırırız, siz karar verirsiniz.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22792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22792" y="2624328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22792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FAZLI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622792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Kapsam kadroyla değil, fazlarla büyür.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42569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Projenizi anlatın.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Bir iş günü içinde dönüş yapıyoruz.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info@cpeakconsultancy.com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46520" y="4718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+90 (507) 032 81 70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2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linkedin.com/company/cpeak-consultancy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46520" y="543153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Bostancı Mahallesi, Şemsettin Günaltay Caddesi No: 31/8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34744 Kadıköy, İstanbul   ·   Pzt–Cum, 09:00–18:00 (GMT+3)</a:t>
            </a:r>
            <a:endParaRPr lang="en-US" sz="1050" dirty="0"/>
          </a:p>
        </p:txBody>
      </p:sp>
      <p:pic>
        <p:nvPicPr>
          <p:cNvPr id="26" name="Image 1" descr="/tmp/claude-0/-home-user-Default/6c313414-fc11-5a80-9cf8-49dad1a51f26/scratchpad/img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40680"/>
            <a:ext cx="1691640" cy="582473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77240" y="6355080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7240" y="645566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SAP, S/4HANA ve RISE with SAP, SAP SE’nin tescilli markalarıdır. CPeak Consultancy bağımsız bir danışmanlık şirketidir ve SAP SE ile bağlantılı değildir.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CPeak Consultancy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CPeak Consultancy</dc:title>
  <dc:subject>PptxGenJS Presentation</dc:subject>
  <dc:creator>CPeak Consultancy</dc:creator>
  <cp:lastModifiedBy>CPeak Consultancy</cp:lastModifiedBy>
  <cp:revision>1</cp:revision>
  <dcterms:created xsi:type="dcterms:W3CDTF">2026-09-10T09:11:18Z</dcterms:created>
  <dcterms:modified xsi:type="dcterms:W3CDTF">2026-09-10T09:11:18Z</dcterms:modified>
</cp:coreProperties>
</file>